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Editable baseline only; no application UI/behavior code changed in this branch.</a:t>
            </a:r>
          </a:p>
          <a:p>
            <a:r>
              <a:t>Source: extension/metadata.json version 8; docs/DESIGN_STUDY.md.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protocol. Slide IDs are stable handoff keys. Source mapping is on N42.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extension/lib/geometry.js PAGE_SIZES/notchGeometry; extension/lib/view.js mode/page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extension/stylesheet.css; extension/lib/layout.js LAYOUT_LIMITS.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extension/lib/geometry.js; extension/lib/surface.js. Open radii 19/24, closed 6/14. Max open 640×320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build/updateClock/updateSummary/syncPanelClock; geometry.js notchGeometry.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build/updateSummary/syncVisualizer; stylesheet.css notch-live-*.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showPeek/schedulePeek; extension/lib/notifications.js NotificationBridge.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extension/lib/layout.js contentLayout; extension/lib/view.js build/layoutPages/applyGeometry.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buildHome/updateClock/updateActions; stylesheet.css notch-home-*.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buildHome/updateHome/adaptPages.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buildMedia/updateMedia/updateAudio; extension/lib/media.js; audio.js.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buildMedia/updateMedia; stylesheet.css :insensitive.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buildNotifications/updateNotifications; extension/lib/widgets.js emptyState.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updateNotifications; notifications.js urgency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buildSystem/updateSystem; extension/lib/diagnostics.js; layout.js statColumns.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updateSystem; diagnostics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extension/lib/actions.js DEFINITIONS/toggle/writable; view.js syncActions/toggleAction.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buildShelf/updateShelf; extension/lib/shelf.js; app/notch_app/helper.py choose_files.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updateShelf; shelf.js command; helper.py Open/Reveal/CopyUri/Remove.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retryShelf/updateShelf/showError; shelf.js start/state; helper.py idle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app/notch_app/helper.py _load_gtk/_make_window/show_drop_target; view.js dragPosition/dropRectangle/placeHelper.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buildClipboard/updateClipboard; extension/lib/clipboard.js; schema clipboard-enabled=false.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updateClipboard; clipboard.js history; settings.py privacy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extension/lib/layout.js statusHeight; view.js showStatus/showError/clearStatus.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extension/lib/layout.js headerMode; view.js adaptPages; stylesheet.css notch-tab*.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extension/lib/layout.js contentLayout/statColumns; view.js adaptPages.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extension/lib/spring.js SPRING_PROFILES; view.js animateTo/motionDuration/scheduleClose/syncVisualizer.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syncVisibility/connectEnvironment; notifications.js configure; helper.py idle exit.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extension/prefs.js; app/notch_app/settings.py; shared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extension/prefs.js appearance_page; app/notch_app/settings.py appearance_page.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prefs.js/settings.py Finish group. Notch scale slider midpoint shown schematically; actual default 1.00.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prefs.js/settings.py behavior_page MacBook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prefs.js/settings.py Opening &amp; hiding, Quick actions, Media groups; schema toggle-notch.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prefs.js Privacy; settings.py privacy_page; helper/storage; schema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app/notch_app/settings.py about_page/refresh_status.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extension/stylesheet.css; widgets.js. These are editable master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extension/prefs.js vs app/notch_app/settings.py.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extension/lib/view.js connectEnvironment/build; extension.js shortcut; shelf.js.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view.js setActive/syncVisualizer; helper.py idle; clipboard.js; docs/DESIGN_STUDY.md;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decision log. Implementation should treat approved rows as the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map. No code changes are made by this deck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mirrors existing CI and v3 standing requirement: no clipped text, working controls, adaptive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of deck. Keep slide IDs stable. New states may be added as Nxx-A.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DESIGN HANDOFF</a:t>
            </a:r>
          </a:p>
        </p:txBody>
      </p:sp>
      <p:sp>
        <p:nvSpPr>
          <p:cNvPr id="5" name="N0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Notch — editable design review</a:t>
            </a:r>
          </a:p>
        </p:txBody>
      </p:sp>
      <p:sp>
        <p:nvSpPr>
          <p:cNvPr id="6" name="N0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v8 baseline · Fedora 44 / GNOME Wayland · every mode, page and state</a:t>
            </a:r>
          </a:p>
        </p:txBody>
      </p:sp>
      <p:cxnSp>
        <p:nvCxnSpPr>
          <p:cNvPr id="7" name="N0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N01</a:t>
            </a:r>
          </a:p>
        </p:txBody>
      </p:sp>
      <p:sp>
        <p:nvSpPr>
          <p:cNvPr id="10" name="N0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01</a:t>
            </a:r>
          </a:p>
        </p:txBody>
      </p:sp>
      <p:sp>
        <p:nvSpPr>
          <p:cNvPr id="11" name="N01/text/010"/>
          <p:cNvSpPr txBox="1"/>
          <p:nvPr/>
        </p:nvSpPr>
        <p:spPr>
          <a:xfrm>
            <a:off x="502920" y="1828800"/>
            <a:ext cx="676656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5F5F7"/>
                </a:solidFill>
                <a:latin typeface="Arial"/>
              </a:rPr>
              <a:t>MacBook-style top-edge notch</a:t>
            </a:r>
          </a:p>
        </p:txBody>
      </p:sp>
      <p:sp>
        <p:nvSpPr>
          <p:cNvPr id="12" name="N01/text/011"/>
          <p:cNvSpPr txBox="1"/>
          <p:nvPr/>
        </p:nvSpPr>
        <p:spPr>
          <a:xfrm>
            <a:off x="502920" y="233172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Arial"/>
              </a:rPr>
              <a:t>Yeh deck current UI ka editable baseline hai.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Arial"/>
              </a:rPr>
              <a:t>Shapes, text, colors aur spacing directly edit karo;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Arial"/>
              </a:rPr>
              <a:t>next implementation isi deck ko follow karega.</a:t>
            </a:r>
          </a:p>
        </p:txBody>
      </p:sp>
      <p:sp>
        <p:nvSpPr>
          <p:cNvPr id="13" name="N01/rect/012"/>
          <p:cNvSpPr/>
          <p:nvPr/>
        </p:nvSpPr>
        <p:spPr>
          <a:xfrm>
            <a:off x="502920" y="3520440"/>
            <a:ext cx="2148840" cy="256032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01/text/013"/>
          <p:cNvSpPr txBox="1"/>
          <p:nvPr/>
        </p:nvSpPr>
        <p:spPr>
          <a:xfrm>
            <a:off x="502920" y="3520440"/>
            <a:ext cx="21488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0D158"/>
                </a:solidFill>
                <a:latin typeface="Arial"/>
              </a:rPr>
              <a:t>NOT A DYNAMIC ISLAND</a:t>
            </a:r>
          </a:p>
        </p:txBody>
      </p:sp>
      <p:sp>
        <p:nvSpPr>
          <p:cNvPr id="15" name="N01/rect/014"/>
          <p:cNvSpPr/>
          <p:nvPr/>
        </p:nvSpPr>
        <p:spPr>
          <a:xfrm>
            <a:off x="2788920" y="3520440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01/text/015"/>
          <p:cNvSpPr txBox="1"/>
          <p:nvPr/>
        </p:nvSpPr>
        <p:spPr>
          <a:xfrm>
            <a:off x="2788920" y="3520440"/>
            <a:ext cx="233172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D2FF"/>
                </a:solidFill>
                <a:latin typeface="Arial"/>
              </a:rPr>
              <a:t>NATIVE EDITABLE SHAPES</a:t>
            </a:r>
          </a:p>
        </p:txBody>
      </p:sp>
      <p:sp>
        <p:nvSpPr>
          <p:cNvPr id="17" name="N01/rect/016"/>
          <p:cNvSpPr/>
          <p:nvPr/>
        </p:nvSpPr>
        <p:spPr>
          <a:xfrm>
            <a:off x="5257800" y="3520440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2700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01/text/017"/>
          <p:cNvSpPr txBox="1"/>
          <p:nvPr/>
        </p:nvSpPr>
        <p:spPr>
          <a:xfrm>
            <a:off x="5257800" y="3520440"/>
            <a:ext cx="11430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BF5AF2"/>
                </a:solidFill>
                <a:latin typeface="Arial"/>
              </a:rPr>
              <a:t>44 SLIDES</a:t>
            </a:r>
          </a:p>
        </p:txBody>
      </p:sp>
      <p:sp>
        <p:nvSpPr>
          <p:cNvPr id="19" name="N01/text/018"/>
          <p:cNvSpPr txBox="1"/>
          <p:nvPr/>
        </p:nvSpPr>
        <p:spPr>
          <a:xfrm>
            <a:off x="502920" y="4160520"/>
            <a:ext cx="685800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Branch: arena/71fe92f9-notch   ·   Source build: v8   ·   Date: 2026-10-30</a:t>
            </a:r>
          </a:p>
        </p:txBody>
      </p:sp>
      <p:grpSp>
        <p:nvGrpSpPr>
          <p:cNvPr id="20" name="N01/cover-notch"/>
          <p:cNvGrpSpPr/>
          <p:nvPr/>
        </p:nvGrpSpPr>
        <p:grpSpPr>
          <a:xfrm>
            <a:off x="7818120" y="1828800"/>
            <a:ext cx="3840480" cy="2148839"/>
            <a:chOff x="7818120" y="1828800"/>
            <a:chExt cx="3840480" cy="2148839"/>
          </a:xfrm>
        </p:grpSpPr>
        <p:sp>
          <p:nvSpPr>
            <p:cNvPr id="21" name="N01/cover-notch/notch-surface-open/001"/>
            <p:cNvSpPr/>
            <p:nvPr/>
          </p:nvSpPr>
          <p:spPr>
            <a:xfrm>
              <a:off x="7818120" y="1828800"/>
              <a:ext cx="3840480" cy="2148839"/>
            </a:xfrm>
            <a:custGeom>
              <a:avLst/>
              <a:gdLst/>
              <a:ahLst/>
              <a:cxnLst/>
              <a:rect l="l" t="t" r="r" b="b"/>
              <a:pathLst>
                <a:path w="3840480" h="2148839">
                  <a:moveTo>
                    <a:pt x="0" y="0"/>
                  </a:moveTo>
                  <a:lnTo>
                    <a:pt x="3840480" y="0"/>
                  </a:lnTo>
                  <a:lnTo>
                    <a:pt x="3815383" y="2827"/>
                  </a:lnTo>
                  <a:lnTo>
                    <a:pt x="3786753" y="11310"/>
                  </a:lnTo>
                  <a:lnTo>
                    <a:pt x="3756708" y="25449"/>
                  </a:lnTo>
                  <a:lnTo>
                    <a:pt x="3727370" y="45243"/>
                  </a:lnTo>
                  <a:lnTo>
                    <a:pt x="3700860" y="70693"/>
                  </a:lnTo>
                  <a:lnTo>
                    <a:pt x="3679299" y="101798"/>
                  </a:lnTo>
                  <a:lnTo>
                    <a:pt x="3664807" y="138558"/>
                  </a:lnTo>
                  <a:lnTo>
                    <a:pt x="3659505" y="180974"/>
                  </a:lnTo>
                  <a:lnTo>
                    <a:pt x="3655112" y="1964837"/>
                  </a:lnTo>
                  <a:lnTo>
                    <a:pt x="3642103" y="2007721"/>
                  </a:lnTo>
                  <a:lnTo>
                    <a:pt x="3620978" y="2047243"/>
                  </a:lnTo>
                  <a:lnTo>
                    <a:pt x="3592549" y="2081884"/>
                  </a:lnTo>
                  <a:lnTo>
                    <a:pt x="3557908" y="2110313"/>
                  </a:lnTo>
                  <a:lnTo>
                    <a:pt x="3518386" y="2131438"/>
                  </a:lnTo>
                  <a:lnTo>
                    <a:pt x="3475502" y="2144447"/>
                  </a:lnTo>
                  <a:lnTo>
                    <a:pt x="3430905" y="2148839"/>
                  </a:lnTo>
                  <a:lnTo>
                    <a:pt x="409575" y="2148839"/>
                  </a:lnTo>
                  <a:lnTo>
                    <a:pt x="364977" y="2144447"/>
                  </a:lnTo>
                  <a:lnTo>
                    <a:pt x="322093" y="2131438"/>
                  </a:lnTo>
                  <a:lnTo>
                    <a:pt x="282571" y="2110313"/>
                  </a:lnTo>
                  <a:lnTo>
                    <a:pt x="247930" y="2081884"/>
                  </a:lnTo>
                  <a:lnTo>
                    <a:pt x="219501" y="2047243"/>
                  </a:lnTo>
                  <a:lnTo>
                    <a:pt x="198376" y="2007721"/>
                  </a:lnTo>
                  <a:lnTo>
                    <a:pt x="185367" y="1964837"/>
                  </a:lnTo>
                  <a:lnTo>
                    <a:pt x="180975" y="1920239"/>
                  </a:lnTo>
                  <a:lnTo>
                    <a:pt x="180975" y="180974"/>
                  </a:lnTo>
                  <a:lnTo>
                    <a:pt x="175672" y="138558"/>
                  </a:lnTo>
                  <a:lnTo>
                    <a:pt x="161180" y="101798"/>
                  </a:lnTo>
                  <a:lnTo>
                    <a:pt x="139619" y="70693"/>
                  </a:lnTo>
                  <a:lnTo>
                    <a:pt x="113109" y="45243"/>
                  </a:lnTo>
                  <a:lnTo>
                    <a:pt x="83771" y="25449"/>
                  </a:lnTo>
                  <a:lnTo>
                    <a:pt x="53726" y="11310"/>
                  </a:lnTo>
                  <a:lnTo>
                    <a:pt x="25096" y="28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01/cover-notch/button-home/002"/>
            <p:cNvSpPr/>
            <p:nvPr/>
          </p:nvSpPr>
          <p:spPr>
            <a:xfrm>
              <a:off x="8046720" y="2272855"/>
              <a:ext cx="274320" cy="257175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01/cover-notch/poly/003"/>
            <p:cNvSpPr/>
            <p:nvPr/>
          </p:nvSpPr>
          <p:spPr>
            <a:xfrm>
              <a:off x="8132445" y="2350007"/>
              <a:ext cx="102870" cy="102870"/>
            </a:xfrm>
            <a:custGeom>
              <a:avLst/>
              <a:gdLst/>
              <a:ahLst/>
              <a:cxnLst/>
              <a:rect l="l" t="t" r="r" b="b"/>
              <a:pathLst>
                <a:path w="102870" h="102870">
                  <a:moveTo>
                    <a:pt x="51434" y="0"/>
                  </a:moveTo>
                  <a:lnTo>
                    <a:pt x="0" y="42863"/>
                  </a:lnTo>
                  <a:lnTo>
                    <a:pt x="17145" y="42863"/>
                  </a:lnTo>
                  <a:lnTo>
                    <a:pt x="17145" y="102870"/>
                  </a:lnTo>
                  <a:lnTo>
                    <a:pt x="42862" y="102870"/>
                  </a:lnTo>
                  <a:lnTo>
                    <a:pt x="42862" y="68580"/>
                  </a:lnTo>
                  <a:lnTo>
                    <a:pt x="60007" y="68580"/>
                  </a:lnTo>
                  <a:lnTo>
                    <a:pt x="60007" y="102870"/>
                  </a:lnTo>
                  <a:lnTo>
                    <a:pt x="85725" y="102870"/>
                  </a:lnTo>
                  <a:lnTo>
                    <a:pt x="85725" y="42863"/>
                  </a:lnTo>
                  <a:lnTo>
                    <a:pt x="102870" y="42863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01/cover-notch/button-music/004"/>
            <p:cNvSpPr/>
            <p:nvPr/>
          </p:nvSpPr>
          <p:spPr>
            <a:xfrm>
              <a:off x="835533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N01/cover-notch/line/005"/>
            <p:cNvCxnSpPr/>
            <p:nvPr/>
          </p:nvCxnSpPr>
          <p:spPr>
            <a:xfrm flipV="1">
              <a:off x="8475345" y="2367152"/>
              <a:ext cx="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N01/cover-notch/line/006"/>
            <p:cNvCxnSpPr/>
            <p:nvPr/>
          </p:nvCxnSpPr>
          <p:spPr>
            <a:xfrm flipV="1">
              <a:off x="8475345" y="2358580"/>
              <a:ext cx="60007" cy="857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01/cover-notch/line/007"/>
            <p:cNvCxnSpPr/>
            <p:nvPr/>
          </p:nvCxnSpPr>
          <p:spPr>
            <a:xfrm>
              <a:off x="8535352" y="2358580"/>
              <a:ext cx="0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N01/cover-notch/ellipse/008"/>
            <p:cNvSpPr/>
            <p:nvPr/>
          </p:nvSpPr>
          <p:spPr>
            <a:xfrm>
              <a:off x="8449627" y="2422874"/>
              <a:ext cx="30003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01/cover-notch/ellipse/009"/>
            <p:cNvSpPr/>
            <p:nvPr/>
          </p:nvSpPr>
          <p:spPr>
            <a:xfrm>
              <a:off x="8509635" y="2414301"/>
              <a:ext cx="30003" cy="25717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01/cover-notch/button-bell/010"/>
            <p:cNvSpPr/>
            <p:nvPr/>
          </p:nvSpPr>
          <p:spPr>
            <a:xfrm>
              <a:off x="866394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01/cover-notch/poly/011"/>
            <p:cNvSpPr/>
            <p:nvPr/>
          </p:nvSpPr>
          <p:spPr>
            <a:xfrm>
              <a:off x="8758237" y="2350007"/>
              <a:ext cx="85725" cy="77153"/>
            </a:xfrm>
            <a:custGeom>
              <a:avLst/>
              <a:gdLst/>
              <a:ahLst/>
              <a:cxnLst/>
              <a:rect l="l" t="t" r="r" b="b"/>
              <a:pathLst>
                <a:path w="85725" h="77153">
                  <a:moveTo>
                    <a:pt x="42863" y="0"/>
                  </a:moveTo>
                  <a:lnTo>
                    <a:pt x="17145" y="17145"/>
                  </a:lnTo>
                  <a:lnTo>
                    <a:pt x="8573" y="51436"/>
                  </a:lnTo>
                  <a:lnTo>
                    <a:pt x="0" y="77153"/>
                  </a:lnTo>
                  <a:lnTo>
                    <a:pt x="85725" y="77153"/>
                  </a:lnTo>
                  <a:lnTo>
                    <a:pt x="77153" y="51436"/>
                  </a:lnTo>
                  <a:lnTo>
                    <a:pt x="68580" y="1714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N01/cover-notch/line/012"/>
            <p:cNvCxnSpPr/>
            <p:nvPr/>
          </p:nvCxnSpPr>
          <p:spPr>
            <a:xfrm>
              <a:off x="8783955" y="2444305"/>
              <a:ext cx="342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01/cover-notch/ellipse/013"/>
            <p:cNvSpPr/>
            <p:nvPr/>
          </p:nvSpPr>
          <p:spPr>
            <a:xfrm>
              <a:off x="8792527" y="2341435"/>
              <a:ext cx="17145" cy="17145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01/cover-notch/button-chart/014"/>
            <p:cNvSpPr/>
            <p:nvPr/>
          </p:nvSpPr>
          <p:spPr>
            <a:xfrm>
              <a:off x="897255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N01/cover-notch/line/015"/>
            <p:cNvCxnSpPr/>
            <p:nvPr/>
          </p:nvCxnSpPr>
          <p:spPr>
            <a:xfrm>
              <a:off x="9058275" y="2452877"/>
              <a:ext cx="10287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N01/cover-notch/line/016"/>
            <p:cNvCxnSpPr/>
            <p:nvPr/>
          </p:nvCxnSpPr>
          <p:spPr>
            <a:xfrm flipV="1">
              <a:off x="9066847" y="2392870"/>
              <a:ext cx="25718" cy="342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01/cover-notch/line/017"/>
            <p:cNvCxnSpPr/>
            <p:nvPr/>
          </p:nvCxnSpPr>
          <p:spPr>
            <a:xfrm>
              <a:off x="9092565" y="2392870"/>
              <a:ext cx="25717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N01/cover-notch/line/018"/>
            <p:cNvCxnSpPr/>
            <p:nvPr/>
          </p:nvCxnSpPr>
          <p:spPr>
            <a:xfrm flipV="1">
              <a:off x="9118282" y="2358580"/>
              <a:ext cx="34290" cy="5143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01/cover-notch/button-folder/019"/>
            <p:cNvSpPr/>
            <p:nvPr/>
          </p:nvSpPr>
          <p:spPr>
            <a:xfrm>
              <a:off x="928116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N01/cover-notch/poly/020"/>
            <p:cNvSpPr/>
            <p:nvPr/>
          </p:nvSpPr>
          <p:spPr>
            <a:xfrm>
              <a:off x="9366885" y="2375725"/>
              <a:ext cx="102870" cy="68580"/>
            </a:xfrm>
            <a:custGeom>
              <a:avLst/>
              <a:gdLst/>
              <a:ahLst/>
              <a:cxnLst/>
              <a:rect l="l" t="t" r="r" b="b"/>
              <a:pathLst>
                <a:path w="102870" h="68580">
                  <a:moveTo>
                    <a:pt x="0" y="0"/>
                  </a:moveTo>
                  <a:lnTo>
                    <a:pt x="34290" y="0"/>
                  </a:lnTo>
                  <a:lnTo>
                    <a:pt x="47148" y="17145"/>
                  </a:lnTo>
                  <a:lnTo>
                    <a:pt x="102870" y="17145"/>
                  </a:lnTo>
                  <a:lnTo>
                    <a:pt x="102870" y="68580"/>
                  </a:lnTo>
                  <a:lnTo>
                    <a:pt x="0" y="6858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01/cover-notch/button-clipboard/021"/>
            <p:cNvSpPr/>
            <p:nvPr/>
          </p:nvSpPr>
          <p:spPr>
            <a:xfrm>
              <a:off x="9589770" y="2272855"/>
              <a:ext cx="274320" cy="25717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N01/cover-notch/rect/022"/>
            <p:cNvSpPr/>
            <p:nvPr/>
          </p:nvSpPr>
          <p:spPr>
            <a:xfrm>
              <a:off x="9692640" y="2358580"/>
              <a:ext cx="68580" cy="94297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N01/cover-notch/rect/023"/>
            <p:cNvSpPr/>
            <p:nvPr/>
          </p:nvSpPr>
          <p:spPr>
            <a:xfrm>
              <a:off x="9709785" y="2345721"/>
              <a:ext cx="34290" cy="21431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N01/cover-notch/line/024"/>
            <p:cNvCxnSpPr/>
            <p:nvPr/>
          </p:nvCxnSpPr>
          <p:spPr>
            <a:xfrm>
              <a:off x="9709785" y="2392870"/>
              <a:ext cx="342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01/cover-notch/line/025"/>
            <p:cNvCxnSpPr/>
            <p:nvPr/>
          </p:nvCxnSpPr>
          <p:spPr>
            <a:xfrm>
              <a:off x="9709785" y="2414301"/>
              <a:ext cx="3429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N01/cover-notch/button-gear/026"/>
            <p:cNvSpPr/>
            <p:nvPr/>
          </p:nvSpPr>
          <p:spPr>
            <a:xfrm>
              <a:off x="10829925" y="2264283"/>
              <a:ext cx="274320" cy="2743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N01/cover-notch/ellipse/027"/>
            <p:cNvSpPr/>
            <p:nvPr/>
          </p:nvSpPr>
          <p:spPr>
            <a:xfrm>
              <a:off x="10941367" y="2375725"/>
              <a:ext cx="51434" cy="51434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N01/cover-notch/line/028"/>
            <p:cNvCxnSpPr/>
            <p:nvPr/>
          </p:nvCxnSpPr>
          <p:spPr>
            <a:xfrm>
              <a:off x="11009947" y="2401443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N01/cover-notch/line/029"/>
            <p:cNvCxnSpPr/>
            <p:nvPr/>
          </p:nvCxnSpPr>
          <p:spPr>
            <a:xfrm>
              <a:off x="10997393" y="2431751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01/cover-notch/line/030"/>
            <p:cNvCxnSpPr/>
            <p:nvPr/>
          </p:nvCxnSpPr>
          <p:spPr>
            <a:xfrm>
              <a:off x="10967084" y="2444305"/>
              <a:ext cx="0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N01/cover-notch/line/031"/>
            <p:cNvCxnSpPr/>
            <p:nvPr/>
          </p:nvCxnSpPr>
          <p:spPr>
            <a:xfrm flipH="1">
              <a:off x="10924653" y="2431751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N01/cover-notch/line/032"/>
            <p:cNvCxnSpPr/>
            <p:nvPr/>
          </p:nvCxnSpPr>
          <p:spPr>
            <a:xfrm flipH="1">
              <a:off x="10907077" y="2401443"/>
              <a:ext cx="1714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N01/cover-notch/line/033"/>
            <p:cNvCxnSpPr/>
            <p:nvPr/>
          </p:nvCxnSpPr>
          <p:spPr>
            <a:xfrm flipH="1" flipV="1">
              <a:off x="10924653" y="2359011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01/cover-notch/line/034"/>
            <p:cNvCxnSpPr/>
            <p:nvPr/>
          </p:nvCxnSpPr>
          <p:spPr>
            <a:xfrm flipV="1">
              <a:off x="10967084" y="2341435"/>
              <a:ext cx="0" cy="1714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N01/cover-notch/line/035"/>
            <p:cNvCxnSpPr/>
            <p:nvPr/>
          </p:nvCxnSpPr>
          <p:spPr>
            <a:xfrm flipV="1">
              <a:off x="10997393" y="2359011"/>
              <a:ext cx="12123" cy="121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N01/cover-notch/button-close/036"/>
            <p:cNvSpPr/>
            <p:nvPr/>
          </p:nvSpPr>
          <p:spPr>
            <a:xfrm>
              <a:off x="11155680" y="2264283"/>
              <a:ext cx="274320" cy="27432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N01/cover-notch/line/037"/>
            <p:cNvCxnSpPr/>
            <p:nvPr/>
          </p:nvCxnSpPr>
          <p:spPr>
            <a:xfrm>
              <a:off x="11258549" y="2367153"/>
              <a:ext cx="68581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N01/cover-notch/line/038"/>
            <p:cNvCxnSpPr/>
            <p:nvPr/>
          </p:nvCxnSpPr>
          <p:spPr>
            <a:xfrm flipH="1">
              <a:off x="11258549" y="2367153"/>
              <a:ext cx="68581" cy="6858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N01/cover-notch/text/039"/>
            <p:cNvSpPr txBox="1"/>
            <p:nvPr/>
          </p:nvSpPr>
          <p:spPr>
            <a:xfrm>
              <a:off x="8046720" y="2846070"/>
              <a:ext cx="1691640" cy="31432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12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60" name="N01/cover-notch/text/040"/>
            <p:cNvSpPr txBox="1"/>
            <p:nvPr/>
          </p:nvSpPr>
          <p:spPr>
            <a:xfrm>
              <a:off x="8046720" y="3174682"/>
              <a:ext cx="1691640" cy="14287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7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61" name="N01/cover-notch/button-Focus/041"/>
            <p:cNvSpPr/>
            <p:nvPr/>
          </p:nvSpPr>
          <p:spPr>
            <a:xfrm>
              <a:off x="9644062" y="3131820"/>
              <a:ext cx="557212" cy="228600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01/cover-notch/ellipse/042"/>
            <p:cNvSpPr/>
            <p:nvPr/>
          </p:nvSpPr>
          <p:spPr>
            <a:xfrm>
              <a:off x="9690496" y="3210401"/>
              <a:ext cx="71437" cy="71437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3" name="N01/cover-notch/line/043"/>
            <p:cNvCxnSpPr/>
            <p:nvPr/>
          </p:nvCxnSpPr>
          <p:spPr>
            <a:xfrm flipV="1">
              <a:off x="9697640" y="3217545"/>
              <a:ext cx="57150" cy="5715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01/cover-notch/text/044"/>
            <p:cNvSpPr txBox="1"/>
            <p:nvPr/>
          </p:nvSpPr>
          <p:spPr>
            <a:xfrm>
              <a:off x="9826228" y="3131820"/>
              <a:ext cx="346471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7" b="1" i="0">
                  <a:solidFill>
                    <a:srgbClr val="E5E5EA"/>
                  </a:solidFill>
                  <a:latin typeface="Arial"/>
                </a:rPr>
                <a:t>Focus</a:t>
              </a:r>
            </a:p>
          </p:txBody>
        </p:sp>
        <p:sp>
          <p:nvSpPr>
            <p:cNvPr id="65" name="N01/cover-notch/button-Night/045"/>
            <p:cNvSpPr/>
            <p:nvPr/>
          </p:nvSpPr>
          <p:spPr>
            <a:xfrm>
              <a:off x="10258425" y="3131820"/>
              <a:ext cx="557212" cy="228600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01/cover-notch/poly/046"/>
            <p:cNvSpPr/>
            <p:nvPr/>
          </p:nvSpPr>
          <p:spPr>
            <a:xfrm>
              <a:off x="10312003" y="3203257"/>
              <a:ext cx="57150" cy="85725"/>
            </a:xfrm>
            <a:custGeom>
              <a:avLst/>
              <a:gdLst/>
              <a:ahLst/>
              <a:cxnLst/>
              <a:rect l="l" t="t" r="r" b="b"/>
              <a:pathLst>
                <a:path w="57150" h="85725">
                  <a:moveTo>
                    <a:pt x="42862" y="0"/>
                  </a:moveTo>
                  <a:lnTo>
                    <a:pt x="14287" y="7144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14287" y="78581"/>
                  </a:lnTo>
                  <a:lnTo>
                    <a:pt x="42862" y="85725"/>
                  </a:lnTo>
                  <a:lnTo>
                    <a:pt x="57150" y="71438"/>
                  </a:lnTo>
                  <a:lnTo>
                    <a:pt x="35718" y="64294"/>
                  </a:lnTo>
                  <a:lnTo>
                    <a:pt x="21431" y="42863"/>
                  </a:lnTo>
                  <a:lnTo>
                    <a:pt x="28575" y="21431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01/cover-notch/text/047"/>
            <p:cNvSpPr txBox="1"/>
            <p:nvPr/>
          </p:nvSpPr>
          <p:spPr>
            <a:xfrm>
              <a:off x="10440590" y="3131820"/>
              <a:ext cx="346471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7" b="1" i="0">
                  <a:solidFill>
                    <a:srgbClr val="E5E5EA"/>
                  </a:solidFill>
                  <a:latin typeface="Arial"/>
                </a:rPr>
                <a:t>Night</a:t>
              </a:r>
            </a:p>
          </p:txBody>
        </p:sp>
        <p:sp>
          <p:nvSpPr>
            <p:cNvPr id="68" name="N01/cover-notch/button-Dark/048"/>
            <p:cNvSpPr/>
            <p:nvPr/>
          </p:nvSpPr>
          <p:spPr>
            <a:xfrm>
              <a:off x="10872787" y="3131820"/>
              <a:ext cx="557212" cy="228600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01/cover-notch/ellipse/049"/>
            <p:cNvSpPr/>
            <p:nvPr/>
          </p:nvSpPr>
          <p:spPr>
            <a:xfrm>
              <a:off x="10954226" y="3210401"/>
              <a:ext cx="71437" cy="71437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01/cover-notch/poly/050"/>
            <p:cNvSpPr/>
            <p:nvPr/>
          </p:nvSpPr>
          <p:spPr>
            <a:xfrm>
              <a:off x="10989945" y="3210401"/>
              <a:ext cx="35718" cy="71437"/>
            </a:xfrm>
            <a:custGeom>
              <a:avLst/>
              <a:gdLst/>
              <a:ahLst/>
              <a:cxnLst/>
              <a:rect l="l" t="t" r="r" b="b"/>
              <a:pathLst>
                <a:path w="35718" h="71437">
                  <a:moveTo>
                    <a:pt x="0" y="0"/>
                  </a:moveTo>
                  <a:lnTo>
                    <a:pt x="0" y="71437"/>
                  </a:lnTo>
                  <a:lnTo>
                    <a:pt x="21431" y="64294"/>
                  </a:lnTo>
                  <a:lnTo>
                    <a:pt x="35718" y="35719"/>
                  </a:lnTo>
                  <a:lnTo>
                    <a:pt x="21431" y="71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01/cover-notch/text/051"/>
            <p:cNvSpPr txBox="1"/>
            <p:nvPr/>
          </p:nvSpPr>
          <p:spPr>
            <a:xfrm>
              <a:off x="11089957" y="3131820"/>
              <a:ext cx="311467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87" b="1" i="0">
                  <a:solidFill>
                    <a:srgbClr val="000000"/>
                  </a:solidFill>
                  <a:latin typeface="Arial"/>
                </a:rPr>
                <a:t>Dark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HOW TO USE</a:t>
            </a:r>
          </a:p>
        </p:txBody>
      </p:sp>
      <p:sp>
        <p:nvSpPr>
          <p:cNvPr id="5" name="N0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Edit the deck, not the code</a:t>
            </a:r>
          </a:p>
        </p:txBody>
      </p:sp>
      <p:sp>
        <p:nvSpPr>
          <p:cNvPr id="6" name="N0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PowerPoint / LibreOffice Impress / Google Slides compatible</a:t>
            </a:r>
          </a:p>
        </p:txBody>
      </p:sp>
      <p:cxnSp>
        <p:nvCxnSpPr>
          <p:cNvPr id="7" name="N0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N02</a:t>
            </a:r>
          </a:p>
        </p:txBody>
      </p:sp>
      <p:sp>
        <p:nvSpPr>
          <p:cNvPr id="10" name="N0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02</a:t>
            </a:r>
          </a:p>
        </p:txBody>
      </p:sp>
      <p:sp>
        <p:nvSpPr>
          <p:cNvPr id="11" name="N02/ellipse/010"/>
          <p:cNvSpPr/>
          <p:nvPr/>
        </p:nvSpPr>
        <p:spPr>
          <a:xfrm>
            <a:off x="594360" y="1691640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2/text/011"/>
          <p:cNvSpPr txBox="1"/>
          <p:nvPr/>
        </p:nvSpPr>
        <p:spPr>
          <a:xfrm>
            <a:off x="594360" y="169164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1</a:t>
            </a:r>
          </a:p>
        </p:txBody>
      </p:sp>
      <p:sp>
        <p:nvSpPr>
          <p:cNvPr id="13" name="N02/text/012"/>
          <p:cNvSpPr txBox="1"/>
          <p:nvPr/>
        </p:nvSpPr>
        <p:spPr>
          <a:xfrm>
            <a:off x="1143000" y="1673352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Select any mockup</a:t>
            </a:r>
          </a:p>
        </p:txBody>
      </p:sp>
      <p:sp>
        <p:nvSpPr>
          <p:cNvPr id="14" name="N02/text/013"/>
          <p:cNvSpPr txBox="1"/>
          <p:nvPr/>
        </p:nvSpPr>
        <p:spPr>
          <a:xfrm>
            <a:off x="1143000" y="1947672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Ungroup if needed. Each notch, card, button and label is a native shape/text box.</a:t>
            </a:r>
          </a:p>
        </p:txBody>
      </p:sp>
      <p:sp>
        <p:nvSpPr>
          <p:cNvPr id="15" name="N02/ellipse/014"/>
          <p:cNvSpPr/>
          <p:nvPr/>
        </p:nvSpPr>
        <p:spPr>
          <a:xfrm>
            <a:off x="594360" y="2532888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02/text/015"/>
          <p:cNvSpPr txBox="1"/>
          <p:nvPr/>
        </p:nvSpPr>
        <p:spPr>
          <a:xfrm>
            <a:off x="594360" y="2532888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2</a:t>
            </a:r>
          </a:p>
        </p:txBody>
      </p:sp>
      <p:sp>
        <p:nvSpPr>
          <p:cNvPr id="17" name="N02/text/016"/>
          <p:cNvSpPr txBox="1"/>
          <p:nvPr/>
        </p:nvSpPr>
        <p:spPr>
          <a:xfrm>
            <a:off x="1143000" y="2514600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Change what you want</a:t>
            </a:r>
          </a:p>
        </p:txBody>
      </p:sp>
      <p:sp>
        <p:nvSpPr>
          <p:cNvPr id="18" name="N02/text/017"/>
          <p:cNvSpPr txBox="1"/>
          <p:nvPr/>
        </p:nvSpPr>
        <p:spPr>
          <a:xfrm>
            <a:off x="1143000" y="278892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Move/resize shapes, edit text, recolor fills, adjust spacing. Keep the slide ID (Nxx).</a:t>
            </a:r>
          </a:p>
        </p:txBody>
      </p:sp>
      <p:sp>
        <p:nvSpPr>
          <p:cNvPr id="19" name="N02/ellipse/018"/>
          <p:cNvSpPr/>
          <p:nvPr/>
        </p:nvSpPr>
        <p:spPr>
          <a:xfrm>
            <a:off x="594360" y="3374136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02/text/019"/>
          <p:cNvSpPr txBox="1"/>
          <p:nvPr/>
        </p:nvSpPr>
        <p:spPr>
          <a:xfrm>
            <a:off x="594360" y="337413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3</a:t>
            </a:r>
          </a:p>
        </p:txBody>
      </p:sp>
      <p:sp>
        <p:nvSpPr>
          <p:cNvPr id="21" name="N02/text/020"/>
          <p:cNvSpPr txBox="1"/>
          <p:nvPr/>
        </p:nvSpPr>
        <p:spPr>
          <a:xfrm>
            <a:off x="1143000" y="3355848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Use EDIT HERE boxes</a:t>
            </a:r>
          </a:p>
        </p:txBody>
      </p:sp>
      <p:sp>
        <p:nvSpPr>
          <p:cNvPr id="22" name="N02/text/021"/>
          <p:cNvSpPr txBox="1"/>
          <p:nvPr/>
        </p:nvSpPr>
        <p:spPr>
          <a:xfrm>
            <a:off x="1143000" y="3630168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Write explicit instructions: width, height, padding, radius, color hex, font size, state behavior.</a:t>
            </a:r>
          </a:p>
        </p:txBody>
      </p:sp>
      <p:sp>
        <p:nvSpPr>
          <p:cNvPr id="23" name="N02/ellipse/022"/>
          <p:cNvSpPr/>
          <p:nvPr/>
        </p:nvSpPr>
        <p:spPr>
          <a:xfrm>
            <a:off x="594360" y="4215384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02/text/023"/>
          <p:cNvSpPr txBox="1"/>
          <p:nvPr/>
        </p:nvSpPr>
        <p:spPr>
          <a:xfrm>
            <a:off x="594360" y="4215384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4</a:t>
            </a:r>
          </a:p>
        </p:txBody>
      </p:sp>
      <p:sp>
        <p:nvSpPr>
          <p:cNvPr id="25" name="N02/text/024"/>
          <p:cNvSpPr txBox="1"/>
          <p:nvPr/>
        </p:nvSpPr>
        <p:spPr>
          <a:xfrm>
            <a:off x="1143000" y="4197096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Add new states if needed</a:t>
            </a:r>
          </a:p>
        </p:txBody>
      </p:sp>
      <p:sp>
        <p:nvSpPr>
          <p:cNvPr id="26" name="N02/text/025"/>
          <p:cNvSpPr txBox="1"/>
          <p:nvPr/>
        </p:nvSpPr>
        <p:spPr>
          <a:xfrm>
            <a:off x="1143000" y="4471416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Duplicate a slide, rename it Nxx-A, and describe the trigger. Do not delete baseline slides.</a:t>
            </a:r>
          </a:p>
        </p:txBody>
      </p:sp>
      <p:sp>
        <p:nvSpPr>
          <p:cNvPr id="27" name="N02/ellipse/026"/>
          <p:cNvSpPr/>
          <p:nvPr/>
        </p:nvSpPr>
        <p:spPr>
          <a:xfrm>
            <a:off x="594360" y="5056632"/>
            <a:ext cx="384048" cy="384048"/>
          </a:xfrm>
          <a:prstGeom prst="ellipse">
            <a:avLst/>
          </a:prstGeom>
          <a:solidFill>
            <a:srgbClr val="17351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02/text/027"/>
          <p:cNvSpPr txBox="1"/>
          <p:nvPr/>
        </p:nvSpPr>
        <p:spPr>
          <a:xfrm>
            <a:off x="594360" y="5056632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5</a:t>
            </a:r>
          </a:p>
        </p:txBody>
      </p:sp>
      <p:sp>
        <p:nvSpPr>
          <p:cNvPr id="29" name="N02/text/028"/>
          <p:cNvSpPr txBox="1"/>
          <p:nvPr/>
        </p:nvSpPr>
        <p:spPr>
          <a:xfrm>
            <a:off x="1143000" y="5038344"/>
            <a:ext cx="3657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5F7"/>
                </a:solidFill>
                <a:latin typeface="Arial"/>
              </a:rPr>
              <a:t>Return the .pptx</a:t>
            </a:r>
          </a:p>
        </p:txBody>
      </p:sp>
      <p:sp>
        <p:nvSpPr>
          <p:cNvPr id="30" name="N02/text/029"/>
          <p:cNvSpPr txBox="1"/>
          <p:nvPr/>
        </p:nvSpPr>
        <p:spPr>
          <a:xfrm>
            <a:off x="1143000" y="5312664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Implementation will map slide IDs to source files and apply only the approved edits.</a:t>
            </a:r>
          </a:p>
        </p:txBody>
      </p:sp>
      <p:sp>
        <p:nvSpPr>
          <p:cNvPr id="31" name="N02/rect/030"/>
          <p:cNvSpPr/>
          <p:nvPr/>
        </p:nvSpPr>
        <p:spPr>
          <a:xfrm>
            <a:off x="8229600" y="1691640"/>
            <a:ext cx="3456432" cy="4343400"/>
          </a:xfrm>
          <a:prstGeom prst="roundRect">
            <a:avLst>
              <a:gd name="adj" fmla="val 37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02/text/031"/>
          <p:cNvSpPr txBox="1"/>
          <p:nvPr/>
        </p:nvSpPr>
        <p:spPr>
          <a:xfrm>
            <a:off x="8458200" y="1874519"/>
            <a:ext cx="30175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LEGEND</a:t>
            </a:r>
          </a:p>
        </p:txBody>
      </p:sp>
      <p:sp>
        <p:nvSpPr>
          <p:cNvPr id="33" name="N02/rect/032"/>
          <p:cNvSpPr/>
          <p:nvPr/>
        </p:nvSpPr>
        <p:spPr>
          <a:xfrm>
            <a:off x="8458200" y="2240280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02/text/033"/>
          <p:cNvSpPr txBox="1"/>
          <p:nvPr/>
        </p:nvSpPr>
        <p:spPr>
          <a:xfrm>
            <a:off x="8778240" y="2221992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Current v8 baseline</a:t>
            </a:r>
          </a:p>
        </p:txBody>
      </p:sp>
      <p:sp>
        <p:nvSpPr>
          <p:cNvPr id="35" name="N02/rect/034"/>
          <p:cNvSpPr/>
          <p:nvPr/>
        </p:nvSpPr>
        <p:spPr>
          <a:xfrm>
            <a:off x="8458200" y="2624328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64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02/text/035"/>
          <p:cNvSpPr txBox="1"/>
          <p:nvPr/>
        </p:nvSpPr>
        <p:spPr>
          <a:xfrm>
            <a:off x="8778240" y="2606040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Editable mockup / annotation</a:t>
            </a:r>
          </a:p>
        </p:txBody>
      </p:sp>
      <p:sp>
        <p:nvSpPr>
          <p:cNvPr id="37" name="N02/rect/036"/>
          <p:cNvSpPr/>
          <p:nvPr/>
        </p:nvSpPr>
        <p:spPr>
          <a:xfrm>
            <a:off x="8458200" y="3008376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FFD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02/text/037"/>
          <p:cNvSpPr txBox="1"/>
          <p:nvPr/>
        </p:nvSpPr>
        <p:spPr>
          <a:xfrm>
            <a:off x="8778240" y="2990088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Your edit / decision</a:t>
            </a:r>
          </a:p>
        </p:txBody>
      </p:sp>
      <p:sp>
        <p:nvSpPr>
          <p:cNvPr id="39" name="N02/rect/038"/>
          <p:cNvSpPr/>
          <p:nvPr/>
        </p:nvSpPr>
        <p:spPr>
          <a:xfrm>
            <a:off x="8458200" y="3392424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02/text/039"/>
          <p:cNvSpPr txBox="1"/>
          <p:nvPr/>
        </p:nvSpPr>
        <p:spPr>
          <a:xfrm>
            <a:off x="8778240" y="3374136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Error / warning state</a:t>
            </a:r>
          </a:p>
        </p:txBody>
      </p:sp>
      <p:sp>
        <p:nvSpPr>
          <p:cNvPr id="41" name="N02/rect/040"/>
          <p:cNvSpPr/>
          <p:nvPr/>
        </p:nvSpPr>
        <p:spPr>
          <a:xfrm>
            <a:off x="8458200" y="3776472"/>
            <a:ext cx="201168" cy="201168"/>
          </a:xfrm>
          <a:prstGeom prst="roundRect">
            <a:avLst>
              <a:gd name="adj" fmla="val 18181"/>
            </a:avLst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02/text/041"/>
          <p:cNvSpPr txBox="1"/>
          <p:nvPr/>
        </p:nvSpPr>
        <p:spPr>
          <a:xfrm>
            <a:off x="8778240" y="3758184"/>
            <a:ext cx="27432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Optional / experimental</a:t>
            </a:r>
          </a:p>
        </p:txBody>
      </p:sp>
      <p:sp>
        <p:nvSpPr>
          <p:cNvPr id="43" name="N02/text/042"/>
          <p:cNvSpPr txBox="1"/>
          <p:nvPr/>
        </p:nvSpPr>
        <p:spPr>
          <a:xfrm>
            <a:off x="8458200" y="43434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Tip: turn on View → Guides.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Mockups are schematic, not pixel screenshots.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Dimensions are logical px at scale 1.0 unless noted.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MODE MAP</a:t>
            </a:r>
          </a:p>
        </p:txBody>
      </p:sp>
      <p:sp>
        <p:nvSpPr>
          <p:cNvPr id="5" name="N0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Three surface modes × six pages</a:t>
            </a:r>
          </a:p>
        </p:txBody>
      </p:sp>
      <p:sp>
        <p:nvSpPr>
          <p:cNvPr id="6" name="N0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Closed and peek are compact; open hosts the page stack</a:t>
            </a:r>
          </a:p>
        </p:txBody>
      </p:sp>
      <p:cxnSp>
        <p:nvCxnSpPr>
          <p:cNvPr id="7" name="N0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N03</a:t>
            </a:r>
          </a:p>
        </p:txBody>
      </p:sp>
      <p:sp>
        <p:nvSpPr>
          <p:cNvPr id="10" name="N0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03</a:t>
            </a:r>
          </a:p>
        </p:txBody>
      </p:sp>
      <p:sp>
        <p:nvSpPr>
          <p:cNvPr id="11" name="N03/rect/010"/>
          <p:cNvSpPr/>
          <p:nvPr/>
        </p:nvSpPr>
        <p:spPr>
          <a:xfrm>
            <a:off x="502920" y="173736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3/text/011"/>
          <p:cNvSpPr txBox="1"/>
          <p:nvPr/>
        </p:nvSpPr>
        <p:spPr>
          <a:xfrm>
            <a:off x="704088" y="1920240"/>
            <a:ext cx="320040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0D158"/>
                </a:solidFill>
                <a:latin typeface="Arial"/>
              </a:rPr>
              <a:t>CLOSED</a:t>
            </a:r>
          </a:p>
        </p:txBody>
      </p:sp>
      <p:sp>
        <p:nvSpPr>
          <p:cNvPr id="13" name="N03/text/012"/>
          <p:cNvSpPr txBox="1"/>
          <p:nvPr/>
        </p:nvSpPr>
        <p:spPr>
          <a:xfrm>
            <a:off x="704088" y="2286000"/>
            <a:ext cx="3200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185×32 default</a:t>
            </a:r>
          </a:p>
        </p:txBody>
      </p:sp>
      <p:sp>
        <p:nvSpPr>
          <p:cNvPr id="14" name="N03/text/013"/>
          <p:cNvSpPr txBox="1"/>
          <p:nvPr/>
        </p:nvSpPr>
        <p:spPr>
          <a:xfrm>
            <a:off x="704088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Clock · unread dot · media wings</a:t>
            </a:r>
          </a:p>
        </p:txBody>
      </p:sp>
      <p:sp>
        <p:nvSpPr>
          <p:cNvPr id="15" name="N03/text/014"/>
          <p:cNvSpPr txBox="1"/>
          <p:nvPr/>
        </p:nvSpPr>
        <p:spPr>
          <a:xfrm>
            <a:off x="704088" y="3200400"/>
            <a:ext cx="32004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77782"/>
                </a:solidFill>
                <a:latin typeface="Arial"/>
              </a:rPr>
              <a:t>N06–N07</a:t>
            </a:r>
          </a:p>
        </p:txBody>
      </p:sp>
      <p:sp>
        <p:nvSpPr>
          <p:cNvPr id="16" name="N03/rect/015"/>
          <p:cNvSpPr/>
          <p:nvPr/>
        </p:nvSpPr>
        <p:spPr>
          <a:xfrm>
            <a:off x="4297680" y="173736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03/text/016"/>
          <p:cNvSpPr txBox="1"/>
          <p:nvPr/>
        </p:nvSpPr>
        <p:spPr>
          <a:xfrm>
            <a:off x="4498848" y="1920240"/>
            <a:ext cx="320040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0D158"/>
                </a:solidFill>
                <a:latin typeface="Arial"/>
              </a:rPr>
              <a:t>PEEK</a:t>
            </a:r>
          </a:p>
        </p:txBody>
      </p:sp>
      <p:sp>
        <p:nvSpPr>
          <p:cNvPr id="18" name="N03/text/017"/>
          <p:cNvSpPr txBox="1"/>
          <p:nvPr/>
        </p:nvSpPr>
        <p:spPr>
          <a:xfrm>
            <a:off x="4498848" y="2286000"/>
            <a:ext cx="3200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440×144 default</a:t>
            </a:r>
          </a:p>
        </p:txBody>
      </p:sp>
      <p:sp>
        <p:nvSpPr>
          <p:cNvPr id="19" name="N03/text/018"/>
          <p:cNvSpPr txBox="1"/>
          <p:nvPr/>
        </p:nvSpPr>
        <p:spPr>
          <a:xfrm>
            <a:off x="4498848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Notification preview · actions · Open</a:t>
            </a:r>
          </a:p>
        </p:txBody>
      </p:sp>
      <p:sp>
        <p:nvSpPr>
          <p:cNvPr id="20" name="N03/text/019"/>
          <p:cNvSpPr txBox="1"/>
          <p:nvPr/>
        </p:nvSpPr>
        <p:spPr>
          <a:xfrm>
            <a:off x="4498848" y="3200400"/>
            <a:ext cx="32004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77782"/>
                </a:solidFill>
                <a:latin typeface="Arial"/>
              </a:rPr>
              <a:t>N08</a:t>
            </a:r>
          </a:p>
        </p:txBody>
      </p:sp>
      <p:sp>
        <p:nvSpPr>
          <p:cNvPr id="21" name="N03/rect/020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03/text/021"/>
          <p:cNvSpPr txBox="1"/>
          <p:nvPr/>
        </p:nvSpPr>
        <p:spPr>
          <a:xfrm>
            <a:off x="8293608" y="1920240"/>
            <a:ext cx="320040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0D158"/>
                </a:solidFill>
                <a:latin typeface="Arial"/>
              </a:rPr>
              <a:t>OPEN</a:t>
            </a:r>
          </a:p>
        </p:txBody>
      </p:sp>
      <p:sp>
        <p:nvSpPr>
          <p:cNvPr id="23" name="N03/text/022"/>
          <p:cNvSpPr txBox="1"/>
          <p:nvPr/>
        </p:nvSpPr>
        <p:spPr>
          <a:xfrm>
            <a:off x="8293608" y="2286000"/>
            <a:ext cx="3200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page-sized, max 640×320</a:t>
            </a:r>
          </a:p>
        </p:txBody>
      </p:sp>
      <p:sp>
        <p:nvSpPr>
          <p:cNvPr id="24" name="N03/text/023"/>
          <p:cNvSpPr txBox="1"/>
          <p:nvPr/>
        </p:nvSpPr>
        <p:spPr>
          <a:xfrm>
            <a:off x="8293608" y="2606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Header + one of six pages + status footer</a:t>
            </a:r>
          </a:p>
        </p:txBody>
      </p:sp>
      <p:sp>
        <p:nvSpPr>
          <p:cNvPr id="25" name="N03/text/024"/>
          <p:cNvSpPr txBox="1"/>
          <p:nvPr/>
        </p:nvSpPr>
        <p:spPr>
          <a:xfrm>
            <a:off x="8293608" y="3200400"/>
            <a:ext cx="32004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77782"/>
                </a:solidFill>
                <a:latin typeface="Arial"/>
              </a:rPr>
              <a:t>N09–N25</a:t>
            </a:r>
          </a:p>
        </p:txBody>
      </p:sp>
      <p:sp>
        <p:nvSpPr>
          <p:cNvPr id="26" name="N03/rect/025"/>
          <p:cNvSpPr/>
          <p:nvPr/>
        </p:nvSpPr>
        <p:spPr>
          <a:xfrm>
            <a:off x="502920" y="3977639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03/text/026"/>
          <p:cNvSpPr txBox="1"/>
          <p:nvPr/>
        </p:nvSpPr>
        <p:spPr>
          <a:xfrm>
            <a:off x="502920" y="4114800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Home</a:t>
            </a:r>
          </a:p>
        </p:txBody>
      </p:sp>
      <p:sp>
        <p:nvSpPr>
          <p:cNvPr id="28" name="N03/text/027"/>
          <p:cNvSpPr txBox="1"/>
          <p:nvPr/>
        </p:nvSpPr>
        <p:spPr>
          <a:xfrm>
            <a:off x="502920" y="4434840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Arial"/>
              </a:rPr>
              <a:t>N10–N11</a:t>
            </a:r>
          </a:p>
        </p:txBody>
      </p:sp>
      <p:sp>
        <p:nvSpPr>
          <p:cNvPr id="29" name="N03/rect/028"/>
          <p:cNvSpPr/>
          <p:nvPr/>
        </p:nvSpPr>
        <p:spPr>
          <a:xfrm>
            <a:off x="2395728" y="3977639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03/text/029"/>
          <p:cNvSpPr txBox="1"/>
          <p:nvPr/>
        </p:nvSpPr>
        <p:spPr>
          <a:xfrm>
            <a:off x="2395728" y="4114800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Music</a:t>
            </a:r>
          </a:p>
        </p:txBody>
      </p:sp>
      <p:sp>
        <p:nvSpPr>
          <p:cNvPr id="31" name="N03/text/030"/>
          <p:cNvSpPr txBox="1"/>
          <p:nvPr/>
        </p:nvSpPr>
        <p:spPr>
          <a:xfrm>
            <a:off x="2395728" y="4434840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Arial"/>
              </a:rPr>
              <a:t>N12–N13</a:t>
            </a:r>
          </a:p>
        </p:txBody>
      </p:sp>
      <p:sp>
        <p:nvSpPr>
          <p:cNvPr id="32" name="N03/rect/031"/>
          <p:cNvSpPr/>
          <p:nvPr/>
        </p:nvSpPr>
        <p:spPr>
          <a:xfrm>
            <a:off x="4288536" y="3977639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03/text/032"/>
          <p:cNvSpPr txBox="1"/>
          <p:nvPr/>
        </p:nvSpPr>
        <p:spPr>
          <a:xfrm>
            <a:off x="4288536" y="4114800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Alerts</a:t>
            </a:r>
          </a:p>
        </p:txBody>
      </p:sp>
      <p:sp>
        <p:nvSpPr>
          <p:cNvPr id="34" name="N03/text/033"/>
          <p:cNvSpPr txBox="1"/>
          <p:nvPr/>
        </p:nvSpPr>
        <p:spPr>
          <a:xfrm>
            <a:off x="4288536" y="4434840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Arial"/>
              </a:rPr>
              <a:t>N14–N15</a:t>
            </a:r>
          </a:p>
        </p:txBody>
      </p:sp>
      <p:sp>
        <p:nvSpPr>
          <p:cNvPr id="35" name="N03/rect/034"/>
          <p:cNvSpPr/>
          <p:nvPr/>
        </p:nvSpPr>
        <p:spPr>
          <a:xfrm>
            <a:off x="6181344" y="3977639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03/text/035"/>
          <p:cNvSpPr txBox="1"/>
          <p:nvPr/>
        </p:nvSpPr>
        <p:spPr>
          <a:xfrm>
            <a:off x="6181344" y="4114800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System</a:t>
            </a:r>
          </a:p>
        </p:txBody>
      </p:sp>
      <p:sp>
        <p:nvSpPr>
          <p:cNvPr id="37" name="N03/text/036"/>
          <p:cNvSpPr txBox="1"/>
          <p:nvPr/>
        </p:nvSpPr>
        <p:spPr>
          <a:xfrm>
            <a:off x="6181344" y="4434840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Arial"/>
              </a:rPr>
              <a:t>N16–N18</a:t>
            </a:r>
          </a:p>
        </p:txBody>
      </p:sp>
      <p:sp>
        <p:nvSpPr>
          <p:cNvPr id="38" name="N03/rect/037"/>
          <p:cNvSpPr/>
          <p:nvPr/>
        </p:nvSpPr>
        <p:spPr>
          <a:xfrm>
            <a:off x="8074152" y="3977639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03/text/038"/>
          <p:cNvSpPr txBox="1"/>
          <p:nvPr/>
        </p:nvSpPr>
        <p:spPr>
          <a:xfrm>
            <a:off x="8074152" y="4114800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Shelf</a:t>
            </a:r>
          </a:p>
        </p:txBody>
      </p:sp>
      <p:sp>
        <p:nvSpPr>
          <p:cNvPr id="40" name="N03/text/039"/>
          <p:cNvSpPr txBox="1"/>
          <p:nvPr/>
        </p:nvSpPr>
        <p:spPr>
          <a:xfrm>
            <a:off x="8074152" y="4434840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Arial"/>
              </a:rPr>
              <a:t>N19–N22</a:t>
            </a:r>
          </a:p>
        </p:txBody>
      </p:sp>
      <p:sp>
        <p:nvSpPr>
          <p:cNvPr id="41" name="N03/rect/040"/>
          <p:cNvSpPr/>
          <p:nvPr/>
        </p:nvSpPr>
        <p:spPr>
          <a:xfrm>
            <a:off x="9966960" y="3977639"/>
            <a:ext cx="1783080" cy="914400"/>
          </a:xfrm>
          <a:prstGeom prst="roundRect">
            <a:avLst>
              <a:gd name="adj" fmla="val 12000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03/text/041"/>
          <p:cNvSpPr txBox="1"/>
          <p:nvPr/>
        </p:nvSpPr>
        <p:spPr>
          <a:xfrm>
            <a:off x="9966960" y="4114800"/>
            <a:ext cx="17830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Clips</a:t>
            </a:r>
          </a:p>
        </p:txBody>
      </p:sp>
      <p:sp>
        <p:nvSpPr>
          <p:cNvPr id="43" name="N03/text/042"/>
          <p:cNvSpPr txBox="1"/>
          <p:nvPr/>
        </p:nvSpPr>
        <p:spPr>
          <a:xfrm>
            <a:off x="9966960" y="4434840"/>
            <a:ext cx="17830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Arial"/>
              </a:rPr>
              <a:t>N23–N24</a:t>
            </a:r>
          </a:p>
        </p:txBody>
      </p:sp>
      <p:sp>
        <p:nvSpPr>
          <p:cNvPr id="44" name="N03/text/043"/>
          <p:cNvSpPr txBox="1"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Placements: panel (default) · top-center · floating.  Visibility can hide the notch on fullscreen, overview or lock.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6"/>
                </a:solidFill>
                <a:latin typeface="Arial"/>
              </a:rPr>
              <a:t>Settings, motion, adaptive rules and implementation mapping follow the page mockups.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DESIGN TOKENS</a:t>
            </a:r>
          </a:p>
        </p:txBody>
      </p:sp>
      <p:sp>
        <p:nvSpPr>
          <p:cNvPr id="5" name="N0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Current v8 visual language</a:t>
            </a:r>
          </a:p>
        </p:txBody>
      </p:sp>
      <p:sp>
        <p:nvSpPr>
          <p:cNvPr id="6" name="N0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Edit hex values, radii and spacing here; page slides inherit these tokens</a:t>
            </a:r>
          </a:p>
        </p:txBody>
      </p:sp>
      <p:cxnSp>
        <p:nvCxnSpPr>
          <p:cNvPr id="7" name="N0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N04</a:t>
            </a:r>
          </a:p>
        </p:txBody>
      </p:sp>
      <p:sp>
        <p:nvSpPr>
          <p:cNvPr id="10" name="N0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04</a:t>
            </a:r>
          </a:p>
        </p:txBody>
      </p:sp>
      <p:sp>
        <p:nvSpPr>
          <p:cNvPr id="11" name="N04/rect/010"/>
          <p:cNvSpPr/>
          <p:nvPr/>
        </p:nvSpPr>
        <p:spPr>
          <a:xfrm>
            <a:off x="502920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4/text/011"/>
          <p:cNvSpPr txBox="1"/>
          <p:nvPr/>
        </p:nvSpPr>
        <p:spPr>
          <a:xfrm>
            <a:off x="502920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Surface</a:t>
            </a:r>
          </a:p>
        </p:txBody>
      </p:sp>
      <p:sp>
        <p:nvSpPr>
          <p:cNvPr id="13" name="N04/text/012"/>
          <p:cNvSpPr txBox="1"/>
          <p:nvPr/>
        </p:nvSpPr>
        <p:spPr>
          <a:xfrm>
            <a:off x="502920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#000000</a:t>
            </a:r>
          </a:p>
        </p:txBody>
      </p:sp>
      <p:sp>
        <p:nvSpPr>
          <p:cNvPr id="14" name="N04/rect/013"/>
          <p:cNvSpPr/>
          <p:nvPr/>
        </p:nvSpPr>
        <p:spPr>
          <a:xfrm>
            <a:off x="2395728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1C1C1E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04/text/014"/>
          <p:cNvSpPr txBox="1"/>
          <p:nvPr/>
        </p:nvSpPr>
        <p:spPr>
          <a:xfrm>
            <a:off x="2395728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Card</a:t>
            </a:r>
          </a:p>
        </p:txBody>
      </p:sp>
      <p:sp>
        <p:nvSpPr>
          <p:cNvPr id="16" name="N04/text/015"/>
          <p:cNvSpPr txBox="1"/>
          <p:nvPr/>
        </p:nvSpPr>
        <p:spPr>
          <a:xfrm>
            <a:off x="2395728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#1C1C1E</a:t>
            </a:r>
          </a:p>
        </p:txBody>
      </p:sp>
      <p:sp>
        <p:nvSpPr>
          <p:cNvPr id="17" name="N04/rect/016"/>
          <p:cNvSpPr/>
          <p:nvPr/>
        </p:nvSpPr>
        <p:spPr>
          <a:xfrm>
            <a:off x="4288536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2C2C2E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04/text/017"/>
          <p:cNvSpPr txBox="1"/>
          <p:nvPr/>
        </p:nvSpPr>
        <p:spPr>
          <a:xfrm>
            <a:off x="4288536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Control</a:t>
            </a:r>
          </a:p>
        </p:txBody>
      </p:sp>
      <p:sp>
        <p:nvSpPr>
          <p:cNvPr id="19" name="N04/text/018"/>
          <p:cNvSpPr txBox="1"/>
          <p:nvPr/>
        </p:nvSpPr>
        <p:spPr>
          <a:xfrm>
            <a:off x="4288536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#2C2C2E</a:t>
            </a:r>
          </a:p>
        </p:txBody>
      </p:sp>
      <p:sp>
        <p:nvSpPr>
          <p:cNvPr id="20" name="N04/rect/019"/>
          <p:cNvSpPr/>
          <p:nvPr/>
        </p:nvSpPr>
        <p:spPr>
          <a:xfrm>
            <a:off x="6181343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3A3A3C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04/text/020"/>
          <p:cNvSpPr txBox="1"/>
          <p:nvPr/>
        </p:nvSpPr>
        <p:spPr>
          <a:xfrm>
            <a:off x="6181343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Hover</a:t>
            </a:r>
          </a:p>
        </p:txBody>
      </p:sp>
      <p:sp>
        <p:nvSpPr>
          <p:cNvPr id="22" name="N04/text/021"/>
          <p:cNvSpPr txBox="1"/>
          <p:nvPr/>
        </p:nvSpPr>
        <p:spPr>
          <a:xfrm>
            <a:off x="6181343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#3A3A3C</a:t>
            </a:r>
          </a:p>
        </p:txBody>
      </p:sp>
      <p:sp>
        <p:nvSpPr>
          <p:cNvPr id="23" name="N04/rect/022"/>
          <p:cNvSpPr/>
          <p:nvPr/>
        </p:nvSpPr>
        <p:spPr>
          <a:xfrm>
            <a:off x="8074152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48484A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04/text/023"/>
          <p:cNvSpPr txBox="1"/>
          <p:nvPr/>
        </p:nvSpPr>
        <p:spPr>
          <a:xfrm>
            <a:off x="8074152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Pressed</a:t>
            </a:r>
          </a:p>
        </p:txBody>
      </p:sp>
      <p:sp>
        <p:nvSpPr>
          <p:cNvPr id="25" name="N04/text/024"/>
          <p:cNvSpPr txBox="1"/>
          <p:nvPr/>
        </p:nvSpPr>
        <p:spPr>
          <a:xfrm>
            <a:off x="8074152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#48484A</a:t>
            </a:r>
          </a:p>
        </p:txBody>
      </p:sp>
      <p:sp>
        <p:nvSpPr>
          <p:cNvPr id="26" name="N04/rect/025"/>
          <p:cNvSpPr/>
          <p:nvPr/>
        </p:nvSpPr>
        <p:spPr>
          <a:xfrm>
            <a:off x="9966960" y="17373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5F5F7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04/text/026"/>
          <p:cNvSpPr txBox="1"/>
          <p:nvPr/>
        </p:nvSpPr>
        <p:spPr>
          <a:xfrm>
            <a:off x="9966960" y="230428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Text</a:t>
            </a:r>
          </a:p>
        </p:txBody>
      </p:sp>
      <p:sp>
        <p:nvSpPr>
          <p:cNvPr id="28" name="N04/text/027"/>
          <p:cNvSpPr txBox="1"/>
          <p:nvPr/>
        </p:nvSpPr>
        <p:spPr>
          <a:xfrm>
            <a:off x="9966960" y="2505456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#F5F5F7</a:t>
            </a:r>
          </a:p>
        </p:txBody>
      </p:sp>
      <p:sp>
        <p:nvSpPr>
          <p:cNvPr id="29" name="N04/rect/028"/>
          <p:cNvSpPr/>
          <p:nvPr/>
        </p:nvSpPr>
        <p:spPr>
          <a:xfrm>
            <a:off x="502920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98989D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04/text/029"/>
          <p:cNvSpPr txBox="1"/>
          <p:nvPr/>
        </p:nvSpPr>
        <p:spPr>
          <a:xfrm>
            <a:off x="502920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Muted</a:t>
            </a:r>
          </a:p>
        </p:txBody>
      </p:sp>
      <p:sp>
        <p:nvSpPr>
          <p:cNvPr id="31" name="N04/text/030"/>
          <p:cNvSpPr txBox="1"/>
          <p:nvPr/>
        </p:nvSpPr>
        <p:spPr>
          <a:xfrm>
            <a:off x="502920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#98989D</a:t>
            </a:r>
          </a:p>
        </p:txBody>
      </p:sp>
      <p:sp>
        <p:nvSpPr>
          <p:cNvPr id="32" name="N04/rect/031"/>
          <p:cNvSpPr/>
          <p:nvPr/>
        </p:nvSpPr>
        <p:spPr>
          <a:xfrm>
            <a:off x="2395728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636366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04/text/032"/>
          <p:cNvSpPr txBox="1"/>
          <p:nvPr/>
        </p:nvSpPr>
        <p:spPr>
          <a:xfrm>
            <a:off x="2395728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Disabled</a:t>
            </a:r>
          </a:p>
        </p:txBody>
      </p:sp>
      <p:sp>
        <p:nvSpPr>
          <p:cNvPr id="34" name="N04/text/033"/>
          <p:cNvSpPr txBox="1"/>
          <p:nvPr/>
        </p:nvSpPr>
        <p:spPr>
          <a:xfrm>
            <a:off x="2395728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#636366</a:t>
            </a:r>
          </a:p>
        </p:txBody>
      </p:sp>
      <p:sp>
        <p:nvSpPr>
          <p:cNvPr id="35" name="N04/rect/034"/>
          <p:cNvSpPr/>
          <p:nvPr/>
        </p:nvSpPr>
        <p:spPr>
          <a:xfrm>
            <a:off x="4288536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30D158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04/text/035"/>
          <p:cNvSpPr txBox="1"/>
          <p:nvPr/>
        </p:nvSpPr>
        <p:spPr>
          <a:xfrm>
            <a:off x="4288536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Accent bars</a:t>
            </a:r>
          </a:p>
        </p:txBody>
      </p:sp>
      <p:sp>
        <p:nvSpPr>
          <p:cNvPr id="37" name="N04/text/036"/>
          <p:cNvSpPr txBox="1"/>
          <p:nvPr/>
        </p:nvSpPr>
        <p:spPr>
          <a:xfrm>
            <a:off x="4288536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#30D158</a:t>
            </a:r>
          </a:p>
        </p:txBody>
      </p:sp>
      <p:sp>
        <p:nvSpPr>
          <p:cNvPr id="38" name="N04/rect/037"/>
          <p:cNvSpPr/>
          <p:nvPr/>
        </p:nvSpPr>
        <p:spPr>
          <a:xfrm>
            <a:off x="6181343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D60A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04/text/038"/>
          <p:cNvSpPr txBox="1"/>
          <p:nvPr/>
        </p:nvSpPr>
        <p:spPr>
          <a:xfrm>
            <a:off x="6181343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Status</a:t>
            </a:r>
          </a:p>
        </p:txBody>
      </p:sp>
      <p:sp>
        <p:nvSpPr>
          <p:cNvPr id="40" name="N04/text/039"/>
          <p:cNvSpPr txBox="1"/>
          <p:nvPr/>
        </p:nvSpPr>
        <p:spPr>
          <a:xfrm>
            <a:off x="6181343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#FFD60A</a:t>
            </a:r>
          </a:p>
        </p:txBody>
      </p:sp>
      <p:sp>
        <p:nvSpPr>
          <p:cNvPr id="41" name="N04/rect/040"/>
          <p:cNvSpPr/>
          <p:nvPr/>
        </p:nvSpPr>
        <p:spPr>
          <a:xfrm>
            <a:off x="8074152" y="278892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FF9F0A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04/text/041"/>
          <p:cNvSpPr txBox="1"/>
          <p:nvPr/>
        </p:nvSpPr>
        <p:spPr>
          <a:xfrm>
            <a:off x="8074152" y="3355848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Error</a:t>
            </a:r>
          </a:p>
        </p:txBody>
      </p:sp>
      <p:sp>
        <p:nvSpPr>
          <p:cNvPr id="43" name="N04/text/042"/>
          <p:cNvSpPr txBox="1"/>
          <p:nvPr/>
        </p:nvSpPr>
        <p:spPr>
          <a:xfrm>
            <a:off x="8074152" y="3557015"/>
            <a:ext cx="17373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1A1A6"/>
                </a:solidFill>
                <a:latin typeface="Consolas"/>
              </a:rPr>
              <a:t>#FF9F0A</a:t>
            </a:r>
          </a:p>
        </p:txBody>
      </p:sp>
      <p:sp>
        <p:nvSpPr>
          <p:cNvPr id="44" name="N04/text/043"/>
          <p:cNvSpPr txBox="1"/>
          <p:nvPr/>
        </p:nvSpPr>
        <p:spPr>
          <a:xfrm>
            <a:off x="502920" y="4069080"/>
            <a:ext cx="53949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SPACING &amp; RADII</a:t>
            </a:r>
          </a:p>
        </p:txBody>
      </p:sp>
      <p:sp>
        <p:nvSpPr>
          <p:cNvPr id="45" name="N04/text/044"/>
          <p:cNvSpPr txBox="1"/>
          <p:nvPr/>
        </p:nvSpPr>
        <p:spPr>
          <a:xfrm>
            <a:off x="502920" y="4389120"/>
            <a:ext cx="54864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Gutters 20 px · header 44 px · page spacing 10 px</a:t>
            </a:r>
          </a:p>
        </p:txBody>
      </p:sp>
      <p:sp>
        <p:nvSpPr>
          <p:cNvPr id="46" name="N04/text/045"/>
          <p:cNvSpPr txBox="1"/>
          <p:nvPr/>
        </p:nvSpPr>
        <p:spPr>
          <a:xfrm>
            <a:off x="502920" y="4681728"/>
            <a:ext cx="54864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List spacing 8 px · card radius 14 / padding 12</a:t>
            </a:r>
          </a:p>
        </p:txBody>
      </p:sp>
      <p:sp>
        <p:nvSpPr>
          <p:cNvPr id="47" name="N04/text/046"/>
          <p:cNvSpPr txBox="1"/>
          <p:nvPr/>
        </p:nvSpPr>
        <p:spPr>
          <a:xfrm>
            <a:off x="502920" y="4974336"/>
            <a:ext cx="54864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Row radius 12 / padding 8×10 · button radius 10</a:t>
            </a:r>
          </a:p>
        </p:txBody>
      </p:sp>
      <p:sp>
        <p:nvSpPr>
          <p:cNvPr id="48" name="N04/text/047"/>
          <p:cNvSpPr txBox="1"/>
          <p:nvPr/>
        </p:nvSpPr>
        <p:spPr>
          <a:xfrm>
            <a:off x="502920" y="5266944"/>
            <a:ext cx="548640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5F7"/>
                </a:solidFill>
                <a:latin typeface="Arial"/>
              </a:rPr>
              <a:t>Play radius 18 · slider bar 4 / handle 12</a:t>
            </a:r>
          </a:p>
        </p:txBody>
      </p:sp>
      <p:sp>
        <p:nvSpPr>
          <p:cNvPr id="49" name="N04/text/048"/>
          <p:cNvSpPr txBox="1"/>
          <p:nvPr/>
        </p:nvSpPr>
        <p:spPr>
          <a:xfrm>
            <a:off x="6400800" y="4069080"/>
            <a:ext cx="521208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TYPE SCALE (base 10.5 pt)</a:t>
            </a:r>
          </a:p>
        </p:txBody>
      </p:sp>
      <p:sp>
        <p:nvSpPr>
          <p:cNvPr id="50" name="N04/text/049"/>
          <p:cNvSpPr txBox="1"/>
          <p:nvPr/>
        </p:nvSpPr>
        <p:spPr>
          <a:xfrm>
            <a:off x="6400800" y="4389120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Home clock</a:t>
            </a:r>
          </a:p>
        </p:txBody>
      </p:sp>
      <p:sp>
        <p:nvSpPr>
          <p:cNvPr id="51" name="N04/text/050"/>
          <p:cNvSpPr txBox="1"/>
          <p:nvPr/>
        </p:nvSpPr>
        <p:spPr>
          <a:xfrm>
            <a:off x="8869680" y="4389120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2.4 em / 700</a:t>
            </a:r>
          </a:p>
        </p:txBody>
      </p:sp>
      <p:sp>
        <p:nvSpPr>
          <p:cNvPr id="52" name="N04/text/051"/>
          <p:cNvSpPr txBox="1"/>
          <p:nvPr/>
        </p:nvSpPr>
        <p:spPr>
          <a:xfrm>
            <a:off x="6400800" y="4663440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Home title</a:t>
            </a:r>
          </a:p>
        </p:txBody>
      </p:sp>
      <p:sp>
        <p:nvSpPr>
          <p:cNvPr id="53" name="N04/text/052"/>
          <p:cNvSpPr txBox="1"/>
          <p:nvPr/>
        </p:nvSpPr>
        <p:spPr>
          <a:xfrm>
            <a:off x="8869680" y="4663440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1.2 em / 700</a:t>
            </a:r>
          </a:p>
        </p:txBody>
      </p:sp>
      <p:sp>
        <p:nvSpPr>
          <p:cNvPr id="54" name="N04/text/053"/>
          <p:cNvSpPr txBox="1"/>
          <p:nvPr/>
        </p:nvSpPr>
        <p:spPr>
          <a:xfrm>
            <a:off x="6400800" y="4937759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Page title</a:t>
            </a:r>
          </a:p>
        </p:txBody>
      </p:sp>
      <p:sp>
        <p:nvSpPr>
          <p:cNvPr id="55" name="N04/text/054"/>
          <p:cNvSpPr txBox="1"/>
          <p:nvPr/>
        </p:nvSpPr>
        <p:spPr>
          <a:xfrm>
            <a:off x="8869680" y="4937759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1.05 em / 700</a:t>
            </a:r>
          </a:p>
        </p:txBody>
      </p:sp>
      <p:sp>
        <p:nvSpPr>
          <p:cNvPr id="56" name="N04/text/055"/>
          <p:cNvSpPr txBox="1"/>
          <p:nvPr/>
        </p:nvSpPr>
        <p:spPr>
          <a:xfrm>
            <a:off x="6400800" y="5212079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Stat value</a:t>
            </a:r>
          </a:p>
        </p:txBody>
      </p:sp>
      <p:sp>
        <p:nvSpPr>
          <p:cNvPr id="57" name="N04/text/056"/>
          <p:cNvSpPr txBox="1"/>
          <p:nvPr/>
        </p:nvSpPr>
        <p:spPr>
          <a:xfrm>
            <a:off x="8869680" y="5212079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1.45 em / 700</a:t>
            </a:r>
          </a:p>
        </p:txBody>
      </p:sp>
      <p:sp>
        <p:nvSpPr>
          <p:cNvPr id="58" name="N04/text/057"/>
          <p:cNvSpPr txBox="1"/>
          <p:nvPr/>
        </p:nvSpPr>
        <p:spPr>
          <a:xfrm>
            <a:off x="6400800" y="5486400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Body / muted</a:t>
            </a:r>
          </a:p>
        </p:txBody>
      </p:sp>
      <p:sp>
        <p:nvSpPr>
          <p:cNvPr id="59" name="N04/text/058"/>
          <p:cNvSpPr txBox="1"/>
          <p:nvPr/>
        </p:nvSpPr>
        <p:spPr>
          <a:xfrm>
            <a:off x="8869680" y="5486400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1.0 / 0.9 em</a:t>
            </a:r>
          </a:p>
        </p:txBody>
      </p:sp>
      <p:sp>
        <p:nvSpPr>
          <p:cNvPr id="60" name="N04/text/059"/>
          <p:cNvSpPr txBox="1"/>
          <p:nvPr/>
        </p:nvSpPr>
        <p:spPr>
          <a:xfrm>
            <a:off x="6400800" y="5760720"/>
            <a:ext cx="23774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Section label</a:t>
            </a:r>
          </a:p>
        </p:txBody>
      </p:sp>
      <p:sp>
        <p:nvSpPr>
          <p:cNvPr id="61" name="N04/text/060"/>
          <p:cNvSpPr txBox="1"/>
          <p:nvPr/>
        </p:nvSpPr>
        <p:spPr>
          <a:xfrm>
            <a:off x="8869680" y="5760720"/>
            <a:ext cx="274320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Consolas"/>
              </a:rPr>
              <a:t>0.8 em / 700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GEOMETRY</a:t>
            </a:r>
          </a:p>
        </p:txBody>
      </p:sp>
      <p:sp>
        <p:nvSpPr>
          <p:cNvPr id="5" name="N0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Shape, size and placement</a:t>
            </a:r>
          </a:p>
        </p:txBody>
      </p:sp>
      <p:sp>
        <p:nvSpPr>
          <p:cNvPr id="6" name="N0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Logical pixels at scale 1.0 · monitor-clamped · top flares + rounded bottom</a:t>
            </a:r>
          </a:p>
        </p:txBody>
      </p:sp>
      <p:cxnSp>
        <p:nvCxnSpPr>
          <p:cNvPr id="7" name="N0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N05</a:t>
            </a:r>
          </a:p>
        </p:txBody>
      </p:sp>
      <p:sp>
        <p:nvSpPr>
          <p:cNvPr id="10" name="N0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05</a:t>
            </a:r>
          </a:p>
        </p:txBody>
      </p:sp>
      <p:sp>
        <p:nvSpPr>
          <p:cNvPr id="11" name="N05/rect/010"/>
          <p:cNvSpPr/>
          <p:nvPr/>
        </p:nvSpPr>
        <p:spPr>
          <a:xfrm>
            <a:off x="502920" y="1691640"/>
            <a:ext cx="3611880" cy="2286000"/>
          </a:xfrm>
          <a:prstGeom prst="roundRect">
            <a:avLst>
              <a:gd name="adj" fmla="val 56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05/gnome-panel/011"/>
          <p:cNvSpPr/>
          <p:nvPr/>
        </p:nvSpPr>
        <p:spPr>
          <a:xfrm>
            <a:off x="685800" y="1874519"/>
            <a:ext cx="3246120" cy="2743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05/text/012"/>
          <p:cNvSpPr txBox="1"/>
          <p:nvPr/>
        </p:nvSpPr>
        <p:spPr>
          <a:xfrm>
            <a:off x="832104" y="187451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4" name="N05/line/013"/>
          <p:cNvCxnSpPr/>
          <p:nvPr/>
        </p:nvCxnSpPr>
        <p:spPr>
          <a:xfrm>
            <a:off x="2944368" y="1971675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05/poly/014"/>
          <p:cNvSpPr/>
          <p:nvPr/>
        </p:nvSpPr>
        <p:spPr>
          <a:xfrm>
            <a:off x="2920365" y="1971675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05/poly/015"/>
          <p:cNvSpPr/>
          <p:nvPr/>
        </p:nvSpPr>
        <p:spPr>
          <a:xfrm>
            <a:off x="2920365" y="2027681"/>
            <a:ext cx="48006" cy="24004"/>
          </a:xfrm>
          <a:custGeom>
            <a:avLst/>
            <a:gdLst/>
            <a:ahLst/>
            <a:cxnLst/>
            <a:rect l="l" t="t" r="r" b="b"/>
            <a:pathLst>
              <a:path w="48006" h="24004">
                <a:moveTo>
                  <a:pt x="0" y="0"/>
                </a:moveTo>
                <a:lnTo>
                  <a:pt x="24003" y="24004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05/poly/016"/>
          <p:cNvSpPr/>
          <p:nvPr/>
        </p:nvSpPr>
        <p:spPr>
          <a:xfrm>
            <a:off x="3132963" y="1971675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3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3" y="56006"/>
                </a:lnTo>
                <a:lnTo>
                  <a:pt x="0" y="56006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05/line/017"/>
          <p:cNvCxnSpPr/>
          <p:nvPr/>
        </p:nvCxnSpPr>
        <p:spPr>
          <a:xfrm>
            <a:off x="3196971" y="1987677"/>
            <a:ext cx="16002" cy="24002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05/line/018"/>
          <p:cNvCxnSpPr/>
          <p:nvPr/>
        </p:nvCxnSpPr>
        <p:spPr>
          <a:xfrm flipH="1">
            <a:off x="3196971" y="2011679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N05/rect/019"/>
          <p:cNvSpPr/>
          <p:nvPr/>
        </p:nvSpPr>
        <p:spPr>
          <a:xfrm>
            <a:off x="3353562" y="1987677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05/rect/020"/>
          <p:cNvSpPr/>
          <p:nvPr/>
        </p:nvSpPr>
        <p:spPr>
          <a:xfrm>
            <a:off x="3441573" y="2003678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05/rect/021"/>
          <p:cNvSpPr/>
          <p:nvPr/>
        </p:nvSpPr>
        <p:spPr>
          <a:xfrm>
            <a:off x="3365563" y="1999678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05/text/022"/>
          <p:cNvSpPr txBox="1"/>
          <p:nvPr/>
        </p:nvSpPr>
        <p:spPr>
          <a:xfrm>
            <a:off x="3547872" y="1874519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24" name="N05/notch-surface-closed/023"/>
          <p:cNvSpPr/>
          <p:nvPr/>
        </p:nvSpPr>
        <p:spPr>
          <a:xfrm>
            <a:off x="1531620" y="1874519"/>
            <a:ext cx="1554480" cy="292608"/>
          </a:xfrm>
          <a:custGeom>
            <a:avLst/>
            <a:gdLst/>
            <a:ahLst/>
            <a:cxnLst/>
            <a:rect l="l" t="t" r="r" b="b"/>
            <a:pathLst>
              <a:path w="1554480" h="292608">
                <a:moveTo>
                  <a:pt x="0" y="0"/>
                </a:moveTo>
                <a:lnTo>
                  <a:pt x="1554480" y="0"/>
                </a:lnTo>
                <a:lnTo>
                  <a:pt x="1548139" y="715"/>
                </a:lnTo>
                <a:lnTo>
                  <a:pt x="1540906" y="2858"/>
                </a:lnTo>
                <a:lnTo>
                  <a:pt x="1533316" y="6430"/>
                </a:lnTo>
                <a:lnTo>
                  <a:pt x="1525905" y="11431"/>
                </a:lnTo>
                <a:lnTo>
                  <a:pt x="1519207" y="17860"/>
                </a:lnTo>
                <a:lnTo>
                  <a:pt x="1513760" y="25718"/>
                </a:lnTo>
                <a:lnTo>
                  <a:pt x="1510099" y="35005"/>
                </a:lnTo>
                <a:lnTo>
                  <a:pt x="1508760" y="45720"/>
                </a:lnTo>
                <a:lnTo>
                  <a:pt x="1506710" y="206741"/>
                </a:lnTo>
                <a:lnTo>
                  <a:pt x="1500639" y="226753"/>
                </a:lnTo>
                <a:lnTo>
                  <a:pt x="1490781" y="245197"/>
                </a:lnTo>
                <a:lnTo>
                  <a:pt x="1477514" y="261363"/>
                </a:lnTo>
                <a:lnTo>
                  <a:pt x="1461348" y="274630"/>
                </a:lnTo>
                <a:lnTo>
                  <a:pt x="1442904" y="284488"/>
                </a:lnTo>
                <a:lnTo>
                  <a:pt x="1422892" y="290559"/>
                </a:lnTo>
                <a:lnTo>
                  <a:pt x="1402080" y="292608"/>
                </a:lnTo>
                <a:lnTo>
                  <a:pt x="152400" y="292608"/>
                </a:lnTo>
                <a:lnTo>
                  <a:pt x="131587" y="290559"/>
                </a:lnTo>
                <a:lnTo>
                  <a:pt x="111575" y="284488"/>
                </a:lnTo>
                <a:lnTo>
                  <a:pt x="93131" y="274630"/>
                </a:lnTo>
                <a:lnTo>
                  <a:pt x="76965" y="261363"/>
                </a:lnTo>
                <a:lnTo>
                  <a:pt x="63698" y="245197"/>
                </a:lnTo>
                <a:lnTo>
                  <a:pt x="53840" y="226753"/>
                </a:lnTo>
                <a:lnTo>
                  <a:pt x="47769" y="206741"/>
                </a:lnTo>
                <a:lnTo>
                  <a:pt x="45720" y="185928"/>
                </a:lnTo>
                <a:lnTo>
                  <a:pt x="45720" y="45720"/>
                </a:lnTo>
                <a:lnTo>
                  <a:pt x="44380" y="35005"/>
                </a:lnTo>
                <a:lnTo>
                  <a:pt x="40719" y="25718"/>
                </a:lnTo>
                <a:lnTo>
                  <a:pt x="35272" y="17860"/>
                </a:lnTo>
                <a:lnTo>
                  <a:pt x="28575" y="11431"/>
                </a:lnTo>
                <a:lnTo>
                  <a:pt x="21163" y="6430"/>
                </a:lnTo>
                <a:lnTo>
                  <a:pt x="13573" y="2858"/>
                </a:lnTo>
                <a:lnTo>
                  <a:pt x="6340" y="7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05/text/024"/>
          <p:cNvSpPr txBox="1"/>
          <p:nvPr/>
        </p:nvSpPr>
        <p:spPr>
          <a:xfrm>
            <a:off x="1531620" y="1874519"/>
            <a:ext cx="155448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5F7"/>
                </a:solidFill>
                <a:latin typeface="Arial"/>
              </a:rPr>
              <a:t>14:32</a:t>
            </a:r>
          </a:p>
        </p:txBody>
      </p:sp>
      <p:sp>
        <p:nvSpPr>
          <p:cNvPr id="26" name="N05/text/025"/>
          <p:cNvSpPr txBox="1"/>
          <p:nvPr/>
        </p:nvSpPr>
        <p:spPr>
          <a:xfrm>
            <a:off x="685800" y="3063240"/>
            <a:ext cx="32461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panel</a:t>
            </a:r>
          </a:p>
        </p:txBody>
      </p:sp>
      <p:sp>
        <p:nvSpPr>
          <p:cNvPr id="27" name="N05/text/026"/>
          <p:cNvSpPr txBox="1"/>
          <p:nvPr/>
        </p:nvSpPr>
        <p:spPr>
          <a:xfrm>
            <a:off x="685800" y="33649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Default · replaces centered clock</a:t>
            </a:r>
          </a:p>
        </p:txBody>
      </p:sp>
      <p:sp>
        <p:nvSpPr>
          <p:cNvPr id="28" name="N05/rect/027"/>
          <p:cNvSpPr/>
          <p:nvPr/>
        </p:nvSpPr>
        <p:spPr>
          <a:xfrm>
            <a:off x="4297680" y="1691640"/>
            <a:ext cx="3611880" cy="2286000"/>
          </a:xfrm>
          <a:prstGeom prst="roundRect">
            <a:avLst>
              <a:gd name="adj" fmla="val 56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05/gnome-panel/028"/>
          <p:cNvSpPr/>
          <p:nvPr/>
        </p:nvSpPr>
        <p:spPr>
          <a:xfrm>
            <a:off x="4480560" y="1874519"/>
            <a:ext cx="3246120" cy="2743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05/text/029"/>
          <p:cNvSpPr txBox="1"/>
          <p:nvPr/>
        </p:nvSpPr>
        <p:spPr>
          <a:xfrm>
            <a:off x="4626864" y="187451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sp>
        <p:nvSpPr>
          <p:cNvPr id="31" name="N05/text/030"/>
          <p:cNvSpPr txBox="1"/>
          <p:nvPr/>
        </p:nvSpPr>
        <p:spPr>
          <a:xfrm>
            <a:off x="5189220" y="1874519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Fri Oct 30  14:32</a:t>
            </a:r>
          </a:p>
        </p:txBody>
      </p:sp>
      <p:cxnSp>
        <p:nvCxnSpPr>
          <p:cNvPr id="32" name="N05/line/031"/>
          <p:cNvCxnSpPr/>
          <p:nvPr/>
        </p:nvCxnSpPr>
        <p:spPr>
          <a:xfrm>
            <a:off x="6739127" y="1971675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N05/poly/032"/>
          <p:cNvSpPr/>
          <p:nvPr/>
        </p:nvSpPr>
        <p:spPr>
          <a:xfrm>
            <a:off x="6715124" y="1971675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05/poly/033"/>
          <p:cNvSpPr/>
          <p:nvPr/>
        </p:nvSpPr>
        <p:spPr>
          <a:xfrm>
            <a:off x="6715124" y="2027681"/>
            <a:ext cx="48006" cy="24004"/>
          </a:xfrm>
          <a:custGeom>
            <a:avLst/>
            <a:gdLst/>
            <a:ahLst/>
            <a:cxnLst/>
            <a:rect l="l" t="t" r="r" b="b"/>
            <a:pathLst>
              <a:path w="48006" h="24004">
                <a:moveTo>
                  <a:pt x="0" y="0"/>
                </a:moveTo>
                <a:lnTo>
                  <a:pt x="24003" y="24004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05/poly/034"/>
          <p:cNvSpPr/>
          <p:nvPr/>
        </p:nvSpPr>
        <p:spPr>
          <a:xfrm>
            <a:off x="6927722" y="1971675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3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3" y="56006"/>
                </a:lnTo>
                <a:lnTo>
                  <a:pt x="0" y="56006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N05/line/035"/>
          <p:cNvCxnSpPr/>
          <p:nvPr/>
        </p:nvCxnSpPr>
        <p:spPr>
          <a:xfrm>
            <a:off x="6991730" y="1987677"/>
            <a:ext cx="16002" cy="24002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05/line/036"/>
          <p:cNvCxnSpPr/>
          <p:nvPr/>
        </p:nvCxnSpPr>
        <p:spPr>
          <a:xfrm flipH="1">
            <a:off x="6991730" y="2011679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05/rect/037"/>
          <p:cNvSpPr/>
          <p:nvPr/>
        </p:nvSpPr>
        <p:spPr>
          <a:xfrm>
            <a:off x="7148321" y="1987677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05/rect/038"/>
          <p:cNvSpPr/>
          <p:nvPr/>
        </p:nvSpPr>
        <p:spPr>
          <a:xfrm>
            <a:off x="7236332" y="2003678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05/rect/039"/>
          <p:cNvSpPr/>
          <p:nvPr/>
        </p:nvSpPr>
        <p:spPr>
          <a:xfrm>
            <a:off x="7160323" y="1999678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05/text/040"/>
          <p:cNvSpPr txBox="1"/>
          <p:nvPr/>
        </p:nvSpPr>
        <p:spPr>
          <a:xfrm>
            <a:off x="7342631" y="1874519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42" name="N05/notch-surface-closed/041"/>
          <p:cNvSpPr/>
          <p:nvPr/>
        </p:nvSpPr>
        <p:spPr>
          <a:xfrm>
            <a:off x="5326380" y="2203703"/>
            <a:ext cx="1554480" cy="292608"/>
          </a:xfrm>
          <a:custGeom>
            <a:avLst/>
            <a:gdLst/>
            <a:ahLst/>
            <a:cxnLst/>
            <a:rect l="l" t="t" r="r" b="b"/>
            <a:pathLst>
              <a:path w="1554480" h="292608">
                <a:moveTo>
                  <a:pt x="0" y="0"/>
                </a:moveTo>
                <a:lnTo>
                  <a:pt x="1554480" y="0"/>
                </a:lnTo>
                <a:lnTo>
                  <a:pt x="1548139" y="715"/>
                </a:lnTo>
                <a:lnTo>
                  <a:pt x="1540906" y="2858"/>
                </a:lnTo>
                <a:lnTo>
                  <a:pt x="1533316" y="6430"/>
                </a:lnTo>
                <a:lnTo>
                  <a:pt x="1525905" y="11431"/>
                </a:lnTo>
                <a:lnTo>
                  <a:pt x="1519207" y="17860"/>
                </a:lnTo>
                <a:lnTo>
                  <a:pt x="1513760" y="25718"/>
                </a:lnTo>
                <a:lnTo>
                  <a:pt x="1510099" y="35005"/>
                </a:lnTo>
                <a:lnTo>
                  <a:pt x="1508760" y="45720"/>
                </a:lnTo>
                <a:lnTo>
                  <a:pt x="1506710" y="206741"/>
                </a:lnTo>
                <a:lnTo>
                  <a:pt x="1500639" y="226753"/>
                </a:lnTo>
                <a:lnTo>
                  <a:pt x="1490781" y="245197"/>
                </a:lnTo>
                <a:lnTo>
                  <a:pt x="1477514" y="261363"/>
                </a:lnTo>
                <a:lnTo>
                  <a:pt x="1461348" y="274630"/>
                </a:lnTo>
                <a:lnTo>
                  <a:pt x="1442904" y="284488"/>
                </a:lnTo>
                <a:lnTo>
                  <a:pt x="1422892" y="290559"/>
                </a:lnTo>
                <a:lnTo>
                  <a:pt x="1402080" y="292608"/>
                </a:lnTo>
                <a:lnTo>
                  <a:pt x="152400" y="292608"/>
                </a:lnTo>
                <a:lnTo>
                  <a:pt x="131587" y="290559"/>
                </a:lnTo>
                <a:lnTo>
                  <a:pt x="111575" y="284488"/>
                </a:lnTo>
                <a:lnTo>
                  <a:pt x="93131" y="274630"/>
                </a:lnTo>
                <a:lnTo>
                  <a:pt x="76965" y="261363"/>
                </a:lnTo>
                <a:lnTo>
                  <a:pt x="63698" y="245197"/>
                </a:lnTo>
                <a:lnTo>
                  <a:pt x="53840" y="226753"/>
                </a:lnTo>
                <a:lnTo>
                  <a:pt x="47769" y="206741"/>
                </a:lnTo>
                <a:lnTo>
                  <a:pt x="45720" y="185928"/>
                </a:lnTo>
                <a:lnTo>
                  <a:pt x="45720" y="45720"/>
                </a:lnTo>
                <a:lnTo>
                  <a:pt x="44380" y="35005"/>
                </a:lnTo>
                <a:lnTo>
                  <a:pt x="40719" y="25718"/>
                </a:lnTo>
                <a:lnTo>
                  <a:pt x="35272" y="17860"/>
                </a:lnTo>
                <a:lnTo>
                  <a:pt x="28575" y="11431"/>
                </a:lnTo>
                <a:lnTo>
                  <a:pt x="21163" y="6430"/>
                </a:lnTo>
                <a:lnTo>
                  <a:pt x="13573" y="2858"/>
                </a:lnTo>
                <a:lnTo>
                  <a:pt x="6340" y="7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05/text/042"/>
          <p:cNvSpPr txBox="1"/>
          <p:nvPr/>
        </p:nvSpPr>
        <p:spPr>
          <a:xfrm>
            <a:off x="5326380" y="2203703"/>
            <a:ext cx="155448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5F7"/>
                </a:solidFill>
                <a:latin typeface="Arial"/>
              </a:rPr>
              <a:t>14:32</a:t>
            </a:r>
          </a:p>
        </p:txBody>
      </p:sp>
      <p:sp>
        <p:nvSpPr>
          <p:cNvPr id="44" name="N05/text/043"/>
          <p:cNvSpPr txBox="1"/>
          <p:nvPr/>
        </p:nvSpPr>
        <p:spPr>
          <a:xfrm>
            <a:off x="4480560" y="3063240"/>
            <a:ext cx="32461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top-center</a:t>
            </a:r>
          </a:p>
        </p:txBody>
      </p:sp>
      <p:sp>
        <p:nvSpPr>
          <p:cNvPr id="45" name="N05/text/044"/>
          <p:cNvSpPr txBox="1"/>
          <p:nvPr/>
        </p:nvSpPr>
        <p:spPr>
          <a:xfrm>
            <a:off x="4480560" y="33649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Below panel + 6 px</a:t>
            </a:r>
          </a:p>
        </p:txBody>
      </p:sp>
      <p:sp>
        <p:nvSpPr>
          <p:cNvPr id="46" name="N05/rect/045"/>
          <p:cNvSpPr/>
          <p:nvPr/>
        </p:nvSpPr>
        <p:spPr>
          <a:xfrm>
            <a:off x="8092440" y="1691640"/>
            <a:ext cx="3611880" cy="2286000"/>
          </a:xfrm>
          <a:prstGeom prst="roundRect">
            <a:avLst>
              <a:gd name="adj" fmla="val 56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05/gnome-panel/046"/>
          <p:cNvSpPr/>
          <p:nvPr/>
        </p:nvSpPr>
        <p:spPr>
          <a:xfrm>
            <a:off x="8275320" y="1874519"/>
            <a:ext cx="3246120" cy="27432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05/text/047"/>
          <p:cNvSpPr txBox="1"/>
          <p:nvPr/>
        </p:nvSpPr>
        <p:spPr>
          <a:xfrm>
            <a:off x="8421624" y="187451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sp>
        <p:nvSpPr>
          <p:cNvPr id="49" name="N05/text/048"/>
          <p:cNvSpPr txBox="1"/>
          <p:nvPr/>
        </p:nvSpPr>
        <p:spPr>
          <a:xfrm>
            <a:off x="8983980" y="1874519"/>
            <a:ext cx="182880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Fri Oct 30  14:32</a:t>
            </a:r>
          </a:p>
        </p:txBody>
      </p:sp>
      <p:cxnSp>
        <p:nvCxnSpPr>
          <p:cNvPr id="50" name="N05/line/049"/>
          <p:cNvCxnSpPr/>
          <p:nvPr/>
        </p:nvCxnSpPr>
        <p:spPr>
          <a:xfrm>
            <a:off x="10533888" y="1971675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N05/poly/050"/>
          <p:cNvSpPr/>
          <p:nvPr/>
        </p:nvSpPr>
        <p:spPr>
          <a:xfrm>
            <a:off x="10509885" y="1971675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05/poly/051"/>
          <p:cNvSpPr/>
          <p:nvPr/>
        </p:nvSpPr>
        <p:spPr>
          <a:xfrm>
            <a:off x="10509885" y="2027681"/>
            <a:ext cx="48006" cy="24004"/>
          </a:xfrm>
          <a:custGeom>
            <a:avLst/>
            <a:gdLst/>
            <a:ahLst/>
            <a:cxnLst/>
            <a:rect l="l" t="t" r="r" b="b"/>
            <a:pathLst>
              <a:path w="48006" h="24004">
                <a:moveTo>
                  <a:pt x="0" y="0"/>
                </a:moveTo>
                <a:lnTo>
                  <a:pt x="24003" y="24004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N05/poly/052"/>
          <p:cNvSpPr/>
          <p:nvPr/>
        </p:nvSpPr>
        <p:spPr>
          <a:xfrm>
            <a:off x="10722483" y="1971675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3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3" y="56006"/>
                </a:lnTo>
                <a:lnTo>
                  <a:pt x="0" y="56006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N05/line/053"/>
          <p:cNvCxnSpPr/>
          <p:nvPr/>
        </p:nvCxnSpPr>
        <p:spPr>
          <a:xfrm>
            <a:off x="10786491" y="1987677"/>
            <a:ext cx="16002" cy="24002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05/line/054"/>
          <p:cNvCxnSpPr/>
          <p:nvPr/>
        </p:nvCxnSpPr>
        <p:spPr>
          <a:xfrm flipH="1">
            <a:off x="10786491" y="2011679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N05/rect/055"/>
          <p:cNvSpPr/>
          <p:nvPr/>
        </p:nvSpPr>
        <p:spPr>
          <a:xfrm>
            <a:off x="10943082" y="1987677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05/rect/056"/>
          <p:cNvSpPr/>
          <p:nvPr/>
        </p:nvSpPr>
        <p:spPr>
          <a:xfrm>
            <a:off x="11031093" y="2003678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05/rect/057"/>
          <p:cNvSpPr/>
          <p:nvPr/>
        </p:nvSpPr>
        <p:spPr>
          <a:xfrm>
            <a:off x="10955083" y="1999678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05/text/058"/>
          <p:cNvSpPr txBox="1"/>
          <p:nvPr/>
        </p:nvSpPr>
        <p:spPr>
          <a:xfrm>
            <a:off x="11137392" y="1874519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60" name="N05/notch-surface-closed/059"/>
          <p:cNvSpPr/>
          <p:nvPr/>
        </p:nvSpPr>
        <p:spPr>
          <a:xfrm>
            <a:off x="9121140" y="2313432"/>
            <a:ext cx="1554480" cy="292607"/>
          </a:xfrm>
          <a:custGeom>
            <a:avLst/>
            <a:gdLst/>
            <a:ahLst/>
            <a:cxnLst/>
            <a:rect l="l" t="t" r="r" b="b"/>
            <a:pathLst>
              <a:path w="1554480" h="292607">
                <a:moveTo>
                  <a:pt x="0" y="0"/>
                </a:moveTo>
                <a:lnTo>
                  <a:pt x="1554480" y="0"/>
                </a:lnTo>
                <a:lnTo>
                  <a:pt x="1548139" y="714"/>
                </a:lnTo>
                <a:lnTo>
                  <a:pt x="1540906" y="2857"/>
                </a:lnTo>
                <a:lnTo>
                  <a:pt x="1533316" y="6429"/>
                </a:lnTo>
                <a:lnTo>
                  <a:pt x="1525905" y="11429"/>
                </a:lnTo>
                <a:lnTo>
                  <a:pt x="1519207" y="17859"/>
                </a:lnTo>
                <a:lnTo>
                  <a:pt x="1513760" y="25717"/>
                </a:lnTo>
                <a:lnTo>
                  <a:pt x="1510099" y="35004"/>
                </a:lnTo>
                <a:lnTo>
                  <a:pt x="1508760" y="45719"/>
                </a:lnTo>
                <a:lnTo>
                  <a:pt x="1506710" y="206740"/>
                </a:lnTo>
                <a:lnTo>
                  <a:pt x="1500639" y="226752"/>
                </a:lnTo>
                <a:lnTo>
                  <a:pt x="1490781" y="245196"/>
                </a:lnTo>
                <a:lnTo>
                  <a:pt x="1477514" y="261362"/>
                </a:lnTo>
                <a:lnTo>
                  <a:pt x="1461348" y="274629"/>
                </a:lnTo>
                <a:lnTo>
                  <a:pt x="1442904" y="284487"/>
                </a:lnTo>
                <a:lnTo>
                  <a:pt x="1422892" y="290558"/>
                </a:lnTo>
                <a:lnTo>
                  <a:pt x="1402080" y="292607"/>
                </a:lnTo>
                <a:lnTo>
                  <a:pt x="152400" y="292607"/>
                </a:lnTo>
                <a:lnTo>
                  <a:pt x="131587" y="290558"/>
                </a:lnTo>
                <a:lnTo>
                  <a:pt x="111575" y="284487"/>
                </a:lnTo>
                <a:lnTo>
                  <a:pt x="93131" y="274629"/>
                </a:lnTo>
                <a:lnTo>
                  <a:pt x="76965" y="261362"/>
                </a:lnTo>
                <a:lnTo>
                  <a:pt x="63698" y="245196"/>
                </a:lnTo>
                <a:lnTo>
                  <a:pt x="53840" y="226752"/>
                </a:lnTo>
                <a:lnTo>
                  <a:pt x="47769" y="206740"/>
                </a:lnTo>
                <a:lnTo>
                  <a:pt x="45720" y="185927"/>
                </a:lnTo>
                <a:lnTo>
                  <a:pt x="45720" y="45719"/>
                </a:lnTo>
                <a:lnTo>
                  <a:pt x="44380" y="35004"/>
                </a:lnTo>
                <a:lnTo>
                  <a:pt x="40719" y="25717"/>
                </a:lnTo>
                <a:lnTo>
                  <a:pt x="35272" y="17859"/>
                </a:lnTo>
                <a:lnTo>
                  <a:pt x="28575" y="11430"/>
                </a:lnTo>
                <a:lnTo>
                  <a:pt x="21163" y="6429"/>
                </a:lnTo>
                <a:lnTo>
                  <a:pt x="13573" y="2857"/>
                </a:lnTo>
                <a:lnTo>
                  <a:pt x="6340" y="71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05/text/060"/>
          <p:cNvSpPr txBox="1"/>
          <p:nvPr/>
        </p:nvSpPr>
        <p:spPr>
          <a:xfrm>
            <a:off x="9121140" y="2313432"/>
            <a:ext cx="155448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5F7"/>
                </a:solidFill>
                <a:latin typeface="Arial"/>
              </a:rPr>
              <a:t>14:32</a:t>
            </a:r>
          </a:p>
        </p:txBody>
      </p:sp>
      <p:sp>
        <p:nvSpPr>
          <p:cNvPr id="62" name="N05/text/061"/>
          <p:cNvSpPr txBox="1"/>
          <p:nvPr/>
        </p:nvSpPr>
        <p:spPr>
          <a:xfrm>
            <a:off x="8275320" y="3063240"/>
            <a:ext cx="32461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floating</a:t>
            </a:r>
          </a:p>
        </p:txBody>
      </p:sp>
      <p:sp>
        <p:nvSpPr>
          <p:cNvPr id="63" name="N05/text/062"/>
          <p:cNvSpPr txBox="1"/>
          <p:nvPr/>
        </p:nvSpPr>
        <p:spPr>
          <a:xfrm>
            <a:off x="8275320" y="33649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Top margin 12 px</a:t>
            </a:r>
          </a:p>
        </p:txBody>
      </p:sp>
      <p:sp>
        <p:nvSpPr>
          <p:cNvPr id="64" name="N05/text/063"/>
          <p:cNvSpPr txBox="1"/>
          <p:nvPr/>
        </p:nvSpPr>
        <p:spPr>
          <a:xfrm>
            <a:off x="502920" y="4251960"/>
            <a:ext cx="1115568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DEFAULT DIMENSIONS</a:t>
            </a:r>
          </a:p>
        </p:txBody>
      </p:sp>
      <p:sp>
        <p:nvSpPr>
          <p:cNvPr id="65" name="N05/rect/064"/>
          <p:cNvSpPr/>
          <p:nvPr/>
        </p:nvSpPr>
        <p:spPr>
          <a:xfrm>
            <a:off x="502920" y="4572000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05/text/065"/>
          <p:cNvSpPr txBox="1"/>
          <p:nvPr/>
        </p:nvSpPr>
        <p:spPr>
          <a:xfrm>
            <a:off x="612648" y="462686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Closed</a:t>
            </a:r>
          </a:p>
        </p:txBody>
      </p:sp>
      <p:sp>
        <p:nvSpPr>
          <p:cNvPr id="67" name="N05/text/066"/>
          <p:cNvSpPr txBox="1"/>
          <p:nvPr/>
        </p:nvSpPr>
        <p:spPr>
          <a:xfrm>
            <a:off x="1508760" y="4626864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185×32</a:t>
            </a:r>
          </a:p>
        </p:txBody>
      </p:sp>
      <p:sp>
        <p:nvSpPr>
          <p:cNvPr id="68" name="N05/text/067"/>
          <p:cNvSpPr txBox="1"/>
          <p:nvPr/>
        </p:nvSpPr>
        <p:spPr>
          <a:xfrm>
            <a:off x="612648" y="4882896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+64 media wings · +12×4 hover</a:t>
            </a:r>
          </a:p>
        </p:txBody>
      </p:sp>
      <p:sp>
        <p:nvSpPr>
          <p:cNvPr id="69" name="N05/rect/068"/>
          <p:cNvSpPr/>
          <p:nvPr/>
        </p:nvSpPr>
        <p:spPr>
          <a:xfrm>
            <a:off x="3355848" y="4572000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05/text/069"/>
          <p:cNvSpPr txBox="1"/>
          <p:nvPr/>
        </p:nvSpPr>
        <p:spPr>
          <a:xfrm>
            <a:off x="3465576" y="462686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Peek</a:t>
            </a:r>
          </a:p>
        </p:txBody>
      </p:sp>
      <p:sp>
        <p:nvSpPr>
          <p:cNvPr id="71" name="N05/text/070"/>
          <p:cNvSpPr txBox="1"/>
          <p:nvPr/>
        </p:nvSpPr>
        <p:spPr>
          <a:xfrm>
            <a:off x="4361688" y="4626864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440×144</a:t>
            </a:r>
          </a:p>
        </p:txBody>
      </p:sp>
      <p:sp>
        <p:nvSpPr>
          <p:cNvPr id="72" name="N05/text/071"/>
          <p:cNvSpPr txBox="1"/>
          <p:nvPr/>
        </p:nvSpPr>
        <p:spPr>
          <a:xfrm>
            <a:off x="3465576" y="4882896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panel 32 + 112</a:t>
            </a:r>
          </a:p>
        </p:txBody>
      </p:sp>
      <p:sp>
        <p:nvSpPr>
          <p:cNvPr id="73" name="N05/rect/072"/>
          <p:cNvSpPr/>
          <p:nvPr/>
        </p:nvSpPr>
        <p:spPr>
          <a:xfrm>
            <a:off x="6208776" y="4572000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05/text/073"/>
          <p:cNvSpPr txBox="1"/>
          <p:nvPr/>
        </p:nvSpPr>
        <p:spPr>
          <a:xfrm>
            <a:off x="6318504" y="462686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Home</a:t>
            </a:r>
          </a:p>
        </p:txBody>
      </p:sp>
      <p:sp>
        <p:nvSpPr>
          <p:cNvPr id="75" name="N05/text/074"/>
          <p:cNvSpPr txBox="1"/>
          <p:nvPr/>
        </p:nvSpPr>
        <p:spPr>
          <a:xfrm>
            <a:off x="7214616" y="4626864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640×210</a:t>
            </a:r>
          </a:p>
        </p:txBody>
      </p:sp>
      <p:sp>
        <p:nvSpPr>
          <p:cNvPr id="76" name="N05/text/075"/>
          <p:cNvSpPr txBox="1"/>
          <p:nvPr/>
        </p:nvSpPr>
        <p:spPr>
          <a:xfrm>
            <a:off x="6318504" y="4882896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idle / media</a:t>
            </a:r>
          </a:p>
        </p:txBody>
      </p:sp>
      <p:sp>
        <p:nvSpPr>
          <p:cNvPr id="77" name="N05/rect/076"/>
          <p:cNvSpPr/>
          <p:nvPr/>
        </p:nvSpPr>
        <p:spPr>
          <a:xfrm>
            <a:off x="9061704" y="4572000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N05/text/077"/>
          <p:cNvSpPr txBox="1"/>
          <p:nvPr/>
        </p:nvSpPr>
        <p:spPr>
          <a:xfrm>
            <a:off x="9171432" y="4626864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Music</a:t>
            </a:r>
          </a:p>
        </p:txBody>
      </p:sp>
      <p:sp>
        <p:nvSpPr>
          <p:cNvPr id="79" name="N05/text/078"/>
          <p:cNvSpPr txBox="1"/>
          <p:nvPr/>
        </p:nvSpPr>
        <p:spPr>
          <a:xfrm>
            <a:off x="10067544" y="4626864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640×300</a:t>
            </a:r>
          </a:p>
        </p:txBody>
      </p:sp>
      <p:sp>
        <p:nvSpPr>
          <p:cNvPr id="80" name="N05/text/079"/>
          <p:cNvSpPr txBox="1"/>
          <p:nvPr/>
        </p:nvSpPr>
        <p:spPr>
          <a:xfrm>
            <a:off x="9171432" y="4882896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full player</a:t>
            </a:r>
          </a:p>
        </p:txBody>
      </p:sp>
      <p:sp>
        <p:nvSpPr>
          <p:cNvPr id="81" name="N05/rect/080"/>
          <p:cNvSpPr/>
          <p:nvPr/>
        </p:nvSpPr>
        <p:spPr>
          <a:xfrm>
            <a:off x="502920" y="5285232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N05/text/081"/>
          <p:cNvSpPr txBox="1"/>
          <p:nvPr/>
        </p:nvSpPr>
        <p:spPr>
          <a:xfrm>
            <a:off x="612648" y="534009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Alerts</a:t>
            </a:r>
          </a:p>
        </p:txBody>
      </p:sp>
      <p:sp>
        <p:nvSpPr>
          <p:cNvPr id="83" name="N05/text/082"/>
          <p:cNvSpPr txBox="1"/>
          <p:nvPr/>
        </p:nvSpPr>
        <p:spPr>
          <a:xfrm>
            <a:off x="1508760" y="5340096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560×320</a:t>
            </a:r>
          </a:p>
        </p:txBody>
      </p:sp>
      <p:sp>
        <p:nvSpPr>
          <p:cNvPr id="84" name="N05/text/083"/>
          <p:cNvSpPr txBox="1"/>
          <p:nvPr/>
        </p:nvSpPr>
        <p:spPr>
          <a:xfrm>
            <a:off x="612648" y="5596128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list</a:t>
            </a:r>
          </a:p>
        </p:txBody>
      </p:sp>
      <p:sp>
        <p:nvSpPr>
          <p:cNvPr id="85" name="N05/rect/084"/>
          <p:cNvSpPr/>
          <p:nvPr/>
        </p:nvSpPr>
        <p:spPr>
          <a:xfrm>
            <a:off x="3355848" y="5285232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N05/text/085"/>
          <p:cNvSpPr txBox="1"/>
          <p:nvPr/>
        </p:nvSpPr>
        <p:spPr>
          <a:xfrm>
            <a:off x="3465576" y="534009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System</a:t>
            </a:r>
          </a:p>
        </p:txBody>
      </p:sp>
      <p:sp>
        <p:nvSpPr>
          <p:cNvPr id="87" name="N05/text/086"/>
          <p:cNvSpPr txBox="1"/>
          <p:nvPr/>
        </p:nvSpPr>
        <p:spPr>
          <a:xfrm>
            <a:off x="4361688" y="5340096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640×260</a:t>
            </a:r>
          </a:p>
        </p:txBody>
      </p:sp>
      <p:sp>
        <p:nvSpPr>
          <p:cNvPr id="88" name="N05/text/087"/>
          <p:cNvSpPr txBox="1"/>
          <p:nvPr/>
        </p:nvSpPr>
        <p:spPr>
          <a:xfrm>
            <a:off x="3465576" y="5596128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stats + actions</a:t>
            </a:r>
          </a:p>
        </p:txBody>
      </p:sp>
      <p:sp>
        <p:nvSpPr>
          <p:cNvPr id="89" name="N05/rect/088"/>
          <p:cNvSpPr/>
          <p:nvPr/>
        </p:nvSpPr>
        <p:spPr>
          <a:xfrm>
            <a:off x="6208776" y="5285232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N05/text/089"/>
          <p:cNvSpPr txBox="1"/>
          <p:nvPr/>
        </p:nvSpPr>
        <p:spPr>
          <a:xfrm>
            <a:off x="6318504" y="534009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Shelf</a:t>
            </a:r>
          </a:p>
        </p:txBody>
      </p:sp>
      <p:sp>
        <p:nvSpPr>
          <p:cNvPr id="91" name="N05/text/090"/>
          <p:cNvSpPr txBox="1"/>
          <p:nvPr/>
        </p:nvSpPr>
        <p:spPr>
          <a:xfrm>
            <a:off x="7214616" y="5340096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640×260</a:t>
            </a:r>
          </a:p>
        </p:txBody>
      </p:sp>
      <p:sp>
        <p:nvSpPr>
          <p:cNvPr id="92" name="N05/text/091"/>
          <p:cNvSpPr txBox="1"/>
          <p:nvPr/>
        </p:nvSpPr>
        <p:spPr>
          <a:xfrm>
            <a:off x="6318504" y="5596128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files</a:t>
            </a:r>
          </a:p>
        </p:txBody>
      </p:sp>
      <p:sp>
        <p:nvSpPr>
          <p:cNvPr id="93" name="N05/rect/092"/>
          <p:cNvSpPr/>
          <p:nvPr/>
        </p:nvSpPr>
        <p:spPr>
          <a:xfrm>
            <a:off x="9061704" y="5285232"/>
            <a:ext cx="2697480" cy="603504"/>
          </a:xfrm>
          <a:prstGeom prst="roundRect">
            <a:avLst>
              <a:gd name="adj" fmla="val 12121"/>
            </a:avLst>
          </a:prstGeom>
          <a:solidFill>
            <a:srgbClr val="1C1C24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05/text/093"/>
          <p:cNvSpPr txBox="1"/>
          <p:nvPr/>
        </p:nvSpPr>
        <p:spPr>
          <a:xfrm>
            <a:off x="9171432" y="534009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5F7"/>
                </a:solidFill>
                <a:latin typeface="Arial"/>
              </a:rPr>
              <a:t>Clips</a:t>
            </a:r>
          </a:p>
        </p:txBody>
      </p:sp>
      <p:sp>
        <p:nvSpPr>
          <p:cNvPr id="95" name="N05/text/094"/>
          <p:cNvSpPr txBox="1"/>
          <p:nvPr/>
        </p:nvSpPr>
        <p:spPr>
          <a:xfrm>
            <a:off x="10067544" y="5340096"/>
            <a:ext cx="155448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0D158"/>
                </a:solidFill>
                <a:latin typeface="Consolas"/>
              </a:rPr>
              <a:t>580×300</a:t>
            </a:r>
          </a:p>
        </p:txBody>
      </p:sp>
      <p:sp>
        <p:nvSpPr>
          <p:cNvPr id="96" name="N05/text/095"/>
          <p:cNvSpPr txBox="1"/>
          <p:nvPr/>
        </p:nvSpPr>
        <p:spPr>
          <a:xfrm>
            <a:off x="9171432" y="5596128"/>
            <a:ext cx="2468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history</a:t>
            </a:r>
          </a:p>
        </p:txBody>
      </p:sp>
      <p:sp>
        <p:nvSpPr>
          <p:cNvPr id="97" name="N05/gnome-panel/096"/>
          <p:cNvSpPr/>
          <p:nvPr/>
        </p:nvSpPr>
        <p:spPr>
          <a:xfrm>
            <a:off x="502920" y="192024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N05/text/097"/>
          <p:cNvSpPr txBox="1"/>
          <p:nvPr/>
        </p:nvSpPr>
        <p:spPr>
          <a:xfrm>
            <a:off x="649224" y="192024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99" name="N05/line/098"/>
          <p:cNvCxnSpPr/>
          <p:nvPr/>
        </p:nvCxnSpPr>
        <p:spPr>
          <a:xfrm>
            <a:off x="7150608" y="207225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N05/poly/099"/>
          <p:cNvSpPr/>
          <p:nvPr/>
        </p:nvSpPr>
        <p:spPr>
          <a:xfrm>
            <a:off x="7126605" y="207225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N05/poly/100"/>
          <p:cNvSpPr/>
          <p:nvPr/>
        </p:nvSpPr>
        <p:spPr>
          <a:xfrm>
            <a:off x="7126605" y="212826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N05/poly/101"/>
          <p:cNvSpPr/>
          <p:nvPr/>
        </p:nvSpPr>
        <p:spPr>
          <a:xfrm>
            <a:off x="7339202" y="207225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N05/line/102"/>
          <p:cNvCxnSpPr/>
          <p:nvPr/>
        </p:nvCxnSpPr>
        <p:spPr>
          <a:xfrm>
            <a:off x="7403211" y="208826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N05/line/103"/>
          <p:cNvCxnSpPr/>
          <p:nvPr/>
        </p:nvCxnSpPr>
        <p:spPr>
          <a:xfrm flipH="1">
            <a:off x="7403211" y="211226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N05/rect/104"/>
          <p:cNvSpPr/>
          <p:nvPr/>
        </p:nvSpPr>
        <p:spPr>
          <a:xfrm>
            <a:off x="7559802" y="208826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N05/rect/105"/>
          <p:cNvSpPr/>
          <p:nvPr/>
        </p:nvSpPr>
        <p:spPr>
          <a:xfrm>
            <a:off x="7647813" y="210426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N05/rect/106"/>
          <p:cNvSpPr/>
          <p:nvPr/>
        </p:nvSpPr>
        <p:spPr>
          <a:xfrm>
            <a:off x="7571803" y="210026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N05/text/107"/>
          <p:cNvSpPr txBox="1"/>
          <p:nvPr/>
        </p:nvSpPr>
        <p:spPr>
          <a:xfrm>
            <a:off x="7754112" y="192024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109" name="N05/gnome-panel/108"/>
          <p:cNvSpPr/>
          <p:nvPr/>
        </p:nvSpPr>
        <p:spPr>
          <a:xfrm>
            <a:off x="502920" y="324612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N05/text/109"/>
          <p:cNvSpPr txBox="1"/>
          <p:nvPr/>
        </p:nvSpPr>
        <p:spPr>
          <a:xfrm>
            <a:off x="649224" y="324612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11" name="N05/line/110"/>
          <p:cNvCxnSpPr/>
          <p:nvPr/>
        </p:nvCxnSpPr>
        <p:spPr>
          <a:xfrm>
            <a:off x="7150608" y="339813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N05/poly/111"/>
          <p:cNvSpPr/>
          <p:nvPr/>
        </p:nvSpPr>
        <p:spPr>
          <a:xfrm>
            <a:off x="7126605" y="339813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N05/poly/112"/>
          <p:cNvSpPr/>
          <p:nvPr/>
        </p:nvSpPr>
        <p:spPr>
          <a:xfrm>
            <a:off x="7126605" y="345414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N05/poly/113"/>
          <p:cNvSpPr/>
          <p:nvPr/>
        </p:nvSpPr>
        <p:spPr>
          <a:xfrm>
            <a:off x="7339202" y="339813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N05/line/114"/>
          <p:cNvCxnSpPr/>
          <p:nvPr/>
        </p:nvCxnSpPr>
        <p:spPr>
          <a:xfrm>
            <a:off x="7403211" y="341414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N05/line/115"/>
          <p:cNvCxnSpPr/>
          <p:nvPr/>
        </p:nvCxnSpPr>
        <p:spPr>
          <a:xfrm flipH="1">
            <a:off x="7403211" y="343814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N05/rect/116"/>
          <p:cNvSpPr/>
          <p:nvPr/>
        </p:nvSpPr>
        <p:spPr>
          <a:xfrm>
            <a:off x="7559802" y="341414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N05/rect/117"/>
          <p:cNvSpPr/>
          <p:nvPr/>
        </p:nvSpPr>
        <p:spPr>
          <a:xfrm>
            <a:off x="7647813" y="343014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N05/rect/118"/>
          <p:cNvSpPr/>
          <p:nvPr/>
        </p:nvSpPr>
        <p:spPr>
          <a:xfrm>
            <a:off x="7571803" y="342614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N05/text/119"/>
          <p:cNvSpPr txBox="1"/>
          <p:nvPr/>
        </p:nvSpPr>
        <p:spPr>
          <a:xfrm>
            <a:off x="7754112" y="324612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121" name="N05/gnome-panel/120"/>
          <p:cNvSpPr/>
          <p:nvPr/>
        </p:nvSpPr>
        <p:spPr>
          <a:xfrm>
            <a:off x="502920" y="457200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N05/text/121"/>
          <p:cNvSpPr txBox="1"/>
          <p:nvPr/>
        </p:nvSpPr>
        <p:spPr>
          <a:xfrm>
            <a:off x="649224" y="457200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23" name="N05/line/122"/>
          <p:cNvCxnSpPr/>
          <p:nvPr/>
        </p:nvCxnSpPr>
        <p:spPr>
          <a:xfrm>
            <a:off x="7150608" y="472401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N05/poly/123"/>
          <p:cNvSpPr/>
          <p:nvPr/>
        </p:nvSpPr>
        <p:spPr>
          <a:xfrm>
            <a:off x="7126605" y="472401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N05/poly/124"/>
          <p:cNvSpPr/>
          <p:nvPr/>
        </p:nvSpPr>
        <p:spPr>
          <a:xfrm>
            <a:off x="7126605" y="478002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N05/poly/125"/>
          <p:cNvSpPr/>
          <p:nvPr/>
        </p:nvSpPr>
        <p:spPr>
          <a:xfrm>
            <a:off x="7339202" y="472401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N05/line/126"/>
          <p:cNvCxnSpPr/>
          <p:nvPr/>
        </p:nvCxnSpPr>
        <p:spPr>
          <a:xfrm>
            <a:off x="7403211" y="474002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N05/line/127"/>
          <p:cNvCxnSpPr/>
          <p:nvPr/>
        </p:nvCxnSpPr>
        <p:spPr>
          <a:xfrm flipH="1">
            <a:off x="7403211" y="476402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N05/rect/128"/>
          <p:cNvSpPr/>
          <p:nvPr/>
        </p:nvSpPr>
        <p:spPr>
          <a:xfrm>
            <a:off x="7559802" y="474002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N05/rect/129"/>
          <p:cNvSpPr/>
          <p:nvPr/>
        </p:nvSpPr>
        <p:spPr>
          <a:xfrm>
            <a:off x="7647813" y="475602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N05/rect/130"/>
          <p:cNvSpPr/>
          <p:nvPr/>
        </p:nvSpPr>
        <p:spPr>
          <a:xfrm>
            <a:off x="7571803" y="475202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N05/text/131"/>
          <p:cNvSpPr txBox="1"/>
          <p:nvPr/>
        </p:nvSpPr>
        <p:spPr>
          <a:xfrm>
            <a:off x="7754112" y="457200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133" name="N05/gnome-panel/132"/>
          <p:cNvSpPr/>
          <p:nvPr/>
        </p:nvSpPr>
        <p:spPr>
          <a:xfrm>
            <a:off x="502920" y="196596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N05/text/133"/>
          <p:cNvSpPr txBox="1"/>
          <p:nvPr/>
        </p:nvSpPr>
        <p:spPr>
          <a:xfrm>
            <a:off x="649224" y="196596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35" name="N05/line/134"/>
          <p:cNvCxnSpPr/>
          <p:nvPr/>
        </p:nvCxnSpPr>
        <p:spPr>
          <a:xfrm>
            <a:off x="7150608" y="211797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N05/poly/135"/>
          <p:cNvSpPr/>
          <p:nvPr/>
        </p:nvSpPr>
        <p:spPr>
          <a:xfrm>
            <a:off x="7126605" y="211797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N05/poly/136"/>
          <p:cNvSpPr/>
          <p:nvPr/>
        </p:nvSpPr>
        <p:spPr>
          <a:xfrm>
            <a:off x="7126605" y="217398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N05/poly/137"/>
          <p:cNvSpPr/>
          <p:nvPr/>
        </p:nvSpPr>
        <p:spPr>
          <a:xfrm>
            <a:off x="7339202" y="211797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N05/line/138"/>
          <p:cNvCxnSpPr/>
          <p:nvPr/>
        </p:nvCxnSpPr>
        <p:spPr>
          <a:xfrm>
            <a:off x="7403211" y="213398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N05/line/139"/>
          <p:cNvCxnSpPr/>
          <p:nvPr/>
        </p:nvCxnSpPr>
        <p:spPr>
          <a:xfrm flipH="1">
            <a:off x="7403211" y="215798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N05/rect/140"/>
          <p:cNvSpPr/>
          <p:nvPr/>
        </p:nvSpPr>
        <p:spPr>
          <a:xfrm>
            <a:off x="7559802" y="213398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N05/rect/141"/>
          <p:cNvSpPr/>
          <p:nvPr/>
        </p:nvSpPr>
        <p:spPr>
          <a:xfrm>
            <a:off x="7647813" y="214998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N05/rect/142"/>
          <p:cNvSpPr/>
          <p:nvPr/>
        </p:nvSpPr>
        <p:spPr>
          <a:xfrm>
            <a:off x="7571803" y="214598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N05/text/143"/>
          <p:cNvSpPr txBox="1"/>
          <p:nvPr/>
        </p:nvSpPr>
        <p:spPr>
          <a:xfrm>
            <a:off x="7754112" y="196596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145" name="N05/gnome-panel/144"/>
          <p:cNvSpPr/>
          <p:nvPr/>
        </p:nvSpPr>
        <p:spPr>
          <a:xfrm>
            <a:off x="502920" y="333756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N05/text/145"/>
          <p:cNvSpPr txBox="1"/>
          <p:nvPr/>
        </p:nvSpPr>
        <p:spPr>
          <a:xfrm>
            <a:off x="649224" y="333756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47" name="N05/line/146"/>
          <p:cNvCxnSpPr/>
          <p:nvPr/>
        </p:nvCxnSpPr>
        <p:spPr>
          <a:xfrm>
            <a:off x="7150608" y="348957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N05/poly/147"/>
          <p:cNvSpPr/>
          <p:nvPr/>
        </p:nvSpPr>
        <p:spPr>
          <a:xfrm>
            <a:off x="7126605" y="348957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N05/poly/148"/>
          <p:cNvSpPr/>
          <p:nvPr/>
        </p:nvSpPr>
        <p:spPr>
          <a:xfrm>
            <a:off x="7126605" y="354558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N05/poly/149"/>
          <p:cNvSpPr/>
          <p:nvPr/>
        </p:nvSpPr>
        <p:spPr>
          <a:xfrm>
            <a:off x="7339202" y="348957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1" name="N05/line/150"/>
          <p:cNvCxnSpPr/>
          <p:nvPr/>
        </p:nvCxnSpPr>
        <p:spPr>
          <a:xfrm>
            <a:off x="7403211" y="350558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N05/line/151"/>
          <p:cNvCxnSpPr/>
          <p:nvPr/>
        </p:nvCxnSpPr>
        <p:spPr>
          <a:xfrm flipH="1">
            <a:off x="7403211" y="352958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N05/rect/152"/>
          <p:cNvSpPr/>
          <p:nvPr/>
        </p:nvSpPr>
        <p:spPr>
          <a:xfrm>
            <a:off x="7559802" y="350558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N05/rect/153"/>
          <p:cNvSpPr/>
          <p:nvPr/>
        </p:nvSpPr>
        <p:spPr>
          <a:xfrm>
            <a:off x="7647813" y="352158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N05/rect/154"/>
          <p:cNvSpPr/>
          <p:nvPr/>
        </p:nvSpPr>
        <p:spPr>
          <a:xfrm>
            <a:off x="7571803" y="351758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N05/text/155"/>
          <p:cNvSpPr txBox="1"/>
          <p:nvPr/>
        </p:nvSpPr>
        <p:spPr>
          <a:xfrm>
            <a:off x="7754112" y="333756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sp>
        <p:nvSpPr>
          <p:cNvPr id="157" name="N05/gnome-panel/156"/>
          <p:cNvSpPr/>
          <p:nvPr/>
        </p:nvSpPr>
        <p:spPr>
          <a:xfrm>
            <a:off x="502920" y="4709160"/>
            <a:ext cx="7635240" cy="384048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N05/text/157"/>
          <p:cNvSpPr txBox="1"/>
          <p:nvPr/>
        </p:nvSpPr>
        <p:spPr>
          <a:xfrm>
            <a:off x="649224" y="4709160"/>
            <a:ext cx="109728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59" name="N05/line/158"/>
          <p:cNvCxnSpPr/>
          <p:nvPr/>
        </p:nvCxnSpPr>
        <p:spPr>
          <a:xfrm>
            <a:off x="7150608" y="4861179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N05/poly/159"/>
          <p:cNvSpPr/>
          <p:nvPr/>
        </p:nvSpPr>
        <p:spPr>
          <a:xfrm>
            <a:off x="7126605" y="4861179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N05/poly/160"/>
          <p:cNvSpPr/>
          <p:nvPr/>
        </p:nvSpPr>
        <p:spPr>
          <a:xfrm>
            <a:off x="7126605" y="4917186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N05/poly/161"/>
          <p:cNvSpPr/>
          <p:nvPr/>
        </p:nvSpPr>
        <p:spPr>
          <a:xfrm>
            <a:off x="7339202" y="4861179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N05/line/162"/>
          <p:cNvCxnSpPr/>
          <p:nvPr/>
        </p:nvCxnSpPr>
        <p:spPr>
          <a:xfrm>
            <a:off x="7403211" y="4877181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N05/line/163"/>
          <p:cNvCxnSpPr/>
          <p:nvPr/>
        </p:nvCxnSpPr>
        <p:spPr>
          <a:xfrm flipH="1">
            <a:off x="7403211" y="4901184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N05/rect/164"/>
          <p:cNvSpPr/>
          <p:nvPr/>
        </p:nvSpPr>
        <p:spPr>
          <a:xfrm>
            <a:off x="7559802" y="4877181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N05/rect/165"/>
          <p:cNvSpPr/>
          <p:nvPr/>
        </p:nvSpPr>
        <p:spPr>
          <a:xfrm>
            <a:off x="7647813" y="4893183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N05/rect/166"/>
          <p:cNvSpPr/>
          <p:nvPr/>
        </p:nvSpPr>
        <p:spPr>
          <a:xfrm>
            <a:off x="7571803" y="4889182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N05/text/167"/>
          <p:cNvSpPr txBox="1"/>
          <p:nvPr/>
        </p:nvSpPr>
        <p:spPr>
          <a:xfrm>
            <a:off x="7754112" y="4709160"/>
            <a:ext cx="27432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CLOSED MODE</a:t>
            </a:r>
          </a:p>
        </p:txBody>
      </p:sp>
      <p:sp>
        <p:nvSpPr>
          <p:cNvPr id="5" name="N0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Idle clock in the top bar</a:t>
            </a:r>
          </a:p>
        </p:txBody>
      </p:sp>
      <p:sp>
        <p:nvSpPr>
          <p:cNvPr id="6" name="N0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Default placement=panel · replace-panel-clock=true · idle-clock=true</a:t>
            </a:r>
          </a:p>
        </p:txBody>
      </p:sp>
      <p:cxnSp>
        <p:nvCxnSpPr>
          <p:cNvPr id="7" name="N0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N06</a:t>
            </a:r>
          </a:p>
        </p:txBody>
      </p:sp>
      <p:sp>
        <p:nvSpPr>
          <p:cNvPr id="10" name="N0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06</a:t>
            </a:r>
          </a:p>
        </p:txBody>
      </p:sp>
      <p:grpSp>
        <p:nvGrpSpPr>
          <p:cNvPr id="11" name="N06/closed-idle"/>
          <p:cNvGrpSpPr/>
          <p:nvPr/>
        </p:nvGrpSpPr>
        <p:grpSpPr>
          <a:xfrm>
            <a:off x="3337560" y="1920240"/>
            <a:ext cx="1965960" cy="384048"/>
            <a:chOff x="3337560" y="1920240"/>
            <a:chExt cx="1965960" cy="384048"/>
          </a:xfrm>
        </p:grpSpPr>
        <p:sp>
          <p:nvSpPr>
            <p:cNvPr id="12" name="N06/closed-idle/notch-surface-closed/001"/>
            <p:cNvSpPr/>
            <p:nvPr/>
          </p:nvSpPr>
          <p:spPr>
            <a:xfrm>
              <a:off x="3337560" y="1920240"/>
              <a:ext cx="1965960" cy="384048"/>
            </a:xfrm>
            <a:custGeom>
              <a:avLst/>
              <a:gdLst/>
              <a:ahLst/>
              <a:cxnLst/>
              <a:rect l="l" t="t" r="r" b="b"/>
              <a:pathLst>
                <a:path w="1965960" h="384048">
                  <a:moveTo>
                    <a:pt x="0" y="0"/>
                  </a:moveTo>
                  <a:lnTo>
                    <a:pt x="1965960" y="0"/>
                  </a:lnTo>
                  <a:lnTo>
                    <a:pt x="1958034" y="892"/>
                  </a:lnTo>
                  <a:lnTo>
                    <a:pt x="1948993" y="3571"/>
                  </a:lnTo>
                  <a:lnTo>
                    <a:pt x="1939505" y="8036"/>
                  </a:lnTo>
                  <a:lnTo>
                    <a:pt x="1930241" y="14287"/>
                  </a:lnTo>
                  <a:lnTo>
                    <a:pt x="1921869" y="22324"/>
                  </a:lnTo>
                  <a:lnTo>
                    <a:pt x="1915060" y="32146"/>
                  </a:lnTo>
                  <a:lnTo>
                    <a:pt x="1910484" y="43755"/>
                  </a:lnTo>
                  <a:lnTo>
                    <a:pt x="1908810" y="57150"/>
                  </a:lnTo>
                  <a:lnTo>
                    <a:pt x="1906247" y="276713"/>
                  </a:lnTo>
                  <a:lnTo>
                    <a:pt x="1898659" y="301728"/>
                  </a:lnTo>
                  <a:lnTo>
                    <a:pt x="1886336" y="324783"/>
                  </a:lnTo>
                  <a:lnTo>
                    <a:pt x="1869752" y="344990"/>
                  </a:lnTo>
                  <a:lnTo>
                    <a:pt x="1849545" y="361574"/>
                  </a:lnTo>
                  <a:lnTo>
                    <a:pt x="1826490" y="373897"/>
                  </a:lnTo>
                  <a:lnTo>
                    <a:pt x="1801475" y="381485"/>
                  </a:lnTo>
                  <a:lnTo>
                    <a:pt x="1775460" y="384048"/>
                  </a:lnTo>
                  <a:lnTo>
                    <a:pt x="190500" y="384048"/>
                  </a:lnTo>
                  <a:lnTo>
                    <a:pt x="164484" y="381485"/>
                  </a:lnTo>
                  <a:lnTo>
                    <a:pt x="139469" y="373897"/>
                  </a:lnTo>
                  <a:lnTo>
                    <a:pt x="116414" y="361574"/>
                  </a:lnTo>
                  <a:lnTo>
                    <a:pt x="96207" y="344990"/>
                  </a:lnTo>
                  <a:lnTo>
                    <a:pt x="79623" y="324783"/>
                  </a:lnTo>
                  <a:lnTo>
                    <a:pt x="67300" y="301728"/>
                  </a:lnTo>
                  <a:lnTo>
                    <a:pt x="59712" y="276713"/>
                  </a:lnTo>
                  <a:lnTo>
                    <a:pt x="57150" y="250698"/>
                  </a:lnTo>
                  <a:lnTo>
                    <a:pt x="57150" y="57150"/>
                  </a:lnTo>
                  <a:lnTo>
                    <a:pt x="55475" y="43755"/>
                  </a:lnTo>
                  <a:lnTo>
                    <a:pt x="50899" y="32146"/>
                  </a:lnTo>
                  <a:lnTo>
                    <a:pt x="44090" y="22324"/>
                  </a:lnTo>
                  <a:lnTo>
                    <a:pt x="35718" y="14287"/>
                  </a:lnTo>
                  <a:lnTo>
                    <a:pt x="26454" y="8036"/>
                  </a:lnTo>
                  <a:lnTo>
                    <a:pt x="16966" y="3571"/>
                  </a:lnTo>
                  <a:lnTo>
                    <a:pt x="7925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06/closed-idle/text/002"/>
            <p:cNvSpPr txBox="1"/>
            <p:nvPr/>
          </p:nvSpPr>
          <p:spPr>
            <a:xfrm>
              <a:off x="3337560" y="1920240"/>
              <a:ext cx="196596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14" name="N06/text/010"/>
          <p:cNvSpPr txBox="1"/>
          <p:nvPr/>
        </p:nvSpPr>
        <p:spPr>
          <a:xfrm>
            <a:off x="502920" y="251460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Centered GNOME clock is hidden only while the notch is visible on the primary monitor.</a:t>
            </a:r>
          </a:p>
        </p:txBody>
      </p:sp>
      <p:grpSp>
        <p:nvGrpSpPr>
          <p:cNvPr id="15" name="N06/closed-unread"/>
          <p:cNvGrpSpPr/>
          <p:nvPr/>
        </p:nvGrpSpPr>
        <p:grpSpPr>
          <a:xfrm>
            <a:off x="3337560" y="3246120"/>
            <a:ext cx="1965960" cy="384048"/>
            <a:chOff x="3337560" y="3246120"/>
            <a:chExt cx="1965960" cy="384048"/>
          </a:xfrm>
        </p:grpSpPr>
        <p:sp>
          <p:nvSpPr>
            <p:cNvPr id="16" name="N06/closed-unread/notch-surface-closed/001"/>
            <p:cNvSpPr/>
            <p:nvPr/>
          </p:nvSpPr>
          <p:spPr>
            <a:xfrm>
              <a:off x="3337560" y="3246120"/>
              <a:ext cx="1965960" cy="384048"/>
            </a:xfrm>
            <a:custGeom>
              <a:avLst/>
              <a:gdLst/>
              <a:ahLst/>
              <a:cxnLst/>
              <a:rect l="l" t="t" r="r" b="b"/>
              <a:pathLst>
                <a:path w="1965960" h="384048">
                  <a:moveTo>
                    <a:pt x="0" y="0"/>
                  </a:moveTo>
                  <a:lnTo>
                    <a:pt x="1965960" y="0"/>
                  </a:lnTo>
                  <a:lnTo>
                    <a:pt x="1958034" y="892"/>
                  </a:lnTo>
                  <a:lnTo>
                    <a:pt x="1948993" y="3571"/>
                  </a:lnTo>
                  <a:lnTo>
                    <a:pt x="1939505" y="8036"/>
                  </a:lnTo>
                  <a:lnTo>
                    <a:pt x="1930241" y="14287"/>
                  </a:lnTo>
                  <a:lnTo>
                    <a:pt x="1921869" y="22324"/>
                  </a:lnTo>
                  <a:lnTo>
                    <a:pt x="1915060" y="32146"/>
                  </a:lnTo>
                  <a:lnTo>
                    <a:pt x="1910484" y="43755"/>
                  </a:lnTo>
                  <a:lnTo>
                    <a:pt x="1908810" y="57150"/>
                  </a:lnTo>
                  <a:lnTo>
                    <a:pt x="1906247" y="276713"/>
                  </a:lnTo>
                  <a:lnTo>
                    <a:pt x="1898659" y="301728"/>
                  </a:lnTo>
                  <a:lnTo>
                    <a:pt x="1886336" y="324783"/>
                  </a:lnTo>
                  <a:lnTo>
                    <a:pt x="1869752" y="344990"/>
                  </a:lnTo>
                  <a:lnTo>
                    <a:pt x="1849545" y="361574"/>
                  </a:lnTo>
                  <a:lnTo>
                    <a:pt x="1826490" y="373897"/>
                  </a:lnTo>
                  <a:lnTo>
                    <a:pt x="1801475" y="381485"/>
                  </a:lnTo>
                  <a:lnTo>
                    <a:pt x="1775460" y="384048"/>
                  </a:lnTo>
                  <a:lnTo>
                    <a:pt x="190500" y="384048"/>
                  </a:lnTo>
                  <a:lnTo>
                    <a:pt x="164484" y="381485"/>
                  </a:lnTo>
                  <a:lnTo>
                    <a:pt x="139469" y="373897"/>
                  </a:lnTo>
                  <a:lnTo>
                    <a:pt x="116414" y="361574"/>
                  </a:lnTo>
                  <a:lnTo>
                    <a:pt x="96207" y="344990"/>
                  </a:lnTo>
                  <a:lnTo>
                    <a:pt x="79623" y="324783"/>
                  </a:lnTo>
                  <a:lnTo>
                    <a:pt x="67300" y="301728"/>
                  </a:lnTo>
                  <a:lnTo>
                    <a:pt x="59712" y="276713"/>
                  </a:lnTo>
                  <a:lnTo>
                    <a:pt x="57150" y="250697"/>
                  </a:lnTo>
                  <a:lnTo>
                    <a:pt x="57150" y="57150"/>
                  </a:lnTo>
                  <a:lnTo>
                    <a:pt x="55475" y="43755"/>
                  </a:lnTo>
                  <a:lnTo>
                    <a:pt x="50899" y="32146"/>
                  </a:lnTo>
                  <a:lnTo>
                    <a:pt x="44090" y="22324"/>
                  </a:lnTo>
                  <a:lnTo>
                    <a:pt x="35718" y="14287"/>
                  </a:lnTo>
                  <a:lnTo>
                    <a:pt x="26454" y="8036"/>
                  </a:lnTo>
                  <a:lnTo>
                    <a:pt x="16966" y="3571"/>
                  </a:lnTo>
                  <a:lnTo>
                    <a:pt x="7925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06/closed-unread/text/002"/>
            <p:cNvSpPr txBox="1"/>
            <p:nvPr/>
          </p:nvSpPr>
          <p:spPr>
            <a:xfrm>
              <a:off x="3337560" y="3246120"/>
              <a:ext cx="178308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18" name="N06/closed-unread/ellipse/003"/>
            <p:cNvSpPr/>
            <p:nvPr/>
          </p:nvSpPr>
          <p:spPr>
            <a:xfrm>
              <a:off x="5010912" y="3401568"/>
              <a:ext cx="64008" cy="64008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N06/text/011"/>
          <p:cNvSpPr txBox="1"/>
          <p:nvPr/>
        </p:nvSpPr>
        <p:spPr>
          <a:xfrm>
            <a:off x="502920" y="384048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Unread dot appears when notification count &gt; 0 and idle clock is enabled.</a:t>
            </a:r>
          </a:p>
        </p:txBody>
      </p:sp>
      <p:grpSp>
        <p:nvGrpSpPr>
          <p:cNvPr id="20" name="N06/closed-hover"/>
          <p:cNvGrpSpPr/>
          <p:nvPr/>
        </p:nvGrpSpPr>
        <p:grpSpPr>
          <a:xfrm>
            <a:off x="3282696" y="4572000"/>
            <a:ext cx="2075688" cy="420624"/>
            <a:chOff x="3282696" y="4572000"/>
            <a:chExt cx="2075688" cy="420624"/>
          </a:xfrm>
        </p:grpSpPr>
        <p:sp>
          <p:nvSpPr>
            <p:cNvPr id="21" name="N06/closed-hover/notch-surface-closed/001"/>
            <p:cNvSpPr/>
            <p:nvPr/>
          </p:nvSpPr>
          <p:spPr>
            <a:xfrm>
              <a:off x="3282696" y="4572000"/>
              <a:ext cx="2075687" cy="420624"/>
            </a:xfrm>
            <a:custGeom>
              <a:avLst/>
              <a:gdLst/>
              <a:ahLst/>
              <a:cxnLst/>
              <a:rect l="l" t="t" r="r" b="b"/>
              <a:pathLst>
                <a:path w="2075687" h="420624">
                  <a:moveTo>
                    <a:pt x="0" y="0"/>
                  </a:moveTo>
                  <a:lnTo>
                    <a:pt x="2075687" y="0"/>
                  </a:lnTo>
                  <a:lnTo>
                    <a:pt x="2067762" y="892"/>
                  </a:lnTo>
                  <a:lnTo>
                    <a:pt x="2058721" y="3571"/>
                  </a:lnTo>
                  <a:lnTo>
                    <a:pt x="2049233" y="8036"/>
                  </a:lnTo>
                  <a:lnTo>
                    <a:pt x="2039969" y="14287"/>
                  </a:lnTo>
                  <a:lnTo>
                    <a:pt x="2031597" y="22324"/>
                  </a:lnTo>
                  <a:lnTo>
                    <a:pt x="2024788" y="32146"/>
                  </a:lnTo>
                  <a:lnTo>
                    <a:pt x="2020212" y="43755"/>
                  </a:lnTo>
                  <a:lnTo>
                    <a:pt x="2018537" y="57150"/>
                  </a:lnTo>
                  <a:lnTo>
                    <a:pt x="2015975" y="313289"/>
                  </a:lnTo>
                  <a:lnTo>
                    <a:pt x="2008387" y="338304"/>
                  </a:lnTo>
                  <a:lnTo>
                    <a:pt x="1996064" y="361359"/>
                  </a:lnTo>
                  <a:lnTo>
                    <a:pt x="1979480" y="381566"/>
                  </a:lnTo>
                  <a:lnTo>
                    <a:pt x="1959273" y="398150"/>
                  </a:lnTo>
                  <a:lnTo>
                    <a:pt x="1936218" y="410473"/>
                  </a:lnTo>
                  <a:lnTo>
                    <a:pt x="1911203" y="418061"/>
                  </a:lnTo>
                  <a:lnTo>
                    <a:pt x="1885188" y="420624"/>
                  </a:lnTo>
                  <a:lnTo>
                    <a:pt x="190500" y="420624"/>
                  </a:lnTo>
                  <a:lnTo>
                    <a:pt x="164484" y="418061"/>
                  </a:lnTo>
                  <a:lnTo>
                    <a:pt x="139469" y="410473"/>
                  </a:lnTo>
                  <a:lnTo>
                    <a:pt x="116414" y="398150"/>
                  </a:lnTo>
                  <a:lnTo>
                    <a:pt x="96207" y="381566"/>
                  </a:lnTo>
                  <a:lnTo>
                    <a:pt x="79623" y="361359"/>
                  </a:lnTo>
                  <a:lnTo>
                    <a:pt x="67300" y="338304"/>
                  </a:lnTo>
                  <a:lnTo>
                    <a:pt x="59712" y="313289"/>
                  </a:lnTo>
                  <a:lnTo>
                    <a:pt x="57150" y="287274"/>
                  </a:lnTo>
                  <a:lnTo>
                    <a:pt x="57150" y="57150"/>
                  </a:lnTo>
                  <a:lnTo>
                    <a:pt x="55475" y="43755"/>
                  </a:lnTo>
                  <a:lnTo>
                    <a:pt x="50899" y="32146"/>
                  </a:lnTo>
                  <a:lnTo>
                    <a:pt x="44090" y="22324"/>
                  </a:lnTo>
                  <a:lnTo>
                    <a:pt x="35718" y="14287"/>
                  </a:lnTo>
                  <a:lnTo>
                    <a:pt x="26454" y="8036"/>
                  </a:lnTo>
                  <a:lnTo>
                    <a:pt x="16966" y="3571"/>
                  </a:lnTo>
                  <a:lnTo>
                    <a:pt x="7925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06/closed-hover/text/002"/>
            <p:cNvSpPr txBox="1"/>
            <p:nvPr/>
          </p:nvSpPr>
          <p:spPr>
            <a:xfrm>
              <a:off x="3282696" y="4572000"/>
              <a:ext cx="2075688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23" name="N06/text/012"/>
          <p:cNvSpPr txBox="1"/>
          <p:nvPr/>
        </p:nvSpPr>
        <p:spPr>
          <a:xfrm>
            <a:off x="502920" y="516636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Hover affordance: +12 px width, +4 px height in panel placement; opens after 250 ms if enabled.</a:t>
            </a:r>
          </a:p>
        </p:txBody>
      </p:sp>
      <p:sp>
        <p:nvSpPr>
          <p:cNvPr id="24" name="N06/spec-panel/013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06/text/014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26" name="N06/ellipse/015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06/text/016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Base 185×32; min width 150</a:t>
            </a:r>
          </a:p>
        </p:txBody>
      </p:sp>
      <p:sp>
        <p:nvSpPr>
          <p:cNvPr id="28" name="N06/ellipse/017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06/text/018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Match panel height by default</a:t>
            </a:r>
          </a:p>
        </p:txBody>
      </p:sp>
      <p:sp>
        <p:nvSpPr>
          <p:cNvPr id="30" name="N06/ellipse/019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06/text/020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Click / Super+` toggles open</a:t>
            </a:r>
          </a:p>
        </p:txBody>
      </p:sp>
      <p:sp>
        <p:nvSpPr>
          <p:cNvPr id="32" name="N06/ellipse/021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06/text/022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Clock off → blank closed notch</a:t>
            </a:r>
          </a:p>
        </p:txBody>
      </p:sp>
      <p:cxnSp>
        <p:nvCxnSpPr>
          <p:cNvPr id="34" name="N06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N06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36" name="N06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06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Clock size / dot / hover growth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CLOSED MODE</a:t>
            </a:r>
          </a:p>
        </p:txBody>
      </p:sp>
      <p:sp>
        <p:nvSpPr>
          <p:cNvPr id="5" name="N0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Media wings</a:t>
            </a:r>
          </a:p>
        </p:txBody>
      </p:sp>
      <p:sp>
        <p:nvSpPr>
          <p:cNvPr id="6" name="N0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closed-media=true · wings add 64 px · album art stays full-color</a:t>
            </a:r>
          </a:p>
        </p:txBody>
      </p:sp>
      <p:cxnSp>
        <p:nvCxnSpPr>
          <p:cNvPr id="7" name="N0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N07</a:t>
            </a:r>
          </a:p>
        </p:txBody>
      </p:sp>
      <p:sp>
        <p:nvSpPr>
          <p:cNvPr id="10" name="N0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07</a:t>
            </a:r>
          </a:p>
        </p:txBody>
      </p:sp>
      <p:grpSp>
        <p:nvGrpSpPr>
          <p:cNvPr id="11" name="N07/closed-media-playing"/>
          <p:cNvGrpSpPr/>
          <p:nvPr/>
        </p:nvGrpSpPr>
        <p:grpSpPr>
          <a:xfrm>
            <a:off x="2999232" y="1965960"/>
            <a:ext cx="2651760" cy="384048"/>
            <a:chOff x="2999232" y="1965960"/>
            <a:chExt cx="2651760" cy="384048"/>
          </a:xfrm>
        </p:grpSpPr>
        <p:sp>
          <p:nvSpPr>
            <p:cNvPr id="12" name="N07/closed-media-playing/notch-surface-closed/001"/>
            <p:cNvSpPr/>
            <p:nvPr/>
          </p:nvSpPr>
          <p:spPr>
            <a:xfrm>
              <a:off x="2999232" y="1965960"/>
              <a:ext cx="2651760" cy="384048"/>
            </a:xfrm>
            <a:custGeom>
              <a:avLst/>
              <a:gdLst/>
              <a:ahLst/>
              <a:cxnLst/>
              <a:rect l="l" t="t" r="r" b="b"/>
              <a:pathLst>
                <a:path w="2651760" h="384048">
                  <a:moveTo>
                    <a:pt x="0" y="0"/>
                  </a:moveTo>
                  <a:lnTo>
                    <a:pt x="2651760" y="0"/>
                  </a:lnTo>
                  <a:lnTo>
                    <a:pt x="2643834" y="892"/>
                  </a:lnTo>
                  <a:lnTo>
                    <a:pt x="2634793" y="3571"/>
                  </a:lnTo>
                  <a:lnTo>
                    <a:pt x="2625305" y="8036"/>
                  </a:lnTo>
                  <a:lnTo>
                    <a:pt x="2616041" y="14287"/>
                  </a:lnTo>
                  <a:lnTo>
                    <a:pt x="2607669" y="22324"/>
                  </a:lnTo>
                  <a:lnTo>
                    <a:pt x="2600860" y="32146"/>
                  </a:lnTo>
                  <a:lnTo>
                    <a:pt x="2596284" y="43755"/>
                  </a:lnTo>
                  <a:lnTo>
                    <a:pt x="2594610" y="57150"/>
                  </a:lnTo>
                  <a:lnTo>
                    <a:pt x="2592047" y="276713"/>
                  </a:lnTo>
                  <a:lnTo>
                    <a:pt x="2584459" y="301728"/>
                  </a:lnTo>
                  <a:lnTo>
                    <a:pt x="2572136" y="324783"/>
                  </a:lnTo>
                  <a:lnTo>
                    <a:pt x="2555552" y="344990"/>
                  </a:lnTo>
                  <a:lnTo>
                    <a:pt x="2535345" y="361574"/>
                  </a:lnTo>
                  <a:lnTo>
                    <a:pt x="2512290" y="373897"/>
                  </a:lnTo>
                  <a:lnTo>
                    <a:pt x="2487275" y="381485"/>
                  </a:lnTo>
                  <a:lnTo>
                    <a:pt x="2461260" y="384048"/>
                  </a:lnTo>
                  <a:lnTo>
                    <a:pt x="190500" y="384048"/>
                  </a:lnTo>
                  <a:lnTo>
                    <a:pt x="164484" y="381485"/>
                  </a:lnTo>
                  <a:lnTo>
                    <a:pt x="139469" y="373897"/>
                  </a:lnTo>
                  <a:lnTo>
                    <a:pt x="116414" y="361574"/>
                  </a:lnTo>
                  <a:lnTo>
                    <a:pt x="96207" y="344990"/>
                  </a:lnTo>
                  <a:lnTo>
                    <a:pt x="79623" y="324783"/>
                  </a:lnTo>
                  <a:lnTo>
                    <a:pt x="67300" y="301728"/>
                  </a:lnTo>
                  <a:lnTo>
                    <a:pt x="59712" y="276713"/>
                  </a:lnTo>
                  <a:lnTo>
                    <a:pt x="57150" y="250697"/>
                  </a:lnTo>
                  <a:lnTo>
                    <a:pt x="57150" y="57150"/>
                  </a:lnTo>
                  <a:lnTo>
                    <a:pt x="55475" y="43755"/>
                  </a:lnTo>
                  <a:lnTo>
                    <a:pt x="50899" y="32146"/>
                  </a:lnTo>
                  <a:lnTo>
                    <a:pt x="44090" y="22324"/>
                  </a:lnTo>
                  <a:lnTo>
                    <a:pt x="35718" y="14287"/>
                  </a:lnTo>
                  <a:lnTo>
                    <a:pt x="26454" y="8036"/>
                  </a:lnTo>
                  <a:lnTo>
                    <a:pt x="16966" y="3571"/>
                  </a:lnTo>
                  <a:lnTo>
                    <a:pt x="7925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07/closed-media-playing/album-art/002"/>
            <p:cNvSpPr/>
            <p:nvPr/>
          </p:nvSpPr>
          <p:spPr>
            <a:xfrm>
              <a:off x="3127248" y="2020824"/>
              <a:ext cx="274320" cy="274320"/>
            </a:xfrm>
            <a:prstGeom prst="roundRect">
              <a:avLst>
                <a:gd name="adj" fmla="val 29166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07/closed-media-playing/ellipse/003"/>
            <p:cNvSpPr/>
            <p:nvPr/>
          </p:nvSpPr>
          <p:spPr>
            <a:xfrm>
              <a:off x="3154679" y="2053742"/>
              <a:ext cx="150876" cy="150876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07/closed-media-playing/ellipse/004"/>
            <p:cNvSpPr/>
            <p:nvPr/>
          </p:nvSpPr>
          <p:spPr>
            <a:xfrm>
              <a:off x="3242462" y="2125065"/>
              <a:ext cx="137160" cy="137160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07/closed-media-playing/rect/005"/>
            <p:cNvSpPr/>
            <p:nvPr/>
          </p:nvSpPr>
          <p:spPr>
            <a:xfrm>
              <a:off x="3176625" y="2190902"/>
              <a:ext cx="175564" cy="43891"/>
            </a:xfrm>
            <a:prstGeom prst="roundRect">
              <a:avLst>
                <a:gd name="adj" fmla="val 50000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07/closed-media-playing/text/006"/>
            <p:cNvSpPr txBox="1"/>
            <p:nvPr/>
          </p:nvSpPr>
          <p:spPr>
            <a:xfrm>
              <a:off x="3127248" y="2020824"/>
              <a:ext cx="27432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0" b="1" i="0">
                  <a:solidFill>
                    <a:srgbClr val="FFFFFF"/>
                  </a:solidFill>
                  <a:latin typeface="Arial"/>
                </a:rPr>
                <a:t/>
              </a:r>
            </a:p>
          </p:txBody>
        </p:sp>
        <p:sp>
          <p:nvSpPr>
            <p:cNvPr id="18" name="N07/closed-media-playing/text/007"/>
            <p:cNvSpPr txBox="1"/>
            <p:nvPr/>
          </p:nvSpPr>
          <p:spPr>
            <a:xfrm>
              <a:off x="3474720" y="1965960"/>
              <a:ext cx="146304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19" name="N07/closed-media-playing/rect/008"/>
            <p:cNvSpPr/>
            <p:nvPr/>
          </p:nvSpPr>
          <p:spPr>
            <a:xfrm>
              <a:off x="5230368" y="2112264"/>
              <a:ext cx="36576" cy="91440"/>
            </a:xfrm>
            <a:prstGeom prst="roundRect">
              <a:avLst>
                <a:gd name="adj" fmla="val 50000"/>
              </a:avLst>
            </a:prstGeom>
            <a:solidFill>
              <a:srgbClr val="30D1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07/closed-media-playing/rect/009"/>
            <p:cNvSpPr/>
            <p:nvPr/>
          </p:nvSpPr>
          <p:spPr>
            <a:xfrm>
              <a:off x="5294376" y="2066543"/>
              <a:ext cx="36576" cy="182880"/>
            </a:xfrm>
            <a:prstGeom prst="roundRect">
              <a:avLst>
                <a:gd name="adj" fmla="val 50000"/>
              </a:avLst>
            </a:prstGeom>
            <a:solidFill>
              <a:srgbClr val="30D1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07/closed-media-playing/rect/010"/>
            <p:cNvSpPr/>
            <p:nvPr/>
          </p:nvSpPr>
          <p:spPr>
            <a:xfrm>
              <a:off x="5358383" y="2098548"/>
              <a:ext cx="36576" cy="118872"/>
            </a:xfrm>
            <a:prstGeom prst="roundRect">
              <a:avLst>
                <a:gd name="adj" fmla="val 50000"/>
              </a:avLst>
            </a:prstGeom>
            <a:solidFill>
              <a:srgbClr val="30D15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N07/text/010"/>
          <p:cNvSpPr txBox="1"/>
          <p:nvPr/>
        </p:nvSpPr>
        <p:spPr>
          <a:xfrm>
            <a:off x="502920" y="256032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Playing: 20 px art left · clock center · animated 3-bar visualizer right.</a:t>
            </a:r>
          </a:p>
        </p:txBody>
      </p:sp>
      <p:grpSp>
        <p:nvGrpSpPr>
          <p:cNvPr id="23" name="N07/closed-media-paused"/>
          <p:cNvGrpSpPr/>
          <p:nvPr/>
        </p:nvGrpSpPr>
        <p:grpSpPr>
          <a:xfrm>
            <a:off x="2999232" y="3337560"/>
            <a:ext cx="2651760" cy="384048"/>
            <a:chOff x="2999232" y="3337560"/>
            <a:chExt cx="2651760" cy="384048"/>
          </a:xfrm>
        </p:grpSpPr>
        <p:sp>
          <p:nvSpPr>
            <p:cNvPr id="24" name="N07/closed-media-paused/notch-surface-closed/001"/>
            <p:cNvSpPr/>
            <p:nvPr/>
          </p:nvSpPr>
          <p:spPr>
            <a:xfrm>
              <a:off x="2999232" y="3337560"/>
              <a:ext cx="2651760" cy="384048"/>
            </a:xfrm>
            <a:custGeom>
              <a:avLst/>
              <a:gdLst/>
              <a:ahLst/>
              <a:cxnLst/>
              <a:rect l="l" t="t" r="r" b="b"/>
              <a:pathLst>
                <a:path w="2651760" h="384048">
                  <a:moveTo>
                    <a:pt x="0" y="0"/>
                  </a:moveTo>
                  <a:lnTo>
                    <a:pt x="2651760" y="0"/>
                  </a:lnTo>
                  <a:lnTo>
                    <a:pt x="2643834" y="892"/>
                  </a:lnTo>
                  <a:lnTo>
                    <a:pt x="2634793" y="3571"/>
                  </a:lnTo>
                  <a:lnTo>
                    <a:pt x="2625305" y="8036"/>
                  </a:lnTo>
                  <a:lnTo>
                    <a:pt x="2616041" y="14287"/>
                  </a:lnTo>
                  <a:lnTo>
                    <a:pt x="2607669" y="22324"/>
                  </a:lnTo>
                  <a:lnTo>
                    <a:pt x="2600860" y="32146"/>
                  </a:lnTo>
                  <a:lnTo>
                    <a:pt x="2596284" y="43755"/>
                  </a:lnTo>
                  <a:lnTo>
                    <a:pt x="2594610" y="57150"/>
                  </a:lnTo>
                  <a:lnTo>
                    <a:pt x="2592047" y="276713"/>
                  </a:lnTo>
                  <a:lnTo>
                    <a:pt x="2584459" y="301728"/>
                  </a:lnTo>
                  <a:lnTo>
                    <a:pt x="2572136" y="324783"/>
                  </a:lnTo>
                  <a:lnTo>
                    <a:pt x="2555552" y="344990"/>
                  </a:lnTo>
                  <a:lnTo>
                    <a:pt x="2535345" y="361574"/>
                  </a:lnTo>
                  <a:lnTo>
                    <a:pt x="2512290" y="373897"/>
                  </a:lnTo>
                  <a:lnTo>
                    <a:pt x="2487275" y="381485"/>
                  </a:lnTo>
                  <a:lnTo>
                    <a:pt x="2461260" y="384048"/>
                  </a:lnTo>
                  <a:lnTo>
                    <a:pt x="190500" y="384048"/>
                  </a:lnTo>
                  <a:lnTo>
                    <a:pt x="164484" y="381485"/>
                  </a:lnTo>
                  <a:lnTo>
                    <a:pt x="139469" y="373897"/>
                  </a:lnTo>
                  <a:lnTo>
                    <a:pt x="116414" y="361574"/>
                  </a:lnTo>
                  <a:lnTo>
                    <a:pt x="96207" y="344990"/>
                  </a:lnTo>
                  <a:lnTo>
                    <a:pt x="79623" y="324783"/>
                  </a:lnTo>
                  <a:lnTo>
                    <a:pt x="67300" y="301728"/>
                  </a:lnTo>
                  <a:lnTo>
                    <a:pt x="59712" y="276713"/>
                  </a:lnTo>
                  <a:lnTo>
                    <a:pt x="57150" y="250698"/>
                  </a:lnTo>
                  <a:lnTo>
                    <a:pt x="57150" y="57150"/>
                  </a:lnTo>
                  <a:lnTo>
                    <a:pt x="55475" y="43755"/>
                  </a:lnTo>
                  <a:lnTo>
                    <a:pt x="50899" y="32146"/>
                  </a:lnTo>
                  <a:lnTo>
                    <a:pt x="44090" y="22324"/>
                  </a:lnTo>
                  <a:lnTo>
                    <a:pt x="35718" y="14287"/>
                  </a:lnTo>
                  <a:lnTo>
                    <a:pt x="26454" y="8036"/>
                  </a:lnTo>
                  <a:lnTo>
                    <a:pt x="16966" y="3571"/>
                  </a:lnTo>
                  <a:lnTo>
                    <a:pt x="7925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07/closed-media-paused/album-art/002"/>
            <p:cNvSpPr/>
            <p:nvPr/>
          </p:nvSpPr>
          <p:spPr>
            <a:xfrm>
              <a:off x="3127248" y="3392424"/>
              <a:ext cx="274320" cy="274320"/>
            </a:xfrm>
            <a:prstGeom prst="roundRect">
              <a:avLst>
                <a:gd name="adj" fmla="val 29166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07/closed-media-paused/ellipse/003"/>
            <p:cNvSpPr/>
            <p:nvPr/>
          </p:nvSpPr>
          <p:spPr>
            <a:xfrm>
              <a:off x="3154679" y="3425342"/>
              <a:ext cx="150876" cy="150876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07/closed-media-paused/ellipse/004"/>
            <p:cNvSpPr/>
            <p:nvPr/>
          </p:nvSpPr>
          <p:spPr>
            <a:xfrm>
              <a:off x="3242462" y="3496665"/>
              <a:ext cx="137160" cy="137160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07/closed-media-paused/rect/005"/>
            <p:cNvSpPr/>
            <p:nvPr/>
          </p:nvSpPr>
          <p:spPr>
            <a:xfrm>
              <a:off x="3176625" y="3562502"/>
              <a:ext cx="175564" cy="43891"/>
            </a:xfrm>
            <a:prstGeom prst="roundRect">
              <a:avLst>
                <a:gd name="adj" fmla="val 50000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07/closed-media-paused/text/006"/>
            <p:cNvSpPr txBox="1"/>
            <p:nvPr/>
          </p:nvSpPr>
          <p:spPr>
            <a:xfrm>
              <a:off x="3127248" y="3392424"/>
              <a:ext cx="27432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40" b="1" i="0">
                  <a:solidFill>
                    <a:srgbClr val="FFFFFF"/>
                  </a:solidFill>
                  <a:latin typeface="Arial"/>
                </a:rPr>
                <a:t/>
              </a:r>
            </a:p>
          </p:txBody>
        </p:sp>
        <p:sp>
          <p:nvSpPr>
            <p:cNvPr id="30" name="N07/closed-media-paused/text/007"/>
            <p:cNvSpPr txBox="1"/>
            <p:nvPr/>
          </p:nvSpPr>
          <p:spPr>
            <a:xfrm>
              <a:off x="3474720" y="3337560"/>
              <a:ext cx="146304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31" name="N07/closed-media-paused/rect/008"/>
            <p:cNvSpPr/>
            <p:nvPr/>
          </p:nvSpPr>
          <p:spPr>
            <a:xfrm>
              <a:off x="5271516" y="3488436"/>
              <a:ext cx="22860" cy="82296"/>
            </a:xfrm>
            <a:prstGeom prst="roundRect">
              <a:avLst>
                <a:gd name="adj" fmla="val 20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07/closed-media-paused/rect/009"/>
            <p:cNvSpPr/>
            <p:nvPr/>
          </p:nvSpPr>
          <p:spPr>
            <a:xfrm>
              <a:off x="5312664" y="3488436"/>
              <a:ext cx="22860" cy="82296"/>
            </a:xfrm>
            <a:prstGeom prst="roundRect">
              <a:avLst>
                <a:gd name="adj" fmla="val 20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3" name="N07/text/011"/>
          <p:cNvSpPr txBox="1"/>
          <p:nvPr/>
        </p:nvSpPr>
        <p:spPr>
          <a:xfrm>
            <a:off x="502920" y="393192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Paused: art remains; visualizer bars are hidden. Stopped/no player returns to idle width.</a:t>
            </a:r>
          </a:p>
        </p:txBody>
      </p:sp>
      <p:grpSp>
        <p:nvGrpSpPr>
          <p:cNvPr id="34" name="N07/closed-media-off"/>
          <p:cNvGrpSpPr/>
          <p:nvPr/>
        </p:nvGrpSpPr>
        <p:grpSpPr>
          <a:xfrm>
            <a:off x="3337560" y="4709160"/>
            <a:ext cx="1965960" cy="384048"/>
            <a:chOff x="3337560" y="4709160"/>
            <a:chExt cx="1965960" cy="384048"/>
          </a:xfrm>
        </p:grpSpPr>
        <p:sp>
          <p:nvSpPr>
            <p:cNvPr id="35" name="N07/closed-media-off/notch-surface-closed/001"/>
            <p:cNvSpPr/>
            <p:nvPr/>
          </p:nvSpPr>
          <p:spPr>
            <a:xfrm>
              <a:off x="3337560" y="4709160"/>
              <a:ext cx="1965960" cy="384048"/>
            </a:xfrm>
            <a:custGeom>
              <a:avLst/>
              <a:gdLst/>
              <a:ahLst/>
              <a:cxnLst/>
              <a:rect l="l" t="t" r="r" b="b"/>
              <a:pathLst>
                <a:path w="1965960" h="384048">
                  <a:moveTo>
                    <a:pt x="0" y="0"/>
                  </a:moveTo>
                  <a:lnTo>
                    <a:pt x="1965960" y="0"/>
                  </a:lnTo>
                  <a:lnTo>
                    <a:pt x="1958034" y="892"/>
                  </a:lnTo>
                  <a:lnTo>
                    <a:pt x="1948993" y="3571"/>
                  </a:lnTo>
                  <a:lnTo>
                    <a:pt x="1939505" y="8036"/>
                  </a:lnTo>
                  <a:lnTo>
                    <a:pt x="1930241" y="14287"/>
                  </a:lnTo>
                  <a:lnTo>
                    <a:pt x="1921869" y="22324"/>
                  </a:lnTo>
                  <a:lnTo>
                    <a:pt x="1915060" y="32146"/>
                  </a:lnTo>
                  <a:lnTo>
                    <a:pt x="1910484" y="43755"/>
                  </a:lnTo>
                  <a:lnTo>
                    <a:pt x="1908810" y="57150"/>
                  </a:lnTo>
                  <a:lnTo>
                    <a:pt x="1906247" y="276713"/>
                  </a:lnTo>
                  <a:lnTo>
                    <a:pt x="1898659" y="301728"/>
                  </a:lnTo>
                  <a:lnTo>
                    <a:pt x="1886336" y="324783"/>
                  </a:lnTo>
                  <a:lnTo>
                    <a:pt x="1869752" y="344990"/>
                  </a:lnTo>
                  <a:lnTo>
                    <a:pt x="1849545" y="361574"/>
                  </a:lnTo>
                  <a:lnTo>
                    <a:pt x="1826490" y="373897"/>
                  </a:lnTo>
                  <a:lnTo>
                    <a:pt x="1801475" y="381485"/>
                  </a:lnTo>
                  <a:lnTo>
                    <a:pt x="1775460" y="384048"/>
                  </a:lnTo>
                  <a:lnTo>
                    <a:pt x="190500" y="384048"/>
                  </a:lnTo>
                  <a:lnTo>
                    <a:pt x="164484" y="381485"/>
                  </a:lnTo>
                  <a:lnTo>
                    <a:pt x="139469" y="373897"/>
                  </a:lnTo>
                  <a:lnTo>
                    <a:pt x="116414" y="361574"/>
                  </a:lnTo>
                  <a:lnTo>
                    <a:pt x="96207" y="344990"/>
                  </a:lnTo>
                  <a:lnTo>
                    <a:pt x="79623" y="324783"/>
                  </a:lnTo>
                  <a:lnTo>
                    <a:pt x="67300" y="301728"/>
                  </a:lnTo>
                  <a:lnTo>
                    <a:pt x="59712" y="276713"/>
                  </a:lnTo>
                  <a:lnTo>
                    <a:pt x="57150" y="250698"/>
                  </a:lnTo>
                  <a:lnTo>
                    <a:pt x="57150" y="57150"/>
                  </a:lnTo>
                  <a:lnTo>
                    <a:pt x="55475" y="43755"/>
                  </a:lnTo>
                  <a:lnTo>
                    <a:pt x="50899" y="32146"/>
                  </a:lnTo>
                  <a:lnTo>
                    <a:pt x="44090" y="22324"/>
                  </a:lnTo>
                  <a:lnTo>
                    <a:pt x="35718" y="14287"/>
                  </a:lnTo>
                  <a:lnTo>
                    <a:pt x="26454" y="8036"/>
                  </a:lnTo>
                  <a:lnTo>
                    <a:pt x="16966" y="3571"/>
                  </a:lnTo>
                  <a:lnTo>
                    <a:pt x="7925" y="8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07/closed-media-off/text/002"/>
            <p:cNvSpPr txBox="1"/>
            <p:nvPr/>
          </p:nvSpPr>
          <p:spPr>
            <a:xfrm>
              <a:off x="3337560" y="4709160"/>
              <a:ext cx="1965960" cy="3840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</p:grpSp>
      <p:sp>
        <p:nvSpPr>
          <p:cNvPr id="37" name="N07/text/012"/>
          <p:cNvSpPr txBox="1"/>
          <p:nvPr/>
        </p:nvSpPr>
        <p:spPr>
          <a:xfrm>
            <a:off x="502920" y="530352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Wings disabled in Settings → no art/visualizer even while playing.</a:t>
            </a:r>
          </a:p>
        </p:txBody>
      </p:sp>
      <p:sp>
        <p:nvSpPr>
          <p:cNvPr id="38" name="N07/spec-panel/013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07/text/014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0" name="N07/ellipse/015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07/text/016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249×32 with wings</a:t>
            </a:r>
          </a:p>
        </p:txBody>
      </p:sp>
      <p:sp>
        <p:nvSpPr>
          <p:cNvPr id="42" name="N07/ellipse/017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07/text/018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Art 20 px, radius 4</a:t>
            </a:r>
          </a:p>
        </p:txBody>
      </p:sp>
      <p:sp>
        <p:nvSpPr>
          <p:cNvPr id="44" name="N07/ellipse/019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07/text/020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Bars 3×3 px, spacing 2</a:t>
            </a:r>
          </a:p>
        </p:txBody>
      </p:sp>
      <p:sp>
        <p:nvSpPr>
          <p:cNvPr id="46" name="N07/ellipse/021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07/text/022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Visualizer only while closed + visible</a:t>
            </a:r>
          </a:p>
        </p:txBody>
      </p:sp>
      <p:cxnSp>
        <p:nvCxnSpPr>
          <p:cNvPr id="48" name="N07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N07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50" name="N07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07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Wing width / art size / bar color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PEEK MODE</a:t>
            </a:r>
          </a:p>
        </p:txBody>
      </p:sp>
      <p:sp>
        <p:nvSpPr>
          <p:cNvPr id="5" name="N0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Notification peek</a:t>
            </a:r>
          </a:p>
        </p:txBody>
      </p:sp>
      <p:sp>
        <p:nvSpPr>
          <p:cNvPr id="6" name="N0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auto-open-notifications=true · 5000 ms default · critical urgency falls back to native banner</a:t>
            </a:r>
          </a:p>
        </p:txBody>
      </p:sp>
      <p:cxnSp>
        <p:nvCxnSpPr>
          <p:cNvPr id="7" name="N0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N08</a:t>
            </a:r>
          </a:p>
        </p:txBody>
      </p:sp>
      <p:sp>
        <p:nvSpPr>
          <p:cNvPr id="10" name="N0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08</a:t>
            </a:r>
          </a:p>
        </p:txBody>
      </p:sp>
      <p:grpSp>
        <p:nvGrpSpPr>
          <p:cNvPr id="11" name="N08/peek-basic"/>
          <p:cNvGrpSpPr/>
          <p:nvPr/>
        </p:nvGrpSpPr>
        <p:grpSpPr>
          <a:xfrm>
            <a:off x="777240" y="1828800"/>
            <a:ext cx="5029200" cy="1645920"/>
            <a:chOff x="777240" y="1828800"/>
            <a:chExt cx="5029200" cy="1645920"/>
          </a:xfrm>
        </p:grpSpPr>
        <p:sp>
          <p:nvSpPr>
            <p:cNvPr id="12" name="N08/peek-basic/notch-surface-peek/001"/>
            <p:cNvSpPr/>
            <p:nvPr/>
          </p:nvSpPr>
          <p:spPr>
            <a:xfrm>
              <a:off x="777240" y="182880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0482" y="982"/>
                  </a:lnTo>
                  <a:lnTo>
                    <a:pt x="5010536" y="3929"/>
                  </a:lnTo>
                  <a:lnTo>
                    <a:pt x="5000100" y="8840"/>
                  </a:lnTo>
                  <a:lnTo>
                    <a:pt x="4989909" y="15716"/>
                  </a:lnTo>
                  <a:lnTo>
                    <a:pt x="4980700" y="24556"/>
                  </a:lnTo>
                  <a:lnTo>
                    <a:pt x="4973210" y="35361"/>
                  </a:lnTo>
                  <a:lnTo>
                    <a:pt x="4968176" y="48131"/>
                  </a:lnTo>
                  <a:lnTo>
                    <a:pt x="4966335" y="62865"/>
                  </a:lnTo>
                  <a:lnTo>
                    <a:pt x="4963516" y="1527851"/>
                  </a:lnTo>
                  <a:lnTo>
                    <a:pt x="4955169" y="1555368"/>
                  </a:lnTo>
                  <a:lnTo>
                    <a:pt x="4941614" y="1580728"/>
                  </a:lnTo>
                  <a:lnTo>
                    <a:pt x="4923371" y="1602956"/>
                  </a:lnTo>
                  <a:lnTo>
                    <a:pt x="4901143" y="1621199"/>
                  </a:lnTo>
                  <a:lnTo>
                    <a:pt x="4875783" y="1634754"/>
                  </a:lnTo>
                  <a:lnTo>
                    <a:pt x="4848266" y="1643101"/>
                  </a:lnTo>
                  <a:lnTo>
                    <a:pt x="4819650" y="1645920"/>
                  </a:lnTo>
                  <a:lnTo>
                    <a:pt x="209550" y="1645920"/>
                  </a:lnTo>
                  <a:lnTo>
                    <a:pt x="180933" y="1643101"/>
                  </a:lnTo>
                  <a:lnTo>
                    <a:pt x="153416" y="1634754"/>
                  </a:lnTo>
                  <a:lnTo>
                    <a:pt x="128056" y="1621199"/>
                  </a:lnTo>
                  <a:lnTo>
                    <a:pt x="105828" y="1602956"/>
                  </a:lnTo>
                  <a:lnTo>
                    <a:pt x="87585" y="1580728"/>
                  </a:lnTo>
                  <a:lnTo>
                    <a:pt x="74030" y="1555368"/>
                  </a:lnTo>
                  <a:lnTo>
                    <a:pt x="65683" y="1527851"/>
                  </a:lnTo>
                  <a:lnTo>
                    <a:pt x="62865" y="1499234"/>
                  </a:lnTo>
                  <a:lnTo>
                    <a:pt x="62865" y="62865"/>
                  </a:lnTo>
                  <a:lnTo>
                    <a:pt x="61023" y="48131"/>
                  </a:lnTo>
                  <a:lnTo>
                    <a:pt x="55989" y="35361"/>
                  </a:lnTo>
                  <a:lnTo>
                    <a:pt x="48499" y="24556"/>
                  </a:lnTo>
                  <a:lnTo>
                    <a:pt x="39290" y="15716"/>
                  </a:lnTo>
                  <a:lnTo>
                    <a:pt x="29099" y="8840"/>
                  </a:lnTo>
                  <a:lnTo>
                    <a:pt x="18663" y="3929"/>
                  </a:lnTo>
                  <a:lnTo>
                    <a:pt x="8717" y="9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08/peek-basic/poly/002"/>
            <p:cNvSpPr/>
            <p:nvPr/>
          </p:nvSpPr>
          <p:spPr>
            <a:xfrm>
              <a:off x="1109853" y="2370582"/>
              <a:ext cx="194310" cy="174879"/>
            </a:xfrm>
            <a:custGeom>
              <a:avLst/>
              <a:gdLst/>
              <a:ahLst/>
              <a:cxnLst/>
              <a:rect l="l" t="t" r="r" b="b"/>
              <a:pathLst>
                <a:path w="194310" h="174879">
                  <a:moveTo>
                    <a:pt x="97154" y="0"/>
                  </a:moveTo>
                  <a:lnTo>
                    <a:pt x="38861" y="38862"/>
                  </a:lnTo>
                  <a:lnTo>
                    <a:pt x="19431" y="116586"/>
                  </a:lnTo>
                  <a:lnTo>
                    <a:pt x="0" y="174879"/>
                  </a:lnTo>
                  <a:lnTo>
                    <a:pt x="194310" y="174879"/>
                  </a:lnTo>
                  <a:lnTo>
                    <a:pt x="174878" y="116586"/>
                  </a:lnTo>
                  <a:lnTo>
                    <a:pt x="155448" y="38862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N08/peek-basic/line/003"/>
            <p:cNvCxnSpPr/>
            <p:nvPr/>
          </p:nvCxnSpPr>
          <p:spPr>
            <a:xfrm>
              <a:off x="1168145" y="2584323"/>
              <a:ext cx="77724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N08/peek-basic/ellipse/004"/>
            <p:cNvSpPr/>
            <p:nvPr/>
          </p:nvSpPr>
          <p:spPr>
            <a:xfrm>
              <a:off x="1187576" y="2351151"/>
              <a:ext cx="38862" cy="38862"/>
            </a:xfrm>
            <a:prstGeom prst="ellipse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08/peek-basic/text/005"/>
            <p:cNvSpPr txBox="1"/>
            <p:nvPr/>
          </p:nvSpPr>
          <p:spPr>
            <a:xfrm>
              <a:off x="1508760" y="2286000"/>
              <a:ext cx="384048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Download complete</a:t>
              </a:r>
            </a:p>
          </p:txBody>
        </p:sp>
        <p:sp>
          <p:nvSpPr>
            <p:cNvPr id="17" name="N08/peek-basic/text/006"/>
            <p:cNvSpPr txBox="1"/>
            <p:nvPr/>
          </p:nvSpPr>
          <p:spPr>
            <a:xfrm>
              <a:off x="1508760" y="2560320"/>
              <a:ext cx="3840480" cy="36576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C7C7CC"/>
                  </a:solidFill>
                  <a:latin typeface="Arial"/>
                </a:rPr>
                <a:t>Fedora-Workstation-44.iso is ready.</a:t>
              </a:r>
            </a:p>
          </p:txBody>
        </p:sp>
        <p:sp>
          <p:nvSpPr>
            <p:cNvPr id="18" name="N08/peek-basic/button-close/007"/>
            <p:cNvSpPr/>
            <p:nvPr/>
          </p:nvSpPr>
          <p:spPr>
            <a:xfrm>
              <a:off x="5349240" y="2286000"/>
              <a:ext cx="274320" cy="274320"/>
            </a:xfrm>
            <a:prstGeom prst="roundRect">
              <a:avLst>
                <a:gd name="adj" fmla="val 27777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N08/peek-basic/line/008"/>
            <p:cNvCxnSpPr/>
            <p:nvPr/>
          </p:nvCxnSpPr>
          <p:spPr>
            <a:xfrm>
              <a:off x="5455919" y="2392680"/>
              <a:ext cx="60960" cy="6096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N08/peek-basic/line/009"/>
            <p:cNvCxnSpPr/>
            <p:nvPr/>
          </p:nvCxnSpPr>
          <p:spPr>
            <a:xfrm flipH="1">
              <a:off x="5455919" y="2392680"/>
              <a:ext cx="60960" cy="6096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N08/peek-basic/button-Open/010"/>
            <p:cNvSpPr/>
            <p:nvPr/>
          </p:nvSpPr>
          <p:spPr>
            <a:xfrm>
              <a:off x="1508760" y="3017520"/>
              <a:ext cx="640080" cy="274320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08/peek-basic/text/011"/>
            <p:cNvSpPr txBox="1"/>
            <p:nvPr/>
          </p:nvSpPr>
          <p:spPr>
            <a:xfrm>
              <a:off x="1554480" y="301752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6" b="0" i="0">
                  <a:solidFill>
                    <a:srgbClr val="E5E5EA"/>
                  </a:solidFill>
                  <a:latin typeface="Arial"/>
                </a:rPr>
                <a:t>Open</a:t>
              </a:r>
            </a:p>
          </p:txBody>
        </p:sp>
      </p:grpSp>
      <p:sp>
        <p:nvSpPr>
          <p:cNvPr id="23" name="N08/text/010"/>
          <p:cNvSpPr txBox="1"/>
          <p:nvPr/>
        </p:nvSpPr>
        <p:spPr>
          <a:xfrm>
            <a:off x="777240" y="365760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Basic peek: source icon 32 px · title/body · dismiss · Open.</a:t>
            </a:r>
          </a:p>
        </p:txBody>
      </p:sp>
      <p:grpSp>
        <p:nvGrpSpPr>
          <p:cNvPr id="24" name="N08/peek-actions"/>
          <p:cNvGrpSpPr/>
          <p:nvPr/>
        </p:nvGrpSpPr>
        <p:grpSpPr>
          <a:xfrm>
            <a:off x="777240" y="4160520"/>
            <a:ext cx="5029200" cy="1645920"/>
            <a:chOff x="777240" y="4160520"/>
            <a:chExt cx="5029200" cy="1645920"/>
          </a:xfrm>
        </p:grpSpPr>
        <p:sp>
          <p:nvSpPr>
            <p:cNvPr id="25" name="N08/peek-actions/notch-surface-peek/001"/>
            <p:cNvSpPr/>
            <p:nvPr/>
          </p:nvSpPr>
          <p:spPr>
            <a:xfrm>
              <a:off x="777240" y="4160520"/>
              <a:ext cx="5029200" cy="1645920"/>
            </a:xfrm>
            <a:custGeom>
              <a:avLst/>
              <a:gdLst/>
              <a:ahLst/>
              <a:cxnLst/>
              <a:rect l="l" t="t" r="r" b="b"/>
              <a:pathLst>
                <a:path w="5029200" h="1645920">
                  <a:moveTo>
                    <a:pt x="0" y="0"/>
                  </a:moveTo>
                  <a:lnTo>
                    <a:pt x="5029200" y="0"/>
                  </a:lnTo>
                  <a:lnTo>
                    <a:pt x="5020482" y="982"/>
                  </a:lnTo>
                  <a:lnTo>
                    <a:pt x="5010536" y="3929"/>
                  </a:lnTo>
                  <a:lnTo>
                    <a:pt x="5000100" y="8840"/>
                  </a:lnTo>
                  <a:lnTo>
                    <a:pt x="4989909" y="15716"/>
                  </a:lnTo>
                  <a:lnTo>
                    <a:pt x="4980700" y="24556"/>
                  </a:lnTo>
                  <a:lnTo>
                    <a:pt x="4973210" y="35361"/>
                  </a:lnTo>
                  <a:lnTo>
                    <a:pt x="4968176" y="48131"/>
                  </a:lnTo>
                  <a:lnTo>
                    <a:pt x="4966335" y="62864"/>
                  </a:lnTo>
                  <a:lnTo>
                    <a:pt x="4963516" y="1527851"/>
                  </a:lnTo>
                  <a:lnTo>
                    <a:pt x="4955169" y="1555368"/>
                  </a:lnTo>
                  <a:lnTo>
                    <a:pt x="4941614" y="1580728"/>
                  </a:lnTo>
                  <a:lnTo>
                    <a:pt x="4923371" y="1602956"/>
                  </a:lnTo>
                  <a:lnTo>
                    <a:pt x="4901143" y="1621199"/>
                  </a:lnTo>
                  <a:lnTo>
                    <a:pt x="4875783" y="1634754"/>
                  </a:lnTo>
                  <a:lnTo>
                    <a:pt x="4848266" y="1643101"/>
                  </a:lnTo>
                  <a:lnTo>
                    <a:pt x="4819650" y="1645920"/>
                  </a:lnTo>
                  <a:lnTo>
                    <a:pt x="209550" y="1645920"/>
                  </a:lnTo>
                  <a:lnTo>
                    <a:pt x="180933" y="1643101"/>
                  </a:lnTo>
                  <a:lnTo>
                    <a:pt x="153416" y="1634754"/>
                  </a:lnTo>
                  <a:lnTo>
                    <a:pt x="128056" y="1621199"/>
                  </a:lnTo>
                  <a:lnTo>
                    <a:pt x="105828" y="1602956"/>
                  </a:lnTo>
                  <a:lnTo>
                    <a:pt x="87585" y="1580728"/>
                  </a:lnTo>
                  <a:lnTo>
                    <a:pt x="74030" y="1555368"/>
                  </a:lnTo>
                  <a:lnTo>
                    <a:pt x="65683" y="1527851"/>
                  </a:lnTo>
                  <a:lnTo>
                    <a:pt x="62865" y="1499235"/>
                  </a:lnTo>
                  <a:lnTo>
                    <a:pt x="62865" y="62864"/>
                  </a:lnTo>
                  <a:lnTo>
                    <a:pt x="61023" y="48131"/>
                  </a:lnTo>
                  <a:lnTo>
                    <a:pt x="55989" y="35361"/>
                  </a:lnTo>
                  <a:lnTo>
                    <a:pt x="48499" y="24556"/>
                  </a:lnTo>
                  <a:lnTo>
                    <a:pt x="39290" y="15716"/>
                  </a:lnTo>
                  <a:lnTo>
                    <a:pt x="29099" y="8840"/>
                  </a:lnTo>
                  <a:lnTo>
                    <a:pt x="18663" y="3929"/>
                  </a:lnTo>
                  <a:lnTo>
                    <a:pt x="8717" y="9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08/peek-actions/poly/002"/>
            <p:cNvSpPr/>
            <p:nvPr/>
          </p:nvSpPr>
          <p:spPr>
            <a:xfrm>
              <a:off x="1109853" y="4702302"/>
              <a:ext cx="194310" cy="174878"/>
            </a:xfrm>
            <a:custGeom>
              <a:avLst/>
              <a:gdLst/>
              <a:ahLst/>
              <a:cxnLst/>
              <a:rect l="l" t="t" r="r" b="b"/>
              <a:pathLst>
                <a:path w="194310" h="174878">
                  <a:moveTo>
                    <a:pt x="97154" y="0"/>
                  </a:moveTo>
                  <a:lnTo>
                    <a:pt x="38861" y="38862"/>
                  </a:lnTo>
                  <a:lnTo>
                    <a:pt x="19431" y="116586"/>
                  </a:lnTo>
                  <a:lnTo>
                    <a:pt x="0" y="174878"/>
                  </a:lnTo>
                  <a:lnTo>
                    <a:pt x="194310" y="174878"/>
                  </a:lnTo>
                  <a:lnTo>
                    <a:pt x="174878" y="116586"/>
                  </a:lnTo>
                  <a:lnTo>
                    <a:pt x="155448" y="38862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08/peek-actions/line/003"/>
            <p:cNvCxnSpPr/>
            <p:nvPr/>
          </p:nvCxnSpPr>
          <p:spPr>
            <a:xfrm>
              <a:off x="1168145" y="4916043"/>
              <a:ext cx="77724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N08/peek-actions/ellipse/004"/>
            <p:cNvSpPr/>
            <p:nvPr/>
          </p:nvSpPr>
          <p:spPr>
            <a:xfrm>
              <a:off x="1187576" y="4682871"/>
              <a:ext cx="38862" cy="38862"/>
            </a:xfrm>
            <a:prstGeom prst="ellipse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08/peek-actions/text/005"/>
            <p:cNvSpPr txBox="1"/>
            <p:nvPr/>
          </p:nvSpPr>
          <p:spPr>
            <a:xfrm>
              <a:off x="1508760" y="4617720"/>
              <a:ext cx="384048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Design review in 15 min</a:t>
              </a:r>
            </a:p>
          </p:txBody>
        </p:sp>
        <p:sp>
          <p:nvSpPr>
            <p:cNvPr id="30" name="N08/peek-actions/text/006"/>
            <p:cNvSpPr txBox="1"/>
            <p:nvPr/>
          </p:nvSpPr>
          <p:spPr>
            <a:xfrm>
              <a:off x="1508760" y="4892040"/>
              <a:ext cx="3840480" cy="3200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 i="0">
                  <a:solidFill>
                    <a:srgbClr val="C7C7CC"/>
                  </a:solidFill>
                  <a:latin typeface="Arial"/>
                </a:rPr>
                <a:t>Notch UI pass · Meeting room 2</a:t>
              </a:r>
            </a:p>
          </p:txBody>
        </p:sp>
        <p:sp>
          <p:nvSpPr>
            <p:cNvPr id="31" name="N08/peek-actions/button-close/007"/>
            <p:cNvSpPr/>
            <p:nvPr/>
          </p:nvSpPr>
          <p:spPr>
            <a:xfrm>
              <a:off x="5349240" y="4617720"/>
              <a:ext cx="274320" cy="274320"/>
            </a:xfrm>
            <a:prstGeom prst="roundRect">
              <a:avLst>
                <a:gd name="adj" fmla="val 27777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N08/peek-actions/line/008"/>
            <p:cNvCxnSpPr/>
            <p:nvPr/>
          </p:nvCxnSpPr>
          <p:spPr>
            <a:xfrm>
              <a:off x="5455919" y="4724399"/>
              <a:ext cx="60960" cy="6096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N08/peek-actions/line/009"/>
            <p:cNvCxnSpPr/>
            <p:nvPr/>
          </p:nvCxnSpPr>
          <p:spPr>
            <a:xfrm flipH="1">
              <a:off x="5455919" y="4724399"/>
              <a:ext cx="60960" cy="6096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N08/peek-actions/button-Join/010"/>
            <p:cNvSpPr/>
            <p:nvPr/>
          </p:nvSpPr>
          <p:spPr>
            <a:xfrm>
              <a:off x="1508760" y="5349240"/>
              <a:ext cx="640080" cy="274320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08/peek-actions/text/011"/>
            <p:cNvSpPr txBox="1"/>
            <p:nvPr/>
          </p:nvSpPr>
          <p:spPr>
            <a:xfrm>
              <a:off x="1554480" y="534924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6" b="0" i="0">
                  <a:solidFill>
                    <a:srgbClr val="E5E5EA"/>
                  </a:solidFill>
                  <a:latin typeface="Arial"/>
                </a:rPr>
                <a:t>Join</a:t>
              </a:r>
            </a:p>
          </p:txBody>
        </p:sp>
        <p:sp>
          <p:nvSpPr>
            <p:cNvPr id="36" name="N08/peek-actions/button-Dismiss/012"/>
            <p:cNvSpPr/>
            <p:nvPr/>
          </p:nvSpPr>
          <p:spPr>
            <a:xfrm>
              <a:off x="2240280" y="5349240"/>
              <a:ext cx="777240" cy="274320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08/peek-actions/text/013"/>
            <p:cNvSpPr txBox="1"/>
            <p:nvPr/>
          </p:nvSpPr>
          <p:spPr>
            <a:xfrm>
              <a:off x="2286000" y="5349240"/>
              <a:ext cx="68580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6" b="0" i="0">
                  <a:solidFill>
                    <a:srgbClr val="E5E5EA"/>
                  </a:solidFill>
                  <a:latin typeface="Arial"/>
                </a:rPr>
                <a:t>Dismiss</a:t>
              </a:r>
            </a:p>
          </p:txBody>
        </p:sp>
        <p:sp>
          <p:nvSpPr>
            <p:cNvPr id="38" name="N08/peek-actions/button-Open/014"/>
            <p:cNvSpPr/>
            <p:nvPr/>
          </p:nvSpPr>
          <p:spPr>
            <a:xfrm>
              <a:off x="3108960" y="5349240"/>
              <a:ext cx="640080" cy="274320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08/peek-actions/text/015"/>
            <p:cNvSpPr txBox="1"/>
            <p:nvPr/>
          </p:nvSpPr>
          <p:spPr>
            <a:xfrm>
              <a:off x="3154679" y="5349240"/>
              <a:ext cx="548640" cy="27432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6" b="0" i="0">
                  <a:solidFill>
                    <a:srgbClr val="E5E5EA"/>
                  </a:solidFill>
                  <a:latin typeface="Arial"/>
                </a:rPr>
                <a:t>Open</a:t>
              </a:r>
            </a:p>
          </p:txBody>
        </p:sp>
      </p:grpSp>
      <p:sp>
        <p:nvSpPr>
          <p:cNvPr id="40" name="N08/text/011"/>
          <p:cNvSpPr txBox="1"/>
          <p:nvPr/>
        </p:nvSpPr>
        <p:spPr>
          <a:xfrm>
            <a:off x="777240" y="5989320"/>
            <a:ext cx="50292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Up to 2 native actions + Open. Clicking the notch opens Alerts.</a:t>
            </a:r>
          </a:p>
        </p:txBody>
      </p:sp>
      <p:sp>
        <p:nvSpPr>
          <p:cNvPr id="41" name="N08/spec-panel/012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08/text/013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3" name="N08/ellipse/014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08/text/015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440×144 at panel 32</a:t>
            </a:r>
          </a:p>
        </p:txBody>
      </p:sp>
      <p:sp>
        <p:nvSpPr>
          <p:cNvPr id="45" name="N08/ellipse/016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08/text/017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Icon 32 px, radius 8</a:t>
            </a:r>
          </a:p>
        </p:txBody>
      </p:sp>
      <p:sp>
        <p:nvSpPr>
          <p:cNvPr id="47" name="N08/ellipse/018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08/text/019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Body wraps; title ellipsizes</a:t>
            </a:r>
          </a:p>
        </p:txBody>
      </p:sp>
      <p:sp>
        <p:nvSpPr>
          <p:cNvPr id="49" name="N08/ellipse/020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08/text/021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Hover/press postpones timeout</a:t>
            </a:r>
          </a:p>
        </p:txBody>
      </p:sp>
      <p:sp>
        <p:nvSpPr>
          <p:cNvPr id="51" name="N08/ellipse/022"/>
          <p:cNvSpPr/>
          <p:nvPr/>
        </p:nvSpPr>
        <p:spPr>
          <a:xfrm>
            <a:off x="8659368" y="3319271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08/text/023"/>
          <p:cNvSpPr txBox="1"/>
          <p:nvPr/>
        </p:nvSpPr>
        <p:spPr>
          <a:xfrm>
            <a:off x="8805672" y="3255263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DND / fullscreen policy respected</a:t>
            </a:r>
          </a:p>
        </p:txBody>
      </p:sp>
      <p:cxnSp>
        <p:nvCxnSpPr>
          <p:cNvPr id="53" name="N08/line/024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N08/text/025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55" name="N08/edit-box/026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N08/edit-note/027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Peek height / duration / action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0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0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0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OPEN MODE</a:t>
            </a:r>
          </a:p>
        </p:txBody>
      </p:sp>
      <p:sp>
        <p:nvSpPr>
          <p:cNvPr id="5" name="N0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Open-shell anatomy</a:t>
            </a:r>
          </a:p>
        </p:txBody>
      </p:sp>
      <p:sp>
        <p:nvSpPr>
          <p:cNvPr id="6" name="N0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Shared chrome for every page · status footer reserves height only when visible</a:t>
            </a:r>
          </a:p>
        </p:txBody>
      </p:sp>
      <p:cxnSp>
        <p:nvCxnSpPr>
          <p:cNvPr id="7" name="N0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0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0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N09</a:t>
            </a:r>
          </a:p>
        </p:txBody>
      </p:sp>
      <p:sp>
        <p:nvSpPr>
          <p:cNvPr id="10" name="N0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09</a:t>
            </a:r>
          </a:p>
        </p:txBody>
      </p:sp>
      <p:grpSp>
        <p:nvGrpSpPr>
          <p:cNvPr id="11" name="N09/notch-home"/>
          <p:cNvGrpSpPr/>
          <p:nvPr/>
        </p:nvGrpSpPr>
        <p:grpSpPr>
          <a:xfrm>
            <a:off x="502920" y="1783080"/>
            <a:ext cx="7437120" cy="3718560"/>
            <a:chOff x="502920" y="1783080"/>
            <a:chExt cx="7437120" cy="3718560"/>
          </a:xfrm>
        </p:grpSpPr>
        <p:sp>
          <p:nvSpPr>
            <p:cNvPr id="12" name="N09/notch-home/notch-surface-open/001"/>
            <p:cNvSpPr/>
            <p:nvPr/>
          </p:nvSpPr>
          <p:spPr>
            <a:xfrm>
              <a:off x="502920" y="1783080"/>
              <a:ext cx="7437120" cy="3718560"/>
            </a:xfrm>
            <a:custGeom>
              <a:avLst/>
              <a:gdLst/>
              <a:ahLst/>
              <a:cxnLst/>
              <a:rect l="l" t="t" r="r" b="b"/>
              <a:pathLst>
                <a:path w="7437120" h="3718560">
                  <a:moveTo>
                    <a:pt x="0" y="0"/>
                  </a:moveTo>
                  <a:lnTo>
                    <a:pt x="7437120" y="0"/>
                  </a:lnTo>
                  <a:lnTo>
                    <a:pt x="7406502" y="3449"/>
                  </a:lnTo>
                  <a:lnTo>
                    <a:pt x="7371573" y="13799"/>
                  </a:lnTo>
                  <a:lnTo>
                    <a:pt x="7334918" y="31048"/>
                  </a:lnTo>
                  <a:lnTo>
                    <a:pt x="7299126" y="55197"/>
                  </a:lnTo>
                  <a:lnTo>
                    <a:pt x="7266784" y="86245"/>
                  </a:lnTo>
                  <a:lnTo>
                    <a:pt x="7240479" y="124194"/>
                  </a:lnTo>
                  <a:lnTo>
                    <a:pt x="7222798" y="169041"/>
                  </a:lnTo>
                  <a:lnTo>
                    <a:pt x="7216330" y="220789"/>
                  </a:lnTo>
                  <a:lnTo>
                    <a:pt x="7210971" y="3494077"/>
                  </a:lnTo>
                  <a:lnTo>
                    <a:pt x="7195101" y="3546395"/>
                  </a:lnTo>
                  <a:lnTo>
                    <a:pt x="7169328" y="3594612"/>
                  </a:lnTo>
                  <a:lnTo>
                    <a:pt x="7134644" y="3636874"/>
                  </a:lnTo>
                  <a:lnTo>
                    <a:pt x="7092382" y="3671558"/>
                  </a:lnTo>
                  <a:lnTo>
                    <a:pt x="7044165" y="3697330"/>
                  </a:lnTo>
                  <a:lnTo>
                    <a:pt x="6991847" y="3713201"/>
                  </a:lnTo>
                  <a:lnTo>
                    <a:pt x="6937438" y="3718560"/>
                  </a:lnTo>
                  <a:lnTo>
                    <a:pt x="499681" y="3718560"/>
                  </a:lnTo>
                  <a:lnTo>
                    <a:pt x="445272" y="3713201"/>
                  </a:lnTo>
                  <a:lnTo>
                    <a:pt x="392954" y="3697330"/>
                  </a:lnTo>
                  <a:lnTo>
                    <a:pt x="344737" y="3671558"/>
                  </a:lnTo>
                  <a:lnTo>
                    <a:pt x="302475" y="3636874"/>
                  </a:lnTo>
                  <a:lnTo>
                    <a:pt x="267791" y="3594612"/>
                  </a:lnTo>
                  <a:lnTo>
                    <a:pt x="242018" y="3546395"/>
                  </a:lnTo>
                  <a:lnTo>
                    <a:pt x="226148" y="3494077"/>
                  </a:lnTo>
                  <a:lnTo>
                    <a:pt x="220789" y="3439668"/>
                  </a:lnTo>
                  <a:lnTo>
                    <a:pt x="220789" y="220789"/>
                  </a:lnTo>
                  <a:lnTo>
                    <a:pt x="214321" y="169041"/>
                  </a:lnTo>
                  <a:lnTo>
                    <a:pt x="196640" y="124194"/>
                  </a:lnTo>
                  <a:lnTo>
                    <a:pt x="170335" y="86245"/>
                  </a:lnTo>
                  <a:lnTo>
                    <a:pt x="137993" y="55197"/>
                  </a:lnTo>
                  <a:lnTo>
                    <a:pt x="102201" y="31048"/>
                  </a:lnTo>
                  <a:lnTo>
                    <a:pt x="65546" y="13799"/>
                  </a:lnTo>
                  <a:lnTo>
                    <a:pt x="30617" y="344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09/notch-home/button-Home/002"/>
            <p:cNvSpPr/>
            <p:nvPr/>
          </p:nvSpPr>
          <p:spPr>
            <a:xfrm>
              <a:off x="735330" y="2329243"/>
              <a:ext cx="995644" cy="348615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09/notch-home/poly/003"/>
            <p:cNvSpPr/>
            <p:nvPr/>
          </p:nvSpPr>
          <p:spPr>
            <a:xfrm>
              <a:off x="900805" y="2433827"/>
              <a:ext cx="139446" cy="139446"/>
            </a:xfrm>
            <a:custGeom>
              <a:avLst/>
              <a:gdLst/>
              <a:ahLst/>
              <a:cxnLst/>
              <a:rect l="l" t="t" r="r" b="b"/>
              <a:pathLst>
                <a:path w="139446" h="139446">
                  <a:moveTo>
                    <a:pt x="69723" y="0"/>
                  </a:moveTo>
                  <a:lnTo>
                    <a:pt x="0" y="58103"/>
                  </a:lnTo>
                  <a:lnTo>
                    <a:pt x="23241" y="58103"/>
                  </a:lnTo>
                  <a:lnTo>
                    <a:pt x="23241" y="139446"/>
                  </a:lnTo>
                  <a:lnTo>
                    <a:pt x="58103" y="139446"/>
                  </a:lnTo>
                  <a:lnTo>
                    <a:pt x="58103" y="92964"/>
                  </a:lnTo>
                  <a:lnTo>
                    <a:pt x="81344" y="92964"/>
                  </a:lnTo>
                  <a:lnTo>
                    <a:pt x="81344" y="139446"/>
                  </a:lnTo>
                  <a:lnTo>
                    <a:pt x="116205" y="139446"/>
                  </a:lnTo>
                  <a:lnTo>
                    <a:pt x="116205" y="58103"/>
                  </a:lnTo>
                  <a:lnTo>
                    <a:pt x="139446" y="58103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09/notch-home/text/004"/>
            <p:cNvSpPr txBox="1"/>
            <p:nvPr/>
          </p:nvSpPr>
          <p:spPr>
            <a:xfrm>
              <a:off x="1133215" y="2329243"/>
              <a:ext cx="551276" cy="348615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 i="0">
                  <a:solidFill>
                    <a:srgbClr val="FFFFFF"/>
                  </a:solidFill>
                  <a:latin typeface="Arial"/>
                </a:rPr>
                <a:t>Home</a:t>
              </a:r>
            </a:p>
          </p:txBody>
        </p:sp>
        <p:sp>
          <p:nvSpPr>
            <p:cNvPr id="16" name="N09/notch-home/button-music/005"/>
            <p:cNvSpPr/>
            <p:nvPr/>
          </p:nvSpPr>
          <p:spPr>
            <a:xfrm>
              <a:off x="1777456" y="232924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N09/notch-home/line/006"/>
            <p:cNvCxnSpPr/>
            <p:nvPr/>
          </p:nvCxnSpPr>
          <p:spPr>
            <a:xfrm flipV="1">
              <a:off x="1940143" y="2457068"/>
              <a:ext cx="0" cy="929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09/notch-home/line/007"/>
            <p:cNvCxnSpPr/>
            <p:nvPr/>
          </p:nvCxnSpPr>
          <p:spPr>
            <a:xfrm flipV="1">
              <a:off x="1940143" y="2445448"/>
              <a:ext cx="81343" cy="1162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N09/notch-home/line/008"/>
            <p:cNvCxnSpPr/>
            <p:nvPr/>
          </p:nvCxnSpPr>
          <p:spPr>
            <a:xfrm>
              <a:off x="2021486" y="2445448"/>
              <a:ext cx="0" cy="929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N09/notch-home/ellipse/009"/>
            <p:cNvSpPr/>
            <p:nvPr/>
          </p:nvSpPr>
          <p:spPr>
            <a:xfrm>
              <a:off x="1905281" y="2532602"/>
              <a:ext cx="40671" cy="3486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09/notch-home/ellipse/010"/>
            <p:cNvSpPr/>
            <p:nvPr/>
          </p:nvSpPr>
          <p:spPr>
            <a:xfrm>
              <a:off x="1986625" y="2520981"/>
              <a:ext cx="40671" cy="3486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09/notch-home/button-bell/011"/>
            <p:cNvSpPr/>
            <p:nvPr/>
          </p:nvSpPr>
          <p:spPr>
            <a:xfrm>
              <a:off x="2195794" y="232924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09/notch-home/poly/012"/>
            <p:cNvSpPr/>
            <p:nvPr/>
          </p:nvSpPr>
          <p:spPr>
            <a:xfrm>
              <a:off x="2323619" y="2433827"/>
              <a:ext cx="116205" cy="104585"/>
            </a:xfrm>
            <a:custGeom>
              <a:avLst/>
              <a:gdLst/>
              <a:ahLst/>
              <a:cxnLst/>
              <a:rect l="l" t="t" r="r" b="b"/>
              <a:pathLst>
                <a:path w="116205" h="104585">
                  <a:moveTo>
                    <a:pt x="58103" y="0"/>
                  </a:moveTo>
                  <a:lnTo>
                    <a:pt x="23241" y="23241"/>
                  </a:lnTo>
                  <a:lnTo>
                    <a:pt x="11621" y="69723"/>
                  </a:lnTo>
                  <a:lnTo>
                    <a:pt x="0" y="104585"/>
                  </a:lnTo>
                  <a:lnTo>
                    <a:pt x="116205" y="104585"/>
                  </a:lnTo>
                  <a:lnTo>
                    <a:pt x="104585" y="69723"/>
                  </a:lnTo>
                  <a:lnTo>
                    <a:pt x="92964" y="23241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09/notch-home/line/013"/>
            <p:cNvCxnSpPr/>
            <p:nvPr/>
          </p:nvCxnSpPr>
          <p:spPr>
            <a:xfrm>
              <a:off x="2358481" y="2561653"/>
              <a:ext cx="4648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09/notch-home/ellipse/014"/>
            <p:cNvSpPr/>
            <p:nvPr/>
          </p:nvSpPr>
          <p:spPr>
            <a:xfrm>
              <a:off x="2370101" y="2422207"/>
              <a:ext cx="23241" cy="23241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09/notch-home/button-chart/015"/>
            <p:cNvSpPr/>
            <p:nvPr/>
          </p:nvSpPr>
          <p:spPr>
            <a:xfrm>
              <a:off x="2614132" y="232924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09/notch-home/line/016"/>
            <p:cNvCxnSpPr/>
            <p:nvPr/>
          </p:nvCxnSpPr>
          <p:spPr>
            <a:xfrm>
              <a:off x="2730337" y="2573273"/>
              <a:ext cx="139446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09/notch-home/line/017"/>
            <p:cNvCxnSpPr/>
            <p:nvPr/>
          </p:nvCxnSpPr>
          <p:spPr>
            <a:xfrm flipV="1">
              <a:off x="2741957" y="2491930"/>
              <a:ext cx="34862" cy="4648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09/notch-home/line/018"/>
            <p:cNvCxnSpPr/>
            <p:nvPr/>
          </p:nvCxnSpPr>
          <p:spPr>
            <a:xfrm>
              <a:off x="2776819" y="2491930"/>
              <a:ext cx="34861" cy="2324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09/notch-home/line/019"/>
            <p:cNvCxnSpPr/>
            <p:nvPr/>
          </p:nvCxnSpPr>
          <p:spPr>
            <a:xfrm flipV="1">
              <a:off x="2811680" y="2445448"/>
              <a:ext cx="46482" cy="6972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09/notch-home/button-folder/020"/>
            <p:cNvSpPr/>
            <p:nvPr/>
          </p:nvSpPr>
          <p:spPr>
            <a:xfrm>
              <a:off x="3032470" y="232924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09/notch-home/poly/021"/>
            <p:cNvSpPr/>
            <p:nvPr/>
          </p:nvSpPr>
          <p:spPr>
            <a:xfrm>
              <a:off x="3148675" y="2468689"/>
              <a:ext cx="139446" cy="92964"/>
            </a:xfrm>
            <a:custGeom>
              <a:avLst/>
              <a:gdLst/>
              <a:ahLst/>
              <a:cxnLst/>
              <a:rect l="l" t="t" r="r" b="b"/>
              <a:pathLst>
                <a:path w="139446" h="92964">
                  <a:moveTo>
                    <a:pt x="0" y="0"/>
                  </a:moveTo>
                  <a:lnTo>
                    <a:pt x="46482" y="0"/>
                  </a:lnTo>
                  <a:lnTo>
                    <a:pt x="63913" y="23241"/>
                  </a:lnTo>
                  <a:lnTo>
                    <a:pt x="139446" y="23241"/>
                  </a:lnTo>
                  <a:lnTo>
                    <a:pt x="139446" y="92964"/>
                  </a:lnTo>
                  <a:lnTo>
                    <a:pt x="0" y="92964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09/notch-home/button-clipboard/022"/>
            <p:cNvSpPr/>
            <p:nvPr/>
          </p:nvSpPr>
          <p:spPr>
            <a:xfrm>
              <a:off x="3450808" y="2329243"/>
              <a:ext cx="371856" cy="348615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09/notch-home/rect/023"/>
            <p:cNvSpPr/>
            <p:nvPr/>
          </p:nvSpPr>
          <p:spPr>
            <a:xfrm>
              <a:off x="3590254" y="2445448"/>
              <a:ext cx="92964" cy="127825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09/notch-home/rect/024"/>
            <p:cNvSpPr/>
            <p:nvPr/>
          </p:nvSpPr>
          <p:spPr>
            <a:xfrm>
              <a:off x="3613495" y="2428017"/>
              <a:ext cx="46482" cy="29051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09/notch-home/line/025"/>
            <p:cNvCxnSpPr/>
            <p:nvPr/>
          </p:nvCxnSpPr>
          <p:spPr>
            <a:xfrm>
              <a:off x="3613495" y="2491930"/>
              <a:ext cx="4648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09/notch-home/line/026"/>
            <p:cNvCxnSpPr/>
            <p:nvPr/>
          </p:nvCxnSpPr>
          <p:spPr>
            <a:xfrm>
              <a:off x="3613495" y="2520981"/>
              <a:ext cx="46482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09/notch-home/button-gear/027"/>
            <p:cNvSpPr/>
            <p:nvPr/>
          </p:nvSpPr>
          <p:spPr>
            <a:xfrm>
              <a:off x="6894195" y="2317622"/>
              <a:ext cx="371856" cy="37185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09/notch-home/ellipse/028"/>
            <p:cNvSpPr/>
            <p:nvPr/>
          </p:nvSpPr>
          <p:spPr>
            <a:xfrm>
              <a:off x="7045261" y="2468689"/>
              <a:ext cx="69723" cy="69723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09/notch-home/line/029"/>
            <p:cNvCxnSpPr/>
            <p:nvPr/>
          </p:nvCxnSpPr>
          <p:spPr>
            <a:xfrm>
              <a:off x="7138225" y="2503550"/>
              <a:ext cx="2324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09/notch-home/line/030"/>
            <p:cNvCxnSpPr/>
            <p:nvPr/>
          </p:nvCxnSpPr>
          <p:spPr>
            <a:xfrm>
              <a:off x="7121207" y="2544635"/>
              <a:ext cx="16434" cy="1643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09/notch-home/line/031"/>
            <p:cNvCxnSpPr/>
            <p:nvPr/>
          </p:nvCxnSpPr>
          <p:spPr>
            <a:xfrm>
              <a:off x="7080123" y="2561653"/>
              <a:ext cx="0" cy="2324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09/notch-home/line/032"/>
            <p:cNvCxnSpPr/>
            <p:nvPr/>
          </p:nvCxnSpPr>
          <p:spPr>
            <a:xfrm flipH="1">
              <a:off x="7022604" y="2544635"/>
              <a:ext cx="16434" cy="1643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09/notch-home/line/033"/>
            <p:cNvCxnSpPr/>
            <p:nvPr/>
          </p:nvCxnSpPr>
          <p:spPr>
            <a:xfrm flipH="1">
              <a:off x="6998779" y="2503550"/>
              <a:ext cx="23241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09/notch-home/line/034"/>
            <p:cNvCxnSpPr/>
            <p:nvPr/>
          </p:nvCxnSpPr>
          <p:spPr>
            <a:xfrm flipH="1" flipV="1">
              <a:off x="7022604" y="2446032"/>
              <a:ext cx="16434" cy="1643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09/notch-home/line/035"/>
            <p:cNvCxnSpPr/>
            <p:nvPr/>
          </p:nvCxnSpPr>
          <p:spPr>
            <a:xfrm flipV="1">
              <a:off x="7080123" y="2422207"/>
              <a:ext cx="0" cy="2324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09/notch-home/line/036"/>
            <p:cNvCxnSpPr/>
            <p:nvPr/>
          </p:nvCxnSpPr>
          <p:spPr>
            <a:xfrm flipV="1">
              <a:off x="7121207" y="2446032"/>
              <a:ext cx="16434" cy="1643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09/notch-home/button-close/037"/>
            <p:cNvSpPr/>
            <p:nvPr/>
          </p:nvSpPr>
          <p:spPr>
            <a:xfrm>
              <a:off x="7335774" y="2317622"/>
              <a:ext cx="371856" cy="371856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09/notch-home/line/038"/>
            <p:cNvCxnSpPr/>
            <p:nvPr/>
          </p:nvCxnSpPr>
          <p:spPr>
            <a:xfrm>
              <a:off x="7475220" y="2457068"/>
              <a:ext cx="92964" cy="929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09/notch-home/line/039"/>
            <p:cNvCxnSpPr/>
            <p:nvPr/>
          </p:nvCxnSpPr>
          <p:spPr>
            <a:xfrm flipH="1">
              <a:off x="7475220" y="2457068"/>
              <a:ext cx="92964" cy="9296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09/notch-home/text/040"/>
            <p:cNvSpPr txBox="1"/>
            <p:nvPr/>
          </p:nvSpPr>
          <p:spPr>
            <a:xfrm>
              <a:off x="735330" y="3061335"/>
              <a:ext cx="3486150" cy="51130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111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52" name="N09/notch-home/text/041"/>
            <p:cNvSpPr txBox="1"/>
            <p:nvPr/>
          </p:nvSpPr>
          <p:spPr>
            <a:xfrm>
              <a:off x="735330" y="3595877"/>
              <a:ext cx="3486150" cy="232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53" name="N09/notch-home/button-Focus/042"/>
            <p:cNvSpPr/>
            <p:nvPr/>
          </p:nvSpPr>
          <p:spPr>
            <a:xfrm>
              <a:off x="4802505" y="3886390"/>
              <a:ext cx="906399" cy="371856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09/notch-home/ellipse/043"/>
            <p:cNvSpPr/>
            <p:nvPr/>
          </p:nvSpPr>
          <p:spPr>
            <a:xfrm>
              <a:off x="4878038" y="4014215"/>
              <a:ext cx="116205" cy="116205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09/notch-home/line/044"/>
            <p:cNvCxnSpPr/>
            <p:nvPr/>
          </p:nvCxnSpPr>
          <p:spPr>
            <a:xfrm flipV="1">
              <a:off x="4889658" y="4025836"/>
              <a:ext cx="92964" cy="92964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N09/notch-home/text/045"/>
            <p:cNvSpPr txBox="1"/>
            <p:nvPr/>
          </p:nvSpPr>
          <p:spPr>
            <a:xfrm>
              <a:off x="5098827" y="3886390"/>
              <a:ext cx="563594" cy="3718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 i="0">
                  <a:solidFill>
                    <a:srgbClr val="E5E5EA"/>
                  </a:solidFill>
                  <a:latin typeface="Arial"/>
                </a:rPr>
                <a:t>Focus</a:t>
              </a:r>
            </a:p>
          </p:txBody>
        </p:sp>
        <p:sp>
          <p:nvSpPr>
            <p:cNvPr id="57" name="N09/notch-home/button-Night/046"/>
            <p:cNvSpPr/>
            <p:nvPr/>
          </p:nvSpPr>
          <p:spPr>
            <a:xfrm>
              <a:off x="5801868" y="3886390"/>
              <a:ext cx="906399" cy="371856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09/notch-home/poly/047"/>
            <p:cNvSpPr/>
            <p:nvPr/>
          </p:nvSpPr>
          <p:spPr>
            <a:xfrm>
              <a:off x="5889021" y="4002595"/>
              <a:ext cx="92964" cy="139446"/>
            </a:xfrm>
            <a:custGeom>
              <a:avLst/>
              <a:gdLst/>
              <a:ahLst/>
              <a:cxnLst/>
              <a:rect l="l" t="t" r="r" b="b"/>
              <a:pathLst>
                <a:path w="92964" h="139446">
                  <a:moveTo>
                    <a:pt x="69723" y="0"/>
                  </a:moveTo>
                  <a:lnTo>
                    <a:pt x="23241" y="11620"/>
                  </a:lnTo>
                  <a:lnTo>
                    <a:pt x="0" y="46482"/>
                  </a:lnTo>
                  <a:lnTo>
                    <a:pt x="0" y="92964"/>
                  </a:lnTo>
                  <a:lnTo>
                    <a:pt x="23241" y="127825"/>
                  </a:lnTo>
                  <a:lnTo>
                    <a:pt x="69723" y="139446"/>
                  </a:lnTo>
                  <a:lnTo>
                    <a:pt x="92964" y="116205"/>
                  </a:lnTo>
                  <a:lnTo>
                    <a:pt x="58103" y="104584"/>
                  </a:lnTo>
                  <a:lnTo>
                    <a:pt x="34862" y="69723"/>
                  </a:lnTo>
                  <a:lnTo>
                    <a:pt x="46482" y="34861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09/notch-home/text/048"/>
            <p:cNvSpPr txBox="1"/>
            <p:nvPr/>
          </p:nvSpPr>
          <p:spPr>
            <a:xfrm>
              <a:off x="6098190" y="3886390"/>
              <a:ext cx="563594" cy="3718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 i="0">
                  <a:solidFill>
                    <a:srgbClr val="E5E5EA"/>
                  </a:solidFill>
                  <a:latin typeface="Arial"/>
                </a:rPr>
                <a:t>Night</a:t>
              </a:r>
            </a:p>
          </p:txBody>
        </p:sp>
        <p:sp>
          <p:nvSpPr>
            <p:cNvPr id="60" name="N09/notch-home/button-Dark/049"/>
            <p:cNvSpPr/>
            <p:nvPr/>
          </p:nvSpPr>
          <p:spPr>
            <a:xfrm>
              <a:off x="6801231" y="3886390"/>
              <a:ext cx="906399" cy="371856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09/notch-home/ellipse/050"/>
            <p:cNvSpPr/>
            <p:nvPr/>
          </p:nvSpPr>
          <p:spPr>
            <a:xfrm>
              <a:off x="6933704" y="4014215"/>
              <a:ext cx="116205" cy="116205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09/notch-home/poly/051"/>
            <p:cNvSpPr/>
            <p:nvPr/>
          </p:nvSpPr>
          <p:spPr>
            <a:xfrm>
              <a:off x="6991807" y="4014215"/>
              <a:ext cx="58102" cy="116205"/>
            </a:xfrm>
            <a:custGeom>
              <a:avLst/>
              <a:gdLst/>
              <a:ahLst/>
              <a:cxnLst/>
              <a:rect l="l" t="t" r="r" b="b"/>
              <a:pathLst>
                <a:path w="58102" h="116205">
                  <a:moveTo>
                    <a:pt x="0" y="0"/>
                  </a:moveTo>
                  <a:lnTo>
                    <a:pt x="0" y="116205"/>
                  </a:lnTo>
                  <a:lnTo>
                    <a:pt x="34861" y="104585"/>
                  </a:lnTo>
                  <a:lnTo>
                    <a:pt x="58102" y="58103"/>
                  </a:lnTo>
                  <a:lnTo>
                    <a:pt x="34861" y="116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09/notch-home/text/052"/>
            <p:cNvSpPr txBox="1"/>
            <p:nvPr/>
          </p:nvSpPr>
          <p:spPr>
            <a:xfrm>
              <a:off x="7154494" y="3886390"/>
              <a:ext cx="506653" cy="3718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 b="1" i="0">
                  <a:solidFill>
                    <a:srgbClr val="000000"/>
                  </a:solidFill>
                  <a:latin typeface="Arial"/>
                </a:rPr>
                <a:t>Dark</a:t>
              </a:r>
            </a:p>
          </p:txBody>
        </p:sp>
      </p:grpSp>
      <p:sp>
        <p:nvSpPr>
          <p:cNvPr id="64" name="N09/text/010"/>
          <p:cNvSpPr txBox="1"/>
          <p:nvPr/>
        </p:nvSpPr>
        <p:spPr>
          <a:xfrm>
            <a:off x="502920" y="5623560"/>
            <a:ext cx="763524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D2FF"/>
                </a:solidFill>
                <a:latin typeface="Arial"/>
              </a:rPr>
              <a:t>Panel 32 → top pad 8 → header 44 → page → optional status → bottom pad 16.</a:t>
            </a:r>
          </a:p>
        </p:txBody>
      </p:sp>
      <p:sp>
        <p:nvSpPr>
          <p:cNvPr id="65" name="N09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09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7" name="N09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09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Gutters 20 px left/right</a:t>
            </a:r>
          </a:p>
        </p:txBody>
      </p:sp>
      <p:sp>
        <p:nvSpPr>
          <p:cNvPr id="69" name="N09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09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Top pad 8 below panel</a:t>
            </a:r>
          </a:p>
        </p:txBody>
      </p:sp>
      <p:sp>
        <p:nvSpPr>
          <p:cNvPr id="71" name="N09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09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Header 44 px; tabs + settings + close</a:t>
            </a:r>
          </a:p>
        </p:txBody>
      </p:sp>
      <p:sp>
        <p:nvSpPr>
          <p:cNvPr id="73" name="N09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09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Page scroll vertical only</a:t>
            </a:r>
          </a:p>
        </p:txBody>
      </p:sp>
      <p:sp>
        <p:nvSpPr>
          <p:cNvPr id="75" name="N09/ellipse/021"/>
          <p:cNvSpPr/>
          <p:nvPr/>
        </p:nvSpPr>
        <p:spPr>
          <a:xfrm>
            <a:off x="8659368" y="3319271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09/text/022"/>
          <p:cNvSpPr txBox="1"/>
          <p:nvPr/>
        </p:nvSpPr>
        <p:spPr>
          <a:xfrm>
            <a:off x="8805672" y="3255263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Status footer wraps 1–3 lines</a:t>
            </a:r>
          </a:p>
        </p:txBody>
      </p:sp>
      <p:cxnSp>
        <p:nvCxnSpPr>
          <p:cNvPr id="77" name="N09/line/02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N09/text/02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79" name="N09/edit-box/02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09/edit-note/02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Header height / gutters / tab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HOME PAGE</a:t>
            </a:r>
          </a:p>
        </p:txBody>
      </p:sp>
      <p:sp>
        <p:nvSpPr>
          <p:cNvPr id="5" name="N1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Home — idle</a:t>
            </a:r>
          </a:p>
        </p:txBody>
      </p:sp>
      <p:sp>
        <p:nvSpPr>
          <p:cNvPr id="6" name="N1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640×210 · no MPRIS player · clock + compact quick actions</a:t>
            </a:r>
          </a:p>
        </p:txBody>
      </p:sp>
      <p:cxnSp>
        <p:nvCxnSpPr>
          <p:cNvPr id="7" name="N1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N10</a:t>
            </a:r>
          </a:p>
        </p:txBody>
      </p:sp>
      <p:sp>
        <p:nvSpPr>
          <p:cNvPr id="10" name="N1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10</a:t>
            </a:r>
          </a:p>
        </p:txBody>
      </p:sp>
      <p:grpSp>
        <p:nvGrpSpPr>
          <p:cNvPr id="11" name="N10/notch-home"/>
          <p:cNvGrpSpPr/>
          <p:nvPr/>
        </p:nvGrpSpPr>
        <p:grpSpPr>
          <a:xfrm>
            <a:off x="502920" y="2011680"/>
            <a:ext cx="7802880" cy="2560320"/>
            <a:chOff x="502920" y="2011680"/>
            <a:chExt cx="7802880" cy="2560320"/>
          </a:xfrm>
        </p:grpSpPr>
        <p:sp>
          <p:nvSpPr>
            <p:cNvPr id="12" name="N10/notch-home/notch-surface-open/001"/>
            <p:cNvSpPr/>
            <p:nvPr/>
          </p:nvSpPr>
          <p:spPr>
            <a:xfrm>
              <a:off x="502920" y="2011680"/>
              <a:ext cx="7802880" cy="2560320"/>
            </a:xfrm>
            <a:custGeom>
              <a:avLst/>
              <a:gdLst/>
              <a:ahLst/>
              <a:cxnLst/>
              <a:rect l="l" t="t" r="r" b="b"/>
              <a:pathLst>
                <a:path w="7802880" h="2560320">
                  <a:moveTo>
                    <a:pt x="0" y="0"/>
                  </a:moveTo>
                  <a:lnTo>
                    <a:pt x="7802880" y="0"/>
                  </a:lnTo>
                  <a:lnTo>
                    <a:pt x="7770756" y="3619"/>
                  </a:lnTo>
                  <a:lnTo>
                    <a:pt x="7734109" y="14478"/>
                  </a:lnTo>
                  <a:lnTo>
                    <a:pt x="7695652" y="32575"/>
                  </a:lnTo>
                  <a:lnTo>
                    <a:pt x="7658100" y="57912"/>
                  </a:lnTo>
                  <a:lnTo>
                    <a:pt x="7624167" y="90487"/>
                  </a:lnTo>
                  <a:lnTo>
                    <a:pt x="7596568" y="130302"/>
                  </a:lnTo>
                  <a:lnTo>
                    <a:pt x="7578018" y="177355"/>
                  </a:lnTo>
                  <a:lnTo>
                    <a:pt x="7571232" y="231648"/>
                  </a:lnTo>
                  <a:lnTo>
                    <a:pt x="7565609" y="2324796"/>
                  </a:lnTo>
                  <a:lnTo>
                    <a:pt x="7548958" y="2379688"/>
                  </a:lnTo>
                  <a:lnTo>
                    <a:pt x="7521918" y="2430276"/>
                  </a:lnTo>
                  <a:lnTo>
                    <a:pt x="7485529" y="2474617"/>
                  </a:lnTo>
                  <a:lnTo>
                    <a:pt x="7441188" y="2511006"/>
                  </a:lnTo>
                  <a:lnTo>
                    <a:pt x="7390600" y="2538046"/>
                  </a:lnTo>
                  <a:lnTo>
                    <a:pt x="7335708" y="2554697"/>
                  </a:lnTo>
                  <a:lnTo>
                    <a:pt x="7278624" y="2560320"/>
                  </a:lnTo>
                  <a:lnTo>
                    <a:pt x="524256" y="2560320"/>
                  </a:lnTo>
                  <a:lnTo>
                    <a:pt x="467171" y="2554697"/>
                  </a:lnTo>
                  <a:lnTo>
                    <a:pt x="412279" y="2538046"/>
                  </a:lnTo>
                  <a:lnTo>
                    <a:pt x="361691" y="2511006"/>
                  </a:lnTo>
                  <a:lnTo>
                    <a:pt x="317350" y="2474617"/>
                  </a:lnTo>
                  <a:lnTo>
                    <a:pt x="280961" y="2430276"/>
                  </a:lnTo>
                  <a:lnTo>
                    <a:pt x="253921" y="2379688"/>
                  </a:lnTo>
                  <a:lnTo>
                    <a:pt x="237270" y="2324796"/>
                  </a:lnTo>
                  <a:lnTo>
                    <a:pt x="231648" y="226771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1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0/notch-home/button-Home/002"/>
            <p:cNvSpPr/>
            <p:nvPr/>
          </p:nvSpPr>
          <p:spPr>
            <a:xfrm>
              <a:off x="746760" y="2584704"/>
              <a:ext cx="1044610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0/notch-home/poly/003"/>
            <p:cNvSpPr/>
            <p:nvPr/>
          </p:nvSpPr>
          <p:spPr>
            <a:xfrm>
              <a:off x="920374" y="2694432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146304" h="146304">
                  <a:moveTo>
                    <a:pt x="73152" y="0"/>
                  </a:moveTo>
                  <a:lnTo>
                    <a:pt x="0" y="60960"/>
                  </a:lnTo>
                  <a:lnTo>
                    <a:pt x="24384" y="60960"/>
                  </a:lnTo>
                  <a:lnTo>
                    <a:pt x="24384" y="146304"/>
                  </a:lnTo>
                  <a:lnTo>
                    <a:pt x="60960" y="146304"/>
                  </a:lnTo>
                  <a:lnTo>
                    <a:pt x="60960" y="97536"/>
                  </a:lnTo>
                  <a:lnTo>
                    <a:pt x="85344" y="97536"/>
                  </a:lnTo>
                  <a:lnTo>
                    <a:pt x="85344" y="146304"/>
                  </a:lnTo>
                  <a:lnTo>
                    <a:pt x="121920" y="146304"/>
                  </a:lnTo>
                  <a:lnTo>
                    <a:pt x="121920" y="60960"/>
                  </a:lnTo>
                  <a:lnTo>
                    <a:pt x="146304" y="60960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0/notch-home/text/004"/>
            <p:cNvSpPr txBox="1"/>
            <p:nvPr/>
          </p:nvSpPr>
          <p:spPr>
            <a:xfrm>
              <a:off x="1164214" y="2584704"/>
              <a:ext cx="578388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Home</a:t>
              </a:r>
            </a:p>
          </p:txBody>
        </p:sp>
        <p:sp>
          <p:nvSpPr>
            <p:cNvPr id="16" name="N10/notch-home/button-music/005"/>
            <p:cNvSpPr/>
            <p:nvPr/>
          </p:nvSpPr>
          <p:spPr>
            <a:xfrm>
              <a:off x="1840138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N10/notch-home/line/006"/>
            <p:cNvCxnSpPr/>
            <p:nvPr/>
          </p:nvCxnSpPr>
          <p:spPr>
            <a:xfrm flipV="1">
              <a:off x="2010826" y="2718816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0/notch-home/line/007"/>
            <p:cNvCxnSpPr/>
            <p:nvPr/>
          </p:nvCxnSpPr>
          <p:spPr>
            <a:xfrm flipV="1">
              <a:off x="2010826" y="2706624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N10/notch-home/line/008"/>
            <p:cNvCxnSpPr/>
            <p:nvPr/>
          </p:nvCxnSpPr>
          <p:spPr>
            <a:xfrm>
              <a:off x="2096170" y="2706624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N10/notch-home/ellipse/009"/>
            <p:cNvSpPr/>
            <p:nvPr/>
          </p:nvSpPr>
          <p:spPr>
            <a:xfrm>
              <a:off x="1974250" y="2798064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0/notch-home/ellipse/010"/>
            <p:cNvSpPr/>
            <p:nvPr/>
          </p:nvSpPr>
          <p:spPr>
            <a:xfrm>
              <a:off x="2059594" y="2785872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0/notch-home/button-bell/011"/>
            <p:cNvSpPr/>
            <p:nvPr/>
          </p:nvSpPr>
          <p:spPr>
            <a:xfrm>
              <a:off x="2279050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10/notch-home/poly/012"/>
            <p:cNvSpPr/>
            <p:nvPr/>
          </p:nvSpPr>
          <p:spPr>
            <a:xfrm>
              <a:off x="2413162" y="2694432"/>
              <a:ext cx="121920" cy="109728"/>
            </a:xfrm>
            <a:custGeom>
              <a:avLst/>
              <a:gdLst/>
              <a:ahLst/>
              <a:cxnLst/>
              <a:rect l="l" t="t" r="r" b="b"/>
              <a:pathLst>
                <a:path w="121920" h="109728">
                  <a:moveTo>
                    <a:pt x="60960" y="0"/>
                  </a:moveTo>
                  <a:lnTo>
                    <a:pt x="24384" y="24384"/>
                  </a:lnTo>
                  <a:lnTo>
                    <a:pt x="12192" y="73151"/>
                  </a:lnTo>
                  <a:lnTo>
                    <a:pt x="0" y="109728"/>
                  </a:lnTo>
                  <a:lnTo>
                    <a:pt x="121920" y="109728"/>
                  </a:lnTo>
                  <a:lnTo>
                    <a:pt x="109728" y="73151"/>
                  </a:lnTo>
                  <a:lnTo>
                    <a:pt x="97536" y="24384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10/notch-home/line/013"/>
            <p:cNvCxnSpPr/>
            <p:nvPr/>
          </p:nvCxnSpPr>
          <p:spPr>
            <a:xfrm>
              <a:off x="2449738" y="2828544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10/notch-home/ellipse/014"/>
            <p:cNvSpPr/>
            <p:nvPr/>
          </p:nvSpPr>
          <p:spPr>
            <a:xfrm>
              <a:off x="2461930" y="2682240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10/notch-home/button-chart/015"/>
            <p:cNvSpPr/>
            <p:nvPr/>
          </p:nvSpPr>
          <p:spPr>
            <a:xfrm>
              <a:off x="2717962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0/notch-home/line/016"/>
            <p:cNvCxnSpPr/>
            <p:nvPr/>
          </p:nvCxnSpPr>
          <p:spPr>
            <a:xfrm>
              <a:off x="2839882" y="2840736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0/notch-home/line/017"/>
            <p:cNvCxnSpPr/>
            <p:nvPr/>
          </p:nvCxnSpPr>
          <p:spPr>
            <a:xfrm flipV="1">
              <a:off x="2852074" y="2755392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0/notch-home/line/018"/>
            <p:cNvCxnSpPr/>
            <p:nvPr/>
          </p:nvCxnSpPr>
          <p:spPr>
            <a:xfrm>
              <a:off x="2888650" y="2755392"/>
              <a:ext cx="36576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0/notch-home/line/019"/>
            <p:cNvCxnSpPr/>
            <p:nvPr/>
          </p:nvCxnSpPr>
          <p:spPr>
            <a:xfrm flipV="1">
              <a:off x="2925226" y="2706624"/>
              <a:ext cx="48768" cy="73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0/notch-home/button-folder/020"/>
            <p:cNvSpPr/>
            <p:nvPr/>
          </p:nvSpPr>
          <p:spPr>
            <a:xfrm>
              <a:off x="3156874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0/notch-home/poly/021"/>
            <p:cNvSpPr/>
            <p:nvPr/>
          </p:nvSpPr>
          <p:spPr>
            <a:xfrm>
              <a:off x="3278794" y="2731008"/>
              <a:ext cx="146304" cy="97536"/>
            </a:xfrm>
            <a:custGeom>
              <a:avLst/>
              <a:gdLst/>
              <a:ahLst/>
              <a:cxnLst/>
              <a:rect l="l" t="t" r="r" b="b"/>
              <a:pathLst>
                <a:path w="146304" h="97536">
                  <a:moveTo>
                    <a:pt x="0" y="0"/>
                  </a:moveTo>
                  <a:lnTo>
                    <a:pt x="48768" y="0"/>
                  </a:lnTo>
                  <a:lnTo>
                    <a:pt x="67056" y="24384"/>
                  </a:lnTo>
                  <a:lnTo>
                    <a:pt x="146304" y="24384"/>
                  </a:lnTo>
                  <a:lnTo>
                    <a:pt x="146304" y="97536"/>
                  </a:lnTo>
                  <a:lnTo>
                    <a:pt x="0" y="9753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0/notch-home/button-clipboard/022"/>
            <p:cNvSpPr/>
            <p:nvPr/>
          </p:nvSpPr>
          <p:spPr>
            <a:xfrm>
              <a:off x="3595786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0/notch-home/rect/023"/>
            <p:cNvSpPr/>
            <p:nvPr/>
          </p:nvSpPr>
          <p:spPr>
            <a:xfrm>
              <a:off x="3742090" y="2706624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0/notch-home/rect/024"/>
            <p:cNvSpPr/>
            <p:nvPr/>
          </p:nvSpPr>
          <p:spPr>
            <a:xfrm>
              <a:off x="3766474" y="2688336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0/notch-home/line/025"/>
            <p:cNvCxnSpPr/>
            <p:nvPr/>
          </p:nvCxnSpPr>
          <p:spPr>
            <a:xfrm>
              <a:off x="3766474" y="2755392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0/notch-home/line/026"/>
            <p:cNvCxnSpPr/>
            <p:nvPr/>
          </p:nvCxnSpPr>
          <p:spPr>
            <a:xfrm>
              <a:off x="3766474" y="2785872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0/notch-home/button-gear/027"/>
            <p:cNvSpPr/>
            <p:nvPr/>
          </p:nvSpPr>
          <p:spPr>
            <a:xfrm>
              <a:off x="7208520" y="257251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0/notch-home/ellipse/028"/>
            <p:cNvSpPr/>
            <p:nvPr/>
          </p:nvSpPr>
          <p:spPr>
            <a:xfrm>
              <a:off x="7367016" y="273100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0/notch-home/line/029"/>
            <p:cNvCxnSpPr/>
            <p:nvPr/>
          </p:nvCxnSpPr>
          <p:spPr>
            <a:xfrm>
              <a:off x="7464551" y="276758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0/notch-home/line/030"/>
            <p:cNvCxnSpPr/>
            <p:nvPr/>
          </p:nvCxnSpPr>
          <p:spPr>
            <a:xfrm>
              <a:off x="7446697" y="281068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0/notch-home/line/031"/>
            <p:cNvCxnSpPr/>
            <p:nvPr/>
          </p:nvCxnSpPr>
          <p:spPr>
            <a:xfrm>
              <a:off x="7403591" y="2828544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0/notch-home/line/032"/>
            <p:cNvCxnSpPr/>
            <p:nvPr/>
          </p:nvCxnSpPr>
          <p:spPr>
            <a:xfrm flipH="1">
              <a:off x="7343244" y="281068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0/notch-home/line/033"/>
            <p:cNvCxnSpPr/>
            <p:nvPr/>
          </p:nvCxnSpPr>
          <p:spPr>
            <a:xfrm flipH="1">
              <a:off x="7318247" y="276758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0/notch-home/line/034"/>
            <p:cNvCxnSpPr/>
            <p:nvPr/>
          </p:nvCxnSpPr>
          <p:spPr>
            <a:xfrm flipH="1" flipV="1">
              <a:off x="7343244" y="270723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0/notch-home/line/035"/>
            <p:cNvCxnSpPr/>
            <p:nvPr/>
          </p:nvCxnSpPr>
          <p:spPr>
            <a:xfrm flipV="1">
              <a:off x="7403591" y="2682240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0/notch-home/line/036"/>
            <p:cNvCxnSpPr/>
            <p:nvPr/>
          </p:nvCxnSpPr>
          <p:spPr>
            <a:xfrm flipV="1">
              <a:off x="7446697" y="270723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0/notch-home/button-close/037"/>
            <p:cNvSpPr/>
            <p:nvPr/>
          </p:nvSpPr>
          <p:spPr>
            <a:xfrm>
              <a:off x="7671816" y="257251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0/notch-home/line/038"/>
            <p:cNvCxnSpPr/>
            <p:nvPr/>
          </p:nvCxnSpPr>
          <p:spPr>
            <a:xfrm>
              <a:off x="7818120" y="2718816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0/notch-home/line/039"/>
            <p:cNvCxnSpPr/>
            <p:nvPr/>
          </p:nvCxnSpPr>
          <p:spPr>
            <a:xfrm flipH="1">
              <a:off x="7818120" y="2718816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0/notch-home/text/040"/>
            <p:cNvSpPr txBox="1"/>
            <p:nvPr/>
          </p:nvSpPr>
          <p:spPr>
            <a:xfrm>
              <a:off x="746760" y="3279648"/>
              <a:ext cx="3657600" cy="5364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3264" b="1" i="0">
                  <a:solidFill>
                    <a:srgbClr val="F5F5F7"/>
                  </a:solidFill>
                  <a:latin typeface="Arial"/>
                </a:rPr>
                <a:t>14:32</a:t>
              </a:r>
            </a:p>
          </p:txBody>
        </p:sp>
        <p:sp>
          <p:nvSpPr>
            <p:cNvPr id="52" name="N10/notch-home/text/041"/>
            <p:cNvSpPr txBox="1"/>
            <p:nvPr/>
          </p:nvSpPr>
          <p:spPr>
            <a:xfrm>
              <a:off x="746760" y="3840480"/>
              <a:ext cx="3657600" cy="2438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53" name="N10/notch-home/button-Focus/042"/>
            <p:cNvSpPr/>
            <p:nvPr/>
          </p:nvSpPr>
          <p:spPr>
            <a:xfrm>
              <a:off x="5013959" y="3511296"/>
              <a:ext cx="950976" cy="390144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10/notch-home/ellipse/043"/>
            <p:cNvSpPr/>
            <p:nvPr/>
          </p:nvSpPr>
          <p:spPr>
            <a:xfrm>
              <a:off x="5093207" y="3645408"/>
              <a:ext cx="121920" cy="121920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10/notch-home/line/044"/>
            <p:cNvCxnSpPr/>
            <p:nvPr/>
          </p:nvCxnSpPr>
          <p:spPr>
            <a:xfrm flipV="1">
              <a:off x="5105400" y="3657600"/>
              <a:ext cx="97536" cy="97536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N10/notch-home/text/045"/>
            <p:cNvSpPr txBox="1"/>
            <p:nvPr/>
          </p:nvSpPr>
          <p:spPr>
            <a:xfrm>
              <a:off x="5324855" y="3511296"/>
              <a:ext cx="591311" cy="3901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E5E5EA"/>
                  </a:solidFill>
                  <a:latin typeface="Arial"/>
                </a:rPr>
                <a:t>Focus</a:t>
              </a:r>
            </a:p>
          </p:txBody>
        </p:sp>
        <p:sp>
          <p:nvSpPr>
            <p:cNvPr id="57" name="N10/notch-home/button-Night/046"/>
            <p:cNvSpPr/>
            <p:nvPr/>
          </p:nvSpPr>
          <p:spPr>
            <a:xfrm>
              <a:off x="6062471" y="3511296"/>
              <a:ext cx="950976" cy="390144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10/notch-home/poly/047"/>
            <p:cNvSpPr/>
            <p:nvPr/>
          </p:nvSpPr>
          <p:spPr>
            <a:xfrm>
              <a:off x="6153912" y="3633216"/>
              <a:ext cx="97535" cy="146304"/>
            </a:xfrm>
            <a:custGeom>
              <a:avLst/>
              <a:gdLst/>
              <a:ahLst/>
              <a:cxnLst/>
              <a:rect l="l" t="t" r="r" b="b"/>
              <a:pathLst>
                <a:path w="97535" h="146304">
                  <a:moveTo>
                    <a:pt x="73152" y="0"/>
                  </a:moveTo>
                  <a:lnTo>
                    <a:pt x="24383" y="12192"/>
                  </a:lnTo>
                  <a:lnTo>
                    <a:pt x="0" y="48768"/>
                  </a:lnTo>
                  <a:lnTo>
                    <a:pt x="0" y="97536"/>
                  </a:lnTo>
                  <a:lnTo>
                    <a:pt x="24383" y="134112"/>
                  </a:lnTo>
                  <a:lnTo>
                    <a:pt x="73152" y="146304"/>
                  </a:lnTo>
                  <a:lnTo>
                    <a:pt x="97535" y="121920"/>
                  </a:lnTo>
                  <a:lnTo>
                    <a:pt x="60959" y="109728"/>
                  </a:lnTo>
                  <a:lnTo>
                    <a:pt x="36576" y="73152"/>
                  </a:lnTo>
                  <a:lnTo>
                    <a:pt x="48767" y="36576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10/notch-home/text/048"/>
            <p:cNvSpPr txBox="1"/>
            <p:nvPr/>
          </p:nvSpPr>
          <p:spPr>
            <a:xfrm>
              <a:off x="6373367" y="3511296"/>
              <a:ext cx="591311" cy="3901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E5E5EA"/>
                  </a:solidFill>
                  <a:latin typeface="Arial"/>
                </a:rPr>
                <a:t>Night</a:t>
              </a:r>
            </a:p>
          </p:txBody>
        </p:sp>
        <p:sp>
          <p:nvSpPr>
            <p:cNvPr id="60" name="N10/notch-home/button-Dark/049"/>
            <p:cNvSpPr/>
            <p:nvPr/>
          </p:nvSpPr>
          <p:spPr>
            <a:xfrm>
              <a:off x="7110983" y="3511296"/>
              <a:ext cx="950976" cy="390144"/>
            </a:xfrm>
            <a:prstGeom prst="roundRect">
              <a:avLst>
                <a:gd name="adj" fmla="val 3125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0/notch-home/ellipse/050"/>
            <p:cNvSpPr/>
            <p:nvPr/>
          </p:nvSpPr>
          <p:spPr>
            <a:xfrm>
              <a:off x="7249972" y="3645408"/>
              <a:ext cx="121920" cy="121920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10/notch-home/poly/051"/>
            <p:cNvSpPr/>
            <p:nvPr/>
          </p:nvSpPr>
          <p:spPr>
            <a:xfrm>
              <a:off x="7310932" y="3645408"/>
              <a:ext cx="60960" cy="121920"/>
            </a:xfrm>
            <a:custGeom>
              <a:avLst/>
              <a:gdLst/>
              <a:ahLst/>
              <a:cxnLst/>
              <a:rect l="l" t="t" r="r" b="b"/>
              <a:pathLst>
                <a:path w="60960" h="121920">
                  <a:moveTo>
                    <a:pt x="0" y="0"/>
                  </a:moveTo>
                  <a:lnTo>
                    <a:pt x="0" y="121920"/>
                  </a:lnTo>
                  <a:lnTo>
                    <a:pt x="36576" y="109728"/>
                  </a:lnTo>
                  <a:lnTo>
                    <a:pt x="60960" y="60960"/>
                  </a:lnTo>
                  <a:lnTo>
                    <a:pt x="36576" y="12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10/notch-home/text/052"/>
            <p:cNvSpPr txBox="1"/>
            <p:nvPr/>
          </p:nvSpPr>
          <p:spPr>
            <a:xfrm>
              <a:off x="7481620" y="3511296"/>
              <a:ext cx="531571" cy="3901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000000"/>
                  </a:solidFill>
                  <a:latin typeface="Arial"/>
                </a:rPr>
                <a:t>Dark</a:t>
              </a:r>
            </a:p>
          </p:txBody>
        </p:sp>
      </p:grpSp>
      <p:sp>
        <p:nvSpPr>
          <p:cNvPr id="64" name="N10/text/010"/>
          <p:cNvSpPr txBox="1"/>
          <p:nvPr/>
        </p:nvSpPr>
        <p:spPr>
          <a:xfrm>
            <a:off x="502920" y="493776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Clock uses locale time; date is weekday, month day. Quick actions mirror System toggles.</a:t>
            </a:r>
          </a:p>
        </p:txBody>
      </p:sp>
      <p:sp>
        <p:nvSpPr>
          <p:cNvPr id="65" name="N10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10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7" name="N10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10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Home clock 2.4 em / 700</a:t>
            </a:r>
          </a:p>
        </p:txBody>
      </p:sp>
      <p:sp>
        <p:nvSpPr>
          <p:cNvPr id="69" name="N10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10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Date 1 em muted</a:t>
            </a:r>
          </a:p>
        </p:txBody>
      </p:sp>
      <p:sp>
        <p:nvSpPr>
          <p:cNvPr id="71" name="N10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10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actions: Focus / Night / Dark</a:t>
            </a:r>
          </a:p>
        </p:txBody>
      </p:sp>
      <p:sp>
        <p:nvSpPr>
          <p:cNvPr id="73" name="N10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10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Active action = white fill, black text</a:t>
            </a:r>
          </a:p>
        </p:txBody>
      </p:sp>
      <p:cxnSp>
        <p:nvCxnSpPr>
          <p:cNvPr id="75" name="N10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N10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77" name="N10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N10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Clock/date alignment / action spacing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HOME PAGE</a:t>
            </a:r>
          </a:p>
        </p:txBody>
      </p:sp>
      <p:sp>
        <p:nvSpPr>
          <p:cNvPr id="5" name="N1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Home — media playing</a:t>
            </a:r>
          </a:p>
        </p:txBody>
      </p:sp>
      <p:sp>
        <p:nvSpPr>
          <p:cNvPr id="6" name="N1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640×210 · replaces idle stack when any MPRIS player exists</a:t>
            </a:r>
          </a:p>
        </p:txBody>
      </p:sp>
      <p:cxnSp>
        <p:nvCxnSpPr>
          <p:cNvPr id="7" name="N1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N11</a:t>
            </a:r>
          </a:p>
        </p:txBody>
      </p:sp>
      <p:sp>
        <p:nvSpPr>
          <p:cNvPr id="10" name="N1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11</a:t>
            </a:r>
          </a:p>
        </p:txBody>
      </p:sp>
      <p:grpSp>
        <p:nvGrpSpPr>
          <p:cNvPr id="11" name="N11/notch-home"/>
          <p:cNvGrpSpPr/>
          <p:nvPr/>
        </p:nvGrpSpPr>
        <p:grpSpPr>
          <a:xfrm>
            <a:off x="502920" y="2011680"/>
            <a:ext cx="7802880" cy="2560320"/>
            <a:chOff x="502920" y="2011680"/>
            <a:chExt cx="7802880" cy="2560320"/>
          </a:xfrm>
        </p:grpSpPr>
        <p:sp>
          <p:nvSpPr>
            <p:cNvPr id="12" name="N11/notch-home/notch-surface-open/001"/>
            <p:cNvSpPr/>
            <p:nvPr/>
          </p:nvSpPr>
          <p:spPr>
            <a:xfrm>
              <a:off x="502920" y="2011680"/>
              <a:ext cx="7802880" cy="2560320"/>
            </a:xfrm>
            <a:custGeom>
              <a:avLst/>
              <a:gdLst/>
              <a:ahLst/>
              <a:cxnLst/>
              <a:rect l="l" t="t" r="r" b="b"/>
              <a:pathLst>
                <a:path w="7802880" h="2560320">
                  <a:moveTo>
                    <a:pt x="0" y="0"/>
                  </a:moveTo>
                  <a:lnTo>
                    <a:pt x="7802880" y="0"/>
                  </a:lnTo>
                  <a:lnTo>
                    <a:pt x="7770756" y="3619"/>
                  </a:lnTo>
                  <a:lnTo>
                    <a:pt x="7734109" y="14478"/>
                  </a:lnTo>
                  <a:lnTo>
                    <a:pt x="7695652" y="32575"/>
                  </a:lnTo>
                  <a:lnTo>
                    <a:pt x="7658100" y="57912"/>
                  </a:lnTo>
                  <a:lnTo>
                    <a:pt x="7624167" y="90487"/>
                  </a:lnTo>
                  <a:lnTo>
                    <a:pt x="7596568" y="130302"/>
                  </a:lnTo>
                  <a:lnTo>
                    <a:pt x="7578018" y="177355"/>
                  </a:lnTo>
                  <a:lnTo>
                    <a:pt x="7571232" y="231648"/>
                  </a:lnTo>
                  <a:lnTo>
                    <a:pt x="7565609" y="2324796"/>
                  </a:lnTo>
                  <a:lnTo>
                    <a:pt x="7548958" y="2379688"/>
                  </a:lnTo>
                  <a:lnTo>
                    <a:pt x="7521918" y="2430276"/>
                  </a:lnTo>
                  <a:lnTo>
                    <a:pt x="7485529" y="2474617"/>
                  </a:lnTo>
                  <a:lnTo>
                    <a:pt x="7441188" y="2511006"/>
                  </a:lnTo>
                  <a:lnTo>
                    <a:pt x="7390600" y="2538046"/>
                  </a:lnTo>
                  <a:lnTo>
                    <a:pt x="7335708" y="2554697"/>
                  </a:lnTo>
                  <a:lnTo>
                    <a:pt x="7278624" y="2560320"/>
                  </a:lnTo>
                  <a:lnTo>
                    <a:pt x="524256" y="2560320"/>
                  </a:lnTo>
                  <a:lnTo>
                    <a:pt x="467171" y="2554697"/>
                  </a:lnTo>
                  <a:lnTo>
                    <a:pt x="412279" y="2538046"/>
                  </a:lnTo>
                  <a:lnTo>
                    <a:pt x="361691" y="2511006"/>
                  </a:lnTo>
                  <a:lnTo>
                    <a:pt x="317350" y="2474617"/>
                  </a:lnTo>
                  <a:lnTo>
                    <a:pt x="280961" y="2430276"/>
                  </a:lnTo>
                  <a:lnTo>
                    <a:pt x="253921" y="2379688"/>
                  </a:lnTo>
                  <a:lnTo>
                    <a:pt x="237270" y="2324796"/>
                  </a:lnTo>
                  <a:lnTo>
                    <a:pt x="231648" y="226771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1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1/notch-home/button-Home/002"/>
            <p:cNvSpPr/>
            <p:nvPr/>
          </p:nvSpPr>
          <p:spPr>
            <a:xfrm>
              <a:off x="746760" y="2584704"/>
              <a:ext cx="1044610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1/notch-home/poly/003"/>
            <p:cNvSpPr/>
            <p:nvPr/>
          </p:nvSpPr>
          <p:spPr>
            <a:xfrm>
              <a:off x="920374" y="2694432"/>
              <a:ext cx="146304" cy="146304"/>
            </a:xfrm>
            <a:custGeom>
              <a:avLst/>
              <a:gdLst/>
              <a:ahLst/>
              <a:cxnLst/>
              <a:rect l="l" t="t" r="r" b="b"/>
              <a:pathLst>
                <a:path w="146304" h="146304">
                  <a:moveTo>
                    <a:pt x="73152" y="0"/>
                  </a:moveTo>
                  <a:lnTo>
                    <a:pt x="0" y="60960"/>
                  </a:lnTo>
                  <a:lnTo>
                    <a:pt x="24384" y="60960"/>
                  </a:lnTo>
                  <a:lnTo>
                    <a:pt x="24384" y="146304"/>
                  </a:lnTo>
                  <a:lnTo>
                    <a:pt x="60960" y="146304"/>
                  </a:lnTo>
                  <a:lnTo>
                    <a:pt x="60960" y="97536"/>
                  </a:lnTo>
                  <a:lnTo>
                    <a:pt x="85344" y="97536"/>
                  </a:lnTo>
                  <a:lnTo>
                    <a:pt x="85344" y="146304"/>
                  </a:lnTo>
                  <a:lnTo>
                    <a:pt x="121920" y="146304"/>
                  </a:lnTo>
                  <a:lnTo>
                    <a:pt x="121920" y="60960"/>
                  </a:lnTo>
                  <a:lnTo>
                    <a:pt x="146304" y="60960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1/notch-home/text/004"/>
            <p:cNvSpPr txBox="1"/>
            <p:nvPr/>
          </p:nvSpPr>
          <p:spPr>
            <a:xfrm>
              <a:off x="1164214" y="2584704"/>
              <a:ext cx="578388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Home</a:t>
              </a:r>
            </a:p>
          </p:txBody>
        </p:sp>
        <p:sp>
          <p:nvSpPr>
            <p:cNvPr id="16" name="N11/notch-home/button-music/005"/>
            <p:cNvSpPr/>
            <p:nvPr/>
          </p:nvSpPr>
          <p:spPr>
            <a:xfrm>
              <a:off x="1840138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N11/notch-home/line/006"/>
            <p:cNvCxnSpPr/>
            <p:nvPr/>
          </p:nvCxnSpPr>
          <p:spPr>
            <a:xfrm flipV="1">
              <a:off x="2010826" y="2718816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1/notch-home/line/007"/>
            <p:cNvCxnSpPr/>
            <p:nvPr/>
          </p:nvCxnSpPr>
          <p:spPr>
            <a:xfrm flipV="1">
              <a:off x="2010826" y="2706624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N11/notch-home/line/008"/>
            <p:cNvCxnSpPr/>
            <p:nvPr/>
          </p:nvCxnSpPr>
          <p:spPr>
            <a:xfrm>
              <a:off x="2096170" y="2706624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N11/notch-home/ellipse/009"/>
            <p:cNvSpPr/>
            <p:nvPr/>
          </p:nvSpPr>
          <p:spPr>
            <a:xfrm>
              <a:off x="1974250" y="2798064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1/notch-home/ellipse/010"/>
            <p:cNvSpPr/>
            <p:nvPr/>
          </p:nvSpPr>
          <p:spPr>
            <a:xfrm>
              <a:off x="2059594" y="2785872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1/notch-home/button-bell/011"/>
            <p:cNvSpPr/>
            <p:nvPr/>
          </p:nvSpPr>
          <p:spPr>
            <a:xfrm>
              <a:off x="2279050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11/notch-home/poly/012"/>
            <p:cNvSpPr/>
            <p:nvPr/>
          </p:nvSpPr>
          <p:spPr>
            <a:xfrm>
              <a:off x="2413162" y="2694432"/>
              <a:ext cx="121920" cy="109728"/>
            </a:xfrm>
            <a:custGeom>
              <a:avLst/>
              <a:gdLst/>
              <a:ahLst/>
              <a:cxnLst/>
              <a:rect l="l" t="t" r="r" b="b"/>
              <a:pathLst>
                <a:path w="121920" h="109728">
                  <a:moveTo>
                    <a:pt x="60960" y="0"/>
                  </a:moveTo>
                  <a:lnTo>
                    <a:pt x="24384" y="24384"/>
                  </a:lnTo>
                  <a:lnTo>
                    <a:pt x="12192" y="73151"/>
                  </a:lnTo>
                  <a:lnTo>
                    <a:pt x="0" y="109728"/>
                  </a:lnTo>
                  <a:lnTo>
                    <a:pt x="121920" y="109728"/>
                  </a:lnTo>
                  <a:lnTo>
                    <a:pt x="109728" y="73151"/>
                  </a:lnTo>
                  <a:lnTo>
                    <a:pt x="97536" y="24384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11/notch-home/line/013"/>
            <p:cNvCxnSpPr/>
            <p:nvPr/>
          </p:nvCxnSpPr>
          <p:spPr>
            <a:xfrm>
              <a:off x="2449738" y="2828544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11/notch-home/ellipse/014"/>
            <p:cNvSpPr/>
            <p:nvPr/>
          </p:nvSpPr>
          <p:spPr>
            <a:xfrm>
              <a:off x="2461930" y="2682240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11/notch-home/button-chart/015"/>
            <p:cNvSpPr/>
            <p:nvPr/>
          </p:nvSpPr>
          <p:spPr>
            <a:xfrm>
              <a:off x="2717962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1/notch-home/line/016"/>
            <p:cNvCxnSpPr/>
            <p:nvPr/>
          </p:nvCxnSpPr>
          <p:spPr>
            <a:xfrm>
              <a:off x="2839882" y="2840736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1/notch-home/line/017"/>
            <p:cNvCxnSpPr/>
            <p:nvPr/>
          </p:nvCxnSpPr>
          <p:spPr>
            <a:xfrm flipV="1">
              <a:off x="2852074" y="2755392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1/notch-home/line/018"/>
            <p:cNvCxnSpPr/>
            <p:nvPr/>
          </p:nvCxnSpPr>
          <p:spPr>
            <a:xfrm>
              <a:off x="2888650" y="2755392"/>
              <a:ext cx="36576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1/notch-home/line/019"/>
            <p:cNvCxnSpPr/>
            <p:nvPr/>
          </p:nvCxnSpPr>
          <p:spPr>
            <a:xfrm flipV="1">
              <a:off x="2925226" y="2706624"/>
              <a:ext cx="48768" cy="73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1/notch-home/button-folder/020"/>
            <p:cNvSpPr/>
            <p:nvPr/>
          </p:nvSpPr>
          <p:spPr>
            <a:xfrm>
              <a:off x="3156874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1/notch-home/poly/021"/>
            <p:cNvSpPr/>
            <p:nvPr/>
          </p:nvSpPr>
          <p:spPr>
            <a:xfrm>
              <a:off x="3278794" y="2731008"/>
              <a:ext cx="146304" cy="97536"/>
            </a:xfrm>
            <a:custGeom>
              <a:avLst/>
              <a:gdLst/>
              <a:ahLst/>
              <a:cxnLst/>
              <a:rect l="l" t="t" r="r" b="b"/>
              <a:pathLst>
                <a:path w="146304" h="97536">
                  <a:moveTo>
                    <a:pt x="0" y="0"/>
                  </a:moveTo>
                  <a:lnTo>
                    <a:pt x="48768" y="0"/>
                  </a:lnTo>
                  <a:lnTo>
                    <a:pt x="67056" y="24384"/>
                  </a:lnTo>
                  <a:lnTo>
                    <a:pt x="146304" y="24384"/>
                  </a:lnTo>
                  <a:lnTo>
                    <a:pt x="146304" y="97536"/>
                  </a:lnTo>
                  <a:lnTo>
                    <a:pt x="0" y="9753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1/notch-home/button-clipboard/022"/>
            <p:cNvSpPr/>
            <p:nvPr/>
          </p:nvSpPr>
          <p:spPr>
            <a:xfrm>
              <a:off x="3595786" y="2584704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1/notch-home/rect/023"/>
            <p:cNvSpPr/>
            <p:nvPr/>
          </p:nvSpPr>
          <p:spPr>
            <a:xfrm>
              <a:off x="3742090" y="2706624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1/notch-home/rect/024"/>
            <p:cNvSpPr/>
            <p:nvPr/>
          </p:nvSpPr>
          <p:spPr>
            <a:xfrm>
              <a:off x="3766474" y="2688336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1/notch-home/line/025"/>
            <p:cNvCxnSpPr/>
            <p:nvPr/>
          </p:nvCxnSpPr>
          <p:spPr>
            <a:xfrm>
              <a:off x="3766474" y="2755392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1/notch-home/line/026"/>
            <p:cNvCxnSpPr/>
            <p:nvPr/>
          </p:nvCxnSpPr>
          <p:spPr>
            <a:xfrm>
              <a:off x="3766474" y="2785872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1/notch-home/button-gear/027"/>
            <p:cNvSpPr/>
            <p:nvPr/>
          </p:nvSpPr>
          <p:spPr>
            <a:xfrm>
              <a:off x="7208520" y="257251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1/notch-home/ellipse/028"/>
            <p:cNvSpPr/>
            <p:nvPr/>
          </p:nvSpPr>
          <p:spPr>
            <a:xfrm>
              <a:off x="7367016" y="273100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1/notch-home/line/029"/>
            <p:cNvCxnSpPr/>
            <p:nvPr/>
          </p:nvCxnSpPr>
          <p:spPr>
            <a:xfrm>
              <a:off x="7464551" y="276758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1/notch-home/line/030"/>
            <p:cNvCxnSpPr/>
            <p:nvPr/>
          </p:nvCxnSpPr>
          <p:spPr>
            <a:xfrm>
              <a:off x="7446697" y="281068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1/notch-home/line/031"/>
            <p:cNvCxnSpPr/>
            <p:nvPr/>
          </p:nvCxnSpPr>
          <p:spPr>
            <a:xfrm>
              <a:off x="7403591" y="2828544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1/notch-home/line/032"/>
            <p:cNvCxnSpPr/>
            <p:nvPr/>
          </p:nvCxnSpPr>
          <p:spPr>
            <a:xfrm flipH="1">
              <a:off x="7343244" y="281068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1/notch-home/line/033"/>
            <p:cNvCxnSpPr/>
            <p:nvPr/>
          </p:nvCxnSpPr>
          <p:spPr>
            <a:xfrm flipH="1">
              <a:off x="7318247" y="276758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1/notch-home/line/034"/>
            <p:cNvCxnSpPr/>
            <p:nvPr/>
          </p:nvCxnSpPr>
          <p:spPr>
            <a:xfrm flipH="1" flipV="1">
              <a:off x="7343244" y="270723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1/notch-home/line/035"/>
            <p:cNvCxnSpPr/>
            <p:nvPr/>
          </p:nvCxnSpPr>
          <p:spPr>
            <a:xfrm flipV="1">
              <a:off x="7403591" y="2682240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1/notch-home/line/036"/>
            <p:cNvCxnSpPr/>
            <p:nvPr/>
          </p:nvCxnSpPr>
          <p:spPr>
            <a:xfrm flipV="1">
              <a:off x="7446697" y="270723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1/notch-home/button-close/037"/>
            <p:cNvSpPr/>
            <p:nvPr/>
          </p:nvSpPr>
          <p:spPr>
            <a:xfrm>
              <a:off x="7671816" y="257251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1/notch-home/line/038"/>
            <p:cNvCxnSpPr/>
            <p:nvPr/>
          </p:nvCxnSpPr>
          <p:spPr>
            <a:xfrm>
              <a:off x="7818120" y="2718816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1/notch-home/line/039"/>
            <p:cNvCxnSpPr/>
            <p:nvPr/>
          </p:nvCxnSpPr>
          <p:spPr>
            <a:xfrm flipH="1">
              <a:off x="7818120" y="2718816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1/notch-home/album-art/040"/>
            <p:cNvSpPr/>
            <p:nvPr/>
          </p:nvSpPr>
          <p:spPr>
            <a:xfrm>
              <a:off x="746760" y="3267456"/>
              <a:ext cx="877824" cy="877824"/>
            </a:xfrm>
            <a:prstGeom prst="roundRect">
              <a:avLst>
                <a:gd name="adj" fmla="val 19444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11/notch-home/ellipse/041"/>
            <p:cNvSpPr/>
            <p:nvPr/>
          </p:nvSpPr>
          <p:spPr>
            <a:xfrm>
              <a:off x="834542" y="3372794"/>
              <a:ext cx="482803" cy="482803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11/notch-home/ellipse/042"/>
            <p:cNvSpPr/>
            <p:nvPr/>
          </p:nvSpPr>
          <p:spPr>
            <a:xfrm>
              <a:off x="1115446" y="3601029"/>
              <a:ext cx="438912" cy="438912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11/notch-home/rect/043"/>
            <p:cNvSpPr/>
            <p:nvPr/>
          </p:nvSpPr>
          <p:spPr>
            <a:xfrm>
              <a:off x="904768" y="3811706"/>
              <a:ext cx="561807" cy="140451"/>
            </a:xfrm>
            <a:prstGeom prst="roundRect">
              <a:avLst>
                <a:gd name="adj" fmla="val 34722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11/notch-home/text/044"/>
            <p:cNvSpPr txBox="1"/>
            <p:nvPr/>
          </p:nvSpPr>
          <p:spPr>
            <a:xfrm>
              <a:off x="746760" y="3267456"/>
              <a:ext cx="877824" cy="8778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0">
                  <a:solidFill>
                    <a:srgbClr val="FFFFFF"/>
                  </a:solidFill>
                  <a:latin typeface="Arial"/>
                </a:rPr>
                <a:t>ART</a:t>
              </a:r>
            </a:p>
          </p:txBody>
        </p:sp>
        <p:sp>
          <p:nvSpPr>
            <p:cNvPr id="56" name="N11/notch-home/text/045"/>
            <p:cNvSpPr txBox="1"/>
            <p:nvPr/>
          </p:nvSpPr>
          <p:spPr>
            <a:xfrm>
              <a:off x="1795272" y="3230880"/>
              <a:ext cx="6266688" cy="2682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32" b="1" i="0">
                  <a:solidFill>
                    <a:srgbClr val="F5F5F7"/>
                  </a:solidFill>
                  <a:latin typeface="Arial"/>
                </a:rPr>
                <a:t>Midnight City</a:t>
              </a:r>
            </a:p>
          </p:txBody>
        </p:sp>
        <p:sp>
          <p:nvSpPr>
            <p:cNvPr id="57" name="N11/notch-home/text/046"/>
            <p:cNvSpPr txBox="1"/>
            <p:nvPr/>
          </p:nvSpPr>
          <p:spPr>
            <a:xfrm>
              <a:off x="1795272" y="3523488"/>
              <a:ext cx="6266688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M83</a:t>
              </a:r>
            </a:p>
          </p:txBody>
        </p:sp>
        <p:sp>
          <p:nvSpPr>
            <p:cNvPr id="58" name="N11/notch-home/button-prev/047"/>
            <p:cNvSpPr/>
            <p:nvPr/>
          </p:nvSpPr>
          <p:spPr>
            <a:xfrm>
              <a:off x="1795272" y="3816096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11/notch-home/poly/048"/>
            <p:cNvSpPr/>
            <p:nvPr/>
          </p:nvSpPr>
          <p:spPr>
            <a:xfrm>
              <a:off x="1953768" y="3950208"/>
              <a:ext cx="73151" cy="121920"/>
            </a:xfrm>
            <a:custGeom>
              <a:avLst/>
              <a:gdLst/>
              <a:ahLst/>
              <a:cxnLst/>
              <a:rect l="l" t="t" r="r" b="b"/>
              <a:pathLst>
                <a:path w="73151" h="121920">
                  <a:moveTo>
                    <a:pt x="73151" y="0"/>
                  </a:moveTo>
                  <a:lnTo>
                    <a:pt x="0" y="60960"/>
                  </a:lnTo>
                  <a:lnTo>
                    <a:pt x="73151" y="121920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N11/notch-home/rect/049"/>
            <p:cNvSpPr/>
            <p:nvPr/>
          </p:nvSpPr>
          <p:spPr>
            <a:xfrm>
              <a:off x="1929384" y="3956304"/>
              <a:ext cx="19507" cy="109728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1/notch-home/button-pause/050"/>
            <p:cNvSpPr/>
            <p:nvPr/>
          </p:nvSpPr>
          <p:spPr>
            <a:xfrm>
              <a:off x="2282952" y="3816096"/>
              <a:ext cx="536448" cy="390144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11/notch-home/rect/051"/>
            <p:cNvSpPr/>
            <p:nvPr/>
          </p:nvSpPr>
          <p:spPr>
            <a:xfrm>
              <a:off x="2508504" y="3956304"/>
              <a:ext cx="30480" cy="109728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11/notch-home/rect/052"/>
            <p:cNvSpPr/>
            <p:nvPr/>
          </p:nvSpPr>
          <p:spPr>
            <a:xfrm>
              <a:off x="2563368" y="3956304"/>
              <a:ext cx="30480" cy="109728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N11/notch-home/button-next/053"/>
            <p:cNvSpPr/>
            <p:nvPr/>
          </p:nvSpPr>
          <p:spPr>
            <a:xfrm>
              <a:off x="2770632" y="3816096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11/notch-home/poly/054"/>
            <p:cNvSpPr/>
            <p:nvPr/>
          </p:nvSpPr>
          <p:spPr>
            <a:xfrm>
              <a:off x="2929128" y="3950208"/>
              <a:ext cx="73152" cy="121920"/>
            </a:xfrm>
            <a:custGeom>
              <a:avLst/>
              <a:gdLst/>
              <a:ahLst/>
              <a:cxnLst/>
              <a:rect l="l" t="t" r="r" b="b"/>
              <a:pathLst>
                <a:path w="73152" h="121920">
                  <a:moveTo>
                    <a:pt x="0" y="0"/>
                  </a:moveTo>
                  <a:lnTo>
                    <a:pt x="73152" y="6096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11/notch-home/rect/055"/>
            <p:cNvSpPr/>
            <p:nvPr/>
          </p:nvSpPr>
          <p:spPr>
            <a:xfrm>
              <a:off x="3007156" y="3956304"/>
              <a:ext cx="19507" cy="109728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11/notch-home/button-Full player/056"/>
            <p:cNvSpPr/>
            <p:nvPr/>
          </p:nvSpPr>
          <p:spPr>
            <a:xfrm>
              <a:off x="3258312" y="3816096"/>
              <a:ext cx="1048512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11/notch-home/text/057"/>
            <p:cNvSpPr txBox="1"/>
            <p:nvPr/>
          </p:nvSpPr>
          <p:spPr>
            <a:xfrm>
              <a:off x="3331464" y="3816096"/>
              <a:ext cx="902208" cy="39014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A1A1A6"/>
                  </a:solidFill>
                  <a:latin typeface="Arial"/>
                </a:rPr>
                <a:t>Full player</a:t>
              </a:r>
            </a:p>
          </p:txBody>
        </p:sp>
      </p:grpSp>
      <p:sp>
        <p:nvSpPr>
          <p:cNvPr id="69" name="N11/text/010"/>
          <p:cNvSpPr txBox="1"/>
          <p:nvPr/>
        </p:nvSpPr>
        <p:spPr>
          <a:xfrm>
            <a:off x="502920" y="493776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72 px art · title/artist · previous/play-pause/next · Full player link to Music tab.</a:t>
            </a:r>
          </a:p>
        </p:txBody>
      </p:sp>
      <p:sp>
        <p:nvSpPr>
          <p:cNvPr id="70" name="N11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11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2" name="N11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11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Art 72 px, radius 14, padding 6</a:t>
            </a:r>
          </a:p>
        </p:txBody>
      </p:sp>
      <p:sp>
        <p:nvSpPr>
          <p:cNvPr id="74" name="N11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11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Title 1.2 em; artist muted</a:t>
            </a:r>
          </a:p>
        </p:txBody>
      </p:sp>
      <p:sp>
        <p:nvSpPr>
          <p:cNvPr id="76" name="N11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11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Play button white; icons symbolic</a:t>
            </a:r>
          </a:p>
        </p:txBody>
      </p:sp>
      <p:sp>
        <p:nvSpPr>
          <p:cNvPr id="78" name="N11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11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Full player hidden below 340 px content</a:t>
            </a:r>
          </a:p>
        </p:txBody>
      </p:sp>
      <p:cxnSp>
        <p:nvCxnSpPr>
          <p:cNvPr id="80" name="N11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N11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82" name="N11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N11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Art size / control spacing / link label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MUSIC PAGE</a:t>
            </a:r>
          </a:p>
        </p:txBody>
      </p:sp>
      <p:sp>
        <p:nvSpPr>
          <p:cNvPr id="5" name="N1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Music — full player</a:t>
            </a:r>
          </a:p>
        </p:txBody>
      </p:sp>
      <p:sp>
        <p:nvSpPr>
          <p:cNvPr id="6" name="N1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640×300 · art, metadata, seek, transport, player/system volume</a:t>
            </a:r>
          </a:p>
        </p:txBody>
      </p:sp>
      <p:cxnSp>
        <p:nvCxnSpPr>
          <p:cNvPr id="7" name="N1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N12</a:t>
            </a:r>
          </a:p>
        </p:txBody>
      </p:sp>
      <p:sp>
        <p:nvSpPr>
          <p:cNvPr id="10" name="N1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12</a:t>
            </a:r>
          </a:p>
        </p:txBody>
      </p:sp>
      <p:grpSp>
        <p:nvGrpSpPr>
          <p:cNvPr id="11" name="N12/notch-media"/>
          <p:cNvGrpSpPr/>
          <p:nvPr/>
        </p:nvGrpSpPr>
        <p:grpSpPr>
          <a:xfrm>
            <a:off x="502920" y="1645920"/>
            <a:ext cx="7802880" cy="3657600"/>
            <a:chOff x="502920" y="1645920"/>
            <a:chExt cx="7802880" cy="3657600"/>
          </a:xfrm>
        </p:grpSpPr>
        <p:sp>
          <p:nvSpPr>
            <p:cNvPr id="12" name="N12/notch-media/notch-surface-open/001"/>
            <p:cNvSpPr/>
            <p:nvPr/>
          </p:nvSpPr>
          <p:spPr>
            <a:xfrm>
              <a:off x="502920" y="1645920"/>
              <a:ext cx="7802880" cy="3657600"/>
            </a:xfrm>
            <a:custGeom>
              <a:avLst/>
              <a:gdLst/>
              <a:ahLst/>
              <a:cxnLst/>
              <a:rect l="l" t="t" r="r" b="b"/>
              <a:pathLst>
                <a:path w="7802880" h="3657600">
                  <a:moveTo>
                    <a:pt x="0" y="0"/>
                  </a:moveTo>
                  <a:lnTo>
                    <a:pt x="7802880" y="0"/>
                  </a:lnTo>
                  <a:lnTo>
                    <a:pt x="7770756" y="3619"/>
                  </a:lnTo>
                  <a:lnTo>
                    <a:pt x="7734109" y="14477"/>
                  </a:lnTo>
                  <a:lnTo>
                    <a:pt x="7695652" y="32575"/>
                  </a:lnTo>
                  <a:lnTo>
                    <a:pt x="7658100" y="57912"/>
                  </a:lnTo>
                  <a:lnTo>
                    <a:pt x="7624167" y="90487"/>
                  </a:lnTo>
                  <a:lnTo>
                    <a:pt x="7596568" y="130302"/>
                  </a:lnTo>
                  <a:lnTo>
                    <a:pt x="7578018" y="177355"/>
                  </a:lnTo>
                  <a:lnTo>
                    <a:pt x="7571232" y="231648"/>
                  </a:lnTo>
                  <a:lnTo>
                    <a:pt x="7565609" y="3422076"/>
                  </a:lnTo>
                  <a:lnTo>
                    <a:pt x="7548958" y="3476968"/>
                  </a:lnTo>
                  <a:lnTo>
                    <a:pt x="7521918" y="3527556"/>
                  </a:lnTo>
                  <a:lnTo>
                    <a:pt x="7485529" y="3571897"/>
                  </a:lnTo>
                  <a:lnTo>
                    <a:pt x="7441188" y="3608286"/>
                  </a:lnTo>
                  <a:lnTo>
                    <a:pt x="7390600" y="3635326"/>
                  </a:lnTo>
                  <a:lnTo>
                    <a:pt x="7335708" y="3651977"/>
                  </a:lnTo>
                  <a:lnTo>
                    <a:pt x="7278624" y="3657600"/>
                  </a:lnTo>
                  <a:lnTo>
                    <a:pt x="524256" y="3657600"/>
                  </a:lnTo>
                  <a:lnTo>
                    <a:pt x="467171" y="3651977"/>
                  </a:lnTo>
                  <a:lnTo>
                    <a:pt x="412279" y="3635326"/>
                  </a:lnTo>
                  <a:lnTo>
                    <a:pt x="361691" y="3608286"/>
                  </a:lnTo>
                  <a:lnTo>
                    <a:pt x="317350" y="3571897"/>
                  </a:lnTo>
                  <a:lnTo>
                    <a:pt x="280961" y="3527556"/>
                  </a:lnTo>
                  <a:lnTo>
                    <a:pt x="253921" y="3476968"/>
                  </a:lnTo>
                  <a:lnTo>
                    <a:pt x="237270" y="3422076"/>
                  </a:lnTo>
                  <a:lnTo>
                    <a:pt x="231648" y="336499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2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2/notch-media/button-home/002"/>
            <p:cNvSpPr/>
            <p:nvPr/>
          </p:nvSpPr>
          <p:spPr>
            <a:xfrm>
              <a:off x="746760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2/notch-media/poly/003"/>
            <p:cNvSpPr/>
            <p:nvPr/>
          </p:nvSpPr>
          <p:spPr>
            <a:xfrm>
              <a:off x="868680" y="2328672"/>
              <a:ext cx="146304" cy="146303"/>
            </a:xfrm>
            <a:custGeom>
              <a:avLst/>
              <a:gdLst/>
              <a:ahLst/>
              <a:cxnLst/>
              <a:rect l="l" t="t" r="r" b="b"/>
              <a:pathLst>
                <a:path w="146304" h="146303">
                  <a:moveTo>
                    <a:pt x="73152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4" y="97535"/>
                  </a:lnTo>
                  <a:lnTo>
                    <a:pt x="85344" y="146303"/>
                  </a:lnTo>
                  <a:lnTo>
                    <a:pt x="121919" y="146303"/>
                  </a:lnTo>
                  <a:lnTo>
                    <a:pt x="121919" y="60959"/>
                  </a:lnTo>
                  <a:lnTo>
                    <a:pt x="146304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2/notch-media/button-Music/004"/>
            <p:cNvSpPr/>
            <p:nvPr/>
          </p:nvSpPr>
          <p:spPr>
            <a:xfrm>
              <a:off x="1185672" y="2218943"/>
              <a:ext cx="1177747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2/notch-media/line/005"/>
            <p:cNvCxnSpPr/>
            <p:nvPr/>
          </p:nvCxnSpPr>
          <p:spPr>
            <a:xfrm flipV="1">
              <a:off x="1414881" y="2353055"/>
              <a:ext cx="0" cy="9753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2/notch-media/line/006"/>
            <p:cNvCxnSpPr/>
            <p:nvPr/>
          </p:nvCxnSpPr>
          <p:spPr>
            <a:xfrm flipV="1">
              <a:off x="1414881" y="2340863"/>
              <a:ext cx="85344" cy="1219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2/notch-media/line/007"/>
            <p:cNvCxnSpPr/>
            <p:nvPr/>
          </p:nvCxnSpPr>
          <p:spPr>
            <a:xfrm>
              <a:off x="1500225" y="2340863"/>
              <a:ext cx="0" cy="9753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2/notch-media/ellipse/008"/>
            <p:cNvSpPr/>
            <p:nvPr/>
          </p:nvSpPr>
          <p:spPr>
            <a:xfrm>
              <a:off x="1378305" y="2432303"/>
              <a:ext cx="42672" cy="36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2/notch-media/ellipse/009"/>
            <p:cNvSpPr/>
            <p:nvPr/>
          </p:nvSpPr>
          <p:spPr>
            <a:xfrm>
              <a:off x="1463649" y="2420111"/>
              <a:ext cx="42672" cy="36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2/notch-media/text/010"/>
            <p:cNvSpPr txBox="1"/>
            <p:nvPr/>
          </p:nvSpPr>
          <p:spPr>
            <a:xfrm>
              <a:off x="1609953" y="2218943"/>
              <a:ext cx="704697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Music</a:t>
              </a:r>
            </a:p>
          </p:txBody>
        </p:sp>
        <p:sp>
          <p:nvSpPr>
            <p:cNvPr id="22" name="N12/notch-media/button-bell/011"/>
            <p:cNvSpPr/>
            <p:nvPr/>
          </p:nvSpPr>
          <p:spPr>
            <a:xfrm>
              <a:off x="2412187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12/notch-media/poly/012"/>
            <p:cNvSpPr/>
            <p:nvPr/>
          </p:nvSpPr>
          <p:spPr>
            <a:xfrm>
              <a:off x="2546299" y="232867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60" y="0"/>
                  </a:moveTo>
                  <a:lnTo>
                    <a:pt x="24384" y="24383"/>
                  </a:lnTo>
                  <a:lnTo>
                    <a:pt x="12192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6" y="2438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12/notch-media/line/013"/>
            <p:cNvCxnSpPr/>
            <p:nvPr/>
          </p:nvCxnSpPr>
          <p:spPr>
            <a:xfrm>
              <a:off x="2582875" y="2462783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12/notch-media/ellipse/014"/>
            <p:cNvSpPr/>
            <p:nvPr/>
          </p:nvSpPr>
          <p:spPr>
            <a:xfrm>
              <a:off x="2595067" y="2316479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12/notch-media/button-chart/015"/>
            <p:cNvSpPr/>
            <p:nvPr/>
          </p:nvSpPr>
          <p:spPr>
            <a:xfrm>
              <a:off x="2851099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2/notch-media/line/016"/>
            <p:cNvCxnSpPr/>
            <p:nvPr/>
          </p:nvCxnSpPr>
          <p:spPr>
            <a:xfrm>
              <a:off x="2973019" y="2474975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2/notch-media/line/017"/>
            <p:cNvCxnSpPr/>
            <p:nvPr/>
          </p:nvCxnSpPr>
          <p:spPr>
            <a:xfrm flipV="1">
              <a:off x="2985211" y="2389631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2/notch-media/line/018"/>
            <p:cNvCxnSpPr/>
            <p:nvPr/>
          </p:nvCxnSpPr>
          <p:spPr>
            <a:xfrm>
              <a:off x="3021787" y="2389631"/>
              <a:ext cx="36576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2/notch-media/line/019"/>
            <p:cNvCxnSpPr/>
            <p:nvPr/>
          </p:nvCxnSpPr>
          <p:spPr>
            <a:xfrm flipV="1">
              <a:off x="3058363" y="2340863"/>
              <a:ext cx="48768" cy="73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2/notch-media/button-folder/020"/>
            <p:cNvSpPr/>
            <p:nvPr/>
          </p:nvSpPr>
          <p:spPr>
            <a:xfrm>
              <a:off x="3290011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2/notch-media/poly/021"/>
            <p:cNvSpPr/>
            <p:nvPr/>
          </p:nvSpPr>
          <p:spPr>
            <a:xfrm>
              <a:off x="3411931" y="236524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2/notch-media/button-clipboard/022"/>
            <p:cNvSpPr/>
            <p:nvPr/>
          </p:nvSpPr>
          <p:spPr>
            <a:xfrm>
              <a:off x="3728923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2/notch-media/rect/023"/>
            <p:cNvSpPr/>
            <p:nvPr/>
          </p:nvSpPr>
          <p:spPr>
            <a:xfrm>
              <a:off x="3875227" y="234086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2/notch-media/rect/024"/>
            <p:cNvSpPr/>
            <p:nvPr/>
          </p:nvSpPr>
          <p:spPr>
            <a:xfrm>
              <a:off x="3899611" y="232257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2/notch-media/line/025"/>
            <p:cNvCxnSpPr/>
            <p:nvPr/>
          </p:nvCxnSpPr>
          <p:spPr>
            <a:xfrm>
              <a:off x="3899611" y="238963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2/notch-media/line/026"/>
            <p:cNvCxnSpPr/>
            <p:nvPr/>
          </p:nvCxnSpPr>
          <p:spPr>
            <a:xfrm>
              <a:off x="3899611" y="242011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2/notch-media/button-gear/027"/>
            <p:cNvSpPr/>
            <p:nvPr/>
          </p:nvSpPr>
          <p:spPr>
            <a:xfrm>
              <a:off x="7208520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2/notch-media/ellipse/028"/>
            <p:cNvSpPr/>
            <p:nvPr/>
          </p:nvSpPr>
          <p:spPr>
            <a:xfrm>
              <a:off x="7367016" y="236524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2/notch-media/line/029"/>
            <p:cNvCxnSpPr/>
            <p:nvPr/>
          </p:nvCxnSpPr>
          <p:spPr>
            <a:xfrm>
              <a:off x="7464551" y="240182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2/notch-media/line/030"/>
            <p:cNvCxnSpPr/>
            <p:nvPr/>
          </p:nvCxnSpPr>
          <p:spPr>
            <a:xfrm>
              <a:off x="7446697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2/notch-media/line/031"/>
            <p:cNvCxnSpPr/>
            <p:nvPr/>
          </p:nvCxnSpPr>
          <p:spPr>
            <a:xfrm>
              <a:off x="7403591" y="246278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2/notch-media/line/032"/>
            <p:cNvCxnSpPr/>
            <p:nvPr/>
          </p:nvCxnSpPr>
          <p:spPr>
            <a:xfrm flipH="1">
              <a:off x="7343244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2/notch-media/line/033"/>
            <p:cNvCxnSpPr/>
            <p:nvPr/>
          </p:nvCxnSpPr>
          <p:spPr>
            <a:xfrm flipH="1">
              <a:off x="7318247" y="240182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2/notch-media/line/034"/>
            <p:cNvCxnSpPr/>
            <p:nvPr/>
          </p:nvCxnSpPr>
          <p:spPr>
            <a:xfrm flipH="1" flipV="1">
              <a:off x="7343244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2/notch-media/line/035"/>
            <p:cNvCxnSpPr/>
            <p:nvPr/>
          </p:nvCxnSpPr>
          <p:spPr>
            <a:xfrm flipV="1">
              <a:off x="7403591" y="231647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2/notch-media/line/036"/>
            <p:cNvCxnSpPr/>
            <p:nvPr/>
          </p:nvCxnSpPr>
          <p:spPr>
            <a:xfrm flipV="1">
              <a:off x="7446697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2/notch-media/button-close/037"/>
            <p:cNvSpPr/>
            <p:nvPr/>
          </p:nvSpPr>
          <p:spPr>
            <a:xfrm>
              <a:off x="7671816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2/notch-media/line/038"/>
            <p:cNvCxnSpPr/>
            <p:nvPr/>
          </p:nvCxnSpPr>
          <p:spPr>
            <a:xfrm>
              <a:off x="781812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2/notch-media/line/039"/>
            <p:cNvCxnSpPr/>
            <p:nvPr/>
          </p:nvCxnSpPr>
          <p:spPr>
            <a:xfrm flipH="1">
              <a:off x="781812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2/notch-media/album-art/040"/>
            <p:cNvSpPr/>
            <p:nvPr/>
          </p:nvSpPr>
          <p:spPr>
            <a:xfrm>
              <a:off x="746760" y="2718816"/>
              <a:ext cx="877824" cy="877824"/>
            </a:xfrm>
            <a:prstGeom prst="roundRect">
              <a:avLst>
                <a:gd name="adj" fmla="val 19444"/>
              </a:avLst>
            </a:prstGeom>
            <a:solidFill>
              <a:srgbClr val="2A1B4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12/notch-media/ellipse/041"/>
            <p:cNvSpPr/>
            <p:nvPr/>
          </p:nvSpPr>
          <p:spPr>
            <a:xfrm>
              <a:off x="834542" y="2824154"/>
              <a:ext cx="482803" cy="482803"/>
            </a:xfrm>
            <a:prstGeom prst="ellipse">
              <a:avLst/>
            </a:prstGeom>
            <a:solidFill>
              <a:srgbClr val="BF5AF2">
                <a:alpha val="8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12/notch-media/ellipse/042"/>
            <p:cNvSpPr/>
            <p:nvPr/>
          </p:nvSpPr>
          <p:spPr>
            <a:xfrm>
              <a:off x="1115446" y="3052389"/>
              <a:ext cx="438912" cy="438912"/>
            </a:xfrm>
            <a:prstGeom prst="ellipse">
              <a:avLst/>
            </a:prstGeom>
            <a:solidFill>
              <a:srgbClr val="64D2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12/notch-media/rect/043"/>
            <p:cNvSpPr/>
            <p:nvPr/>
          </p:nvSpPr>
          <p:spPr>
            <a:xfrm>
              <a:off x="904768" y="3263066"/>
              <a:ext cx="561807" cy="140451"/>
            </a:xfrm>
            <a:prstGeom prst="roundRect">
              <a:avLst>
                <a:gd name="adj" fmla="val 34722"/>
              </a:avLst>
            </a:prstGeom>
            <a:solidFill>
              <a:srgbClr val="30D158">
                <a:alpha val="9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12/notch-media/text/044"/>
            <p:cNvSpPr txBox="1"/>
            <p:nvPr/>
          </p:nvSpPr>
          <p:spPr>
            <a:xfrm>
              <a:off x="746760" y="2718816"/>
              <a:ext cx="877824" cy="8778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 b="1" i="0">
                  <a:solidFill>
                    <a:srgbClr val="FFFFFF"/>
                  </a:solidFill>
                  <a:latin typeface="Arial"/>
                </a:rPr>
                <a:t>ART</a:t>
              </a:r>
            </a:p>
          </p:txBody>
        </p:sp>
        <p:sp>
          <p:nvSpPr>
            <p:cNvPr id="56" name="N12/notch-media/text/045"/>
            <p:cNvSpPr txBox="1"/>
            <p:nvPr/>
          </p:nvSpPr>
          <p:spPr>
            <a:xfrm>
              <a:off x="1795272" y="2718816"/>
              <a:ext cx="6266688" cy="2438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Midnight City</a:t>
              </a:r>
            </a:p>
          </p:txBody>
        </p:sp>
        <p:sp>
          <p:nvSpPr>
            <p:cNvPr id="57" name="N12/notch-media/text/046"/>
            <p:cNvSpPr txBox="1"/>
            <p:nvPr/>
          </p:nvSpPr>
          <p:spPr>
            <a:xfrm>
              <a:off x="1795272" y="2987040"/>
              <a:ext cx="6266688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M83</a:t>
              </a:r>
            </a:p>
          </p:txBody>
        </p:sp>
        <p:sp>
          <p:nvSpPr>
            <p:cNvPr id="58" name="N12/notch-media/text/047"/>
            <p:cNvSpPr txBox="1"/>
            <p:nvPr/>
          </p:nvSpPr>
          <p:spPr>
            <a:xfrm>
              <a:off x="1795272" y="3206495"/>
              <a:ext cx="6266688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Hurry Up, We're Dreaming</a:t>
              </a:r>
            </a:p>
          </p:txBody>
        </p:sp>
        <p:sp>
          <p:nvSpPr>
            <p:cNvPr id="59" name="N12/notch-media/button-Spotify  ·  2 players ›/048"/>
            <p:cNvSpPr/>
            <p:nvPr/>
          </p:nvSpPr>
          <p:spPr>
            <a:xfrm>
              <a:off x="1795272" y="3450335"/>
              <a:ext cx="2072640" cy="316992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N12/notch-media/rect/049"/>
            <p:cNvSpPr/>
            <p:nvPr/>
          </p:nvSpPr>
          <p:spPr>
            <a:xfrm>
              <a:off x="1953768" y="3572256"/>
              <a:ext cx="121920" cy="9753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N12/notch-media/line/050"/>
            <p:cNvCxnSpPr/>
            <p:nvPr/>
          </p:nvCxnSpPr>
          <p:spPr>
            <a:xfrm>
              <a:off x="1990344" y="3535680"/>
              <a:ext cx="85344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12/notch-media/line/051"/>
            <p:cNvCxnSpPr/>
            <p:nvPr/>
          </p:nvCxnSpPr>
          <p:spPr>
            <a:xfrm>
              <a:off x="2075688" y="3535680"/>
              <a:ext cx="0" cy="85344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N12/notch-media/text/052"/>
            <p:cNvSpPr txBox="1"/>
            <p:nvPr/>
          </p:nvSpPr>
          <p:spPr>
            <a:xfrm>
              <a:off x="2185416" y="3450335"/>
              <a:ext cx="1633728" cy="3169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Spotify  ·  2 players ›</a:t>
              </a:r>
            </a:p>
          </p:txBody>
        </p:sp>
        <p:sp>
          <p:nvSpPr>
            <p:cNvPr id="64" name="N12/notch-media/text/053"/>
            <p:cNvSpPr txBox="1"/>
            <p:nvPr/>
          </p:nvSpPr>
          <p:spPr>
            <a:xfrm>
              <a:off x="746760" y="3718560"/>
              <a:ext cx="438912" cy="1950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1:24</a:t>
              </a:r>
            </a:p>
          </p:txBody>
        </p:sp>
        <p:sp>
          <p:nvSpPr>
            <p:cNvPr id="65" name="N12/notch-media/rect/054"/>
            <p:cNvSpPr/>
            <p:nvPr/>
          </p:nvSpPr>
          <p:spPr>
            <a:xfrm>
              <a:off x="1258823" y="3791712"/>
              <a:ext cx="6291072" cy="48768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12/notch-media/rect/055"/>
            <p:cNvSpPr/>
            <p:nvPr/>
          </p:nvSpPr>
          <p:spPr>
            <a:xfrm>
              <a:off x="1258823" y="3791712"/>
              <a:ext cx="2201875" cy="48768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12/notch-media/ellipse/056"/>
            <p:cNvSpPr/>
            <p:nvPr/>
          </p:nvSpPr>
          <p:spPr>
            <a:xfrm>
              <a:off x="3387547" y="3742943"/>
              <a:ext cx="146304" cy="146304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12/notch-media/text/057"/>
            <p:cNvSpPr txBox="1"/>
            <p:nvPr/>
          </p:nvSpPr>
          <p:spPr>
            <a:xfrm>
              <a:off x="7623047" y="3718560"/>
              <a:ext cx="438912" cy="1950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4:03</a:t>
              </a:r>
            </a:p>
          </p:txBody>
        </p:sp>
        <p:sp>
          <p:nvSpPr>
            <p:cNvPr id="69" name="N12/notch-media/button-prev/058"/>
            <p:cNvSpPr/>
            <p:nvPr/>
          </p:nvSpPr>
          <p:spPr>
            <a:xfrm>
              <a:off x="3368040" y="3986783"/>
              <a:ext cx="390144" cy="390144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12/notch-media/poly/059"/>
            <p:cNvSpPr/>
            <p:nvPr/>
          </p:nvSpPr>
          <p:spPr>
            <a:xfrm>
              <a:off x="3526536" y="4120895"/>
              <a:ext cx="73152" cy="121920"/>
            </a:xfrm>
            <a:custGeom>
              <a:avLst/>
              <a:gdLst/>
              <a:ahLst/>
              <a:cxnLst/>
              <a:rect l="l" t="t" r="r" b="b"/>
              <a:pathLst>
                <a:path w="73152" h="121920">
                  <a:moveTo>
                    <a:pt x="73152" y="0"/>
                  </a:moveTo>
                  <a:lnTo>
                    <a:pt x="0" y="60960"/>
                  </a:lnTo>
                  <a:lnTo>
                    <a:pt x="73152" y="121920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12/notch-media/rect/060"/>
            <p:cNvSpPr/>
            <p:nvPr/>
          </p:nvSpPr>
          <p:spPr>
            <a:xfrm>
              <a:off x="3502152" y="4126991"/>
              <a:ext cx="19507" cy="109728"/>
            </a:xfrm>
            <a:prstGeom prst="rect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2/notch-media/button-pause/061"/>
            <p:cNvSpPr/>
            <p:nvPr/>
          </p:nvSpPr>
          <p:spPr>
            <a:xfrm>
              <a:off x="3880104" y="3986783"/>
              <a:ext cx="536448" cy="390144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12/notch-media/rect/062"/>
            <p:cNvSpPr/>
            <p:nvPr/>
          </p:nvSpPr>
          <p:spPr>
            <a:xfrm>
              <a:off x="4105655" y="4126991"/>
              <a:ext cx="30480" cy="109728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12/notch-media/rect/063"/>
            <p:cNvSpPr/>
            <p:nvPr/>
          </p:nvSpPr>
          <p:spPr>
            <a:xfrm>
              <a:off x="4160520" y="4126991"/>
              <a:ext cx="30480" cy="109728"/>
            </a:xfrm>
            <a:prstGeom prst="roundRect">
              <a:avLst>
                <a:gd name="adj" fmla="val 2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12/notch-media/button-next/064"/>
            <p:cNvSpPr/>
            <p:nvPr/>
          </p:nvSpPr>
          <p:spPr>
            <a:xfrm>
              <a:off x="4538472" y="3986783"/>
              <a:ext cx="390144" cy="390144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12/notch-media/poly/065"/>
            <p:cNvSpPr/>
            <p:nvPr/>
          </p:nvSpPr>
          <p:spPr>
            <a:xfrm>
              <a:off x="4696968" y="4120895"/>
              <a:ext cx="73152" cy="121920"/>
            </a:xfrm>
            <a:custGeom>
              <a:avLst/>
              <a:gdLst/>
              <a:ahLst/>
              <a:cxnLst/>
              <a:rect l="l" t="t" r="r" b="b"/>
              <a:pathLst>
                <a:path w="73152" h="121920">
                  <a:moveTo>
                    <a:pt x="0" y="0"/>
                  </a:moveTo>
                  <a:lnTo>
                    <a:pt x="73152" y="6096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12/notch-media/rect/066"/>
            <p:cNvSpPr/>
            <p:nvPr/>
          </p:nvSpPr>
          <p:spPr>
            <a:xfrm>
              <a:off x="4774996" y="4126991"/>
              <a:ext cx="19507" cy="109728"/>
            </a:xfrm>
            <a:prstGeom prst="rect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12/notch-media/button-raise/067"/>
            <p:cNvSpPr/>
            <p:nvPr/>
          </p:nvSpPr>
          <p:spPr>
            <a:xfrm>
              <a:off x="5050536" y="3986783"/>
              <a:ext cx="390144" cy="390144"/>
            </a:xfrm>
            <a:prstGeom prst="roundRect">
              <a:avLst>
                <a:gd name="adj" fmla="val 31250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N12/notch-media/rect/068"/>
            <p:cNvSpPr/>
            <p:nvPr/>
          </p:nvSpPr>
          <p:spPr>
            <a:xfrm>
              <a:off x="5184648" y="4145279"/>
              <a:ext cx="121920" cy="9753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0" name="N12/notch-media/line/069"/>
            <p:cNvCxnSpPr/>
            <p:nvPr/>
          </p:nvCxnSpPr>
          <p:spPr>
            <a:xfrm>
              <a:off x="5221224" y="4108703"/>
              <a:ext cx="85343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N12/notch-media/line/070"/>
            <p:cNvCxnSpPr/>
            <p:nvPr/>
          </p:nvCxnSpPr>
          <p:spPr>
            <a:xfrm>
              <a:off x="5306567" y="4108703"/>
              <a:ext cx="0" cy="85344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N12/notch-media/text/071"/>
            <p:cNvSpPr txBox="1"/>
            <p:nvPr/>
          </p:nvSpPr>
          <p:spPr>
            <a:xfrm>
              <a:off x="746760" y="4450080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Player volume</a:t>
              </a:r>
            </a:p>
          </p:txBody>
        </p:sp>
        <p:sp>
          <p:nvSpPr>
            <p:cNvPr id="83" name="N12/notch-media/rect/072"/>
            <p:cNvSpPr/>
            <p:nvPr/>
          </p:nvSpPr>
          <p:spPr>
            <a:xfrm>
              <a:off x="2063496" y="4535424"/>
              <a:ext cx="4998720" cy="48768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12/notch-media/rect/073"/>
            <p:cNvSpPr/>
            <p:nvPr/>
          </p:nvSpPr>
          <p:spPr>
            <a:xfrm>
              <a:off x="2063496" y="4535424"/>
              <a:ext cx="4998720" cy="48768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12/notch-media/ellipse/074"/>
            <p:cNvSpPr/>
            <p:nvPr/>
          </p:nvSpPr>
          <p:spPr>
            <a:xfrm>
              <a:off x="6989064" y="4486656"/>
              <a:ext cx="146304" cy="146304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N12/notch-media/text/075"/>
            <p:cNvSpPr txBox="1"/>
            <p:nvPr/>
          </p:nvSpPr>
          <p:spPr>
            <a:xfrm>
              <a:off x="7525512" y="4450080"/>
              <a:ext cx="536448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100%</a:t>
              </a:r>
            </a:p>
          </p:txBody>
        </p:sp>
        <p:sp>
          <p:nvSpPr>
            <p:cNvPr id="87" name="N12/notch-media/text/076"/>
            <p:cNvSpPr txBox="1"/>
            <p:nvPr/>
          </p:nvSpPr>
          <p:spPr>
            <a:xfrm>
              <a:off x="746760" y="4791455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System output</a:t>
              </a:r>
            </a:p>
          </p:txBody>
        </p:sp>
        <p:sp>
          <p:nvSpPr>
            <p:cNvPr id="88" name="N12/notch-media/rect/077"/>
            <p:cNvSpPr/>
            <p:nvPr/>
          </p:nvSpPr>
          <p:spPr>
            <a:xfrm>
              <a:off x="2063496" y="4876800"/>
              <a:ext cx="4998720" cy="48768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N12/notch-media/rect/078"/>
            <p:cNvSpPr/>
            <p:nvPr/>
          </p:nvSpPr>
          <p:spPr>
            <a:xfrm>
              <a:off x="2063496" y="4876800"/>
              <a:ext cx="3249168" cy="48768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12/notch-media/ellipse/079"/>
            <p:cNvSpPr/>
            <p:nvPr/>
          </p:nvSpPr>
          <p:spPr>
            <a:xfrm>
              <a:off x="5239512" y="4828031"/>
              <a:ext cx="146304" cy="146304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12/notch-media/button-volume/080"/>
            <p:cNvSpPr/>
            <p:nvPr/>
          </p:nvSpPr>
          <p:spPr>
            <a:xfrm>
              <a:off x="7671816" y="4730496"/>
              <a:ext cx="390144" cy="341376"/>
            </a:xfrm>
            <a:prstGeom prst="roundRect">
              <a:avLst>
                <a:gd name="adj" fmla="val 35714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N12/notch-media/poly/081"/>
            <p:cNvSpPr/>
            <p:nvPr/>
          </p:nvSpPr>
          <p:spPr>
            <a:xfrm>
              <a:off x="7805928" y="4840224"/>
              <a:ext cx="73152" cy="121919"/>
            </a:xfrm>
            <a:custGeom>
              <a:avLst/>
              <a:gdLst/>
              <a:ahLst/>
              <a:cxnLst/>
              <a:rect l="l" t="t" r="r" b="b"/>
              <a:pathLst>
                <a:path w="73152" h="121919">
                  <a:moveTo>
                    <a:pt x="0" y="36576"/>
                  </a:moveTo>
                  <a:lnTo>
                    <a:pt x="36576" y="36576"/>
                  </a:lnTo>
                  <a:lnTo>
                    <a:pt x="73152" y="0"/>
                  </a:lnTo>
                  <a:lnTo>
                    <a:pt x="73152" y="121919"/>
                  </a:lnTo>
                  <a:lnTo>
                    <a:pt x="36576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N12/notch-media/line/082"/>
            <p:cNvCxnSpPr/>
            <p:nvPr/>
          </p:nvCxnSpPr>
          <p:spPr>
            <a:xfrm>
              <a:off x="7903464" y="4864607"/>
              <a:ext cx="24384" cy="365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N12/notch-media/line/083"/>
            <p:cNvCxnSpPr/>
            <p:nvPr/>
          </p:nvCxnSpPr>
          <p:spPr>
            <a:xfrm flipH="1">
              <a:off x="7903464" y="4901183"/>
              <a:ext cx="24384" cy="365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N12/text/010"/>
          <p:cNvSpPr txBox="1"/>
          <p:nvPr/>
        </p:nvSpPr>
        <p:spPr>
          <a:xfrm>
            <a:off x="502920" y="548640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Seek is disabled when canSeek=false or length=0. Player switcher is enabled only with multiple players.</a:t>
            </a:r>
          </a:p>
        </p:txBody>
      </p:sp>
      <p:sp>
        <p:nvSpPr>
          <p:cNvPr id="96" name="N12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N12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98" name="N12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N12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Art 72 px; metadata wraps</a:t>
            </a:r>
          </a:p>
        </p:txBody>
      </p:sp>
      <p:sp>
        <p:nvSpPr>
          <p:cNvPr id="100" name="N12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N12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Seek bar 4 px / handle 12</a:t>
            </a:r>
          </a:p>
        </p:txBody>
      </p:sp>
      <p:sp>
        <p:nvSpPr>
          <p:cNvPr id="102" name="N12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N12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Transport centered; raise player</a:t>
            </a:r>
          </a:p>
        </p:txBody>
      </p:sp>
      <p:sp>
        <p:nvSpPr>
          <p:cNvPr id="104" name="N12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N12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Player volume + system output/mute</a:t>
            </a:r>
          </a:p>
        </p:txBody>
      </p:sp>
      <p:cxnSp>
        <p:nvCxnSpPr>
          <p:cNvPr id="106" name="N12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N12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108" name="N12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N12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Metadata lines / slider labels / volume rows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MUSIC PAGE</a:t>
            </a:r>
          </a:p>
        </p:txBody>
      </p:sp>
      <p:sp>
        <p:nvSpPr>
          <p:cNvPr id="5" name="N1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Music — no player / unavailable</a:t>
            </a:r>
          </a:p>
        </p:txBody>
      </p:sp>
      <p:sp>
        <p:nvSpPr>
          <p:cNvPr id="6" name="N1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Same shell; disabled controls must remain visible and readable</a:t>
            </a:r>
          </a:p>
        </p:txBody>
      </p:sp>
      <p:cxnSp>
        <p:nvCxnSpPr>
          <p:cNvPr id="7" name="N1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N13</a:t>
            </a:r>
          </a:p>
        </p:txBody>
      </p:sp>
      <p:sp>
        <p:nvSpPr>
          <p:cNvPr id="10" name="N1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13</a:t>
            </a:r>
          </a:p>
        </p:txBody>
      </p:sp>
      <p:grpSp>
        <p:nvGrpSpPr>
          <p:cNvPr id="11" name="N13/notch-media"/>
          <p:cNvGrpSpPr/>
          <p:nvPr/>
        </p:nvGrpSpPr>
        <p:grpSpPr>
          <a:xfrm>
            <a:off x="502920" y="1645920"/>
            <a:ext cx="7802880" cy="3657600"/>
            <a:chOff x="502920" y="1645920"/>
            <a:chExt cx="7802880" cy="3657600"/>
          </a:xfrm>
        </p:grpSpPr>
        <p:sp>
          <p:nvSpPr>
            <p:cNvPr id="12" name="N13/notch-media/notch-surface-open/001"/>
            <p:cNvSpPr/>
            <p:nvPr/>
          </p:nvSpPr>
          <p:spPr>
            <a:xfrm>
              <a:off x="502920" y="1645920"/>
              <a:ext cx="7802880" cy="3657600"/>
            </a:xfrm>
            <a:custGeom>
              <a:avLst/>
              <a:gdLst/>
              <a:ahLst/>
              <a:cxnLst/>
              <a:rect l="l" t="t" r="r" b="b"/>
              <a:pathLst>
                <a:path w="7802880" h="3657600">
                  <a:moveTo>
                    <a:pt x="0" y="0"/>
                  </a:moveTo>
                  <a:lnTo>
                    <a:pt x="7802880" y="0"/>
                  </a:lnTo>
                  <a:lnTo>
                    <a:pt x="7770756" y="3619"/>
                  </a:lnTo>
                  <a:lnTo>
                    <a:pt x="7734109" y="14477"/>
                  </a:lnTo>
                  <a:lnTo>
                    <a:pt x="7695652" y="32575"/>
                  </a:lnTo>
                  <a:lnTo>
                    <a:pt x="7658100" y="57912"/>
                  </a:lnTo>
                  <a:lnTo>
                    <a:pt x="7624167" y="90487"/>
                  </a:lnTo>
                  <a:lnTo>
                    <a:pt x="7596568" y="130302"/>
                  </a:lnTo>
                  <a:lnTo>
                    <a:pt x="7578018" y="177355"/>
                  </a:lnTo>
                  <a:lnTo>
                    <a:pt x="7571232" y="231648"/>
                  </a:lnTo>
                  <a:lnTo>
                    <a:pt x="7565609" y="3422076"/>
                  </a:lnTo>
                  <a:lnTo>
                    <a:pt x="7548958" y="3476968"/>
                  </a:lnTo>
                  <a:lnTo>
                    <a:pt x="7521918" y="3527556"/>
                  </a:lnTo>
                  <a:lnTo>
                    <a:pt x="7485529" y="3571897"/>
                  </a:lnTo>
                  <a:lnTo>
                    <a:pt x="7441188" y="3608286"/>
                  </a:lnTo>
                  <a:lnTo>
                    <a:pt x="7390600" y="3635326"/>
                  </a:lnTo>
                  <a:lnTo>
                    <a:pt x="7335708" y="3651977"/>
                  </a:lnTo>
                  <a:lnTo>
                    <a:pt x="7278624" y="3657600"/>
                  </a:lnTo>
                  <a:lnTo>
                    <a:pt x="524256" y="3657600"/>
                  </a:lnTo>
                  <a:lnTo>
                    <a:pt x="467171" y="3651977"/>
                  </a:lnTo>
                  <a:lnTo>
                    <a:pt x="412279" y="3635326"/>
                  </a:lnTo>
                  <a:lnTo>
                    <a:pt x="361691" y="3608286"/>
                  </a:lnTo>
                  <a:lnTo>
                    <a:pt x="317350" y="3571897"/>
                  </a:lnTo>
                  <a:lnTo>
                    <a:pt x="280961" y="3527556"/>
                  </a:lnTo>
                  <a:lnTo>
                    <a:pt x="253921" y="3476968"/>
                  </a:lnTo>
                  <a:lnTo>
                    <a:pt x="237270" y="3422076"/>
                  </a:lnTo>
                  <a:lnTo>
                    <a:pt x="231648" y="336499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2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3/notch-media/button-home/002"/>
            <p:cNvSpPr/>
            <p:nvPr/>
          </p:nvSpPr>
          <p:spPr>
            <a:xfrm>
              <a:off x="746760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3/notch-media/poly/003"/>
            <p:cNvSpPr/>
            <p:nvPr/>
          </p:nvSpPr>
          <p:spPr>
            <a:xfrm>
              <a:off x="868680" y="2328672"/>
              <a:ext cx="146304" cy="146303"/>
            </a:xfrm>
            <a:custGeom>
              <a:avLst/>
              <a:gdLst/>
              <a:ahLst/>
              <a:cxnLst/>
              <a:rect l="l" t="t" r="r" b="b"/>
              <a:pathLst>
                <a:path w="146304" h="146303">
                  <a:moveTo>
                    <a:pt x="73152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4" y="97535"/>
                  </a:lnTo>
                  <a:lnTo>
                    <a:pt x="85344" y="146303"/>
                  </a:lnTo>
                  <a:lnTo>
                    <a:pt x="121919" y="146303"/>
                  </a:lnTo>
                  <a:lnTo>
                    <a:pt x="121919" y="60959"/>
                  </a:lnTo>
                  <a:lnTo>
                    <a:pt x="146304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3/notch-media/button-Music/004"/>
            <p:cNvSpPr/>
            <p:nvPr/>
          </p:nvSpPr>
          <p:spPr>
            <a:xfrm>
              <a:off x="1185672" y="2218943"/>
              <a:ext cx="1177747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3/notch-media/line/005"/>
            <p:cNvCxnSpPr/>
            <p:nvPr/>
          </p:nvCxnSpPr>
          <p:spPr>
            <a:xfrm flipV="1">
              <a:off x="1414881" y="2353055"/>
              <a:ext cx="0" cy="9753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3/notch-media/line/006"/>
            <p:cNvCxnSpPr/>
            <p:nvPr/>
          </p:nvCxnSpPr>
          <p:spPr>
            <a:xfrm flipV="1">
              <a:off x="1414881" y="2340863"/>
              <a:ext cx="85344" cy="1219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3/notch-media/line/007"/>
            <p:cNvCxnSpPr/>
            <p:nvPr/>
          </p:nvCxnSpPr>
          <p:spPr>
            <a:xfrm>
              <a:off x="1500225" y="2340863"/>
              <a:ext cx="0" cy="97536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3/notch-media/ellipse/008"/>
            <p:cNvSpPr/>
            <p:nvPr/>
          </p:nvSpPr>
          <p:spPr>
            <a:xfrm>
              <a:off x="1378305" y="2432303"/>
              <a:ext cx="42672" cy="36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3/notch-media/ellipse/009"/>
            <p:cNvSpPr/>
            <p:nvPr/>
          </p:nvSpPr>
          <p:spPr>
            <a:xfrm>
              <a:off x="1463649" y="2420111"/>
              <a:ext cx="42672" cy="365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3/notch-media/text/010"/>
            <p:cNvSpPr txBox="1"/>
            <p:nvPr/>
          </p:nvSpPr>
          <p:spPr>
            <a:xfrm>
              <a:off x="1609953" y="2218943"/>
              <a:ext cx="704697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Music</a:t>
              </a:r>
            </a:p>
          </p:txBody>
        </p:sp>
        <p:sp>
          <p:nvSpPr>
            <p:cNvPr id="22" name="N13/notch-media/button-bell/011"/>
            <p:cNvSpPr/>
            <p:nvPr/>
          </p:nvSpPr>
          <p:spPr>
            <a:xfrm>
              <a:off x="2412187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13/notch-media/poly/012"/>
            <p:cNvSpPr/>
            <p:nvPr/>
          </p:nvSpPr>
          <p:spPr>
            <a:xfrm>
              <a:off x="2546299" y="232867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60" y="0"/>
                  </a:moveTo>
                  <a:lnTo>
                    <a:pt x="24384" y="24383"/>
                  </a:lnTo>
                  <a:lnTo>
                    <a:pt x="12192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6" y="2438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N13/notch-media/line/013"/>
            <p:cNvCxnSpPr/>
            <p:nvPr/>
          </p:nvCxnSpPr>
          <p:spPr>
            <a:xfrm>
              <a:off x="2582875" y="2462783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N13/notch-media/ellipse/014"/>
            <p:cNvSpPr/>
            <p:nvPr/>
          </p:nvSpPr>
          <p:spPr>
            <a:xfrm>
              <a:off x="2595067" y="2316479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13/notch-media/button-chart/015"/>
            <p:cNvSpPr/>
            <p:nvPr/>
          </p:nvSpPr>
          <p:spPr>
            <a:xfrm>
              <a:off x="2851099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3/notch-media/line/016"/>
            <p:cNvCxnSpPr/>
            <p:nvPr/>
          </p:nvCxnSpPr>
          <p:spPr>
            <a:xfrm>
              <a:off x="2973019" y="2474975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3/notch-media/line/017"/>
            <p:cNvCxnSpPr/>
            <p:nvPr/>
          </p:nvCxnSpPr>
          <p:spPr>
            <a:xfrm flipV="1">
              <a:off x="2985211" y="2389631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3/notch-media/line/018"/>
            <p:cNvCxnSpPr/>
            <p:nvPr/>
          </p:nvCxnSpPr>
          <p:spPr>
            <a:xfrm>
              <a:off x="3021787" y="2389631"/>
              <a:ext cx="36576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3/notch-media/line/019"/>
            <p:cNvCxnSpPr/>
            <p:nvPr/>
          </p:nvCxnSpPr>
          <p:spPr>
            <a:xfrm flipV="1">
              <a:off x="3058363" y="2340863"/>
              <a:ext cx="48768" cy="73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3/notch-media/button-folder/020"/>
            <p:cNvSpPr/>
            <p:nvPr/>
          </p:nvSpPr>
          <p:spPr>
            <a:xfrm>
              <a:off x="3290011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3/notch-media/poly/021"/>
            <p:cNvSpPr/>
            <p:nvPr/>
          </p:nvSpPr>
          <p:spPr>
            <a:xfrm>
              <a:off x="3411931" y="236524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3/notch-media/button-clipboard/022"/>
            <p:cNvSpPr/>
            <p:nvPr/>
          </p:nvSpPr>
          <p:spPr>
            <a:xfrm>
              <a:off x="3728923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3/notch-media/rect/023"/>
            <p:cNvSpPr/>
            <p:nvPr/>
          </p:nvSpPr>
          <p:spPr>
            <a:xfrm>
              <a:off x="3875227" y="234086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3/notch-media/rect/024"/>
            <p:cNvSpPr/>
            <p:nvPr/>
          </p:nvSpPr>
          <p:spPr>
            <a:xfrm>
              <a:off x="3899611" y="232257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3/notch-media/line/025"/>
            <p:cNvCxnSpPr/>
            <p:nvPr/>
          </p:nvCxnSpPr>
          <p:spPr>
            <a:xfrm>
              <a:off x="3899611" y="238963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3/notch-media/line/026"/>
            <p:cNvCxnSpPr/>
            <p:nvPr/>
          </p:nvCxnSpPr>
          <p:spPr>
            <a:xfrm>
              <a:off x="3899611" y="242011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3/notch-media/button-gear/027"/>
            <p:cNvSpPr/>
            <p:nvPr/>
          </p:nvSpPr>
          <p:spPr>
            <a:xfrm>
              <a:off x="7208520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3/notch-media/ellipse/028"/>
            <p:cNvSpPr/>
            <p:nvPr/>
          </p:nvSpPr>
          <p:spPr>
            <a:xfrm>
              <a:off x="7367016" y="236524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3/notch-media/line/029"/>
            <p:cNvCxnSpPr/>
            <p:nvPr/>
          </p:nvCxnSpPr>
          <p:spPr>
            <a:xfrm>
              <a:off x="7464551" y="240182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3/notch-media/line/030"/>
            <p:cNvCxnSpPr/>
            <p:nvPr/>
          </p:nvCxnSpPr>
          <p:spPr>
            <a:xfrm>
              <a:off x="7446697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3/notch-media/line/031"/>
            <p:cNvCxnSpPr/>
            <p:nvPr/>
          </p:nvCxnSpPr>
          <p:spPr>
            <a:xfrm>
              <a:off x="7403591" y="246278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3/notch-media/line/032"/>
            <p:cNvCxnSpPr/>
            <p:nvPr/>
          </p:nvCxnSpPr>
          <p:spPr>
            <a:xfrm flipH="1">
              <a:off x="7343244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3/notch-media/line/033"/>
            <p:cNvCxnSpPr/>
            <p:nvPr/>
          </p:nvCxnSpPr>
          <p:spPr>
            <a:xfrm flipH="1">
              <a:off x="7318247" y="240182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3/notch-media/line/034"/>
            <p:cNvCxnSpPr/>
            <p:nvPr/>
          </p:nvCxnSpPr>
          <p:spPr>
            <a:xfrm flipH="1" flipV="1">
              <a:off x="7343244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3/notch-media/line/035"/>
            <p:cNvCxnSpPr/>
            <p:nvPr/>
          </p:nvCxnSpPr>
          <p:spPr>
            <a:xfrm flipV="1">
              <a:off x="7403591" y="231647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3/notch-media/line/036"/>
            <p:cNvCxnSpPr/>
            <p:nvPr/>
          </p:nvCxnSpPr>
          <p:spPr>
            <a:xfrm flipV="1">
              <a:off x="7446697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3/notch-media/button-close/037"/>
            <p:cNvSpPr/>
            <p:nvPr/>
          </p:nvSpPr>
          <p:spPr>
            <a:xfrm>
              <a:off x="7671816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3/notch-media/line/038"/>
            <p:cNvCxnSpPr/>
            <p:nvPr/>
          </p:nvCxnSpPr>
          <p:spPr>
            <a:xfrm>
              <a:off x="781812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3/notch-media/line/039"/>
            <p:cNvCxnSpPr/>
            <p:nvPr/>
          </p:nvCxnSpPr>
          <p:spPr>
            <a:xfrm flipH="1">
              <a:off x="781812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3/notch-media/rect/040"/>
            <p:cNvSpPr/>
            <p:nvPr/>
          </p:nvSpPr>
          <p:spPr>
            <a:xfrm>
              <a:off x="746760" y="2718816"/>
              <a:ext cx="877824" cy="877824"/>
            </a:xfrm>
            <a:prstGeom prst="roundRect">
              <a:avLst>
                <a:gd name="adj" fmla="val 1944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N13/notch-media/line/041"/>
            <p:cNvCxnSpPr/>
            <p:nvPr/>
          </p:nvCxnSpPr>
          <p:spPr>
            <a:xfrm flipV="1">
              <a:off x="1136903" y="3060191"/>
              <a:ext cx="0" cy="195072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N13/notch-media/line/042"/>
            <p:cNvCxnSpPr/>
            <p:nvPr/>
          </p:nvCxnSpPr>
          <p:spPr>
            <a:xfrm flipV="1">
              <a:off x="1136903" y="3035808"/>
              <a:ext cx="170689" cy="24383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13/notch-media/line/043"/>
            <p:cNvCxnSpPr/>
            <p:nvPr/>
          </p:nvCxnSpPr>
          <p:spPr>
            <a:xfrm>
              <a:off x="1307592" y="3035808"/>
              <a:ext cx="0" cy="195072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13/notch-media/ellipse/044"/>
            <p:cNvSpPr/>
            <p:nvPr/>
          </p:nvSpPr>
          <p:spPr>
            <a:xfrm>
              <a:off x="1063752" y="3218687"/>
              <a:ext cx="85344" cy="73152"/>
            </a:xfrm>
            <a:prstGeom prst="ellipse">
              <a:avLst/>
            </a:prstGeom>
            <a:solidFill>
              <a:srgbClr val="8E8E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N13/notch-media/ellipse/045"/>
            <p:cNvSpPr/>
            <p:nvPr/>
          </p:nvSpPr>
          <p:spPr>
            <a:xfrm>
              <a:off x="1234439" y="3194304"/>
              <a:ext cx="85344" cy="73152"/>
            </a:xfrm>
            <a:prstGeom prst="ellipse">
              <a:avLst/>
            </a:prstGeom>
            <a:solidFill>
              <a:srgbClr val="8E8E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13/notch-media/text/046"/>
            <p:cNvSpPr txBox="1"/>
            <p:nvPr/>
          </p:nvSpPr>
          <p:spPr>
            <a:xfrm>
              <a:off x="1795272" y="2718816"/>
              <a:ext cx="6266688" cy="2438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Nothing playing</a:t>
              </a:r>
            </a:p>
          </p:txBody>
        </p:sp>
        <p:sp>
          <p:nvSpPr>
            <p:cNvPr id="58" name="N13/notch-media/text/047"/>
            <p:cNvSpPr txBox="1"/>
            <p:nvPr/>
          </p:nvSpPr>
          <p:spPr>
            <a:xfrm>
              <a:off x="1795272" y="2987040"/>
              <a:ext cx="6266688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Start a song in an MPRIS-compatible player</a:t>
              </a:r>
            </a:p>
          </p:txBody>
        </p:sp>
        <p:sp>
          <p:nvSpPr>
            <p:cNvPr id="59" name="N13/notch-media/text/048"/>
            <p:cNvSpPr txBox="1"/>
            <p:nvPr/>
          </p:nvSpPr>
          <p:spPr>
            <a:xfrm>
              <a:off x="1795272" y="3206495"/>
              <a:ext cx="6266688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/>
              </a:r>
            </a:p>
          </p:txBody>
        </p:sp>
        <p:sp>
          <p:nvSpPr>
            <p:cNvPr id="60" name="N13/notch-media/button-No media player/049"/>
            <p:cNvSpPr/>
            <p:nvPr/>
          </p:nvSpPr>
          <p:spPr>
            <a:xfrm>
              <a:off x="1795272" y="3450335"/>
              <a:ext cx="2072640" cy="316992"/>
            </a:xfrm>
            <a:prstGeom prst="roundRect">
              <a:avLst>
                <a:gd name="adj" fmla="val 38461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3/notch-media/rect/050"/>
            <p:cNvSpPr/>
            <p:nvPr/>
          </p:nvSpPr>
          <p:spPr>
            <a:xfrm>
              <a:off x="1953768" y="3572256"/>
              <a:ext cx="121920" cy="9753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N13/notch-media/line/051"/>
            <p:cNvCxnSpPr/>
            <p:nvPr/>
          </p:nvCxnSpPr>
          <p:spPr>
            <a:xfrm>
              <a:off x="1990344" y="3535680"/>
              <a:ext cx="85344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13/notch-media/line/052"/>
            <p:cNvCxnSpPr/>
            <p:nvPr/>
          </p:nvCxnSpPr>
          <p:spPr>
            <a:xfrm>
              <a:off x="2075688" y="3535680"/>
              <a:ext cx="0" cy="85344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13/notch-media/text/053"/>
            <p:cNvSpPr txBox="1"/>
            <p:nvPr/>
          </p:nvSpPr>
          <p:spPr>
            <a:xfrm>
              <a:off x="2185416" y="3450335"/>
              <a:ext cx="1633728" cy="3169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636366"/>
                  </a:solidFill>
                  <a:latin typeface="Arial"/>
                </a:rPr>
                <a:t>No media player</a:t>
              </a:r>
            </a:p>
          </p:txBody>
        </p:sp>
        <p:sp>
          <p:nvSpPr>
            <p:cNvPr id="65" name="N13/notch-media/text/054"/>
            <p:cNvSpPr txBox="1"/>
            <p:nvPr/>
          </p:nvSpPr>
          <p:spPr>
            <a:xfrm>
              <a:off x="746760" y="3718560"/>
              <a:ext cx="438912" cy="1950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0:00</a:t>
              </a:r>
            </a:p>
          </p:txBody>
        </p:sp>
        <p:sp>
          <p:nvSpPr>
            <p:cNvPr id="66" name="N13/notch-media/rect/055"/>
            <p:cNvSpPr/>
            <p:nvPr/>
          </p:nvSpPr>
          <p:spPr>
            <a:xfrm>
              <a:off x="1258823" y="3791712"/>
              <a:ext cx="6291072" cy="48768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13/notch-media/rect/056"/>
            <p:cNvSpPr/>
            <p:nvPr/>
          </p:nvSpPr>
          <p:spPr>
            <a:xfrm>
              <a:off x="1258823" y="3791712"/>
              <a:ext cx="0" cy="48768"/>
            </a:xfrm>
            <a:prstGeom prst="roundRect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13/notch-media/ellipse/057"/>
            <p:cNvSpPr/>
            <p:nvPr/>
          </p:nvSpPr>
          <p:spPr>
            <a:xfrm>
              <a:off x="1185671" y="3742943"/>
              <a:ext cx="146304" cy="146304"/>
            </a:xfrm>
            <a:prstGeom prst="ellipse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13/notch-media/text/058"/>
            <p:cNvSpPr txBox="1"/>
            <p:nvPr/>
          </p:nvSpPr>
          <p:spPr>
            <a:xfrm>
              <a:off x="7623047" y="3718560"/>
              <a:ext cx="438912" cy="19507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0:00</a:t>
              </a:r>
            </a:p>
          </p:txBody>
        </p:sp>
        <p:sp>
          <p:nvSpPr>
            <p:cNvPr id="70" name="N13/notch-media/button-prev/059"/>
            <p:cNvSpPr/>
            <p:nvPr/>
          </p:nvSpPr>
          <p:spPr>
            <a:xfrm>
              <a:off x="3368040" y="3986783"/>
              <a:ext cx="390144" cy="390144"/>
            </a:xfrm>
            <a:prstGeom prst="roundRect">
              <a:avLst>
                <a:gd name="adj" fmla="val 31250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13/notch-media/poly/060"/>
            <p:cNvSpPr/>
            <p:nvPr/>
          </p:nvSpPr>
          <p:spPr>
            <a:xfrm>
              <a:off x="3526536" y="4120895"/>
              <a:ext cx="73152" cy="121920"/>
            </a:xfrm>
            <a:custGeom>
              <a:avLst/>
              <a:gdLst/>
              <a:ahLst/>
              <a:cxnLst/>
              <a:rect l="l" t="t" r="r" b="b"/>
              <a:pathLst>
                <a:path w="73152" h="121920">
                  <a:moveTo>
                    <a:pt x="73152" y="0"/>
                  </a:moveTo>
                  <a:lnTo>
                    <a:pt x="0" y="60960"/>
                  </a:lnTo>
                  <a:lnTo>
                    <a:pt x="73152" y="121920"/>
                  </a:lnTo>
                  <a:close/>
                </a:path>
              </a:pathLst>
            </a:cu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3/notch-media/rect/061"/>
            <p:cNvSpPr/>
            <p:nvPr/>
          </p:nvSpPr>
          <p:spPr>
            <a:xfrm>
              <a:off x="3502152" y="4126991"/>
              <a:ext cx="19507" cy="109728"/>
            </a:xfrm>
            <a:prstGeom prst="rect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13/notch-media/button-play/062"/>
            <p:cNvSpPr/>
            <p:nvPr/>
          </p:nvSpPr>
          <p:spPr>
            <a:xfrm>
              <a:off x="3880104" y="3986783"/>
              <a:ext cx="536448" cy="390144"/>
            </a:xfrm>
            <a:prstGeom prst="roundRect">
              <a:avLst>
                <a:gd name="adj" fmla="val 50000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13/notch-media/poly/063"/>
            <p:cNvSpPr/>
            <p:nvPr/>
          </p:nvSpPr>
          <p:spPr>
            <a:xfrm>
              <a:off x="4111751" y="4120895"/>
              <a:ext cx="97537" cy="121920"/>
            </a:xfrm>
            <a:custGeom>
              <a:avLst/>
              <a:gdLst/>
              <a:ahLst/>
              <a:cxnLst/>
              <a:rect l="l" t="t" r="r" b="b"/>
              <a:pathLst>
                <a:path w="97537" h="121920">
                  <a:moveTo>
                    <a:pt x="0" y="0"/>
                  </a:moveTo>
                  <a:lnTo>
                    <a:pt x="97537" y="6096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13/notch-media/button-next/064"/>
            <p:cNvSpPr/>
            <p:nvPr/>
          </p:nvSpPr>
          <p:spPr>
            <a:xfrm>
              <a:off x="4538472" y="3986783"/>
              <a:ext cx="390144" cy="390144"/>
            </a:xfrm>
            <a:prstGeom prst="roundRect">
              <a:avLst>
                <a:gd name="adj" fmla="val 31250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13/notch-media/poly/065"/>
            <p:cNvSpPr/>
            <p:nvPr/>
          </p:nvSpPr>
          <p:spPr>
            <a:xfrm>
              <a:off x="4696968" y="4120895"/>
              <a:ext cx="73152" cy="121920"/>
            </a:xfrm>
            <a:custGeom>
              <a:avLst/>
              <a:gdLst/>
              <a:ahLst/>
              <a:cxnLst/>
              <a:rect l="l" t="t" r="r" b="b"/>
              <a:pathLst>
                <a:path w="73152" h="121920">
                  <a:moveTo>
                    <a:pt x="0" y="0"/>
                  </a:moveTo>
                  <a:lnTo>
                    <a:pt x="73152" y="6096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13/notch-media/rect/066"/>
            <p:cNvSpPr/>
            <p:nvPr/>
          </p:nvSpPr>
          <p:spPr>
            <a:xfrm>
              <a:off x="4774996" y="4126991"/>
              <a:ext cx="19507" cy="109728"/>
            </a:xfrm>
            <a:prstGeom prst="rect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N13/notch-media/button-raise/067"/>
            <p:cNvSpPr/>
            <p:nvPr/>
          </p:nvSpPr>
          <p:spPr>
            <a:xfrm>
              <a:off x="5050536" y="3986783"/>
              <a:ext cx="390144" cy="390144"/>
            </a:xfrm>
            <a:prstGeom prst="roundRect">
              <a:avLst>
                <a:gd name="adj" fmla="val 31250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N13/notch-media/rect/068"/>
            <p:cNvSpPr/>
            <p:nvPr/>
          </p:nvSpPr>
          <p:spPr>
            <a:xfrm>
              <a:off x="5184648" y="4145279"/>
              <a:ext cx="121920" cy="9753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0" name="N13/notch-media/line/069"/>
            <p:cNvCxnSpPr/>
            <p:nvPr/>
          </p:nvCxnSpPr>
          <p:spPr>
            <a:xfrm>
              <a:off x="5221224" y="4108703"/>
              <a:ext cx="85343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N13/notch-media/line/070"/>
            <p:cNvCxnSpPr/>
            <p:nvPr/>
          </p:nvCxnSpPr>
          <p:spPr>
            <a:xfrm>
              <a:off x="5306567" y="4108703"/>
              <a:ext cx="0" cy="85344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N13/notch-media/text/071"/>
            <p:cNvSpPr txBox="1"/>
            <p:nvPr/>
          </p:nvSpPr>
          <p:spPr>
            <a:xfrm>
              <a:off x="746760" y="4450080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Player volume</a:t>
              </a:r>
            </a:p>
          </p:txBody>
        </p:sp>
        <p:sp>
          <p:nvSpPr>
            <p:cNvPr id="83" name="N13/notch-media/rect/072"/>
            <p:cNvSpPr/>
            <p:nvPr/>
          </p:nvSpPr>
          <p:spPr>
            <a:xfrm>
              <a:off x="2063496" y="4535424"/>
              <a:ext cx="4998720" cy="48768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13/notch-media/rect/073"/>
            <p:cNvSpPr/>
            <p:nvPr/>
          </p:nvSpPr>
          <p:spPr>
            <a:xfrm>
              <a:off x="2063496" y="4535424"/>
              <a:ext cx="0" cy="48768"/>
            </a:xfrm>
            <a:prstGeom prst="roundRect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13/notch-media/ellipse/074"/>
            <p:cNvSpPr/>
            <p:nvPr/>
          </p:nvSpPr>
          <p:spPr>
            <a:xfrm>
              <a:off x="1990344" y="4486656"/>
              <a:ext cx="146304" cy="146304"/>
            </a:xfrm>
            <a:prstGeom prst="ellipse">
              <a:avLst/>
            </a:prstGeom>
            <a:solidFill>
              <a:srgbClr val="6363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N13/notch-media/text/075"/>
            <p:cNvSpPr txBox="1"/>
            <p:nvPr/>
          </p:nvSpPr>
          <p:spPr>
            <a:xfrm>
              <a:off x="7525512" y="4450080"/>
              <a:ext cx="536448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—</a:t>
              </a:r>
            </a:p>
          </p:txBody>
        </p:sp>
        <p:sp>
          <p:nvSpPr>
            <p:cNvPr id="87" name="N13/notch-media/text/076"/>
            <p:cNvSpPr txBox="1"/>
            <p:nvPr/>
          </p:nvSpPr>
          <p:spPr>
            <a:xfrm>
              <a:off x="746760" y="4791455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System output</a:t>
              </a:r>
            </a:p>
          </p:txBody>
        </p:sp>
        <p:sp>
          <p:nvSpPr>
            <p:cNvPr id="88" name="N13/notch-media/rect/077"/>
            <p:cNvSpPr/>
            <p:nvPr/>
          </p:nvSpPr>
          <p:spPr>
            <a:xfrm>
              <a:off x="2063496" y="4876800"/>
              <a:ext cx="4998720" cy="48768"/>
            </a:xfrm>
            <a:prstGeom prst="roundRect">
              <a:avLst>
                <a:gd name="adj" fmla="val 50000"/>
              </a:avLst>
            </a:prstGeom>
            <a:solidFill>
              <a:srgbClr val="3A3A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N13/notch-media/rect/078"/>
            <p:cNvSpPr/>
            <p:nvPr/>
          </p:nvSpPr>
          <p:spPr>
            <a:xfrm>
              <a:off x="2063496" y="4876800"/>
              <a:ext cx="3249168" cy="48768"/>
            </a:xfrm>
            <a:prstGeom prst="roundRect">
              <a:avLst>
                <a:gd name="adj" fmla="val 50000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13/notch-media/ellipse/079"/>
            <p:cNvSpPr/>
            <p:nvPr/>
          </p:nvSpPr>
          <p:spPr>
            <a:xfrm>
              <a:off x="5239512" y="4828031"/>
              <a:ext cx="146304" cy="146304"/>
            </a:xfrm>
            <a:prstGeom prst="ellipse">
              <a:avLst/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13/notch-media/button-volume/080"/>
            <p:cNvSpPr/>
            <p:nvPr/>
          </p:nvSpPr>
          <p:spPr>
            <a:xfrm>
              <a:off x="7671816" y="4730496"/>
              <a:ext cx="390144" cy="341376"/>
            </a:xfrm>
            <a:prstGeom prst="roundRect">
              <a:avLst>
                <a:gd name="adj" fmla="val 35714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N13/notch-media/poly/081"/>
            <p:cNvSpPr/>
            <p:nvPr/>
          </p:nvSpPr>
          <p:spPr>
            <a:xfrm>
              <a:off x="7805928" y="4840224"/>
              <a:ext cx="73152" cy="121919"/>
            </a:xfrm>
            <a:custGeom>
              <a:avLst/>
              <a:gdLst/>
              <a:ahLst/>
              <a:cxnLst/>
              <a:rect l="l" t="t" r="r" b="b"/>
              <a:pathLst>
                <a:path w="73152" h="121919">
                  <a:moveTo>
                    <a:pt x="0" y="36576"/>
                  </a:moveTo>
                  <a:lnTo>
                    <a:pt x="36576" y="36576"/>
                  </a:lnTo>
                  <a:lnTo>
                    <a:pt x="73152" y="0"/>
                  </a:lnTo>
                  <a:lnTo>
                    <a:pt x="73152" y="121919"/>
                  </a:lnTo>
                  <a:lnTo>
                    <a:pt x="36576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N13/notch-media/line/082"/>
            <p:cNvCxnSpPr/>
            <p:nvPr/>
          </p:nvCxnSpPr>
          <p:spPr>
            <a:xfrm>
              <a:off x="7903464" y="4864607"/>
              <a:ext cx="24384" cy="365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N13/notch-media/line/083"/>
            <p:cNvCxnSpPr/>
            <p:nvPr/>
          </p:nvCxnSpPr>
          <p:spPr>
            <a:xfrm flipH="1">
              <a:off x="7903464" y="4901183"/>
              <a:ext cx="24384" cy="3657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N13/text/010"/>
          <p:cNvSpPr txBox="1"/>
          <p:nvPr/>
        </p:nvSpPr>
        <p:spPr>
          <a:xfrm>
            <a:off x="502920" y="548640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Fallback art is symbolic; title 'Nothing playing'; player button 'No media player'; seek/transport disabled.</a:t>
            </a:r>
          </a:p>
        </p:txBody>
      </p:sp>
      <p:sp>
        <p:nvSpPr>
          <p:cNvPr id="96" name="N13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N13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98" name="N13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N13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Disabled color #636366</a:t>
            </a:r>
          </a:p>
        </p:txBody>
      </p:sp>
      <p:sp>
        <p:nvSpPr>
          <p:cNvPr id="100" name="N13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N13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Disabled fill #1C1C1E</a:t>
            </a:r>
          </a:p>
        </p:txBody>
      </p:sp>
      <p:sp>
        <p:nvSpPr>
          <p:cNvPr id="102" name="N13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N13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System output can still work</a:t>
            </a:r>
          </a:p>
        </p:txBody>
      </p:sp>
      <p:sp>
        <p:nvSpPr>
          <p:cNvPr id="104" name="N13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N13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hidden controls when empty</a:t>
            </a:r>
          </a:p>
        </p:txBody>
      </p:sp>
      <p:cxnSp>
        <p:nvCxnSpPr>
          <p:cNvPr id="106" name="N13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N13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108" name="N13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N13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Empty copy / disabled contrast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ALERTS PAGE</a:t>
            </a:r>
          </a:p>
        </p:txBody>
      </p:sp>
      <p:sp>
        <p:nvSpPr>
          <p:cNvPr id="5" name="N1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Alerts — empty</a:t>
            </a:r>
          </a:p>
        </p:txBody>
      </p:sp>
      <p:sp>
        <p:nvSpPr>
          <p:cNvPr id="6" name="N1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560×320 · centered empty-state card</a:t>
            </a:r>
          </a:p>
        </p:txBody>
      </p:sp>
      <p:cxnSp>
        <p:nvCxnSpPr>
          <p:cNvPr id="7" name="N1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N14</a:t>
            </a:r>
          </a:p>
        </p:txBody>
      </p:sp>
      <p:sp>
        <p:nvSpPr>
          <p:cNvPr id="10" name="N1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14</a:t>
            </a:r>
          </a:p>
        </p:txBody>
      </p:sp>
      <p:grpSp>
        <p:nvGrpSpPr>
          <p:cNvPr id="11" name="N14/notch-notifications"/>
          <p:cNvGrpSpPr/>
          <p:nvPr/>
        </p:nvGrpSpPr>
        <p:grpSpPr>
          <a:xfrm>
            <a:off x="868680" y="1645920"/>
            <a:ext cx="6827520" cy="3901440"/>
            <a:chOff x="868680" y="1645920"/>
            <a:chExt cx="6827520" cy="3901440"/>
          </a:xfrm>
        </p:grpSpPr>
        <p:sp>
          <p:nvSpPr>
            <p:cNvPr id="12" name="N14/notch-notifications/notch-surface-open/001"/>
            <p:cNvSpPr/>
            <p:nvPr/>
          </p:nvSpPr>
          <p:spPr>
            <a:xfrm>
              <a:off x="868680" y="1645920"/>
              <a:ext cx="6827520" cy="3901440"/>
            </a:xfrm>
            <a:custGeom>
              <a:avLst/>
              <a:gdLst/>
              <a:ahLst/>
              <a:cxnLst/>
              <a:rect l="l" t="t" r="r" b="b"/>
              <a:pathLst>
                <a:path w="6827520" h="3901440">
                  <a:moveTo>
                    <a:pt x="0" y="0"/>
                  </a:moveTo>
                  <a:lnTo>
                    <a:pt x="6827520" y="0"/>
                  </a:lnTo>
                  <a:lnTo>
                    <a:pt x="6795396" y="3619"/>
                  </a:lnTo>
                  <a:lnTo>
                    <a:pt x="6758749" y="14477"/>
                  </a:lnTo>
                  <a:lnTo>
                    <a:pt x="6720292" y="32575"/>
                  </a:lnTo>
                  <a:lnTo>
                    <a:pt x="6682740" y="57912"/>
                  </a:lnTo>
                  <a:lnTo>
                    <a:pt x="6648807" y="90487"/>
                  </a:lnTo>
                  <a:lnTo>
                    <a:pt x="6621208" y="130302"/>
                  </a:lnTo>
                  <a:lnTo>
                    <a:pt x="6602658" y="177355"/>
                  </a:lnTo>
                  <a:lnTo>
                    <a:pt x="6595872" y="231648"/>
                  </a:lnTo>
                  <a:lnTo>
                    <a:pt x="6590249" y="3665916"/>
                  </a:lnTo>
                  <a:lnTo>
                    <a:pt x="6573598" y="3720808"/>
                  </a:lnTo>
                  <a:lnTo>
                    <a:pt x="6546558" y="3771396"/>
                  </a:lnTo>
                  <a:lnTo>
                    <a:pt x="6510169" y="3815737"/>
                  </a:lnTo>
                  <a:lnTo>
                    <a:pt x="6465828" y="3852126"/>
                  </a:lnTo>
                  <a:lnTo>
                    <a:pt x="6415240" y="3879166"/>
                  </a:lnTo>
                  <a:lnTo>
                    <a:pt x="6360348" y="3895817"/>
                  </a:lnTo>
                  <a:lnTo>
                    <a:pt x="6303264" y="3901440"/>
                  </a:lnTo>
                  <a:lnTo>
                    <a:pt x="524256" y="3901440"/>
                  </a:lnTo>
                  <a:lnTo>
                    <a:pt x="467171" y="3895817"/>
                  </a:lnTo>
                  <a:lnTo>
                    <a:pt x="412279" y="3879166"/>
                  </a:lnTo>
                  <a:lnTo>
                    <a:pt x="361691" y="3852126"/>
                  </a:lnTo>
                  <a:lnTo>
                    <a:pt x="317350" y="3815737"/>
                  </a:lnTo>
                  <a:lnTo>
                    <a:pt x="280961" y="3771396"/>
                  </a:lnTo>
                  <a:lnTo>
                    <a:pt x="253921" y="3720808"/>
                  </a:lnTo>
                  <a:lnTo>
                    <a:pt x="237270" y="3665916"/>
                  </a:lnTo>
                  <a:lnTo>
                    <a:pt x="231648" y="3608831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2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4/notch-notifications/button-home/002"/>
            <p:cNvSpPr/>
            <p:nvPr/>
          </p:nvSpPr>
          <p:spPr>
            <a:xfrm>
              <a:off x="1112520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4/notch-notifications/poly/003"/>
            <p:cNvSpPr/>
            <p:nvPr/>
          </p:nvSpPr>
          <p:spPr>
            <a:xfrm>
              <a:off x="1234439" y="2328672"/>
              <a:ext cx="146305" cy="146303"/>
            </a:xfrm>
            <a:custGeom>
              <a:avLst/>
              <a:gdLst/>
              <a:ahLst/>
              <a:cxnLst/>
              <a:rect l="l" t="t" r="r" b="b"/>
              <a:pathLst>
                <a:path w="146305" h="146303">
                  <a:moveTo>
                    <a:pt x="73153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5" y="97535"/>
                  </a:lnTo>
                  <a:lnTo>
                    <a:pt x="85345" y="146303"/>
                  </a:lnTo>
                  <a:lnTo>
                    <a:pt x="121920" y="146303"/>
                  </a:lnTo>
                  <a:lnTo>
                    <a:pt x="121920" y="60959"/>
                  </a:lnTo>
                  <a:lnTo>
                    <a:pt x="146305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4/notch-notifications/button-music/004"/>
            <p:cNvSpPr/>
            <p:nvPr/>
          </p:nvSpPr>
          <p:spPr>
            <a:xfrm>
              <a:off x="1551432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4/notch-notifications/line/005"/>
            <p:cNvCxnSpPr/>
            <p:nvPr/>
          </p:nvCxnSpPr>
          <p:spPr>
            <a:xfrm flipV="1">
              <a:off x="1722120" y="2353055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4/notch-notifications/line/006"/>
            <p:cNvCxnSpPr/>
            <p:nvPr/>
          </p:nvCxnSpPr>
          <p:spPr>
            <a:xfrm flipV="1">
              <a:off x="1722120" y="2340863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4/notch-notifications/line/007"/>
            <p:cNvCxnSpPr/>
            <p:nvPr/>
          </p:nvCxnSpPr>
          <p:spPr>
            <a:xfrm>
              <a:off x="1807464" y="2340863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4/notch-notifications/ellipse/008"/>
            <p:cNvSpPr/>
            <p:nvPr/>
          </p:nvSpPr>
          <p:spPr>
            <a:xfrm>
              <a:off x="1685544" y="2432303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4/notch-notifications/ellipse/009"/>
            <p:cNvSpPr/>
            <p:nvPr/>
          </p:nvSpPr>
          <p:spPr>
            <a:xfrm>
              <a:off x="1770887" y="2420111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4/notch-notifications/button-Alerts/010"/>
            <p:cNvSpPr/>
            <p:nvPr/>
          </p:nvSpPr>
          <p:spPr>
            <a:xfrm>
              <a:off x="1990344" y="2218943"/>
              <a:ext cx="1310883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4/notch-notifications/poly/011"/>
            <p:cNvSpPr/>
            <p:nvPr/>
          </p:nvSpPr>
          <p:spPr>
            <a:xfrm>
              <a:off x="2189805" y="232867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60" y="0"/>
                  </a:moveTo>
                  <a:lnTo>
                    <a:pt x="24384" y="24383"/>
                  </a:lnTo>
                  <a:lnTo>
                    <a:pt x="12192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6" y="24383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4/notch-notifications/line/012"/>
            <p:cNvCxnSpPr/>
            <p:nvPr/>
          </p:nvCxnSpPr>
          <p:spPr>
            <a:xfrm>
              <a:off x="2226381" y="2462783"/>
              <a:ext cx="48768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4/notch-notifications/ellipse/013"/>
            <p:cNvSpPr/>
            <p:nvPr/>
          </p:nvSpPr>
          <p:spPr>
            <a:xfrm>
              <a:off x="2238573" y="2316479"/>
              <a:ext cx="24384" cy="243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4/notch-notifications/text/014"/>
            <p:cNvSpPr txBox="1"/>
            <p:nvPr/>
          </p:nvSpPr>
          <p:spPr>
            <a:xfrm>
              <a:off x="2421453" y="2218943"/>
              <a:ext cx="831006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Alerts</a:t>
              </a:r>
            </a:p>
          </p:txBody>
        </p:sp>
        <p:sp>
          <p:nvSpPr>
            <p:cNvPr id="26" name="N14/notch-notifications/button-chart/015"/>
            <p:cNvSpPr/>
            <p:nvPr/>
          </p:nvSpPr>
          <p:spPr>
            <a:xfrm>
              <a:off x="3349995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4/notch-notifications/line/016"/>
            <p:cNvCxnSpPr/>
            <p:nvPr/>
          </p:nvCxnSpPr>
          <p:spPr>
            <a:xfrm>
              <a:off x="3471915" y="2474975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4/notch-notifications/line/017"/>
            <p:cNvCxnSpPr/>
            <p:nvPr/>
          </p:nvCxnSpPr>
          <p:spPr>
            <a:xfrm flipV="1">
              <a:off x="3484107" y="2389631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4/notch-notifications/line/018"/>
            <p:cNvCxnSpPr/>
            <p:nvPr/>
          </p:nvCxnSpPr>
          <p:spPr>
            <a:xfrm>
              <a:off x="3520683" y="2389631"/>
              <a:ext cx="36576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4/notch-notifications/line/019"/>
            <p:cNvCxnSpPr/>
            <p:nvPr/>
          </p:nvCxnSpPr>
          <p:spPr>
            <a:xfrm flipV="1">
              <a:off x="3557259" y="2340863"/>
              <a:ext cx="48768" cy="73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4/notch-notifications/button-folder/020"/>
            <p:cNvSpPr/>
            <p:nvPr/>
          </p:nvSpPr>
          <p:spPr>
            <a:xfrm>
              <a:off x="3788907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4/notch-notifications/poly/021"/>
            <p:cNvSpPr/>
            <p:nvPr/>
          </p:nvSpPr>
          <p:spPr>
            <a:xfrm>
              <a:off x="3910827" y="236524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4/notch-notifications/button-clipboard/022"/>
            <p:cNvSpPr/>
            <p:nvPr/>
          </p:nvSpPr>
          <p:spPr>
            <a:xfrm>
              <a:off x="4227819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4/notch-notifications/rect/023"/>
            <p:cNvSpPr/>
            <p:nvPr/>
          </p:nvSpPr>
          <p:spPr>
            <a:xfrm>
              <a:off x="4374123" y="234086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4/notch-notifications/rect/024"/>
            <p:cNvSpPr/>
            <p:nvPr/>
          </p:nvSpPr>
          <p:spPr>
            <a:xfrm>
              <a:off x="4398507" y="232257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4/notch-notifications/line/025"/>
            <p:cNvCxnSpPr/>
            <p:nvPr/>
          </p:nvCxnSpPr>
          <p:spPr>
            <a:xfrm>
              <a:off x="4398507" y="238963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4/notch-notifications/line/026"/>
            <p:cNvCxnSpPr/>
            <p:nvPr/>
          </p:nvCxnSpPr>
          <p:spPr>
            <a:xfrm>
              <a:off x="4398507" y="242011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4/notch-notifications/button-gear/027"/>
            <p:cNvSpPr/>
            <p:nvPr/>
          </p:nvSpPr>
          <p:spPr>
            <a:xfrm>
              <a:off x="6598920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4/notch-notifications/ellipse/028"/>
            <p:cNvSpPr/>
            <p:nvPr/>
          </p:nvSpPr>
          <p:spPr>
            <a:xfrm>
              <a:off x="6757416" y="236524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4/notch-notifications/line/029"/>
            <p:cNvCxnSpPr/>
            <p:nvPr/>
          </p:nvCxnSpPr>
          <p:spPr>
            <a:xfrm>
              <a:off x="6854951" y="240182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4/notch-notifications/line/030"/>
            <p:cNvCxnSpPr/>
            <p:nvPr/>
          </p:nvCxnSpPr>
          <p:spPr>
            <a:xfrm>
              <a:off x="6837097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4/notch-notifications/line/031"/>
            <p:cNvCxnSpPr/>
            <p:nvPr/>
          </p:nvCxnSpPr>
          <p:spPr>
            <a:xfrm>
              <a:off x="6793992" y="246278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4/notch-notifications/line/032"/>
            <p:cNvCxnSpPr/>
            <p:nvPr/>
          </p:nvCxnSpPr>
          <p:spPr>
            <a:xfrm flipH="1">
              <a:off x="6733644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4/notch-notifications/line/033"/>
            <p:cNvCxnSpPr/>
            <p:nvPr/>
          </p:nvCxnSpPr>
          <p:spPr>
            <a:xfrm flipH="1">
              <a:off x="6708648" y="240182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4/notch-notifications/line/034"/>
            <p:cNvCxnSpPr/>
            <p:nvPr/>
          </p:nvCxnSpPr>
          <p:spPr>
            <a:xfrm flipH="1" flipV="1">
              <a:off x="6733644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4/notch-notifications/line/035"/>
            <p:cNvCxnSpPr/>
            <p:nvPr/>
          </p:nvCxnSpPr>
          <p:spPr>
            <a:xfrm flipV="1">
              <a:off x="6793992" y="231647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4/notch-notifications/line/036"/>
            <p:cNvCxnSpPr/>
            <p:nvPr/>
          </p:nvCxnSpPr>
          <p:spPr>
            <a:xfrm flipV="1">
              <a:off x="6837097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4/notch-notifications/button-close/037"/>
            <p:cNvSpPr/>
            <p:nvPr/>
          </p:nvSpPr>
          <p:spPr>
            <a:xfrm>
              <a:off x="7062216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4/notch-notifications/line/038"/>
            <p:cNvCxnSpPr/>
            <p:nvPr/>
          </p:nvCxnSpPr>
          <p:spPr>
            <a:xfrm>
              <a:off x="720852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4/notch-notifications/line/039"/>
            <p:cNvCxnSpPr/>
            <p:nvPr/>
          </p:nvCxnSpPr>
          <p:spPr>
            <a:xfrm flipH="1">
              <a:off x="720852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4/notch-notifications/text/040"/>
            <p:cNvSpPr txBox="1"/>
            <p:nvPr/>
          </p:nvSpPr>
          <p:spPr>
            <a:xfrm>
              <a:off x="1112520" y="2670048"/>
              <a:ext cx="3486912" cy="2682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0 notifications</a:t>
              </a:r>
            </a:p>
          </p:txBody>
        </p:sp>
        <p:sp>
          <p:nvSpPr>
            <p:cNvPr id="52" name="N14/notch-notifications/button-Clear all/041"/>
            <p:cNvSpPr/>
            <p:nvPr/>
          </p:nvSpPr>
          <p:spPr>
            <a:xfrm>
              <a:off x="6233160" y="2645664"/>
              <a:ext cx="1219200" cy="341376"/>
            </a:xfrm>
            <a:prstGeom prst="roundRect">
              <a:avLst>
                <a:gd name="adj" fmla="val 3571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14/notch-notifications/line/042"/>
            <p:cNvCxnSpPr/>
            <p:nvPr/>
          </p:nvCxnSpPr>
          <p:spPr>
            <a:xfrm>
              <a:off x="6261323" y="2779776"/>
              <a:ext cx="121920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N14/notch-notifications/rect/043"/>
            <p:cNvSpPr/>
            <p:nvPr/>
          </p:nvSpPr>
          <p:spPr>
            <a:xfrm>
              <a:off x="6285707" y="2779776"/>
              <a:ext cx="73152" cy="109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14/notch-notifications/line/044"/>
            <p:cNvCxnSpPr/>
            <p:nvPr/>
          </p:nvCxnSpPr>
          <p:spPr>
            <a:xfrm>
              <a:off x="6297899" y="2755392"/>
              <a:ext cx="48768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14/notch-notifications/line/045"/>
            <p:cNvCxnSpPr/>
            <p:nvPr/>
          </p:nvCxnSpPr>
          <p:spPr>
            <a:xfrm>
              <a:off x="6310091" y="2804160"/>
              <a:ext cx="0" cy="6096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14/notch-notifications/line/046"/>
            <p:cNvCxnSpPr/>
            <p:nvPr/>
          </p:nvCxnSpPr>
          <p:spPr>
            <a:xfrm>
              <a:off x="6334475" y="2804160"/>
              <a:ext cx="0" cy="6096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14/notch-notifications/text/047"/>
            <p:cNvSpPr txBox="1"/>
            <p:nvPr/>
          </p:nvSpPr>
          <p:spPr>
            <a:xfrm>
              <a:off x="6492971" y="2645664"/>
              <a:ext cx="910620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636366"/>
                  </a:solidFill>
                  <a:latin typeface="Arial"/>
                </a:rPr>
                <a:t>Clear all</a:t>
              </a:r>
            </a:p>
          </p:txBody>
        </p:sp>
        <p:sp>
          <p:nvSpPr>
            <p:cNvPr id="59" name="N14/notch-notifications/text/048"/>
            <p:cNvSpPr txBox="1"/>
            <p:nvPr/>
          </p:nvSpPr>
          <p:spPr>
            <a:xfrm>
              <a:off x="1112520" y="2987040"/>
              <a:ext cx="633984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60" name="N14/notch-notifications/empty-state/049"/>
            <p:cNvSpPr/>
            <p:nvPr/>
          </p:nvSpPr>
          <p:spPr>
            <a:xfrm>
              <a:off x="1112520" y="3304032"/>
              <a:ext cx="6339840" cy="2048256"/>
            </a:xfrm>
            <a:prstGeom prst="roundRect">
              <a:avLst>
                <a:gd name="adj" fmla="val 8333"/>
              </a:avLst>
            </a:prstGeom>
            <a:solidFill>
              <a:srgbClr val="0A0A0B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4/notch-notifications/poly/050"/>
            <p:cNvSpPr/>
            <p:nvPr/>
          </p:nvSpPr>
          <p:spPr>
            <a:xfrm>
              <a:off x="4160520" y="3547872"/>
              <a:ext cx="243840" cy="219456"/>
            </a:xfrm>
            <a:custGeom>
              <a:avLst/>
              <a:gdLst/>
              <a:ahLst/>
              <a:cxnLst/>
              <a:rect l="l" t="t" r="r" b="b"/>
              <a:pathLst>
                <a:path w="243840" h="219456">
                  <a:moveTo>
                    <a:pt x="121920" y="0"/>
                  </a:moveTo>
                  <a:lnTo>
                    <a:pt x="48768" y="48768"/>
                  </a:lnTo>
                  <a:lnTo>
                    <a:pt x="24384" y="146304"/>
                  </a:lnTo>
                  <a:lnTo>
                    <a:pt x="0" y="219456"/>
                  </a:lnTo>
                  <a:lnTo>
                    <a:pt x="243840" y="219456"/>
                  </a:lnTo>
                  <a:lnTo>
                    <a:pt x="219456" y="146304"/>
                  </a:lnTo>
                  <a:lnTo>
                    <a:pt x="195072" y="48768"/>
                  </a:lnTo>
                  <a:close/>
                </a:path>
              </a:pathLst>
            </a:custGeom>
            <a:noFill/>
            <a:ln w="12700">
              <a:solidFill>
                <a:srgbClr val="8E8E9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N14/notch-notifications/line/051"/>
            <p:cNvCxnSpPr/>
            <p:nvPr/>
          </p:nvCxnSpPr>
          <p:spPr>
            <a:xfrm>
              <a:off x="4233672" y="3816096"/>
              <a:ext cx="97536" cy="0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N14/notch-notifications/ellipse/052"/>
            <p:cNvSpPr/>
            <p:nvPr/>
          </p:nvSpPr>
          <p:spPr>
            <a:xfrm>
              <a:off x="4258056" y="3523488"/>
              <a:ext cx="48768" cy="48768"/>
            </a:xfrm>
            <a:prstGeom prst="ellipse">
              <a:avLst/>
            </a:prstGeom>
            <a:solidFill>
              <a:srgbClr val="8E8E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N14/notch-notifications/text/053"/>
            <p:cNvSpPr txBox="1"/>
            <p:nvPr/>
          </p:nvSpPr>
          <p:spPr>
            <a:xfrm>
              <a:off x="1258823" y="3962399"/>
              <a:ext cx="6047232" cy="2438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5F5F7"/>
                  </a:solidFill>
                  <a:latin typeface="Arial"/>
                </a:rPr>
                <a:t>No notifications</a:t>
              </a:r>
            </a:p>
          </p:txBody>
        </p:sp>
        <p:sp>
          <p:nvSpPr>
            <p:cNvPr id="65" name="N14/notch-notifications/text/054"/>
            <p:cNvSpPr txBox="1"/>
            <p:nvPr/>
          </p:nvSpPr>
          <p:spPr>
            <a:xfrm>
              <a:off x="1331976" y="4255008"/>
              <a:ext cx="5900928" cy="999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New alerts will peek here.</a:t>
              </a:r>
            </a:p>
          </p:txBody>
        </p:sp>
      </p:grpSp>
      <p:sp>
        <p:nvSpPr>
          <p:cNvPr id="66" name="N14/text/010"/>
          <p:cNvSpPr txBox="1"/>
          <p:nvPr/>
        </p:nvSpPr>
        <p:spPr>
          <a:xfrm>
            <a:off x="868680" y="5577840"/>
            <a:ext cx="690372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Clear all is disabled when count=0. Empty card uses shared emptyState() rhythm.</a:t>
            </a:r>
          </a:p>
        </p:txBody>
      </p:sp>
      <p:sp>
        <p:nvSpPr>
          <p:cNvPr id="67" name="N14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14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9" name="N14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14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Count + Clear all header</a:t>
            </a:r>
          </a:p>
        </p:txBody>
      </p:sp>
      <p:sp>
        <p:nvSpPr>
          <p:cNvPr id="71" name="N14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14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Weekday date subtitle</a:t>
            </a:r>
          </a:p>
        </p:txBody>
      </p:sp>
      <p:sp>
        <p:nvSpPr>
          <p:cNvPr id="73" name="N14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14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Empty icon 32 px</a:t>
            </a:r>
          </a:p>
        </p:txBody>
      </p:sp>
      <p:sp>
        <p:nvSpPr>
          <p:cNvPr id="75" name="N14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14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Title + one-line body centered</a:t>
            </a:r>
          </a:p>
        </p:txBody>
      </p:sp>
      <p:cxnSp>
        <p:nvCxnSpPr>
          <p:cNvPr id="77" name="N14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N14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79" name="N14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14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Empty card height / icon / copy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ALERTS PAGE</a:t>
            </a:r>
          </a:p>
        </p:txBody>
      </p:sp>
      <p:sp>
        <p:nvSpPr>
          <p:cNvPr id="5" name="N1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Alerts — populated</a:t>
            </a:r>
          </a:p>
        </p:txBody>
      </p:sp>
      <p:sp>
        <p:nvSpPr>
          <p:cNvPr id="6" name="N1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Notification cards keep native actions; list scrolls vertically</a:t>
            </a:r>
          </a:p>
        </p:txBody>
      </p:sp>
      <p:cxnSp>
        <p:nvCxnSpPr>
          <p:cNvPr id="7" name="N1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N15</a:t>
            </a:r>
          </a:p>
        </p:txBody>
      </p:sp>
      <p:sp>
        <p:nvSpPr>
          <p:cNvPr id="10" name="N1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15</a:t>
            </a:r>
          </a:p>
        </p:txBody>
      </p:sp>
      <p:grpSp>
        <p:nvGrpSpPr>
          <p:cNvPr id="11" name="N15/notch-notifications"/>
          <p:cNvGrpSpPr/>
          <p:nvPr/>
        </p:nvGrpSpPr>
        <p:grpSpPr>
          <a:xfrm>
            <a:off x="868680" y="1645920"/>
            <a:ext cx="6827520" cy="3901440"/>
            <a:chOff x="868680" y="1645920"/>
            <a:chExt cx="6827520" cy="3901440"/>
          </a:xfrm>
        </p:grpSpPr>
        <p:sp>
          <p:nvSpPr>
            <p:cNvPr id="12" name="N15/notch-notifications/notch-surface-open/001"/>
            <p:cNvSpPr/>
            <p:nvPr/>
          </p:nvSpPr>
          <p:spPr>
            <a:xfrm>
              <a:off x="868680" y="1645920"/>
              <a:ext cx="6827520" cy="3901440"/>
            </a:xfrm>
            <a:custGeom>
              <a:avLst/>
              <a:gdLst/>
              <a:ahLst/>
              <a:cxnLst/>
              <a:rect l="l" t="t" r="r" b="b"/>
              <a:pathLst>
                <a:path w="6827520" h="3901440">
                  <a:moveTo>
                    <a:pt x="0" y="0"/>
                  </a:moveTo>
                  <a:lnTo>
                    <a:pt x="6827520" y="0"/>
                  </a:lnTo>
                  <a:lnTo>
                    <a:pt x="6795396" y="3619"/>
                  </a:lnTo>
                  <a:lnTo>
                    <a:pt x="6758749" y="14477"/>
                  </a:lnTo>
                  <a:lnTo>
                    <a:pt x="6720292" y="32575"/>
                  </a:lnTo>
                  <a:lnTo>
                    <a:pt x="6682740" y="57912"/>
                  </a:lnTo>
                  <a:lnTo>
                    <a:pt x="6648807" y="90487"/>
                  </a:lnTo>
                  <a:lnTo>
                    <a:pt x="6621208" y="130302"/>
                  </a:lnTo>
                  <a:lnTo>
                    <a:pt x="6602658" y="177355"/>
                  </a:lnTo>
                  <a:lnTo>
                    <a:pt x="6595872" y="231648"/>
                  </a:lnTo>
                  <a:lnTo>
                    <a:pt x="6590249" y="3665916"/>
                  </a:lnTo>
                  <a:lnTo>
                    <a:pt x="6573598" y="3720808"/>
                  </a:lnTo>
                  <a:lnTo>
                    <a:pt x="6546558" y="3771396"/>
                  </a:lnTo>
                  <a:lnTo>
                    <a:pt x="6510169" y="3815737"/>
                  </a:lnTo>
                  <a:lnTo>
                    <a:pt x="6465828" y="3852126"/>
                  </a:lnTo>
                  <a:lnTo>
                    <a:pt x="6415240" y="3879166"/>
                  </a:lnTo>
                  <a:lnTo>
                    <a:pt x="6360348" y="3895817"/>
                  </a:lnTo>
                  <a:lnTo>
                    <a:pt x="6303264" y="3901440"/>
                  </a:lnTo>
                  <a:lnTo>
                    <a:pt x="524256" y="3901440"/>
                  </a:lnTo>
                  <a:lnTo>
                    <a:pt x="467171" y="3895817"/>
                  </a:lnTo>
                  <a:lnTo>
                    <a:pt x="412279" y="3879166"/>
                  </a:lnTo>
                  <a:lnTo>
                    <a:pt x="361691" y="3852126"/>
                  </a:lnTo>
                  <a:lnTo>
                    <a:pt x="317350" y="3815737"/>
                  </a:lnTo>
                  <a:lnTo>
                    <a:pt x="280961" y="3771396"/>
                  </a:lnTo>
                  <a:lnTo>
                    <a:pt x="253921" y="3720808"/>
                  </a:lnTo>
                  <a:lnTo>
                    <a:pt x="237270" y="3665916"/>
                  </a:lnTo>
                  <a:lnTo>
                    <a:pt x="231648" y="3608831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2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5/notch-notifications/button-home/002"/>
            <p:cNvSpPr/>
            <p:nvPr/>
          </p:nvSpPr>
          <p:spPr>
            <a:xfrm>
              <a:off x="1112520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5/notch-notifications/poly/003"/>
            <p:cNvSpPr/>
            <p:nvPr/>
          </p:nvSpPr>
          <p:spPr>
            <a:xfrm>
              <a:off x="1234439" y="2328672"/>
              <a:ext cx="146305" cy="146303"/>
            </a:xfrm>
            <a:custGeom>
              <a:avLst/>
              <a:gdLst/>
              <a:ahLst/>
              <a:cxnLst/>
              <a:rect l="l" t="t" r="r" b="b"/>
              <a:pathLst>
                <a:path w="146305" h="146303">
                  <a:moveTo>
                    <a:pt x="73153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5" y="97535"/>
                  </a:lnTo>
                  <a:lnTo>
                    <a:pt x="85345" y="146303"/>
                  </a:lnTo>
                  <a:lnTo>
                    <a:pt x="121920" y="146303"/>
                  </a:lnTo>
                  <a:lnTo>
                    <a:pt x="121920" y="60959"/>
                  </a:lnTo>
                  <a:lnTo>
                    <a:pt x="146305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5/notch-notifications/button-music/004"/>
            <p:cNvSpPr/>
            <p:nvPr/>
          </p:nvSpPr>
          <p:spPr>
            <a:xfrm>
              <a:off x="1551432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5/notch-notifications/line/005"/>
            <p:cNvCxnSpPr/>
            <p:nvPr/>
          </p:nvCxnSpPr>
          <p:spPr>
            <a:xfrm flipV="1">
              <a:off x="1722120" y="2353055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5/notch-notifications/line/006"/>
            <p:cNvCxnSpPr/>
            <p:nvPr/>
          </p:nvCxnSpPr>
          <p:spPr>
            <a:xfrm flipV="1">
              <a:off x="1722120" y="2340863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5/notch-notifications/line/007"/>
            <p:cNvCxnSpPr/>
            <p:nvPr/>
          </p:nvCxnSpPr>
          <p:spPr>
            <a:xfrm>
              <a:off x="1807464" y="2340863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5/notch-notifications/ellipse/008"/>
            <p:cNvSpPr/>
            <p:nvPr/>
          </p:nvSpPr>
          <p:spPr>
            <a:xfrm>
              <a:off x="1685544" y="2432303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5/notch-notifications/ellipse/009"/>
            <p:cNvSpPr/>
            <p:nvPr/>
          </p:nvSpPr>
          <p:spPr>
            <a:xfrm>
              <a:off x="1770887" y="2420111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5/notch-notifications/button-Alerts/010"/>
            <p:cNvSpPr/>
            <p:nvPr/>
          </p:nvSpPr>
          <p:spPr>
            <a:xfrm>
              <a:off x="1990344" y="2218943"/>
              <a:ext cx="1310883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5/notch-notifications/poly/011"/>
            <p:cNvSpPr/>
            <p:nvPr/>
          </p:nvSpPr>
          <p:spPr>
            <a:xfrm>
              <a:off x="2189805" y="232867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60" y="0"/>
                  </a:moveTo>
                  <a:lnTo>
                    <a:pt x="24384" y="24383"/>
                  </a:lnTo>
                  <a:lnTo>
                    <a:pt x="12192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6" y="24383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5/notch-notifications/line/012"/>
            <p:cNvCxnSpPr/>
            <p:nvPr/>
          </p:nvCxnSpPr>
          <p:spPr>
            <a:xfrm>
              <a:off x="2226381" y="2462783"/>
              <a:ext cx="48768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5/notch-notifications/ellipse/013"/>
            <p:cNvSpPr/>
            <p:nvPr/>
          </p:nvSpPr>
          <p:spPr>
            <a:xfrm>
              <a:off x="2238573" y="2316479"/>
              <a:ext cx="24384" cy="2438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5/notch-notifications/text/014"/>
            <p:cNvSpPr txBox="1"/>
            <p:nvPr/>
          </p:nvSpPr>
          <p:spPr>
            <a:xfrm>
              <a:off x="2421453" y="2218943"/>
              <a:ext cx="831006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Alerts</a:t>
              </a:r>
            </a:p>
          </p:txBody>
        </p:sp>
        <p:sp>
          <p:nvSpPr>
            <p:cNvPr id="26" name="N15/notch-notifications/button-chart/015"/>
            <p:cNvSpPr/>
            <p:nvPr/>
          </p:nvSpPr>
          <p:spPr>
            <a:xfrm>
              <a:off x="3349995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15/notch-notifications/line/016"/>
            <p:cNvCxnSpPr/>
            <p:nvPr/>
          </p:nvCxnSpPr>
          <p:spPr>
            <a:xfrm>
              <a:off x="3471915" y="2474975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5/notch-notifications/line/017"/>
            <p:cNvCxnSpPr/>
            <p:nvPr/>
          </p:nvCxnSpPr>
          <p:spPr>
            <a:xfrm flipV="1">
              <a:off x="3484107" y="2389631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5/notch-notifications/line/018"/>
            <p:cNvCxnSpPr/>
            <p:nvPr/>
          </p:nvCxnSpPr>
          <p:spPr>
            <a:xfrm>
              <a:off x="3520683" y="2389631"/>
              <a:ext cx="36576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N15/notch-notifications/line/019"/>
            <p:cNvCxnSpPr/>
            <p:nvPr/>
          </p:nvCxnSpPr>
          <p:spPr>
            <a:xfrm flipV="1">
              <a:off x="3557259" y="2340863"/>
              <a:ext cx="48768" cy="73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15/notch-notifications/button-folder/020"/>
            <p:cNvSpPr/>
            <p:nvPr/>
          </p:nvSpPr>
          <p:spPr>
            <a:xfrm>
              <a:off x="3788907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5/notch-notifications/poly/021"/>
            <p:cNvSpPr/>
            <p:nvPr/>
          </p:nvSpPr>
          <p:spPr>
            <a:xfrm>
              <a:off x="3910827" y="236524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5/notch-notifications/button-clipboard/022"/>
            <p:cNvSpPr/>
            <p:nvPr/>
          </p:nvSpPr>
          <p:spPr>
            <a:xfrm>
              <a:off x="4227819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5/notch-notifications/rect/023"/>
            <p:cNvSpPr/>
            <p:nvPr/>
          </p:nvSpPr>
          <p:spPr>
            <a:xfrm>
              <a:off x="4374123" y="234086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5/notch-notifications/rect/024"/>
            <p:cNvSpPr/>
            <p:nvPr/>
          </p:nvSpPr>
          <p:spPr>
            <a:xfrm>
              <a:off x="4398507" y="232257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5/notch-notifications/line/025"/>
            <p:cNvCxnSpPr/>
            <p:nvPr/>
          </p:nvCxnSpPr>
          <p:spPr>
            <a:xfrm>
              <a:off x="4398507" y="238963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5/notch-notifications/line/026"/>
            <p:cNvCxnSpPr/>
            <p:nvPr/>
          </p:nvCxnSpPr>
          <p:spPr>
            <a:xfrm>
              <a:off x="4398507" y="242011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5/notch-notifications/button-gear/027"/>
            <p:cNvSpPr/>
            <p:nvPr/>
          </p:nvSpPr>
          <p:spPr>
            <a:xfrm>
              <a:off x="6598920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5/notch-notifications/ellipse/028"/>
            <p:cNvSpPr/>
            <p:nvPr/>
          </p:nvSpPr>
          <p:spPr>
            <a:xfrm>
              <a:off x="6757416" y="236524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5/notch-notifications/line/029"/>
            <p:cNvCxnSpPr/>
            <p:nvPr/>
          </p:nvCxnSpPr>
          <p:spPr>
            <a:xfrm>
              <a:off x="6854951" y="240182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5/notch-notifications/line/030"/>
            <p:cNvCxnSpPr/>
            <p:nvPr/>
          </p:nvCxnSpPr>
          <p:spPr>
            <a:xfrm>
              <a:off x="6837097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5/notch-notifications/line/031"/>
            <p:cNvCxnSpPr/>
            <p:nvPr/>
          </p:nvCxnSpPr>
          <p:spPr>
            <a:xfrm>
              <a:off x="6793992" y="246278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5/notch-notifications/line/032"/>
            <p:cNvCxnSpPr/>
            <p:nvPr/>
          </p:nvCxnSpPr>
          <p:spPr>
            <a:xfrm flipH="1">
              <a:off x="6733644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5/notch-notifications/line/033"/>
            <p:cNvCxnSpPr/>
            <p:nvPr/>
          </p:nvCxnSpPr>
          <p:spPr>
            <a:xfrm flipH="1">
              <a:off x="6708648" y="240182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5/notch-notifications/line/034"/>
            <p:cNvCxnSpPr/>
            <p:nvPr/>
          </p:nvCxnSpPr>
          <p:spPr>
            <a:xfrm flipH="1" flipV="1">
              <a:off x="6733644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5/notch-notifications/line/035"/>
            <p:cNvCxnSpPr/>
            <p:nvPr/>
          </p:nvCxnSpPr>
          <p:spPr>
            <a:xfrm flipV="1">
              <a:off x="6793992" y="231647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5/notch-notifications/line/036"/>
            <p:cNvCxnSpPr/>
            <p:nvPr/>
          </p:nvCxnSpPr>
          <p:spPr>
            <a:xfrm flipV="1">
              <a:off x="6837097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5/notch-notifications/button-close/037"/>
            <p:cNvSpPr/>
            <p:nvPr/>
          </p:nvSpPr>
          <p:spPr>
            <a:xfrm>
              <a:off x="7062216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5/notch-notifications/line/038"/>
            <p:cNvCxnSpPr/>
            <p:nvPr/>
          </p:nvCxnSpPr>
          <p:spPr>
            <a:xfrm>
              <a:off x="720852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5/notch-notifications/line/039"/>
            <p:cNvCxnSpPr/>
            <p:nvPr/>
          </p:nvCxnSpPr>
          <p:spPr>
            <a:xfrm flipH="1">
              <a:off x="720852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5/notch-notifications/text/040"/>
            <p:cNvSpPr txBox="1"/>
            <p:nvPr/>
          </p:nvSpPr>
          <p:spPr>
            <a:xfrm>
              <a:off x="1112520" y="2670048"/>
              <a:ext cx="3486912" cy="2682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2 notifications</a:t>
              </a:r>
            </a:p>
          </p:txBody>
        </p:sp>
        <p:sp>
          <p:nvSpPr>
            <p:cNvPr id="52" name="N15/notch-notifications/button-Clear all/041"/>
            <p:cNvSpPr/>
            <p:nvPr/>
          </p:nvSpPr>
          <p:spPr>
            <a:xfrm>
              <a:off x="6233160" y="2645664"/>
              <a:ext cx="1219200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15/notch-notifications/line/042"/>
            <p:cNvCxnSpPr/>
            <p:nvPr/>
          </p:nvCxnSpPr>
          <p:spPr>
            <a:xfrm>
              <a:off x="6261323" y="2779776"/>
              <a:ext cx="12192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N15/notch-notifications/rect/043"/>
            <p:cNvSpPr/>
            <p:nvPr/>
          </p:nvSpPr>
          <p:spPr>
            <a:xfrm>
              <a:off x="6285707" y="2779776"/>
              <a:ext cx="73152" cy="109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15/notch-notifications/line/044"/>
            <p:cNvCxnSpPr/>
            <p:nvPr/>
          </p:nvCxnSpPr>
          <p:spPr>
            <a:xfrm>
              <a:off x="6297899" y="2755392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15/notch-notifications/line/045"/>
            <p:cNvCxnSpPr/>
            <p:nvPr/>
          </p:nvCxnSpPr>
          <p:spPr>
            <a:xfrm>
              <a:off x="6310091" y="2804160"/>
              <a:ext cx="0" cy="6096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15/notch-notifications/line/046"/>
            <p:cNvCxnSpPr/>
            <p:nvPr/>
          </p:nvCxnSpPr>
          <p:spPr>
            <a:xfrm>
              <a:off x="6334475" y="2804160"/>
              <a:ext cx="0" cy="6096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15/notch-notifications/text/047"/>
            <p:cNvSpPr txBox="1"/>
            <p:nvPr/>
          </p:nvSpPr>
          <p:spPr>
            <a:xfrm>
              <a:off x="6492971" y="2645664"/>
              <a:ext cx="910620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Clear all</a:t>
              </a:r>
            </a:p>
          </p:txBody>
        </p:sp>
        <p:sp>
          <p:nvSpPr>
            <p:cNvPr id="59" name="N15/notch-notifications/text/048"/>
            <p:cNvSpPr txBox="1"/>
            <p:nvPr/>
          </p:nvSpPr>
          <p:spPr>
            <a:xfrm>
              <a:off x="1112520" y="2987040"/>
              <a:ext cx="633984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Friday, October 30</a:t>
              </a:r>
            </a:p>
          </p:txBody>
        </p:sp>
        <p:sp>
          <p:nvSpPr>
            <p:cNvPr id="60" name="N15/notch-notifications/notification-card/049"/>
            <p:cNvSpPr/>
            <p:nvPr/>
          </p:nvSpPr>
          <p:spPr>
            <a:xfrm>
              <a:off x="1112520" y="3304032"/>
              <a:ext cx="6339840" cy="1048512"/>
            </a:xfrm>
            <a:prstGeom prst="roundRect">
              <a:avLst>
                <a:gd name="adj" fmla="val 16279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15/notch-notifications/poly/050"/>
            <p:cNvSpPr/>
            <p:nvPr/>
          </p:nvSpPr>
          <p:spPr>
            <a:xfrm>
              <a:off x="1301495" y="3459480"/>
              <a:ext cx="134112" cy="201167"/>
            </a:xfrm>
            <a:custGeom>
              <a:avLst/>
              <a:gdLst/>
              <a:ahLst/>
              <a:cxnLst/>
              <a:rect l="l" t="t" r="r" b="b"/>
              <a:pathLst>
                <a:path w="134112" h="201167">
                  <a:moveTo>
                    <a:pt x="0" y="0"/>
                  </a:moveTo>
                  <a:lnTo>
                    <a:pt x="83821" y="0"/>
                  </a:lnTo>
                  <a:lnTo>
                    <a:pt x="134112" y="50292"/>
                  </a:lnTo>
                  <a:lnTo>
                    <a:pt x="134112" y="201167"/>
                  </a:lnTo>
                  <a:lnTo>
                    <a:pt x="0" y="201167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N15/notch-notifications/line/051"/>
            <p:cNvCxnSpPr/>
            <p:nvPr/>
          </p:nvCxnSpPr>
          <p:spPr>
            <a:xfrm>
              <a:off x="1385316" y="3459480"/>
              <a:ext cx="0" cy="50292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15/notch-notifications/line/052"/>
            <p:cNvCxnSpPr/>
            <p:nvPr/>
          </p:nvCxnSpPr>
          <p:spPr>
            <a:xfrm>
              <a:off x="1385316" y="3509772"/>
              <a:ext cx="50291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15/notch-notifications/text/053"/>
            <p:cNvSpPr txBox="1"/>
            <p:nvPr/>
          </p:nvSpPr>
          <p:spPr>
            <a:xfrm>
              <a:off x="1624583" y="3401568"/>
              <a:ext cx="5315712" cy="2438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Download complete</a:t>
              </a:r>
            </a:p>
          </p:txBody>
        </p:sp>
        <p:sp>
          <p:nvSpPr>
            <p:cNvPr id="65" name="N15/notch-notifications/button-close/054"/>
            <p:cNvSpPr/>
            <p:nvPr/>
          </p:nvSpPr>
          <p:spPr>
            <a:xfrm>
              <a:off x="7037832" y="3377184"/>
              <a:ext cx="341376" cy="341376"/>
            </a:xfrm>
            <a:prstGeom prst="roundRect">
              <a:avLst>
                <a:gd name="adj" fmla="val 35714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6" name="N15/notch-notifications/line/055"/>
            <p:cNvCxnSpPr/>
            <p:nvPr/>
          </p:nvCxnSpPr>
          <p:spPr>
            <a:xfrm>
              <a:off x="7159752" y="3499104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N15/notch-notifications/line/056"/>
            <p:cNvCxnSpPr/>
            <p:nvPr/>
          </p:nvCxnSpPr>
          <p:spPr>
            <a:xfrm flipH="1">
              <a:off x="7159752" y="3499104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N15/notch-notifications/text/057"/>
            <p:cNvSpPr txBox="1"/>
            <p:nvPr/>
          </p:nvSpPr>
          <p:spPr>
            <a:xfrm>
              <a:off x="1234439" y="3694176"/>
              <a:ext cx="6096000" cy="34137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6" b="0" i="0">
                  <a:solidFill>
                    <a:srgbClr val="C7C7CC"/>
                  </a:solidFill>
                  <a:latin typeface="Arial"/>
                </a:rPr>
                <a:t>Fedora-Workstation-44.iso is ready.</a:t>
              </a:r>
            </a:p>
          </p:txBody>
        </p:sp>
        <p:sp>
          <p:nvSpPr>
            <p:cNvPr id="69" name="N15/notch-notifications/button-Open folder/058"/>
            <p:cNvSpPr/>
            <p:nvPr/>
          </p:nvSpPr>
          <p:spPr>
            <a:xfrm>
              <a:off x="1234439" y="3986783"/>
              <a:ext cx="1085088" cy="292608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15/notch-notifications/text/059"/>
            <p:cNvSpPr txBox="1"/>
            <p:nvPr/>
          </p:nvSpPr>
          <p:spPr>
            <a:xfrm>
              <a:off x="1307592" y="3986783"/>
              <a:ext cx="938784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Open folder</a:t>
              </a:r>
            </a:p>
          </p:txBody>
        </p:sp>
        <p:sp>
          <p:nvSpPr>
            <p:cNvPr id="71" name="N15/notch-notifications/button-Dismiss/060"/>
            <p:cNvSpPr/>
            <p:nvPr/>
          </p:nvSpPr>
          <p:spPr>
            <a:xfrm>
              <a:off x="2417064" y="3986783"/>
              <a:ext cx="743712" cy="292608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5/notch-notifications/text/061"/>
            <p:cNvSpPr txBox="1"/>
            <p:nvPr/>
          </p:nvSpPr>
          <p:spPr>
            <a:xfrm>
              <a:off x="2490216" y="3986783"/>
              <a:ext cx="597408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Dismiss</a:t>
              </a:r>
            </a:p>
          </p:txBody>
        </p:sp>
        <p:sp>
          <p:nvSpPr>
            <p:cNvPr id="73" name="N15/notch-notifications/notification-card/062"/>
            <p:cNvSpPr/>
            <p:nvPr/>
          </p:nvSpPr>
          <p:spPr>
            <a:xfrm>
              <a:off x="1112520" y="4450080"/>
              <a:ext cx="6339840" cy="902208"/>
            </a:xfrm>
            <a:prstGeom prst="roundRect">
              <a:avLst>
                <a:gd name="adj" fmla="val 18918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15/notch-notifications/poly/063"/>
            <p:cNvSpPr/>
            <p:nvPr/>
          </p:nvSpPr>
          <p:spPr>
            <a:xfrm>
              <a:off x="1284731" y="4605528"/>
              <a:ext cx="167640" cy="150876"/>
            </a:xfrm>
            <a:custGeom>
              <a:avLst/>
              <a:gdLst/>
              <a:ahLst/>
              <a:cxnLst/>
              <a:rect l="l" t="t" r="r" b="b"/>
              <a:pathLst>
                <a:path w="167640" h="150876">
                  <a:moveTo>
                    <a:pt x="83821" y="0"/>
                  </a:moveTo>
                  <a:lnTo>
                    <a:pt x="33528" y="33528"/>
                  </a:lnTo>
                  <a:lnTo>
                    <a:pt x="16764" y="100584"/>
                  </a:lnTo>
                  <a:lnTo>
                    <a:pt x="0" y="150876"/>
                  </a:lnTo>
                  <a:lnTo>
                    <a:pt x="167640" y="150876"/>
                  </a:lnTo>
                  <a:lnTo>
                    <a:pt x="150876" y="100584"/>
                  </a:lnTo>
                  <a:lnTo>
                    <a:pt x="134112" y="33528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5" name="N15/notch-notifications/line/064"/>
            <p:cNvCxnSpPr/>
            <p:nvPr/>
          </p:nvCxnSpPr>
          <p:spPr>
            <a:xfrm>
              <a:off x="1335024" y="4789932"/>
              <a:ext cx="67056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N15/notch-notifications/ellipse/065"/>
            <p:cNvSpPr/>
            <p:nvPr/>
          </p:nvSpPr>
          <p:spPr>
            <a:xfrm>
              <a:off x="1351788" y="4588764"/>
              <a:ext cx="33528" cy="33528"/>
            </a:xfrm>
            <a:prstGeom prst="ellipse">
              <a:avLst/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15/notch-notifications/text/066"/>
            <p:cNvSpPr txBox="1"/>
            <p:nvPr/>
          </p:nvSpPr>
          <p:spPr>
            <a:xfrm>
              <a:off x="1624583" y="4547616"/>
              <a:ext cx="5315712" cy="2438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Design review in 15 min</a:t>
              </a:r>
            </a:p>
          </p:txBody>
        </p:sp>
        <p:sp>
          <p:nvSpPr>
            <p:cNvPr id="78" name="N15/notch-notifications/button-close/067"/>
            <p:cNvSpPr/>
            <p:nvPr/>
          </p:nvSpPr>
          <p:spPr>
            <a:xfrm>
              <a:off x="7037832" y="4523232"/>
              <a:ext cx="341376" cy="341376"/>
            </a:xfrm>
            <a:prstGeom prst="roundRect">
              <a:avLst>
                <a:gd name="adj" fmla="val 35714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9" name="N15/notch-notifications/line/068"/>
            <p:cNvCxnSpPr/>
            <p:nvPr/>
          </p:nvCxnSpPr>
          <p:spPr>
            <a:xfrm>
              <a:off x="7159752" y="4645152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N15/notch-notifications/line/069"/>
            <p:cNvCxnSpPr/>
            <p:nvPr/>
          </p:nvCxnSpPr>
          <p:spPr>
            <a:xfrm flipH="1">
              <a:off x="7159752" y="4645152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N15/notch-notifications/text/070"/>
            <p:cNvSpPr txBox="1"/>
            <p:nvPr/>
          </p:nvSpPr>
          <p:spPr>
            <a:xfrm>
              <a:off x="1234439" y="4840224"/>
              <a:ext cx="6096000" cy="34137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76" b="0" i="0">
                  <a:solidFill>
                    <a:srgbClr val="C7C7CC"/>
                  </a:solidFill>
                  <a:latin typeface="Arial"/>
                </a:rPr>
                <a:t>Notch UI pass · Meeting room 2</a:t>
              </a:r>
            </a:p>
          </p:txBody>
        </p:sp>
        <p:sp>
          <p:nvSpPr>
            <p:cNvPr id="82" name="N15/notch-notifications/button-Join/071"/>
            <p:cNvSpPr/>
            <p:nvPr/>
          </p:nvSpPr>
          <p:spPr>
            <a:xfrm>
              <a:off x="1234439" y="4986528"/>
              <a:ext cx="487680" cy="292608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15/notch-notifications/text/072"/>
            <p:cNvSpPr txBox="1"/>
            <p:nvPr/>
          </p:nvSpPr>
          <p:spPr>
            <a:xfrm>
              <a:off x="1307592" y="4986528"/>
              <a:ext cx="341375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Join</a:t>
              </a:r>
            </a:p>
          </p:txBody>
        </p:sp>
      </p:grpSp>
      <p:sp>
        <p:nvSpPr>
          <p:cNvPr id="84" name="N15/text/010"/>
          <p:cNvSpPr txBox="1"/>
          <p:nvPr/>
        </p:nvSpPr>
        <p:spPr>
          <a:xfrm>
            <a:off x="868680" y="5577840"/>
            <a:ext cx="690372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22 px source icon · title · dismiss · wrapped body · up to 2 native actions. Critical alerts use native banners.</a:t>
            </a:r>
          </a:p>
        </p:txBody>
      </p:sp>
      <p:sp>
        <p:nvSpPr>
          <p:cNvPr id="85" name="N15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N15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87" name="N15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N15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Card radius 14 / padding 10</a:t>
            </a:r>
          </a:p>
        </p:txBody>
      </p:sp>
      <p:sp>
        <p:nvSpPr>
          <p:cNvPr id="89" name="N15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N15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List spacing 8 px</a:t>
            </a:r>
          </a:p>
        </p:txBody>
      </p:sp>
      <p:sp>
        <p:nvSpPr>
          <p:cNvPr id="91" name="N15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N15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Body color #C7C7CC</a:t>
            </a:r>
          </a:p>
        </p:txBody>
      </p:sp>
      <p:sp>
        <p:nvSpPr>
          <p:cNvPr id="93" name="N15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15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mode stacks actions</a:t>
            </a:r>
          </a:p>
        </p:txBody>
      </p:sp>
      <p:cxnSp>
        <p:nvCxnSpPr>
          <p:cNvPr id="95" name="N15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N15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97" name="N15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N15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Card padding / action buttons / density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SYSTEM PAGE</a:t>
            </a:r>
          </a:p>
        </p:txBody>
      </p:sp>
      <p:sp>
        <p:nvSpPr>
          <p:cNvPr id="5" name="N1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System — live stats</a:t>
            </a:r>
          </a:p>
        </p:txBody>
      </p:sp>
      <p:sp>
        <p:nvSpPr>
          <p:cNvPr id="6" name="N1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640×260 · four stat cards + quick actions</a:t>
            </a:r>
          </a:p>
        </p:txBody>
      </p:sp>
      <p:cxnSp>
        <p:nvCxnSpPr>
          <p:cNvPr id="7" name="N1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N16</a:t>
            </a:r>
          </a:p>
        </p:txBody>
      </p:sp>
      <p:sp>
        <p:nvSpPr>
          <p:cNvPr id="10" name="N1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16</a:t>
            </a:r>
          </a:p>
        </p:txBody>
      </p:sp>
      <p:grpSp>
        <p:nvGrpSpPr>
          <p:cNvPr id="11" name="N16/notch-system"/>
          <p:cNvGrpSpPr/>
          <p:nvPr/>
        </p:nvGrpSpPr>
        <p:grpSpPr>
          <a:xfrm>
            <a:off x="502920" y="1737360"/>
            <a:ext cx="7802880" cy="3169920"/>
            <a:chOff x="502920" y="1737360"/>
            <a:chExt cx="7802880" cy="3169920"/>
          </a:xfrm>
        </p:grpSpPr>
        <p:sp>
          <p:nvSpPr>
            <p:cNvPr id="12" name="N16/notch-system/notch-surface-open/001"/>
            <p:cNvSpPr/>
            <p:nvPr/>
          </p:nvSpPr>
          <p:spPr>
            <a:xfrm>
              <a:off x="502920" y="1737360"/>
              <a:ext cx="7802880" cy="3169920"/>
            </a:xfrm>
            <a:custGeom>
              <a:avLst/>
              <a:gdLst/>
              <a:ahLst/>
              <a:cxnLst/>
              <a:rect l="l" t="t" r="r" b="b"/>
              <a:pathLst>
                <a:path w="7802880" h="3169920">
                  <a:moveTo>
                    <a:pt x="0" y="0"/>
                  </a:moveTo>
                  <a:lnTo>
                    <a:pt x="7802880" y="0"/>
                  </a:lnTo>
                  <a:lnTo>
                    <a:pt x="7770756" y="3619"/>
                  </a:lnTo>
                  <a:lnTo>
                    <a:pt x="7734109" y="14478"/>
                  </a:lnTo>
                  <a:lnTo>
                    <a:pt x="7695652" y="32575"/>
                  </a:lnTo>
                  <a:lnTo>
                    <a:pt x="7658100" y="57912"/>
                  </a:lnTo>
                  <a:lnTo>
                    <a:pt x="7624167" y="90487"/>
                  </a:lnTo>
                  <a:lnTo>
                    <a:pt x="7596568" y="130302"/>
                  </a:lnTo>
                  <a:lnTo>
                    <a:pt x="7578018" y="177355"/>
                  </a:lnTo>
                  <a:lnTo>
                    <a:pt x="7571232" y="231648"/>
                  </a:lnTo>
                  <a:lnTo>
                    <a:pt x="7565609" y="2934396"/>
                  </a:lnTo>
                  <a:lnTo>
                    <a:pt x="7548958" y="2989288"/>
                  </a:lnTo>
                  <a:lnTo>
                    <a:pt x="7521918" y="3039876"/>
                  </a:lnTo>
                  <a:lnTo>
                    <a:pt x="7485529" y="3084217"/>
                  </a:lnTo>
                  <a:lnTo>
                    <a:pt x="7441188" y="3120606"/>
                  </a:lnTo>
                  <a:lnTo>
                    <a:pt x="7390600" y="3147646"/>
                  </a:lnTo>
                  <a:lnTo>
                    <a:pt x="7335708" y="3164297"/>
                  </a:lnTo>
                  <a:lnTo>
                    <a:pt x="7278624" y="3169920"/>
                  </a:lnTo>
                  <a:lnTo>
                    <a:pt x="524256" y="3169920"/>
                  </a:lnTo>
                  <a:lnTo>
                    <a:pt x="467171" y="3164297"/>
                  </a:lnTo>
                  <a:lnTo>
                    <a:pt x="412279" y="3147646"/>
                  </a:lnTo>
                  <a:lnTo>
                    <a:pt x="361691" y="3120606"/>
                  </a:lnTo>
                  <a:lnTo>
                    <a:pt x="317350" y="3084217"/>
                  </a:lnTo>
                  <a:lnTo>
                    <a:pt x="280961" y="3039876"/>
                  </a:lnTo>
                  <a:lnTo>
                    <a:pt x="253921" y="2989288"/>
                  </a:lnTo>
                  <a:lnTo>
                    <a:pt x="237270" y="2934396"/>
                  </a:lnTo>
                  <a:lnTo>
                    <a:pt x="231648" y="287731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1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6/notch-system/button-home/002"/>
            <p:cNvSpPr/>
            <p:nvPr/>
          </p:nvSpPr>
          <p:spPr>
            <a:xfrm>
              <a:off x="746760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6/notch-system/poly/003"/>
            <p:cNvSpPr/>
            <p:nvPr/>
          </p:nvSpPr>
          <p:spPr>
            <a:xfrm>
              <a:off x="868680" y="2420112"/>
              <a:ext cx="146304" cy="146303"/>
            </a:xfrm>
            <a:custGeom>
              <a:avLst/>
              <a:gdLst/>
              <a:ahLst/>
              <a:cxnLst/>
              <a:rect l="l" t="t" r="r" b="b"/>
              <a:pathLst>
                <a:path w="146304" h="146303">
                  <a:moveTo>
                    <a:pt x="73152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4" y="97535"/>
                  </a:lnTo>
                  <a:lnTo>
                    <a:pt x="85344" y="146303"/>
                  </a:lnTo>
                  <a:lnTo>
                    <a:pt x="121919" y="146303"/>
                  </a:lnTo>
                  <a:lnTo>
                    <a:pt x="121919" y="60959"/>
                  </a:lnTo>
                  <a:lnTo>
                    <a:pt x="146304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6/notch-system/button-music/004"/>
            <p:cNvSpPr/>
            <p:nvPr/>
          </p:nvSpPr>
          <p:spPr>
            <a:xfrm>
              <a:off x="1185672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6/notch-system/line/005"/>
            <p:cNvCxnSpPr/>
            <p:nvPr/>
          </p:nvCxnSpPr>
          <p:spPr>
            <a:xfrm flipV="1">
              <a:off x="1356360" y="2444495"/>
              <a:ext cx="0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6/notch-system/line/006"/>
            <p:cNvCxnSpPr/>
            <p:nvPr/>
          </p:nvCxnSpPr>
          <p:spPr>
            <a:xfrm flipV="1">
              <a:off x="1356360" y="2432303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6/notch-system/line/007"/>
            <p:cNvCxnSpPr/>
            <p:nvPr/>
          </p:nvCxnSpPr>
          <p:spPr>
            <a:xfrm>
              <a:off x="1441704" y="2432303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6/notch-system/ellipse/008"/>
            <p:cNvSpPr/>
            <p:nvPr/>
          </p:nvSpPr>
          <p:spPr>
            <a:xfrm>
              <a:off x="1319784" y="2523744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6/notch-system/ellipse/009"/>
            <p:cNvSpPr/>
            <p:nvPr/>
          </p:nvSpPr>
          <p:spPr>
            <a:xfrm>
              <a:off x="1405128" y="2511551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6/notch-system/button-bell/010"/>
            <p:cNvSpPr/>
            <p:nvPr/>
          </p:nvSpPr>
          <p:spPr>
            <a:xfrm>
              <a:off x="1624584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6/notch-system/poly/011"/>
            <p:cNvSpPr/>
            <p:nvPr/>
          </p:nvSpPr>
          <p:spPr>
            <a:xfrm>
              <a:off x="1758696" y="242011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60" y="0"/>
                  </a:moveTo>
                  <a:lnTo>
                    <a:pt x="24384" y="24383"/>
                  </a:lnTo>
                  <a:lnTo>
                    <a:pt x="12191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5" y="2438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6/notch-system/line/012"/>
            <p:cNvCxnSpPr/>
            <p:nvPr/>
          </p:nvCxnSpPr>
          <p:spPr>
            <a:xfrm>
              <a:off x="1795272" y="2554223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6/notch-system/ellipse/013"/>
            <p:cNvSpPr/>
            <p:nvPr/>
          </p:nvSpPr>
          <p:spPr>
            <a:xfrm>
              <a:off x="1807464" y="2407919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6/notch-system/button-System/014"/>
            <p:cNvSpPr/>
            <p:nvPr/>
          </p:nvSpPr>
          <p:spPr>
            <a:xfrm>
              <a:off x="2063496" y="2310383"/>
              <a:ext cx="1310883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16/notch-system/line/015"/>
            <p:cNvCxnSpPr/>
            <p:nvPr/>
          </p:nvCxnSpPr>
          <p:spPr>
            <a:xfrm>
              <a:off x="2250765" y="2566415"/>
              <a:ext cx="146304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16/notch-system/line/016"/>
            <p:cNvCxnSpPr/>
            <p:nvPr/>
          </p:nvCxnSpPr>
          <p:spPr>
            <a:xfrm flipV="1">
              <a:off x="2262957" y="2481071"/>
              <a:ext cx="36576" cy="48768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6/notch-system/line/017"/>
            <p:cNvCxnSpPr/>
            <p:nvPr/>
          </p:nvCxnSpPr>
          <p:spPr>
            <a:xfrm>
              <a:off x="2299533" y="2481071"/>
              <a:ext cx="36576" cy="2438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6/notch-system/line/018"/>
            <p:cNvCxnSpPr/>
            <p:nvPr/>
          </p:nvCxnSpPr>
          <p:spPr>
            <a:xfrm flipV="1">
              <a:off x="2336109" y="2432303"/>
              <a:ext cx="48768" cy="73153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16/notch-system/text/019"/>
            <p:cNvSpPr txBox="1"/>
            <p:nvPr/>
          </p:nvSpPr>
          <p:spPr>
            <a:xfrm>
              <a:off x="2494605" y="2310383"/>
              <a:ext cx="831006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System</a:t>
              </a:r>
            </a:p>
          </p:txBody>
        </p:sp>
        <p:sp>
          <p:nvSpPr>
            <p:cNvPr id="31" name="N16/notch-system/button-folder/020"/>
            <p:cNvSpPr/>
            <p:nvPr/>
          </p:nvSpPr>
          <p:spPr>
            <a:xfrm>
              <a:off x="3423147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6/notch-system/poly/021"/>
            <p:cNvSpPr/>
            <p:nvPr/>
          </p:nvSpPr>
          <p:spPr>
            <a:xfrm>
              <a:off x="3545067" y="245668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6/notch-system/button-clipboard/022"/>
            <p:cNvSpPr/>
            <p:nvPr/>
          </p:nvSpPr>
          <p:spPr>
            <a:xfrm>
              <a:off x="3862059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6/notch-system/rect/023"/>
            <p:cNvSpPr/>
            <p:nvPr/>
          </p:nvSpPr>
          <p:spPr>
            <a:xfrm>
              <a:off x="4008363" y="243230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6/notch-system/rect/024"/>
            <p:cNvSpPr/>
            <p:nvPr/>
          </p:nvSpPr>
          <p:spPr>
            <a:xfrm>
              <a:off x="4032747" y="241401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6/notch-system/line/025"/>
            <p:cNvCxnSpPr/>
            <p:nvPr/>
          </p:nvCxnSpPr>
          <p:spPr>
            <a:xfrm>
              <a:off x="4032747" y="248107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6/notch-system/line/026"/>
            <p:cNvCxnSpPr/>
            <p:nvPr/>
          </p:nvCxnSpPr>
          <p:spPr>
            <a:xfrm>
              <a:off x="4032747" y="251155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6/notch-system/button-gear/027"/>
            <p:cNvSpPr/>
            <p:nvPr/>
          </p:nvSpPr>
          <p:spPr>
            <a:xfrm>
              <a:off x="7208520" y="229819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6/notch-system/ellipse/028"/>
            <p:cNvSpPr/>
            <p:nvPr/>
          </p:nvSpPr>
          <p:spPr>
            <a:xfrm>
              <a:off x="7367016" y="245668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6/notch-system/line/029"/>
            <p:cNvCxnSpPr/>
            <p:nvPr/>
          </p:nvCxnSpPr>
          <p:spPr>
            <a:xfrm>
              <a:off x="7464551" y="249326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6/notch-system/line/030"/>
            <p:cNvCxnSpPr/>
            <p:nvPr/>
          </p:nvCxnSpPr>
          <p:spPr>
            <a:xfrm>
              <a:off x="7446697" y="253636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6/notch-system/line/031"/>
            <p:cNvCxnSpPr/>
            <p:nvPr/>
          </p:nvCxnSpPr>
          <p:spPr>
            <a:xfrm>
              <a:off x="7403591" y="255422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6/notch-system/line/032"/>
            <p:cNvCxnSpPr/>
            <p:nvPr/>
          </p:nvCxnSpPr>
          <p:spPr>
            <a:xfrm flipH="1">
              <a:off x="7343244" y="253636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6/notch-system/line/033"/>
            <p:cNvCxnSpPr/>
            <p:nvPr/>
          </p:nvCxnSpPr>
          <p:spPr>
            <a:xfrm flipH="1">
              <a:off x="7318247" y="249326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6/notch-system/line/034"/>
            <p:cNvCxnSpPr/>
            <p:nvPr/>
          </p:nvCxnSpPr>
          <p:spPr>
            <a:xfrm flipH="1" flipV="1">
              <a:off x="7343244" y="243291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6/notch-system/line/035"/>
            <p:cNvCxnSpPr/>
            <p:nvPr/>
          </p:nvCxnSpPr>
          <p:spPr>
            <a:xfrm flipV="1">
              <a:off x="7403591" y="24079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6/notch-system/line/036"/>
            <p:cNvCxnSpPr/>
            <p:nvPr/>
          </p:nvCxnSpPr>
          <p:spPr>
            <a:xfrm flipV="1">
              <a:off x="7446697" y="243291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6/notch-system/button-close/037"/>
            <p:cNvSpPr/>
            <p:nvPr/>
          </p:nvSpPr>
          <p:spPr>
            <a:xfrm>
              <a:off x="7671816" y="229819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6/notch-system/line/038"/>
            <p:cNvCxnSpPr/>
            <p:nvPr/>
          </p:nvCxnSpPr>
          <p:spPr>
            <a:xfrm>
              <a:off x="7818120" y="2444495"/>
              <a:ext cx="97536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6/notch-system/line/039"/>
            <p:cNvCxnSpPr/>
            <p:nvPr/>
          </p:nvCxnSpPr>
          <p:spPr>
            <a:xfrm flipH="1">
              <a:off x="7818120" y="2444495"/>
              <a:ext cx="97536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6/notch-system/stat-Processor/040"/>
            <p:cNvSpPr/>
            <p:nvPr/>
          </p:nvSpPr>
          <p:spPr>
            <a:xfrm>
              <a:off x="746760" y="2761487"/>
              <a:ext cx="1755648" cy="853440"/>
            </a:xfrm>
            <a:prstGeom prst="roundRect">
              <a:avLst>
                <a:gd name="adj" fmla="val 20000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16/notch-system/rect/041"/>
            <p:cNvSpPr/>
            <p:nvPr/>
          </p:nvSpPr>
          <p:spPr>
            <a:xfrm>
              <a:off x="941832" y="2932175"/>
              <a:ext cx="97536" cy="9753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16/notch-system/rect/042"/>
            <p:cNvSpPr/>
            <p:nvPr/>
          </p:nvSpPr>
          <p:spPr>
            <a:xfrm>
              <a:off x="972312" y="2962655"/>
              <a:ext cx="36576" cy="36576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N16/notch-system/line/043"/>
            <p:cNvCxnSpPr/>
            <p:nvPr/>
          </p:nvCxnSpPr>
          <p:spPr>
            <a:xfrm>
              <a:off x="966216" y="290779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N16/notch-system/line/044"/>
            <p:cNvCxnSpPr/>
            <p:nvPr/>
          </p:nvCxnSpPr>
          <p:spPr>
            <a:xfrm>
              <a:off x="966216" y="302971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16/notch-system/line/045"/>
            <p:cNvCxnSpPr/>
            <p:nvPr/>
          </p:nvCxnSpPr>
          <p:spPr>
            <a:xfrm>
              <a:off x="917448" y="2956559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16/notch-system/line/046"/>
            <p:cNvCxnSpPr/>
            <p:nvPr/>
          </p:nvCxnSpPr>
          <p:spPr>
            <a:xfrm>
              <a:off x="1039368" y="2956559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N16/notch-system/line/047"/>
            <p:cNvCxnSpPr/>
            <p:nvPr/>
          </p:nvCxnSpPr>
          <p:spPr>
            <a:xfrm>
              <a:off x="990599" y="290779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N16/notch-system/line/048"/>
            <p:cNvCxnSpPr/>
            <p:nvPr/>
          </p:nvCxnSpPr>
          <p:spPr>
            <a:xfrm>
              <a:off x="990599" y="302971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16/notch-system/line/049"/>
            <p:cNvCxnSpPr/>
            <p:nvPr/>
          </p:nvCxnSpPr>
          <p:spPr>
            <a:xfrm>
              <a:off x="917448" y="298094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16/notch-system/line/050"/>
            <p:cNvCxnSpPr/>
            <p:nvPr/>
          </p:nvCxnSpPr>
          <p:spPr>
            <a:xfrm>
              <a:off x="1039368" y="298094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16/notch-system/line/051"/>
            <p:cNvCxnSpPr/>
            <p:nvPr/>
          </p:nvCxnSpPr>
          <p:spPr>
            <a:xfrm>
              <a:off x="1014984" y="290779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16/notch-system/line/052"/>
            <p:cNvCxnSpPr/>
            <p:nvPr/>
          </p:nvCxnSpPr>
          <p:spPr>
            <a:xfrm>
              <a:off x="1014984" y="302971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N16/notch-system/line/053"/>
            <p:cNvCxnSpPr/>
            <p:nvPr/>
          </p:nvCxnSpPr>
          <p:spPr>
            <a:xfrm>
              <a:off x="917448" y="3005327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N16/notch-system/line/054"/>
            <p:cNvCxnSpPr/>
            <p:nvPr/>
          </p:nvCxnSpPr>
          <p:spPr>
            <a:xfrm>
              <a:off x="1039368" y="3005327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N16/notch-system/text/055"/>
            <p:cNvSpPr txBox="1"/>
            <p:nvPr/>
          </p:nvSpPr>
          <p:spPr>
            <a:xfrm>
              <a:off x="1161288" y="2859023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Processor</a:t>
              </a:r>
            </a:p>
          </p:txBody>
        </p:sp>
        <p:sp>
          <p:nvSpPr>
            <p:cNvPr id="67" name="N16/notch-system/text/056"/>
            <p:cNvSpPr txBox="1"/>
            <p:nvPr/>
          </p:nvSpPr>
          <p:spPr>
            <a:xfrm>
              <a:off x="893064" y="3102864"/>
              <a:ext cx="1463039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8" b="1" i="0">
                  <a:solidFill>
                    <a:srgbClr val="F5F5F7"/>
                  </a:solidFill>
                  <a:latin typeface="Arial"/>
                </a:rPr>
                <a:t>18%</a:t>
              </a:r>
            </a:p>
          </p:txBody>
        </p:sp>
        <p:sp>
          <p:nvSpPr>
            <p:cNvPr id="68" name="N16/notch-system/text/057"/>
            <p:cNvSpPr txBox="1"/>
            <p:nvPr/>
          </p:nvSpPr>
          <p:spPr>
            <a:xfrm>
              <a:off x="893064" y="3395471"/>
              <a:ext cx="1463039" cy="1950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6" b="0" i="0">
                  <a:solidFill>
                    <a:srgbClr val="98989D"/>
                  </a:solidFill>
                  <a:latin typeface="Arial"/>
                </a:rPr>
                <a:t>All logical processors</a:t>
              </a:r>
            </a:p>
          </p:txBody>
        </p:sp>
        <p:sp>
          <p:nvSpPr>
            <p:cNvPr id="69" name="N16/notch-system/stat-Memory/058"/>
            <p:cNvSpPr/>
            <p:nvPr/>
          </p:nvSpPr>
          <p:spPr>
            <a:xfrm>
              <a:off x="2599943" y="2761487"/>
              <a:ext cx="1755648" cy="853440"/>
            </a:xfrm>
            <a:prstGeom prst="roundRect">
              <a:avLst>
                <a:gd name="adj" fmla="val 20000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16/notch-system/rect/059"/>
            <p:cNvSpPr/>
            <p:nvPr/>
          </p:nvSpPr>
          <p:spPr>
            <a:xfrm>
              <a:off x="2770632" y="2944368"/>
              <a:ext cx="146304" cy="7315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16/notch-system/rect/060"/>
            <p:cNvSpPr/>
            <p:nvPr/>
          </p:nvSpPr>
          <p:spPr>
            <a:xfrm>
              <a:off x="2795015" y="2968751"/>
              <a:ext cx="24384" cy="24384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6/notch-system/rect/061"/>
            <p:cNvSpPr/>
            <p:nvPr/>
          </p:nvSpPr>
          <p:spPr>
            <a:xfrm>
              <a:off x="2831591" y="2968751"/>
              <a:ext cx="24384" cy="24384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16/notch-system/rect/062"/>
            <p:cNvSpPr/>
            <p:nvPr/>
          </p:nvSpPr>
          <p:spPr>
            <a:xfrm>
              <a:off x="2868167" y="2968751"/>
              <a:ext cx="24384" cy="24384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4" name="N16/notch-system/line/063"/>
            <p:cNvCxnSpPr/>
            <p:nvPr/>
          </p:nvCxnSpPr>
          <p:spPr>
            <a:xfrm>
              <a:off x="2795015" y="30175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N16/notch-system/line/064"/>
            <p:cNvCxnSpPr/>
            <p:nvPr/>
          </p:nvCxnSpPr>
          <p:spPr>
            <a:xfrm>
              <a:off x="2843783" y="30175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N16/notch-system/line/065"/>
            <p:cNvCxnSpPr/>
            <p:nvPr/>
          </p:nvCxnSpPr>
          <p:spPr>
            <a:xfrm>
              <a:off x="2892552" y="30175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N16/notch-system/text/066"/>
            <p:cNvSpPr txBox="1"/>
            <p:nvPr/>
          </p:nvSpPr>
          <p:spPr>
            <a:xfrm>
              <a:off x="3014471" y="2859023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Memory</a:t>
              </a:r>
            </a:p>
          </p:txBody>
        </p:sp>
        <p:sp>
          <p:nvSpPr>
            <p:cNvPr id="78" name="N16/notch-system/text/067"/>
            <p:cNvSpPr txBox="1"/>
            <p:nvPr/>
          </p:nvSpPr>
          <p:spPr>
            <a:xfrm>
              <a:off x="2746247" y="3102864"/>
              <a:ext cx="1463039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8" b="1" i="0">
                  <a:solidFill>
                    <a:srgbClr val="F5F5F7"/>
                  </a:solidFill>
                  <a:latin typeface="Arial"/>
                </a:rPr>
                <a:t>42%</a:t>
              </a:r>
            </a:p>
          </p:txBody>
        </p:sp>
        <p:sp>
          <p:nvSpPr>
            <p:cNvPr id="79" name="N16/notch-system/text/068"/>
            <p:cNvSpPr txBox="1"/>
            <p:nvPr/>
          </p:nvSpPr>
          <p:spPr>
            <a:xfrm>
              <a:off x="2746247" y="3395471"/>
              <a:ext cx="1463039" cy="1950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6" b="0" i="0">
                  <a:solidFill>
                    <a:srgbClr val="98989D"/>
                  </a:solidFill>
                  <a:latin typeface="Arial"/>
                </a:rPr>
                <a:t>6.7 GB / 16.0 GB</a:t>
              </a:r>
            </a:p>
          </p:txBody>
        </p:sp>
        <p:sp>
          <p:nvSpPr>
            <p:cNvPr id="80" name="N16/notch-system/stat-Battery/069"/>
            <p:cNvSpPr/>
            <p:nvPr/>
          </p:nvSpPr>
          <p:spPr>
            <a:xfrm>
              <a:off x="4453127" y="2761487"/>
              <a:ext cx="1755648" cy="853440"/>
            </a:xfrm>
            <a:prstGeom prst="roundRect">
              <a:avLst>
                <a:gd name="adj" fmla="val 20000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N16/notch-system/rect/070"/>
            <p:cNvSpPr/>
            <p:nvPr/>
          </p:nvSpPr>
          <p:spPr>
            <a:xfrm>
              <a:off x="4623815" y="2944368"/>
              <a:ext cx="134112" cy="7315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16/notch-system/rect/071"/>
            <p:cNvSpPr/>
            <p:nvPr/>
          </p:nvSpPr>
          <p:spPr>
            <a:xfrm>
              <a:off x="4757928" y="2968751"/>
              <a:ext cx="18288" cy="24384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16/notch-system/rect/072"/>
            <p:cNvSpPr/>
            <p:nvPr/>
          </p:nvSpPr>
          <p:spPr>
            <a:xfrm>
              <a:off x="4642104" y="2962655"/>
              <a:ext cx="73152" cy="36576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16/notch-system/text/073"/>
            <p:cNvSpPr txBox="1"/>
            <p:nvPr/>
          </p:nvSpPr>
          <p:spPr>
            <a:xfrm>
              <a:off x="4867655" y="2859023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Battery</a:t>
              </a:r>
            </a:p>
          </p:txBody>
        </p:sp>
        <p:sp>
          <p:nvSpPr>
            <p:cNvPr id="85" name="N16/notch-system/text/074"/>
            <p:cNvSpPr txBox="1"/>
            <p:nvPr/>
          </p:nvSpPr>
          <p:spPr>
            <a:xfrm>
              <a:off x="4599431" y="3102864"/>
              <a:ext cx="1463039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8" b="1" i="0">
                  <a:solidFill>
                    <a:srgbClr val="F5F5F7"/>
                  </a:solidFill>
                  <a:latin typeface="Arial"/>
                </a:rPr>
                <a:t>AC</a:t>
              </a:r>
            </a:p>
          </p:txBody>
        </p:sp>
        <p:sp>
          <p:nvSpPr>
            <p:cNvPr id="86" name="N16/notch-system/text/075"/>
            <p:cNvSpPr txBox="1"/>
            <p:nvPr/>
          </p:nvSpPr>
          <p:spPr>
            <a:xfrm>
              <a:off x="4599431" y="3395471"/>
              <a:ext cx="1463039" cy="1950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6" b="0" i="0">
                  <a:solidFill>
                    <a:srgbClr val="98989D"/>
                  </a:solidFill>
                  <a:latin typeface="Arial"/>
                </a:rPr>
                <a:t>No system battery</a:t>
              </a:r>
            </a:p>
          </p:txBody>
        </p:sp>
        <p:sp>
          <p:nvSpPr>
            <p:cNvPr id="87" name="N16/notch-system/stat-Network/076"/>
            <p:cNvSpPr/>
            <p:nvPr/>
          </p:nvSpPr>
          <p:spPr>
            <a:xfrm>
              <a:off x="6306311" y="2761487"/>
              <a:ext cx="1755648" cy="853440"/>
            </a:xfrm>
            <a:prstGeom prst="roundRect">
              <a:avLst>
                <a:gd name="adj" fmla="val 20000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N16/notch-system/line/077"/>
            <p:cNvCxnSpPr/>
            <p:nvPr/>
          </p:nvCxnSpPr>
          <p:spPr>
            <a:xfrm>
              <a:off x="6550151" y="2919983"/>
              <a:ext cx="0" cy="12192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N16/notch-system/poly/078"/>
            <p:cNvSpPr/>
            <p:nvPr/>
          </p:nvSpPr>
          <p:spPr>
            <a:xfrm>
              <a:off x="6513575" y="2919983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73152" h="36576">
                  <a:moveTo>
                    <a:pt x="0" y="36576"/>
                  </a:moveTo>
                  <a:lnTo>
                    <a:pt x="36576" y="0"/>
                  </a:lnTo>
                  <a:lnTo>
                    <a:pt x="73152" y="3657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16/notch-system/poly/079"/>
            <p:cNvSpPr/>
            <p:nvPr/>
          </p:nvSpPr>
          <p:spPr>
            <a:xfrm>
              <a:off x="6513575" y="3005327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73152" h="36576">
                  <a:moveTo>
                    <a:pt x="0" y="0"/>
                  </a:moveTo>
                  <a:lnTo>
                    <a:pt x="36576" y="36576"/>
                  </a:lnTo>
                  <a:lnTo>
                    <a:pt x="73152" y="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16/notch-system/text/080"/>
            <p:cNvSpPr txBox="1"/>
            <p:nvPr/>
          </p:nvSpPr>
          <p:spPr>
            <a:xfrm>
              <a:off x="6720839" y="2859023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Network</a:t>
              </a:r>
            </a:p>
          </p:txBody>
        </p:sp>
        <p:sp>
          <p:nvSpPr>
            <p:cNvPr id="92" name="N16/notch-system/text/081"/>
            <p:cNvSpPr txBox="1"/>
            <p:nvPr/>
          </p:nvSpPr>
          <p:spPr>
            <a:xfrm>
              <a:off x="6452615" y="3102864"/>
              <a:ext cx="1463039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 i="0">
                  <a:solidFill>
                    <a:srgbClr val="F5F5F7"/>
                  </a:solidFill>
                  <a:latin typeface="Arial"/>
                </a:rPr>
                <a:t>↓ 1.2 MB/s</a:t>
              </a:r>
            </a:p>
          </p:txBody>
        </p:sp>
        <p:sp>
          <p:nvSpPr>
            <p:cNvPr id="93" name="N16/notch-system/text/082"/>
            <p:cNvSpPr txBox="1"/>
            <p:nvPr/>
          </p:nvSpPr>
          <p:spPr>
            <a:xfrm>
              <a:off x="6452615" y="3395471"/>
              <a:ext cx="1463039" cy="1950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6" b="0" i="0">
                  <a:solidFill>
                    <a:srgbClr val="98989D"/>
                  </a:solidFill>
                  <a:latin typeface="Arial"/>
                </a:rPr>
                <a:t>↑ 84 kB/s · wlp2s0</a:t>
              </a:r>
            </a:p>
          </p:txBody>
        </p:sp>
        <p:sp>
          <p:nvSpPr>
            <p:cNvPr id="94" name="N16/notch-system/text/083"/>
            <p:cNvSpPr txBox="1"/>
            <p:nvPr/>
          </p:nvSpPr>
          <p:spPr>
            <a:xfrm>
              <a:off x="746760" y="3736848"/>
              <a:ext cx="7315200" cy="1706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5" b="1" i="0">
                  <a:solidFill>
                    <a:srgbClr val="8E8E93"/>
                  </a:solidFill>
                  <a:latin typeface="Arial"/>
                </a:rPr>
                <a:t>QUICK ACTIONS</a:t>
              </a:r>
            </a:p>
          </p:txBody>
        </p:sp>
        <p:sp>
          <p:nvSpPr>
            <p:cNvPr id="95" name="N16/notch-system/button-Do Not Disturb/084"/>
            <p:cNvSpPr/>
            <p:nvPr/>
          </p:nvSpPr>
          <p:spPr>
            <a:xfrm>
              <a:off x="746760" y="3956304"/>
              <a:ext cx="1828800" cy="438912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N16/notch-system/ellipse/085"/>
            <p:cNvSpPr/>
            <p:nvPr/>
          </p:nvSpPr>
          <p:spPr>
            <a:xfrm>
              <a:off x="727252" y="4114800"/>
              <a:ext cx="121920" cy="121920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N16/notch-system/line/086"/>
            <p:cNvCxnSpPr/>
            <p:nvPr/>
          </p:nvCxnSpPr>
          <p:spPr>
            <a:xfrm flipV="1">
              <a:off x="739444" y="4126992"/>
              <a:ext cx="97536" cy="97536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N16/notch-system/text/087"/>
            <p:cNvSpPr txBox="1"/>
            <p:nvPr/>
          </p:nvSpPr>
          <p:spPr>
            <a:xfrm>
              <a:off x="958900" y="3956304"/>
              <a:ext cx="1567891" cy="4389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E5E5EA"/>
                  </a:solidFill>
                  <a:latin typeface="Arial"/>
                </a:rPr>
                <a:t>Do Not Disturb</a:t>
              </a:r>
            </a:p>
          </p:txBody>
        </p:sp>
        <p:sp>
          <p:nvSpPr>
            <p:cNvPr id="99" name="N16/notch-system/button-Night Light/088"/>
            <p:cNvSpPr/>
            <p:nvPr/>
          </p:nvSpPr>
          <p:spPr>
            <a:xfrm>
              <a:off x="2673095" y="3956304"/>
              <a:ext cx="1828800" cy="438912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N16/notch-system/poly/089"/>
            <p:cNvSpPr/>
            <p:nvPr/>
          </p:nvSpPr>
          <p:spPr>
            <a:xfrm>
              <a:off x="2845003" y="4102608"/>
              <a:ext cx="97536" cy="146304"/>
            </a:xfrm>
            <a:custGeom>
              <a:avLst/>
              <a:gdLst/>
              <a:ahLst/>
              <a:cxnLst/>
              <a:rect l="l" t="t" r="r" b="b"/>
              <a:pathLst>
                <a:path w="97536" h="146304">
                  <a:moveTo>
                    <a:pt x="73152" y="0"/>
                  </a:moveTo>
                  <a:lnTo>
                    <a:pt x="24384" y="12192"/>
                  </a:lnTo>
                  <a:lnTo>
                    <a:pt x="0" y="48768"/>
                  </a:lnTo>
                  <a:lnTo>
                    <a:pt x="0" y="97536"/>
                  </a:lnTo>
                  <a:lnTo>
                    <a:pt x="24384" y="134112"/>
                  </a:lnTo>
                  <a:lnTo>
                    <a:pt x="73152" y="146304"/>
                  </a:lnTo>
                  <a:lnTo>
                    <a:pt x="97536" y="121920"/>
                  </a:lnTo>
                  <a:lnTo>
                    <a:pt x="60960" y="109728"/>
                  </a:lnTo>
                  <a:lnTo>
                    <a:pt x="36576" y="73152"/>
                  </a:lnTo>
                  <a:lnTo>
                    <a:pt x="48768" y="36576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16/notch-system/text/090"/>
            <p:cNvSpPr txBox="1"/>
            <p:nvPr/>
          </p:nvSpPr>
          <p:spPr>
            <a:xfrm>
              <a:off x="3064459" y="3956304"/>
              <a:ext cx="1388668" cy="4389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E5E5EA"/>
                  </a:solidFill>
                  <a:latin typeface="Arial"/>
                </a:rPr>
                <a:t>Night Light</a:t>
              </a:r>
            </a:p>
          </p:txBody>
        </p:sp>
        <p:sp>
          <p:nvSpPr>
            <p:cNvPr id="102" name="N16/notch-system/button-Dark Mode/091"/>
            <p:cNvSpPr/>
            <p:nvPr/>
          </p:nvSpPr>
          <p:spPr>
            <a:xfrm>
              <a:off x="4599431" y="3956304"/>
              <a:ext cx="1828800" cy="438912"/>
            </a:xfrm>
            <a:prstGeom prst="roundRect">
              <a:avLst>
                <a:gd name="adj" fmla="val 27777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N16/notch-system/ellipse/092"/>
            <p:cNvSpPr/>
            <p:nvPr/>
          </p:nvSpPr>
          <p:spPr>
            <a:xfrm>
              <a:off x="4878628" y="4114800"/>
              <a:ext cx="121920" cy="121920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N16/notch-system/poly/093"/>
            <p:cNvSpPr/>
            <p:nvPr/>
          </p:nvSpPr>
          <p:spPr>
            <a:xfrm>
              <a:off x="4939588" y="4114800"/>
              <a:ext cx="60960" cy="121920"/>
            </a:xfrm>
            <a:custGeom>
              <a:avLst/>
              <a:gdLst/>
              <a:ahLst/>
              <a:cxnLst/>
              <a:rect l="l" t="t" r="r" b="b"/>
              <a:pathLst>
                <a:path w="60960" h="121920">
                  <a:moveTo>
                    <a:pt x="0" y="0"/>
                  </a:moveTo>
                  <a:lnTo>
                    <a:pt x="0" y="121920"/>
                  </a:lnTo>
                  <a:lnTo>
                    <a:pt x="36576" y="109728"/>
                  </a:lnTo>
                  <a:lnTo>
                    <a:pt x="60960" y="60960"/>
                  </a:lnTo>
                  <a:lnTo>
                    <a:pt x="36576" y="12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N16/notch-system/text/094"/>
            <p:cNvSpPr txBox="1"/>
            <p:nvPr/>
          </p:nvSpPr>
          <p:spPr>
            <a:xfrm>
              <a:off x="5110276" y="3956304"/>
              <a:ext cx="1269187" cy="4389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000000"/>
                  </a:solidFill>
                  <a:latin typeface="Arial"/>
                </a:rPr>
                <a:t>Dark Mode</a:t>
              </a:r>
            </a:p>
          </p:txBody>
        </p:sp>
        <p:sp>
          <p:nvSpPr>
            <p:cNvPr id="106" name="N16/notch-system/text/095"/>
            <p:cNvSpPr txBox="1"/>
            <p:nvPr/>
          </p:nvSpPr>
          <p:spPr>
            <a:xfrm>
              <a:off x="746760" y="4443984"/>
              <a:ext cx="7315200" cy="2438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4" b="0" i="0">
                  <a:solidFill>
                    <a:srgbClr val="98989D"/>
                  </a:solidFill>
                  <a:latin typeface="Arial"/>
                </a:rPr>
                <a:t>Sampling runs only while this page is visible. Network uses the default IPv4 interface.</a:t>
              </a:r>
            </a:p>
          </p:txBody>
        </p:sp>
      </p:grpSp>
      <p:sp>
        <p:nvSpPr>
          <p:cNvPr id="107" name="N16/text/010"/>
          <p:cNvSpPr txBox="1"/>
          <p:nvPr/>
        </p:nvSpPr>
        <p:spPr>
          <a:xfrm>
            <a:off x="502920" y="521208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Sampling runs only while System is visible. Network shows default IPv4 interface; battery shows AC when absent.</a:t>
            </a:r>
          </a:p>
        </p:txBody>
      </p:sp>
      <p:sp>
        <p:nvSpPr>
          <p:cNvPr id="108" name="N16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N16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10" name="N16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N16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4 columns ≥560 px content</a:t>
            </a:r>
          </a:p>
        </p:txBody>
      </p:sp>
      <p:sp>
        <p:nvSpPr>
          <p:cNvPr id="112" name="N16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N16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Card radius 14 / padding 12</a:t>
            </a:r>
          </a:p>
        </p:txBody>
      </p:sp>
      <p:sp>
        <p:nvSpPr>
          <p:cNvPr id="114" name="N16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N16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Value 1.45 em / 700</a:t>
            </a:r>
          </a:p>
        </p:txBody>
      </p:sp>
      <p:sp>
        <p:nvSpPr>
          <p:cNvPr id="116" name="N16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N16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Full action labels on System</a:t>
            </a:r>
          </a:p>
        </p:txBody>
      </p:sp>
      <p:cxnSp>
        <p:nvCxnSpPr>
          <p:cNvPr id="118" name="N16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N16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120" name="N16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N16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Stat card order / value format / detail lines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SYSTEM PAGE</a:t>
            </a:r>
          </a:p>
        </p:txBody>
      </p:sp>
      <p:sp>
        <p:nvSpPr>
          <p:cNvPr id="5" name="N1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System — waiting / unavailable</a:t>
            </a:r>
          </a:p>
        </p:txBody>
      </p:sp>
      <p:sp>
        <p:nvSpPr>
          <p:cNvPr id="6" name="N1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Initial sample and unavailable sensors use explicit placeholders</a:t>
            </a:r>
          </a:p>
        </p:txBody>
      </p:sp>
      <p:cxnSp>
        <p:nvCxnSpPr>
          <p:cNvPr id="7" name="N1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N17</a:t>
            </a:r>
          </a:p>
        </p:txBody>
      </p:sp>
      <p:sp>
        <p:nvSpPr>
          <p:cNvPr id="10" name="N1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17</a:t>
            </a:r>
          </a:p>
        </p:txBody>
      </p:sp>
      <p:grpSp>
        <p:nvGrpSpPr>
          <p:cNvPr id="11" name="N17/notch-system"/>
          <p:cNvGrpSpPr/>
          <p:nvPr/>
        </p:nvGrpSpPr>
        <p:grpSpPr>
          <a:xfrm>
            <a:off x="502920" y="1737360"/>
            <a:ext cx="7802880" cy="3169920"/>
            <a:chOff x="502920" y="1737360"/>
            <a:chExt cx="7802880" cy="3169920"/>
          </a:xfrm>
        </p:grpSpPr>
        <p:sp>
          <p:nvSpPr>
            <p:cNvPr id="12" name="N17/notch-system/notch-surface-open/001"/>
            <p:cNvSpPr/>
            <p:nvPr/>
          </p:nvSpPr>
          <p:spPr>
            <a:xfrm>
              <a:off x="502920" y="1737360"/>
              <a:ext cx="7802880" cy="3169920"/>
            </a:xfrm>
            <a:custGeom>
              <a:avLst/>
              <a:gdLst/>
              <a:ahLst/>
              <a:cxnLst/>
              <a:rect l="l" t="t" r="r" b="b"/>
              <a:pathLst>
                <a:path w="7802880" h="3169920">
                  <a:moveTo>
                    <a:pt x="0" y="0"/>
                  </a:moveTo>
                  <a:lnTo>
                    <a:pt x="7802880" y="0"/>
                  </a:lnTo>
                  <a:lnTo>
                    <a:pt x="7770756" y="3619"/>
                  </a:lnTo>
                  <a:lnTo>
                    <a:pt x="7734109" y="14478"/>
                  </a:lnTo>
                  <a:lnTo>
                    <a:pt x="7695652" y="32575"/>
                  </a:lnTo>
                  <a:lnTo>
                    <a:pt x="7658100" y="57912"/>
                  </a:lnTo>
                  <a:lnTo>
                    <a:pt x="7624167" y="90487"/>
                  </a:lnTo>
                  <a:lnTo>
                    <a:pt x="7596568" y="130302"/>
                  </a:lnTo>
                  <a:lnTo>
                    <a:pt x="7578018" y="177355"/>
                  </a:lnTo>
                  <a:lnTo>
                    <a:pt x="7571232" y="231648"/>
                  </a:lnTo>
                  <a:lnTo>
                    <a:pt x="7565609" y="2934396"/>
                  </a:lnTo>
                  <a:lnTo>
                    <a:pt x="7548958" y="2989288"/>
                  </a:lnTo>
                  <a:lnTo>
                    <a:pt x="7521918" y="3039876"/>
                  </a:lnTo>
                  <a:lnTo>
                    <a:pt x="7485529" y="3084217"/>
                  </a:lnTo>
                  <a:lnTo>
                    <a:pt x="7441188" y="3120606"/>
                  </a:lnTo>
                  <a:lnTo>
                    <a:pt x="7390600" y="3147646"/>
                  </a:lnTo>
                  <a:lnTo>
                    <a:pt x="7335708" y="3164297"/>
                  </a:lnTo>
                  <a:lnTo>
                    <a:pt x="7278624" y="3169920"/>
                  </a:lnTo>
                  <a:lnTo>
                    <a:pt x="524256" y="3169920"/>
                  </a:lnTo>
                  <a:lnTo>
                    <a:pt x="467171" y="3164297"/>
                  </a:lnTo>
                  <a:lnTo>
                    <a:pt x="412279" y="3147646"/>
                  </a:lnTo>
                  <a:lnTo>
                    <a:pt x="361691" y="3120606"/>
                  </a:lnTo>
                  <a:lnTo>
                    <a:pt x="317350" y="3084217"/>
                  </a:lnTo>
                  <a:lnTo>
                    <a:pt x="280961" y="3039876"/>
                  </a:lnTo>
                  <a:lnTo>
                    <a:pt x="253921" y="2989288"/>
                  </a:lnTo>
                  <a:lnTo>
                    <a:pt x="237270" y="2934396"/>
                  </a:lnTo>
                  <a:lnTo>
                    <a:pt x="231648" y="287731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1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7/notch-system/button-home/002"/>
            <p:cNvSpPr/>
            <p:nvPr/>
          </p:nvSpPr>
          <p:spPr>
            <a:xfrm>
              <a:off x="746760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7/notch-system/poly/003"/>
            <p:cNvSpPr/>
            <p:nvPr/>
          </p:nvSpPr>
          <p:spPr>
            <a:xfrm>
              <a:off x="868680" y="2420112"/>
              <a:ext cx="146304" cy="146303"/>
            </a:xfrm>
            <a:custGeom>
              <a:avLst/>
              <a:gdLst/>
              <a:ahLst/>
              <a:cxnLst/>
              <a:rect l="l" t="t" r="r" b="b"/>
              <a:pathLst>
                <a:path w="146304" h="146303">
                  <a:moveTo>
                    <a:pt x="73152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4" y="97535"/>
                  </a:lnTo>
                  <a:lnTo>
                    <a:pt x="85344" y="146303"/>
                  </a:lnTo>
                  <a:lnTo>
                    <a:pt x="121919" y="146303"/>
                  </a:lnTo>
                  <a:lnTo>
                    <a:pt x="121919" y="60959"/>
                  </a:lnTo>
                  <a:lnTo>
                    <a:pt x="146304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7/notch-system/button-music/004"/>
            <p:cNvSpPr/>
            <p:nvPr/>
          </p:nvSpPr>
          <p:spPr>
            <a:xfrm>
              <a:off x="1185672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7/notch-system/line/005"/>
            <p:cNvCxnSpPr/>
            <p:nvPr/>
          </p:nvCxnSpPr>
          <p:spPr>
            <a:xfrm flipV="1">
              <a:off x="1356360" y="2444495"/>
              <a:ext cx="0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7/notch-system/line/006"/>
            <p:cNvCxnSpPr/>
            <p:nvPr/>
          </p:nvCxnSpPr>
          <p:spPr>
            <a:xfrm flipV="1">
              <a:off x="1356360" y="2432303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7/notch-system/line/007"/>
            <p:cNvCxnSpPr/>
            <p:nvPr/>
          </p:nvCxnSpPr>
          <p:spPr>
            <a:xfrm>
              <a:off x="1441704" y="2432303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7/notch-system/ellipse/008"/>
            <p:cNvSpPr/>
            <p:nvPr/>
          </p:nvSpPr>
          <p:spPr>
            <a:xfrm>
              <a:off x="1319784" y="2523744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7/notch-system/ellipse/009"/>
            <p:cNvSpPr/>
            <p:nvPr/>
          </p:nvSpPr>
          <p:spPr>
            <a:xfrm>
              <a:off x="1405128" y="2511551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7/notch-system/button-bell/010"/>
            <p:cNvSpPr/>
            <p:nvPr/>
          </p:nvSpPr>
          <p:spPr>
            <a:xfrm>
              <a:off x="1624584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7/notch-system/poly/011"/>
            <p:cNvSpPr/>
            <p:nvPr/>
          </p:nvSpPr>
          <p:spPr>
            <a:xfrm>
              <a:off x="1758696" y="242011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60" y="0"/>
                  </a:moveTo>
                  <a:lnTo>
                    <a:pt x="24384" y="24383"/>
                  </a:lnTo>
                  <a:lnTo>
                    <a:pt x="12191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5" y="2438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7/notch-system/line/012"/>
            <p:cNvCxnSpPr/>
            <p:nvPr/>
          </p:nvCxnSpPr>
          <p:spPr>
            <a:xfrm>
              <a:off x="1795272" y="2554223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7/notch-system/ellipse/013"/>
            <p:cNvSpPr/>
            <p:nvPr/>
          </p:nvSpPr>
          <p:spPr>
            <a:xfrm>
              <a:off x="1807464" y="2407919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7/notch-system/button-System/014"/>
            <p:cNvSpPr/>
            <p:nvPr/>
          </p:nvSpPr>
          <p:spPr>
            <a:xfrm>
              <a:off x="2063496" y="2310383"/>
              <a:ext cx="1310883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17/notch-system/line/015"/>
            <p:cNvCxnSpPr/>
            <p:nvPr/>
          </p:nvCxnSpPr>
          <p:spPr>
            <a:xfrm>
              <a:off x="2250765" y="2566415"/>
              <a:ext cx="146304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17/notch-system/line/016"/>
            <p:cNvCxnSpPr/>
            <p:nvPr/>
          </p:nvCxnSpPr>
          <p:spPr>
            <a:xfrm flipV="1">
              <a:off x="2262957" y="2481071"/>
              <a:ext cx="36576" cy="48768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7/notch-system/line/017"/>
            <p:cNvCxnSpPr/>
            <p:nvPr/>
          </p:nvCxnSpPr>
          <p:spPr>
            <a:xfrm>
              <a:off x="2299533" y="2481071"/>
              <a:ext cx="36576" cy="2438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7/notch-system/line/018"/>
            <p:cNvCxnSpPr/>
            <p:nvPr/>
          </p:nvCxnSpPr>
          <p:spPr>
            <a:xfrm flipV="1">
              <a:off x="2336109" y="2432303"/>
              <a:ext cx="48768" cy="73153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17/notch-system/text/019"/>
            <p:cNvSpPr txBox="1"/>
            <p:nvPr/>
          </p:nvSpPr>
          <p:spPr>
            <a:xfrm>
              <a:off x="2494605" y="2310383"/>
              <a:ext cx="831006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System</a:t>
              </a:r>
            </a:p>
          </p:txBody>
        </p:sp>
        <p:sp>
          <p:nvSpPr>
            <p:cNvPr id="31" name="N17/notch-system/button-folder/020"/>
            <p:cNvSpPr/>
            <p:nvPr/>
          </p:nvSpPr>
          <p:spPr>
            <a:xfrm>
              <a:off x="3423147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7/notch-system/poly/021"/>
            <p:cNvSpPr/>
            <p:nvPr/>
          </p:nvSpPr>
          <p:spPr>
            <a:xfrm>
              <a:off x="3545067" y="245668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17/notch-system/button-clipboard/022"/>
            <p:cNvSpPr/>
            <p:nvPr/>
          </p:nvSpPr>
          <p:spPr>
            <a:xfrm>
              <a:off x="3862059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7/notch-system/rect/023"/>
            <p:cNvSpPr/>
            <p:nvPr/>
          </p:nvSpPr>
          <p:spPr>
            <a:xfrm>
              <a:off x="4008363" y="243230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7/notch-system/rect/024"/>
            <p:cNvSpPr/>
            <p:nvPr/>
          </p:nvSpPr>
          <p:spPr>
            <a:xfrm>
              <a:off x="4032747" y="241401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7/notch-system/line/025"/>
            <p:cNvCxnSpPr/>
            <p:nvPr/>
          </p:nvCxnSpPr>
          <p:spPr>
            <a:xfrm>
              <a:off x="4032747" y="248107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7/notch-system/line/026"/>
            <p:cNvCxnSpPr/>
            <p:nvPr/>
          </p:nvCxnSpPr>
          <p:spPr>
            <a:xfrm>
              <a:off x="4032747" y="251155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7/notch-system/button-gear/027"/>
            <p:cNvSpPr/>
            <p:nvPr/>
          </p:nvSpPr>
          <p:spPr>
            <a:xfrm>
              <a:off x="7208520" y="229819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7/notch-system/ellipse/028"/>
            <p:cNvSpPr/>
            <p:nvPr/>
          </p:nvSpPr>
          <p:spPr>
            <a:xfrm>
              <a:off x="7367016" y="245668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7/notch-system/line/029"/>
            <p:cNvCxnSpPr/>
            <p:nvPr/>
          </p:nvCxnSpPr>
          <p:spPr>
            <a:xfrm>
              <a:off x="7464551" y="249326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7/notch-system/line/030"/>
            <p:cNvCxnSpPr/>
            <p:nvPr/>
          </p:nvCxnSpPr>
          <p:spPr>
            <a:xfrm>
              <a:off x="7446697" y="253636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7/notch-system/line/031"/>
            <p:cNvCxnSpPr/>
            <p:nvPr/>
          </p:nvCxnSpPr>
          <p:spPr>
            <a:xfrm>
              <a:off x="7403591" y="255422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7/notch-system/line/032"/>
            <p:cNvCxnSpPr/>
            <p:nvPr/>
          </p:nvCxnSpPr>
          <p:spPr>
            <a:xfrm flipH="1">
              <a:off x="7343244" y="253636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7/notch-system/line/033"/>
            <p:cNvCxnSpPr/>
            <p:nvPr/>
          </p:nvCxnSpPr>
          <p:spPr>
            <a:xfrm flipH="1">
              <a:off x="7318247" y="249326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7/notch-system/line/034"/>
            <p:cNvCxnSpPr/>
            <p:nvPr/>
          </p:nvCxnSpPr>
          <p:spPr>
            <a:xfrm flipH="1" flipV="1">
              <a:off x="7343244" y="243291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7/notch-system/line/035"/>
            <p:cNvCxnSpPr/>
            <p:nvPr/>
          </p:nvCxnSpPr>
          <p:spPr>
            <a:xfrm flipV="1">
              <a:off x="7403591" y="24079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7/notch-system/line/036"/>
            <p:cNvCxnSpPr/>
            <p:nvPr/>
          </p:nvCxnSpPr>
          <p:spPr>
            <a:xfrm flipV="1">
              <a:off x="7446697" y="243291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7/notch-system/button-close/037"/>
            <p:cNvSpPr/>
            <p:nvPr/>
          </p:nvSpPr>
          <p:spPr>
            <a:xfrm>
              <a:off x="7671816" y="229819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7/notch-system/line/038"/>
            <p:cNvCxnSpPr/>
            <p:nvPr/>
          </p:nvCxnSpPr>
          <p:spPr>
            <a:xfrm>
              <a:off x="7818120" y="2444495"/>
              <a:ext cx="97536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7/notch-system/line/039"/>
            <p:cNvCxnSpPr/>
            <p:nvPr/>
          </p:nvCxnSpPr>
          <p:spPr>
            <a:xfrm flipH="1">
              <a:off x="7818120" y="2444495"/>
              <a:ext cx="97536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7/notch-system/stat-Processor/040"/>
            <p:cNvSpPr/>
            <p:nvPr/>
          </p:nvSpPr>
          <p:spPr>
            <a:xfrm>
              <a:off x="746760" y="2761487"/>
              <a:ext cx="1755648" cy="853440"/>
            </a:xfrm>
            <a:prstGeom prst="roundRect">
              <a:avLst>
                <a:gd name="adj" fmla="val 20000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17/notch-system/rect/041"/>
            <p:cNvSpPr/>
            <p:nvPr/>
          </p:nvSpPr>
          <p:spPr>
            <a:xfrm>
              <a:off x="941832" y="2932175"/>
              <a:ext cx="97536" cy="97536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17/notch-system/rect/042"/>
            <p:cNvSpPr/>
            <p:nvPr/>
          </p:nvSpPr>
          <p:spPr>
            <a:xfrm>
              <a:off x="972312" y="2962655"/>
              <a:ext cx="36576" cy="36576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4" name="N17/notch-system/line/043"/>
            <p:cNvCxnSpPr/>
            <p:nvPr/>
          </p:nvCxnSpPr>
          <p:spPr>
            <a:xfrm>
              <a:off x="966216" y="290779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N17/notch-system/line/044"/>
            <p:cNvCxnSpPr/>
            <p:nvPr/>
          </p:nvCxnSpPr>
          <p:spPr>
            <a:xfrm>
              <a:off x="966216" y="302971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17/notch-system/line/045"/>
            <p:cNvCxnSpPr/>
            <p:nvPr/>
          </p:nvCxnSpPr>
          <p:spPr>
            <a:xfrm>
              <a:off x="917448" y="2956559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17/notch-system/line/046"/>
            <p:cNvCxnSpPr/>
            <p:nvPr/>
          </p:nvCxnSpPr>
          <p:spPr>
            <a:xfrm>
              <a:off x="1039368" y="2956559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N17/notch-system/line/047"/>
            <p:cNvCxnSpPr/>
            <p:nvPr/>
          </p:nvCxnSpPr>
          <p:spPr>
            <a:xfrm>
              <a:off x="990599" y="290779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N17/notch-system/line/048"/>
            <p:cNvCxnSpPr/>
            <p:nvPr/>
          </p:nvCxnSpPr>
          <p:spPr>
            <a:xfrm>
              <a:off x="990599" y="302971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17/notch-system/line/049"/>
            <p:cNvCxnSpPr/>
            <p:nvPr/>
          </p:nvCxnSpPr>
          <p:spPr>
            <a:xfrm>
              <a:off x="917448" y="298094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17/notch-system/line/050"/>
            <p:cNvCxnSpPr/>
            <p:nvPr/>
          </p:nvCxnSpPr>
          <p:spPr>
            <a:xfrm>
              <a:off x="1039368" y="298094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17/notch-system/line/051"/>
            <p:cNvCxnSpPr/>
            <p:nvPr/>
          </p:nvCxnSpPr>
          <p:spPr>
            <a:xfrm>
              <a:off x="1014984" y="290779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17/notch-system/line/052"/>
            <p:cNvCxnSpPr/>
            <p:nvPr/>
          </p:nvCxnSpPr>
          <p:spPr>
            <a:xfrm>
              <a:off x="1014984" y="3029711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N17/notch-system/line/053"/>
            <p:cNvCxnSpPr/>
            <p:nvPr/>
          </p:nvCxnSpPr>
          <p:spPr>
            <a:xfrm>
              <a:off x="917448" y="3005327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N17/notch-system/line/054"/>
            <p:cNvCxnSpPr/>
            <p:nvPr/>
          </p:nvCxnSpPr>
          <p:spPr>
            <a:xfrm>
              <a:off x="1039368" y="3005327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N17/notch-system/text/055"/>
            <p:cNvSpPr txBox="1"/>
            <p:nvPr/>
          </p:nvSpPr>
          <p:spPr>
            <a:xfrm>
              <a:off x="1161288" y="2859023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Processor</a:t>
              </a:r>
            </a:p>
          </p:txBody>
        </p:sp>
        <p:sp>
          <p:nvSpPr>
            <p:cNvPr id="67" name="N17/notch-system/text/056"/>
            <p:cNvSpPr txBox="1"/>
            <p:nvPr/>
          </p:nvSpPr>
          <p:spPr>
            <a:xfrm>
              <a:off x="893064" y="3102864"/>
              <a:ext cx="1463039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8" b="1" i="0">
                  <a:solidFill>
                    <a:srgbClr val="F5F5F7"/>
                  </a:solidFill>
                  <a:latin typeface="Arial"/>
                </a:rPr>
                <a:t>—</a:t>
              </a:r>
            </a:p>
          </p:txBody>
        </p:sp>
        <p:sp>
          <p:nvSpPr>
            <p:cNvPr id="68" name="N17/notch-system/text/057"/>
            <p:cNvSpPr txBox="1"/>
            <p:nvPr/>
          </p:nvSpPr>
          <p:spPr>
            <a:xfrm>
              <a:off x="893064" y="3395471"/>
              <a:ext cx="1463039" cy="1950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6" b="0" i="0">
                  <a:solidFill>
                    <a:srgbClr val="98989D"/>
                  </a:solidFill>
                  <a:latin typeface="Arial"/>
                </a:rPr>
                <a:t>Waiting for sample</a:t>
              </a:r>
            </a:p>
          </p:txBody>
        </p:sp>
        <p:sp>
          <p:nvSpPr>
            <p:cNvPr id="69" name="N17/notch-system/stat-Memory/058"/>
            <p:cNvSpPr/>
            <p:nvPr/>
          </p:nvSpPr>
          <p:spPr>
            <a:xfrm>
              <a:off x="2599943" y="2761487"/>
              <a:ext cx="1755648" cy="853440"/>
            </a:xfrm>
            <a:prstGeom prst="roundRect">
              <a:avLst>
                <a:gd name="adj" fmla="val 20000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17/notch-system/rect/059"/>
            <p:cNvSpPr/>
            <p:nvPr/>
          </p:nvSpPr>
          <p:spPr>
            <a:xfrm>
              <a:off x="2770632" y="2944368"/>
              <a:ext cx="146304" cy="7315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17/notch-system/rect/060"/>
            <p:cNvSpPr/>
            <p:nvPr/>
          </p:nvSpPr>
          <p:spPr>
            <a:xfrm>
              <a:off x="2795015" y="2968751"/>
              <a:ext cx="24384" cy="24384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17/notch-system/rect/061"/>
            <p:cNvSpPr/>
            <p:nvPr/>
          </p:nvSpPr>
          <p:spPr>
            <a:xfrm>
              <a:off x="2831591" y="2968751"/>
              <a:ext cx="24384" cy="24384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17/notch-system/rect/062"/>
            <p:cNvSpPr/>
            <p:nvPr/>
          </p:nvSpPr>
          <p:spPr>
            <a:xfrm>
              <a:off x="2868167" y="2968751"/>
              <a:ext cx="24384" cy="24384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4" name="N17/notch-system/line/063"/>
            <p:cNvCxnSpPr/>
            <p:nvPr/>
          </p:nvCxnSpPr>
          <p:spPr>
            <a:xfrm>
              <a:off x="2795015" y="30175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N17/notch-system/line/064"/>
            <p:cNvCxnSpPr/>
            <p:nvPr/>
          </p:nvCxnSpPr>
          <p:spPr>
            <a:xfrm>
              <a:off x="2843783" y="30175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N17/notch-system/line/065"/>
            <p:cNvCxnSpPr/>
            <p:nvPr/>
          </p:nvCxnSpPr>
          <p:spPr>
            <a:xfrm>
              <a:off x="2892552" y="30175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N17/notch-system/text/066"/>
            <p:cNvSpPr txBox="1"/>
            <p:nvPr/>
          </p:nvSpPr>
          <p:spPr>
            <a:xfrm>
              <a:off x="3014471" y="2859023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Memory</a:t>
              </a:r>
            </a:p>
          </p:txBody>
        </p:sp>
        <p:sp>
          <p:nvSpPr>
            <p:cNvPr id="78" name="N17/notch-system/text/067"/>
            <p:cNvSpPr txBox="1"/>
            <p:nvPr/>
          </p:nvSpPr>
          <p:spPr>
            <a:xfrm>
              <a:off x="2746247" y="3102864"/>
              <a:ext cx="1463039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8" b="1" i="0">
                  <a:solidFill>
                    <a:srgbClr val="F5F5F7"/>
                  </a:solidFill>
                  <a:latin typeface="Arial"/>
                </a:rPr>
                <a:t>—</a:t>
              </a:r>
            </a:p>
          </p:txBody>
        </p:sp>
        <p:sp>
          <p:nvSpPr>
            <p:cNvPr id="79" name="N17/notch-system/text/068"/>
            <p:cNvSpPr txBox="1"/>
            <p:nvPr/>
          </p:nvSpPr>
          <p:spPr>
            <a:xfrm>
              <a:off x="2746247" y="3395471"/>
              <a:ext cx="1463039" cy="1950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6" b="0" i="0">
                  <a:solidFill>
                    <a:srgbClr val="98989D"/>
                  </a:solidFill>
                  <a:latin typeface="Arial"/>
                </a:rPr>
                <a:t>Waiting for sample</a:t>
              </a:r>
            </a:p>
          </p:txBody>
        </p:sp>
        <p:sp>
          <p:nvSpPr>
            <p:cNvPr id="80" name="N17/notch-system/stat-Battery/069"/>
            <p:cNvSpPr/>
            <p:nvPr/>
          </p:nvSpPr>
          <p:spPr>
            <a:xfrm>
              <a:off x="4453127" y="2761487"/>
              <a:ext cx="1755648" cy="853440"/>
            </a:xfrm>
            <a:prstGeom prst="roundRect">
              <a:avLst>
                <a:gd name="adj" fmla="val 20000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N17/notch-system/rect/070"/>
            <p:cNvSpPr/>
            <p:nvPr/>
          </p:nvSpPr>
          <p:spPr>
            <a:xfrm>
              <a:off x="4623815" y="2944368"/>
              <a:ext cx="134112" cy="73152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17/notch-system/rect/071"/>
            <p:cNvSpPr/>
            <p:nvPr/>
          </p:nvSpPr>
          <p:spPr>
            <a:xfrm>
              <a:off x="4757928" y="2968751"/>
              <a:ext cx="18288" cy="24384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17/notch-system/rect/072"/>
            <p:cNvSpPr/>
            <p:nvPr/>
          </p:nvSpPr>
          <p:spPr>
            <a:xfrm>
              <a:off x="4642104" y="2962655"/>
              <a:ext cx="73152" cy="36576"/>
            </a:xfrm>
            <a:prstGeom prst="rect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17/notch-system/text/073"/>
            <p:cNvSpPr txBox="1"/>
            <p:nvPr/>
          </p:nvSpPr>
          <p:spPr>
            <a:xfrm>
              <a:off x="4867655" y="2859023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Battery</a:t>
              </a:r>
            </a:p>
          </p:txBody>
        </p:sp>
        <p:sp>
          <p:nvSpPr>
            <p:cNvPr id="85" name="N17/notch-system/text/074"/>
            <p:cNvSpPr txBox="1"/>
            <p:nvPr/>
          </p:nvSpPr>
          <p:spPr>
            <a:xfrm>
              <a:off x="4599431" y="3102864"/>
              <a:ext cx="1463039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8" b="1" i="0">
                  <a:solidFill>
                    <a:srgbClr val="F5F5F7"/>
                  </a:solidFill>
                  <a:latin typeface="Arial"/>
                </a:rPr>
                <a:t>—</a:t>
              </a:r>
            </a:p>
          </p:txBody>
        </p:sp>
        <p:sp>
          <p:nvSpPr>
            <p:cNvPr id="86" name="N17/notch-system/text/075"/>
            <p:cNvSpPr txBox="1"/>
            <p:nvPr/>
          </p:nvSpPr>
          <p:spPr>
            <a:xfrm>
              <a:off x="4599431" y="3395471"/>
              <a:ext cx="1463039" cy="1950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6" b="0" i="0">
                  <a:solidFill>
                    <a:srgbClr val="98989D"/>
                  </a:solidFill>
                  <a:latin typeface="Arial"/>
                </a:rPr>
                <a:t>Waiting for sample</a:t>
              </a:r>
            </a:p>
          </p:txBody>
        </p:sp>
        <p:sp>
          <p:nvSpPr>
            <p:cNvPr id="87" name="N17/notch-system/stat-Network/076"/>
            <p:cNvSpPr/>
            <p:nvPr/>
          </p:nvSpPr>
          <p:spPr>
            <a:xfrm>
              <a:off x="6306311" y="2761487"/>
              <a:ext cx="1755648" cy="853440"/>
            </a:xfrm>
            <a:prstGeom prst="roundRect">
              <a:avLst>
                <a:gd name="adj" fmla="val 20000"/>
              </a:avLst>
            </a:prstGeom>
            <a:solidFill>
              <a:srgbClr val="1C1C1E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8" name="N17/notch-system/line/077"/>
            <p:cNvCxnSpPr/>
            <p:nvPr/>
          </p:nvCxnSpPr>
          <p:spPr>
            <a:xfrm>
              <a:off x="6550151" y="2919983"/>
              <a:ext cx="0" cy="12192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N17/notch-system/poly/078"/>
            <p:cNvSpPr/>
            <p:nvPr/>
          </p:nvSpPr>
          <p:spPr>
            <a:xfrm>
              <a:off x="6513575" y="2919983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73152" h="36576">
                  <a:moveTo>
                    <a:pt x="0" y="36576"/>
                  </a:moveTo>
                  <a:lnTo>
                    <a:pt x="36576" y="0"/>
                  </a:lnTo>
                  <a:lnTo>
                    <a:pt x="73152" y="36576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17/notch-system/poly/079"/>
            <p:cNvSpPr/>
            <p:nvPr/>
          </p:nvSpPr>
          <p:spPr>
            <a:xfrm>
              <a:off x="6513575" y="3005327"/>
              <a:ext cx="73152" cy="36576"/>
            </a:xfrm>
            <a:custGeom>
              <a:avLst/>
              <a:gdLst/>
              <a:ahLst/>
              <a:cxnLst/>
              <a:rect l="l" t="t" r="r" b="b"/>
              <a:pathLst>
                <a:path w="73152" h="36576">
                  <a:moveTo>
                    <a:pt x="0" y="0"/>
                  </a:moveTo>
                  <a:lnTo>
                    <a:pt x="36576" y="36576"/>
                  </a:lnTo>
                  <a:lnTo>
                    <a:pt x="73152" y="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17/notch-system/text/080"/>
            <p:cNvSpPr txBox="1"/>
            <p:nvPr/>
          </p:nvSpPr>
          <p:spPr>
            <a:xfrm>
              <a:off x="6720839" y="2859023"/>
              <a:ext cx="121920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Network</a:t>
              </a:r>
            </a:p>
          </p:txBody>
        </p:sp>
        <p:sp>
          <p:nvSpPr>
            <p:cNvPr id="92" name="N17/notch-system/text/081"/>
            <p:cNvSpPr txBox="1"/>
            <p:nvPr/>
          </p:nvSpPr>
          <p:spPr>
            <a:xfrm>
              <a:off x="6452615" y="3102864"/>
              <a:ext cx="1463039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8" b="1" i="0">
                  <a:solidFill>
                    <a:srgbClr val="F5F5F7"/>
                  </a:solidFill>
                  <a:latin typeface="Arial"/>
                </a:rPr>
                <a:t>…</a:t>
              </a:r>
            </a:p>
          </p:txBody>
        </p:sp>
        <p:sp>
          <p:nvSpPr>
            <p:cNvPr id="93" name="N17/notch-system/text/082"/>
            <p:cNvSpPr txBox="1"/>
            <p:nvPr/>
          </p:nvSpPr>
          <p:spPr>
            <a:xfrm>
              <a:off x="6452615" y="3395471"/>
              <a:ext cx="1463039" cy="195072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6" b="0" i="0">
                  <a:solidFill>
                    <a:srgbClr val="98989D"/>
                  </a:solidFill>
                  <a:latin typeface="Arial"/>
                </a:rPr>
                <a:t>Waiting for sample</a:t>
              </a:r>
            </a:p>
          </p:txBody>
        </p:sp>
        <p:sp>
          <p:nvSpPr>
            <p:cNvPr id="94" name="N17/notch-system/text/083"/>
            <p:cNvSpPr txBox="1"/>
            <p:nvPr/>
          </p:nvSpPr>
          <p:spPr>
            <a:xfrm>
              <a:off x="746760" y="3736848"/>
              <a:ext cx="7315200" cy="17068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75" b="1" i="0">
                  <a:solidFill>
                    <a:srgbClr val="8E8E93"/>
                  </a:solidFill>
                  <a:latin typeface="Arial"/>
                </a:rPr>
                <a:t>QUICK ACTIONS</a:t>
              </a:r>
            </a:p>
          </p:txBody>
        </p:sp>
        <p:sp>
          <p:nvSpPr>
            <p:cNvPr id="95" name="N17/notch-system/button-Do Not Disturb/084"/>
            <p:cNvSpPr/>
            <p:nvPr/>
          </p:nvSpPr>
          <p:spPr>
            <a:xfrm>
              <a:off x="746760" y="3956304"/>
              <a:ext cx="1828800" cy="438912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N17/notch-system/ellipse/085"/>
            <p:cNvSpPr/>
            <p:nvPr/>
          </p:nvSpPr>
          <p:spPr>
            <a:xfrm>
              <a:off x="727252" y="4114800"/>
              <a:ext cx="121920" cy="121920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N17/notch-system/line/086"/>
            <p:cNvCxnSpPr/>
            <p:nvPr/>
          </p:nvCxnSpPr>
          <p:spPr>
            <a:xfrm flipV="1">
              <a:off x="739444" y="4126992"/>
              <a:ext cx="97536" cy="97536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N17/notch-system/text/087"/>
            <p:cNvSpPr txBox="1"/>
            <p:nvPr/>
          </p:nvSpPr>
          <p:spPr>
            <a:xfrm>
              <a:off x="958900" y="3956304"/>
              <a:ext cx="1567891" cy="4389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E5E5EA"/>
                  </a:solidFill>
                  <a:latin typeface="Arial"/>
                </a:rPr>
                <a:t>Do Not Disturb</a:t>
              </a:r>
            </a:p>
          </p:txBody>
        </p:sp>
        <p:sp>
          <p:nvSpPr>
            <p:cNvPr id="99" name="N17/notch-system/button-Night Light/088"/>
            <p:cNvSpPr/>
            <p:nvPr/>
          </p:nvSpPr>
          <p:spPr>
            <a:xfrm>
              <a:off x="2673095" y="3956304"/>
              <a:ext cx="1828800" cy="438912"/>
            </a:xfrm>
            <a:prstGeom prst="roundRect">
              <a:avLst>
                <a:gd name="adj" fmla="val 27777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N17/notch-system/poly/089"/>
            <p:cNvSpPr/>
            <p:nvPr/>
          </p:nvSpPr>
          <p:spPr>
            <a:xfrm>
              <a:off x="2845003" y="4102608"/>
              <a:ext cx="97536" cy="146304"/>
            </a:xfrm>
            <a:custGeom>
              <a:avLst/>
              <a:gdLst/>
              <a:ahLst/>
              <a:cxnLst/>
              <a:rect l="l" t="t" r="r" b="b"/>
              <a:pathLst>
                <a:path w="97536" h="146304">
                  <a:moveTo>
                    <a:pt x="73152" y="0"/>
                  </a:moveTo>
                  <a:lnTo>
                    <a:pt x="24384" y="12192"/>
                  </a:lnTo>
                  <a:lnTo>
                    <a:pt x="0" y="48768"/>
                  </a:lnTo>
                  <a:lnTo>
                    <a:pt x="0" y="97536"/>
                  </a:lnTo>
                  <a:lnTo>
                    <a:pt x="24384" y="134112"/>
                  </a:lnTo>
                  <a:lnTo>
                    <a:pt x="73152" y="146304"/>
                  </a:lnTo>
                  <a:lnTo>
                    <a:pt x="97536" y="121920"/>
                  </a:lnTo>
                  <a:lnTo>
                    <a:pt x="60960" y="109728"/>
                  </a:lnTo>
                  <a:lnTo>
                    <a:pt x="36576" y="73152"/>
                  </a:lnTo>
                  <a:lnTo>
                    <a:pt x="48768" y="36576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N17/notch-system/text/090"/>
            <p:cNvSpPr txBox="1"/>
            <p:nvPr/>
          </p:nvSpPr>
          <p:spPr>
            <a:xfrm>
              <a:off x="3064459" y="3956304"/>
              <a:ext cx="1388668" cy="4389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E5E5EA"/>
                  </a:solidFill>
                  <a:latin typeface="Arial"/>
                </a:rPr>
                <a:t>Night Light</a:t>
              </a:r>
            </a:p>
          </p:txBody>
        </p:sp>
        <p:sp>
          <p:nvSpPr>
            <p:cNvPr id="102" name="N17/notch-system/button-Dark Mode/091"/>
            <p:cNvSpPr/>
            <p:nvPr/>
          </p:nvSpPr>
          <p:spPr>
            <a:xfrm>
              <a:off x="4599431" y="3956304"/>
              <a:ext cx="1828800" cy="438912"/>
            </a:xfrm>
            <a:prstGeom prst="roundRect">
              <a:avLst>
                <a:gd name="adj" fmla="val 27777"/>
              </a:avLst>
            </a:prstGeom>
            <a:solidFill>
              <a:srgbClr val="F5F5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N17/notch-system/ellipse/092"/>
            <p:cNvSpPr/>
            <p:nvPr/>
          </p:nvSpPr>
          <p:spPr>
            <a:xfrm>
              <a:off x="4878628" y="4114800"/>
              <a:ext cx="121920" cy="121920"/>
            </a:xfrm>
            <a:prstGeom prst="ellipse">
              <a:avLst/>
            </a:prstGeom>
            <a:noFill/>
            <a:ln w="1016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N17/notch-system/poly/093"/>
            <p:cNvSpPr/>
            <p:nvPr/>
          </p:nvSpPr>
          <p:spPr>
            <a:xfrm>
              <a:off x="4939588" y="4114800"/>
              <a:ext cx="60960" cy="121920"/>
            </a:xfrm>
            <a:custGeom>
              <a:avLst/>
              <a:gdLst/>
              <a:ahLst/>
              <a:cxnLst/>
              <a:rect l="l" t="t" r="r" b="b"/>
              <a:pathLst>
                <a:path w="60960" h="121920">
                  <a:moveTo>
                    <a:pt x="0" y="0"/>
                  </a:moveTo>
                  <a:lnTo>
                    <a:pt x="0" y="121920"/>
                  </a:lnTo>
                  <a:lnTo>
                    <a:pt x="36576" y="109728"/>
                  </a:lnTo>
                  <a:lnTo>
                    <a:pt x="60960" y="60960"/>
                  </a:lnTo>
                  <a:lnTo>
                    <a:pt x="36576" y="12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N17/notch-system/text/094"/>
            <p:cNvSpPr txBox="1"/>
            <p:nvPr/>
          </p:nvSpPr>
          <p:spPr>
            <a:xfrm>
              <a:off x="5110276" y="3956304"/>
              <a:ext cx="1269187" cy="4389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000000"/>
                  </a:solidFill>
                  <a:latin typeface="Arial"/>
                </a:rPr>
                <a:t>Dark Mode</a:t>
              </a:r>
            </a:p>
          </p:txBody>
        </p:sp>
        <p:sp>
          <p:nvSpPr>
            <p:cNvPr id="106" name="N17/notch-system/text/095"/>
            <p:cNvSpPr txBox="1"/>
            <p:nvPr/>
          </p:nvSpPr>
          <p:spPr>
            <a:xfrm>
              <a:off x="746760" y="4443984"/>
              <a:ext cx="7315200" cy="2438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4" b="0" i="0">
                  <a:solidFill>
                    <a:srgbClr val="98989D"/>
                  </a:solidFill>
                  <a:latin typeface="Arial"/>
                </a:rPr>
                <a:t>Sampling runs only while this page is visible. Network uses the default IPv4 interface.</a:t>
              </a:r>
            </a:p>
          </p:txBody>
        </p:sp>
      </p:grpSp>
      <p:sp>
        <p:nvSpPr>
          <p:cNvPr id="107" name="N17/text/010"/>
          <p:cNvSpPr txBox="1"/>
          <p:nvPr/>
        </p:nvSpPr>
        <p:spPr>
          <a:xfrm>
            <a:off x="502920" y="521208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CPU/network use '…' while sampling; memory/battery use '—' when unavailable. Details say 'Waiting for sample'.</a:t>
            </a:r>
          </a:p>
        </p:txBody>
      </p:sp>
      <p:sp>
        <p:nvSpPr>
          <p:cNvPr id="108" name="N17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N17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10" name="N17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N17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fake zero values</a:t>
            </a:r>
          </a:p>
        </p:txBody>
      </p:sp>
      <p:sp>
        <p:nvSpPr>
          <p:cNvPr id="112" name="N17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N17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Battery absent → AC</a:t>
            </a:r>
          </a:p>
        </p:txBody>
      </p:sp>
      <p:sp>
        <p:nvSpPr>
          <p:cNvPr id="114" name="N17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N17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Network absent → No interface</a:t>
            </a:r>
          </a:p>
        </p:txBody>
      </p:sp>
      <p:sp>
        <p:nvSpPr>
          <p:cNvPr id="116" name="N17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N17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Quick actions remain usable</a:t>
            </a:r>
          </a:p>
        </p:txBody>
      </p:sp>
      <p:cxnSp>
        <p:nvCxnSpPr>
          <p:cNvPr id="118" name="N17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N17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120" name="N17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N17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Placeholder glyphs / unavailable copy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QUICK ACTIONS</a:t>
            </a:r>
          </a:p>
        </p:txBody>
      </p:sp>
      <p:sp>
        <p:nvSpPr>
          <p:cNvPr id="5" name="N1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Off · on · locked · hidden</a:t>
            </a:r>
          </a:p>
        </p:txBody>
      </p:sp>
      <p:sp>
        <p:nvSpPr>
          <p:cNvPr id="6" name="N1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Shared by Home compact and System full labels</a:t>
            </a:r>
          </a:p>
        </p:txBody>
      </p:sp>
      <p:cxnSp>
        <p:nvCxnSpPr>
          <p:cNvPr id="7" name="N1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N18</a:t>
            </a:r>
          </a:p>
        </p:txBody>
      </p:sp>
      <p:sp>
        <p:nvSpPr>
          <p:cNvPr id="10" name="N1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18</a:t>
            </a:r>
          </a:p>
        </p:txBody>
      </p:sp>
      <p:sp>
        <p:nvSpPr>
          <p:cNvPr id="11" name="N18/text/010"/>
          <p:cNvSpPr txBox="1"/>
          <p:nvPr/>
        </p:nvSpPr>
        <p:spPr>
          <a:xfrm>
            <a:off x="502920" y="1828800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Off</a:t>
            </a:r>
          </a:p>
        </p:txBody>
      </p:sp>
      <p:sp>
        <p:nvSpPr>
          <p:cNvPr id="12" name="N18/button-Do Not Disturb/011"/>
          <p:cNvSpPr/>
          <p:nvPr/>
        </p:nvSpPr>
        <p:spPr>
          <a:xfrm>
            <a:off x="1737360" y="182880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18/ellipse/012"/>
          <p:cNvSpPr/>
          <p:nvPr/>
        </p:nvSpPr>
        <p:spPr>
          <a:xfrm>
            <a:off x="1719834" y="1971198"/>
            <a:ext cx="109537" cy="109537"/>
          </a:xfrm>
          <a:prstGeom prst="ellipse">
            <a:avLst/>
          </a:prstGeom>
          <a:noFill/>
          <a:ln w="1016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N18/line/013"/>
          <p:cNvCxnSpPr/>
          <p:nvPr/>
        </p:nvCxnSpPr>
        <p:spPr>
          <a:xfrm flipV="1">
            <a:off x="1730787" y="1982152"/>
            <a:ext cx="87630" cy="87630"/>
          </a:xfrm>
          <a:prstGeom prst="line">
            <a:avLst/>
          </a:prstGeom>
          <a:ln w="1016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N18/text/014"/>
          <p:cNvSpPr txBox="1"/>
          <p:nvPr/>
        </p:nvSpPr>
        <p:spPr>
          <a:xfrm>
            <a:off x="1927955" y="1828800"/>
            <a:ext cx="1408652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Do Not Disturb</a:t>
            </a:r>
          </a:p>
        </p:txBody>
      </p:sp>
      <p:sp>
        <p:nvSpPr>
          <p:cNvPr id="16" name="N18/button-Night Light/015"/>
          <p:cNvSpPr/>
          <p:nvPr/>
        </p:nvSpPr>
        <p:spPr>
          <a:xfrm>
            <a:off x="3468052" y="182880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18/poly/016"/>
          <p:cNvSpPr/>
          <p:nvPr/>
        </p:nvSpPr>
        <p:spPr>
          <a:xfrm>
            <a:off x="3622500" y="1960244"/>
            <a:ext cx="87630" cy="131445"/>
          </a:xfrm>
          <a:custGeom>
            <a:avLst/>
            <a:gdLst/>
            <a:ahLst/>
            <a:cxnLst/>
            <a:rect l="l" t="t" r="r" b="b"/>
            <a:pathLst>
              <a:path w="87630" h="131445">
                <a:moveTo>
                  <a:pt x="65722" y="0"/>
                </a:moveTo>
                <a:lnTo>
                  <a:pt x="21907" y="10954"/>
                </a:lnTo>
                <a:lnTo>
                  <a:pt x="0" y="43815"/>
                </a:lnTo>
                <a:lnTo>
                  <a:pt x="0" y="87630"/>
                </a:lnTo>
                <a:lnTo>
                  <a:pt x="21907" y="120492"/>
                </a:lnTo>
                <a:lnTo>
                  <a:pt x="65722" y="131445"/>
                </a:lnTo>
                <a:lnTo>
                  <a:pt x="87630" y="109538"/>
                </a:lnTo>
                <a:lnTo>
                  <a:pt x="54769" y="98584"/>
                </a:lnTo>
                <a:lnTo>
                  <a:pt x="32861" y="65723"/>
                </a:lnTo>
                <a:lnTo>
                  <a:pt x="43815" y="32862"/>
                </a:lnTo>
                <a:close/>
              </a:path>
            </a:pathLst>
          </a:cu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18/text/017"/>
          <p:cNvSpPr txBox="1"/>
          <p:nvPr/>
        </p:nvSpPr>
        <p:spPr>
          <a:xfrm>
            <a:off x="3819667" y="1828800"/>
            <a:ext cx="1247632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Night Light</a:t>
            </a:r>
          </a:p>
        </p:txBody>
      </p:sp>
      <p:sp>
        <p:nvSpPr>
          <p:cNvPr id="19" name="N18/button-Dark Mode/018"/>
          <p:cNvSpPr/>
          <p:nvPr/>
        </p:nvSpPr>
        <p:spPr>
          <a:xfrm>
            <a:off x="5198745" y="182880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18/ellipse/019"/>
          <p:cNvSpPr/>
          <p:nvPr/>
        </p:nvSpPr>
        <p:spPr>
          <a:xfrm>
            <a:off x="5449585" y="1971198"/>
            <a:ext cx="109537" cy="109537"/>
          </a:xfrm>
          <a:prstGeom prst="ellipse">
            <a:avLst/>
          </a:prstGeom>
          <a:noFill/>
          <a:ln w="1016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18/poly/020"/>
          <p:cNvSpPr/>
          <p:nvPr/>
        </p:nvSpPr>
        <p:spPr>
          <a:xfrm>
            <a:off x="5504354" y="1971198"/>
            <a:ext cx="54769" cy="109538"/>
          </a:xfrm>
          <a:custGeom>
            <a:avLst/>
            <a:gdLst/>
            <a:ahLst/>
            <a:cxnLst/>
            <a:rect l="l" t="t" r="r" b="b"/>
            <a:pathLst>
              <a:path w="54769" h="109538">
                <a:moveTo>
                  <a:pt x="0" y="0"/>
                </a:moveTo>
                <a:lnTo>
                  <a:pt x="0" y="109538"/>
                </a:lnTo>
                <a:lnTo>
                  <a:pt x="32861" y="98584"/>
                </a:lnTo>
                <a:lnTo>
                  <a:pt x="54769" y="54769"/>
                </a:lnTo>
                <a:lnTo>
                  <a:pt x="32861" y="10954"/>
                </a:lnTo>
                <a:close/>
              </a:path>
            </a:pathLst>
          </a:cu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18/text/021"/>
          <p:cNvSpPr txBox="1"/>
          <p:nvPr/>
        </p:nvSpPr>
        <p:spPr>
          <a:xfrm>
            <a:off x="5657707" y="1828800"/>
            <a:ext cx="1140285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Dark Mode</a:t>
            </a:r>
          </a:p>
        </p:txBody>
      </p:sp>
      <p:sp>
        <p:nvSpPr>
          <p:cNvPr id="23" name="N18/text/022"/>
          <p:cNvSpPr txBox="1"/>
          <p:nvPr/>
        </p:nvSpPr>
        <p:spPr>
          <a:xfrm>
            <a:off x="1737360" y="224028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Control fill #2C2C2E; text #E5E5EA</a:t>
            </a:r>
          </a:p>
        </p:txBody>
      </p:sp>
      <p:sp>
        <p:nvSpPr>
          <p:cNvPr id="24" name="N18/text/023"/>
          <p:cNvSpPr txBox="1"/>
          <p:nvPr/>
        </p:nvSpPr>
        <p:spPr>
          <a:xfrm>
            <a:off x="502920" y="2788920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On</a:t>
            </a:r>
          </a:p>
        </p:txBody>
      </p:sp>
      <p:sp>
        <p:nvSpPr>
          <p:cNvPr id="25" name="N18/button-Do Not Disturb/024"/>
          <p:cNvSpPr/>
          <p:nvPr/>
        </p:nvSpPr>
        <p:spPr>
          <a:xfrm>
            <a:off x="1737360" y="278892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18/ellipse/025"/>
          <p:cNvSpPr/>
          <p:nvPr/>
        </p:nvSpPr>
        <p:spPr>
          <a:xfrm>
            <a:off x="1719834" y="2931318"/>
            <a:ext cx="109537" cy="109537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N18/line/026"/>
          <p:cNvCxnSpPr/>
          <p:nvPr/>
        </p:nvCxnSpPr>
        <p:spPr>
          <a:xfrm flipV="1">
            <a:off x="1730787" y="2942272"/>
            <a:ext cx="87630" cy="87630"/>
          </a:xfrm>
          <a:prstGeom prst="line">
            <a:avLst/>
          </a:prstGeom>
          <a:ln w="101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18/text/027"/>
          <p:cNvSpPr txBox="1"/>
          <p:nvPr/>
        </p:nvSpPr>
        <p:spPr>
          <a:xfrm>
            <a:off x="1927955" y="2788920"/>
            <a:ext cx="1408652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Do Not Disturb</a:t>
            </a:r>
          </a:p>
        </p:txBody>
      </p:sp>
      <p:sp>
        <p:nvSpPr>
          <p:cNvPr id="29" name="N18/button-Night Light/028"/>
          <p:cNvSpPr/>
          <p:nvPr/>
        </p:nvSpPr>
        <p:spPr>
          <a:xfrm>
            <a:off x="3468052" y="278892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18/poly/029"/>
          <p:cNvSpPr/>
          <p:nvPr/>
        </p:nvSpPr>
        <p:spPr>
          <a:xfrm>
            <a:off x="3622500" y="2920364"/>
            <a:ext cx="87630" cy="131445"/>
          </a:xfrm>
          <a:custGeom>
            <a:avLst/>
            <a:gdLst/>
            <a:ahLst/>
            <a:cxnLst/>
            <a:rect l="l" t="t" r="r" b="b"/>
            <a:pathLst>
              <a:path w="87630" h="131445">
                <a:moveTo>
                  <a:pt x="65722" y="0"/>
                </a:moveTo>
                <a:lnTo>
                  <a:pt x="21907" y="10954"/>
                </a:lnTo>
                <a:lnTo>
                  <a:pt x="0" y="43815"/>
                </a:lnTo>
                <a:lnTo>
                  <a:pt x="0" y="87630"/>
                </a:lnTo>
                <a:lnTo>
                  <a:pt x="21907" y="120492"/>
                </a:lnTo>
                <a:lnTo>
                  <a:pt x="65722" y="131445"/>
                </a:lnTo>
                <a:lnTo>
                  <a:pt x="87630" y="109538"/>
                </a:lnTo>
                <a:lnTo>
                  <a:pt x="54769" y="98584"/>
                </a:lnTo>
                <a:lnTo>
                  <a:pt x="32861" y="65723"/>
                </a:lnTo>
                <a:lnTo>
                  <a:pt x="43815" y="3286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18/text/030"/>
          <p:cNvSpPr txBox="1"/>
          <p:nvPr/>
        </p:nvSpPr>
        <p:spPr>
          <a:xfrm>
            <a:off x="3819667" y="2788920"/>
            <a:ext cx="1247632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Night Light</a:t>
            </a:r>
          </a:p>
        </p:txBody>
      </p:sp>
      <p:sp>
        <p:nvSpPr>
          <p:cNvPr id="32" name="N18/button-Dark Mode/031"/>
          <p:cNvSpPr/>
          <p:nvPr/>
        </p:nvSpPr>
        <p:spPr>
          <a:xfrm>
            <a:off x="5198745" y="2788920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18/ellipse/032"/>
          <p:cNvSpPr/>
          <p:nvPr/>
        </p:nvSpPr>
        <p:spPr>
          <a:xfrm>
            <a:off x="5449585" y="2931318"/>
            <a:ext cx="109537" cy="109537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18/poly/033"/>
          <p:cNvSpPr/>
          <p:nvPr/>
        </p:nvSpPr>
        <p:spPr>
          <a:xfrm>
            <a:off x="5504354" y="2931318"/>
            <a:ext cx="54769" cy="109538"/>
          </a:xfrm>
          <a:custGeom>
            <a:avLst/>
            <a:gdLst/>
            <a:ahLst/>
            <a:cxnLst/>
            <a:rect l="l" t="t" r="r" b="b"/>
            <a:pathLst>
              <a:path w="54769" h="109538">
                <a:moveTo>
                  <a:pt x="0" y="0"/>
                </a:moveTo>
                <a:lnTo>
                  <a:pt x="0" y="109538"/>
                </a:lnTo>
                <a:lnTo>
                  <a:pt x="32861" y="98584"/>
                </a:lnTo>
                <a:lnTo>
                  <a:pt x="54769" y="54769"/>
                </a:lnTo>
                <a:lnTo>
                  <a:pt x="32861" y="1095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18/text/034"/>
          <p:cNvSpPr txBox="1"/>
          <p:nvPr/>
        </p:nvSpPr>
        <p:spPr>
          <a:xfrm>
            <a:off x="5657707" y="2788920"/>
            <a:ext cx="1140285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Dark Mode</a:t>
            </a:r>
          </a:p>
        </p:txBody>
      </p:sp>
      <p:sp>
        <p:nvSpPr>
          <p:cNvPr id="36" name="N18/text/035"/>
          <p:cNvSpPr txBox="1"/>
          <p:nvPr/>
        </p:nvSpPr>
        <p:spPr>
          <a:xfrm>
            <a:off x="1737360" y="320040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Active fill #F5F5F7; text #000000</a:t>
            </a:r>
          </a:p>
        </p:txBody>
      </p:sp>
      <p:sp>
        <p:nvSpPr>
          <p:cNvPr id="37" name="N18/text/036"/>
          <p:cNvSpPr txBox="1"/>
          <p:nvPr/>
        </p:nvSpPr>
        <p:spPr>
          <a:xfrm>
            <a:off x="502920" y="374903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Mixed</a:t>
            </a:r>
          </a:p>
        </p:txBody>
      </p:sp>
      <p:sp>
        <p:nvSpPr>
          <p:cNvPr id="38" name="N18/button-Do Not Disturb/037"/>
          <p:cNvSpPr/>
          <p:nvPr/>
        </p:nvSpPr>
        <p:spPr>
          <a:xfrm>
            <a:off x="1737360" y="374903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18/ellipse/038"/>
          <p:cNvSpPr/>
          <p:nvPr/>
        </p:nvSpPr>
        <p:spPr>
          <a:xfrm>
            <a:off x="1719834" y="3891438"/>
            <a:ext cx="109537" cy="109537"/>
          </a:xfrm>
          <a:prstGeom prst="ellipse">
            <a:avLst/>
          </a:prstGeom>
          <a:noFill/>
          <a:ln w="1016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N18/line/039"/>
          <p:cNvCxnSpPr/>
          <p:nvPr/>
        </p:nvCxnSpPr>
        <p:spPr>
          <a:xfrm flipV="1">
            <a:off x="1730787" y="3902392"/>
            <a:ext cx="87630" cy="87630"/>
          </a:xfrm>
          <a:prstGeom prst="line">
            <a:avLst/>
          </a:prstGeom>
          <a:ln w="1016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N18/text/040"/>
          <p:cNvSpPr txBox="1"/>
          <p:nvPr/>
        </p:nvSpPr>
        <p:spPr>
          <a:xfrm>
            <a:off x="1927955" y="3749039"/>
            <a:ext cx="1408652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Do Not Disturb</a:t>
            </a:r>
          </a:p>
        </p:txBody>
      </p:sp>
      <p:sp>
        <p:nvSpPr>
          <p:cNvPr id="42" name="N18/button-Night Light/041"/>
          <p:cNvSpPr/>
          <p:nvPr/>
        </p:nvSpPr>
        <p:spPr>
          <a:xfrm>
            <a:off x="3468052" y="374903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18/poly/042"/>
          <p:cNvSpPr/>
          <p:nvPr/>
        </p:nvSpPr>
        <p:spPr>
          <a:xfrm>
            <a:off x="3622500" y="3880485"/>
            <a:ext cx="87630" cy="131445"/>
          </a:xfrm>
          <a:custGeom>
            <a:avLst/>
            <a:gdLst/>
            <a:ahLst/>
            <a:cxnLst/>
            <a:rect l="l" t="t" r="r" b="b"/>
            <a:pathLst>
              <a:path w="87630" h="131445">
                <a:moveTo>
                  <a:pt x="65722" y="0"/>
                </a:moveTo>
                <a:lnTo>
                  <a:pt x="21907" y="10953"/>
                </a:lnTo>
                <a:lnTo>
                  <a:pt x="0" y="43815"/>
                </a:lnTo>
                <a:lnTo>
                  <a:pt x="0" y="87630"/>
                </a:lnTo>
                <a:lnTo>
                  <a:pt x="21907" y="120491"/>
                </a:lnTo>
                <a:lnTo>
                  <a:pt x="65722" y="131445"/>
                </a:lnTo>
                <a:lnTo>
                  <a:pt x="87630" y="109537"/>
                </a:lnTo>
                <a:lnTo>
                  <a:pt x="54769" y="98583"/>
                </a:lnTo>
                <a:lnTo>
                  <a:pt x="32861" y="65722"/>
                </a:lnTo>
                <a:lnTo>
                  <a:pt x="43815" y="3286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18/text/043"/>
          <p:cNvSpPr txBox="1"/>
          <p:nvPr/>
        </p:nvSpPr>
        <p:spPr>
          <a:xfrm>
            <a:off x="3819667" y="3749039"/>
            <a:ext cx="1247632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Night Light</a:t>
            </a:r>
          </a:p>
        </p:txBody>
      </p:sp>
      <p:sp>
        <p:nvSpPr>
          <p:cNvPr id="45" name="N18/button-Dark Mode/044"/>
          <p:cNvSpPr/>
          <p:nvPr/>
        </p:nvSpPr>
        <p:spPr>
          <a:xfrm>
            <a:off x="5198745" y="374903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18/ellipse/045"/>
          <p:cNvSpPr/>
          <p:nvPr/>
        </p:nvSpPr>
        <p:spPr>
          <a:xfrm>
            <a:off x="5449585" y="3891438"/>
            <a:ext cx="109537" cy="109537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18/poly/046"/>
          <p:cNvSpPr/>
          <p:nvPr/>
        </p:nvSpPr>
        <p:spPr>
          <a:xfrm>
            <a:off x="5504354" y="3891438"/>
            <a:ext cx="54769" cy="109538"/>
          </a:xfrm>
          <a:custGeom>
            <a:avLst/>
            <a:gdLst/>
            <a:ahLst/>
            <a:cxnLst/>
            <a:rect l="l" t="t" r="r" b="b"/>
            <a:pathLst>
              <a:path w="54769" h="109538">
                <a:moveTo>
                  <a:pt x="0" y="0"/>
                </a:moveTo>
                <a:lnTo>
                  <a:pt x="0" y="109538"/>
                </a:lnTo>
                <a:lnTo>
                  <a:pt x="32861" y="98584"/>
                </a:lnTo>
                <a:lnTo>
                  <a:pt x="54769" y="54769"/>
                </a:lnTo>
                <a:lnTo>
                  <a:pt x="32861" y="1095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18/text/047"/>
          <p:cNvSpPr txBox="1"/>
          <p:nvPr/>
        </p:nvSpPr>
        <p:spPr>
          <a:xfrm>
            <a:off x="5657707" y="3749039"/>
            <a:ext cx="1140285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Dark Mode</a:t>
            </a:r>
          </a:p>
        </p:txBody>
      </p:sp>
      <p:sp>
        <p:nvSpPr>
          <p:cNvPr id="49" name="N18/text/048"/>
          <p:cNvSpPr txBox="1"/>
          <p:nvPr/>
        </p:nvSpPr>
        <p:spPr>
          <a:xfrm>
            <a:off x="1737360" y="416052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Each toggle reflects its own GSettings key</a:t>
            </a:r>
          </a:p>
        </p:txBody>
      </p:sp>
      <p:sp>
        <p:nvSpPr>
          <p:cNvPr id="50" name="N18/text/049"/>
          <p:cNvSpPr txBox="1"/>
          <p:nvPr/>
        </p:nvSpPr>
        <p:spPr>
          <a:xfrm>
            <a:off x="502920" y="4709159"/>
            <a:ext cx="10972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Locked</a:t>
            </a:r>
          </a:p>
        </p:txBody>
      </p:sp>
      <p:sp>
        <p:nvSpPr>
          <p:cNvPr id="51" name="N18/button-Do Not Disturb/050"/>
          <p:cNvSpPr/>
          <p:nvPr/>
        </p:nvSpPr>
        <p:spPr>
          <a:xfrm>
            <a:off x="1737360" y="470915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18/ellipse/051"/>
          <p:cNvSpPr/>
          <p:nvPr/>
        </p:nvSpPr>
        <p:spPr>
          <a:xfrm>
            <a:off x="1719834" y="4851558"/>
            <a:ext cx="109537" cy="109537"/>
          </a:xfrm>
          <a:prstGeom prst="ellipse">
            <a:avLst/>
          </a:prstGeom>
          <a:noFill/>
          <a:ln w="10160">
            <a:solidFill>
              <a:srgbClr val="E5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N18/line/052"/>
          <p:cNvCxnSpPr/>
          <p:nvPr/>
        </p:nvCxnSpPr>
        <p:spPr>
          <a:xfrm flipV="1">
            <a:off x="1730787" y="4862512"/>
            <a:ext cx="87630" cy="87630"/>
          </a:xfrm>
          <a:prstGeom prst="line">
            <a:avLst/>
          </a:prstGeom>
          <a:ln w="10160">
            <a:solidFill>
              <a:srgbClr val="E5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N18/text/053"/>
          <p:cNvSpPr txBox="1"/>
          <p:nvPr/>
        </p:nvSpPr>
        <p:spPr>
          <a:xfrm>
            <a:off x="1927955" y="4709159"/>
            <a:ext cx="1408652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Do Not Disturb</a:t>
            </a:r>
          </a:p>
        </p:txBody>
      </p:sp>
      <p:sp>
        <p:nvSpPr>
          <p:cNvPr id="55" name="N18/button-Night Light/054"/>
          <p:cNvSpPr/>
          <p:nvPr/>
        </p:nvSpPr>
        <p:spPr>
          <a:xfrm>
            <a:off x="3468052" y="470915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N18/poly/055"/>
          <p:cNvSpPr/>
          <p:nvPr/>
        </p:nvSpPr>
        <p:spPr>
          <a:xfrm>
            <a:off x="3622500" y="4840605"/>
            <a:ext cx="87630" cy="131445"/>
          </a:xfrm>
          <a:custGeom>
            <a:avLst/>
            <a:gdLst/>
            <a:ahLst/>
            <a:cxnLst/>
            <a:rect l="l" t="t" r="r" b="b"/>
            <a:pathLst>
              <a:path w="87630" h="131445">
                <a:moveTo>
                  <a:pt x="65722" y="0"/>
                </a:moveTo>
                <a:lnTo>
                  <a:pt x="21907" y="10953"/>
                </a:lnTo>
                <a:lnTo>
                  <a:pt x="0" y="43815"/>
                </a:lnTo>
                <a:lnTo>
                  <a:pt x="0" y="87630"/>
                </a:lnTo>
                <a:lnTo>
                  <a:pt x="21907" y="120491"/>
                </a:lnTo>
                <a:lnTo>
                  <a:pt x="65722" y="131445"/>
                </a:lnTo>
                <a:lnTo>
                  <a:pt x="87630" y="109537"/>
                </a:lnTo>
                <a:lnTo>
                  <a:pt x="54769" y="98583"/>
                </a:lnTo>
                <a:lnTo>
                  <a:pt x="32861" y="65722"/>
                </a:lnTo>
                <a:lnTo>
                  <a:pt x="43815" y="32861"/>
                </a:lnTo>
                <a:close/>
              </a:path>
            </a:pathLst>
          </a:cu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18/text/056"/>
          <p:cNvSpPr txBox="1"/>
          <p:nvPr/>
        </p:nvSpPr>
        <p:spPr>
          <a:xfrm>
            <a:off x="3819667" y="4709159"/>
            <a:ext cx="1247632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E5E5EA"/>
                </a:solidFill>
                <a:latin typeface="Arial"/>
              </a:rPr>
              <a:t>Night Light</a:t>
            </a:r>
          </a:p>
        </p:txBody>
      </p:sp>
      <p:sp>
        <p:nvSpPr>
          <p:cNvPr id="58" name="N18/button-Dark Mode/057"/>
          <p:cNvSpPr/>
          <p:nvPr/>
        </p:nvSpPr>
        <p:spPr>
          <a:xfrm>
            <a:off x="5198745" y="4709159"/>
            <a:ext cx="1643062" cy="394334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18/ellipse/058"/>
          <p:cNvSpPr/>
          <p:nvPr/>
        </p:nvSpPr>
        <p:spPr>
          <a:xfrm>
            <a:off x="5449585" y="4851558"/>
            <a:ext cx="109537" cy="109537"/>
          </a:xfrm>
          <a:prstGeom prst="ellipse">
            <a:avLst/>
          </a:pr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18/poly/059"/>
          <p:cNvSpPr/>
          <p:nvPr/>
        </p:nvSpPr>
        <p:spPr>
          <a:xfrm>
            <a:off x="5504354" y="4851558"/>
            <a:ext cx="54769" cy="109538"/>
          </a:xfrm>
          <a:custGeom>
            <a:avLst/>
            <a:gdLst/>
            <a:ahLst/>
            <a:cxnLst/>
            <a:rect l="l" t="t" r="r" b="b"/>
            <a:pathLst>
              <a:path w="54769" h="109538">
                <a:moveTo>
                  <a:pt x="0" y="0"/>
                </a:moveTo>
                <a:lnTo>
                  <a:pt x="0" y="109538"/>
                </a:lnTo>
                <a:lnTo>
                  <a:pt x="32861" y="98584"/>
                </a:lnTo>
                <a:lnTo>
                  <a:pt x="54769" y="54769"/>
                </a:lnTo>
                <a:lnTo>
                  <a:pt x="32861" y="1095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18/text/060"/>
          <p:cNvSpPr txBox="1"/>
          <p:nvPr/>
        </p:nvSpPr>
        <p:spPr>
          <a:xfrm>
            <a:off x="5657707" y="4709159"/>
            <a:ext cx="1140285" cy="39433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000000"/>
                </a:solidFill>
                <a:latin typeface="Arial"/>
              </a:rPr>
              <a:t>Dark Mode</a:t>
            </a:r>
          </a:p>
        </p:txBody>
      </p:sp>
      <p:sp>
        <p:nvSpPr>
          <p:cNvPr id="62" name="N18/text/061"/>
          <p:cNvSpPr txBox="1"/>
          <p:nvPr/>
        </p:nvSpPr>
        <p:spPr>
          <a:xfrm>
            <a:off x="1737360" y="5120640"/>
            <a:ext cx="621792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Policy-locked keys are non-reactive; error explains lock</a:t>
            </a:r>
          </a:p>
        </p:txBody>
      </p:sp>
      <p:sp>
        <p:nvSpPr>
          <p:cNvPr id="63" name="N18/text/062"/>
          <p:cNvSpPr txBox="1"/>
          <p:nvPr/>
        </p:nvSpPr>
        <p:spPr>
          <a:xfrm>
            <a:off x="502920" y="5760720"/>
            <a:ext cx="758952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Hidden: Settings → Behavior → Quick actions removes the corresponding button from both pages.</a:t>
            </a:r>
          </a:p>
        </p:txBody>
      </p:sp>
      <p:sp>
        <p:nvSpPr>
          <p:cNvPr id="64" name="N18/spec-panel/063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18/text/064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6" name="N18/ellipse/065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18/text/066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Focus = inverted show-banners</a:t>
            </a:r>
          </a:p>
        </p:txBody>
      </p:sp>
      <p:sp>
        <p:nvSpPr>
          <p:cNvPr id="68" name="N18/ellipse/067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18/text/068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Night = night-light-enabled</a:t>
            </a:r>
          </a:p>
        </p:txBody>
      </p:sp>
      <p:sp>
        <p:nvSpPr>
          <p:cNvPr id="70" name="N18/ellipse/069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18/text/070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Dark = color-scheme prefer-dark</a:t>
            </a:r>
          </a:p>
        </p:txBody>
      </p:sp>
      <p:sp>
        <p:nvSpPr>
          <p:cNvPr id="72" name="N18/ellipse/071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18/text/072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Locked → '… is locked by system policy.'</a:t>
            </a:r>
          </a:p>
        </p:txBody>
      </p:sp>
      <p:cxnSp>
        <p:nvCxnSpPr>
          <p:cNvPr id="74" name="N18/line/073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N18/text/074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76" name="N18/edit-box/075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18/edit-note/076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Label length / active contrast / locked style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1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1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1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SHELF PAGE</a:t>
            </a:r>
          </a:p>
        </p:txBody>
      </p:sp>
      <p:sp>
        <p:nvSpPr>
          <p:cNvPr id="5" name="N1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Shelf — ready, empty</a:t>
            </a:r>
          </a:p>
        </p:txBody>
      </p:sp>
      <p:sp>
        <p:nvSpPr>
          <p:cNvPr id="6" name="N1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640×260 · helper connected · no references yet</a:t>
            </a:r>
          </a:p>
        </p:txBody>
      </p:sp>
      <p:cxnSp>
        <p:nvCxnSpPr>
          <p:cNvPr id="7" name="N1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1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1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N19</a:t>
            </a:r>
          </a:p>
        </p:txBody>
      </p:sp>
      <p:sp>
        <p:nvSpPr>
          <p:cNvPr id="10" name="N1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19</a:t>
            </a:r>
          </a:p>
        </p:txBody>
      </p:sp>
      <p:grpSp>
        <p:nvGrpSpPr>
          <p:cNvPr id="11" name="N19/notch-shelf"/>
          <p:cNvGrpSpPr/>
          <p:nvPr/>
        </p:nvGrpSpPr>
        <p:grpSpPr>
          <a:xfrm>
            <a:off x="502920" y="1737360"/>
            <a:ext cx="7802880" cy="3169920"/>
            <a:chOff x="502920" y="1737360"/>
            <a:chExt cx="7802880" cy="3169920"/>
          </a:xfrm>
        </p:grpSpPr>
        <p:sp>
          <p:nvSpPr>
            <p:cNvPr id="12" name="N19/notch-shelf/notch-surface-open/001"/>
            <p:cNvSpPr/>
            <p:nvPr/>
          </p:nvSpPr>
          <p:spPr>
            <a:xfrm>
              <a:off x="502920" y="1737360"/>
              <a:ext cx="7802880" cy="3169920"/>
            </a:xfrm>
            <a:custGeom>
              <a:avLst/>
              <a:gdLst/>
              <a:ahLst/>
              <a:cxnLst/>
              <a:rect l="l" t="t" r="r" b="b"/>
              <a:pathLst>
                <a:path w="7802880" h="3169920">
                  <a:moveTo>
                    <a:pt x="0" y="0"/>
                  </a:moveTo>
                  <a:lnTo>
                    <a:pt x="7802880" y="0"/>
                  </a:lnTo>
                  <a:lnTo>
                    <a:pt x="7770756" y="3619"/>
                  </a:lnTo>
                  <a:lnTo>
                    <a:pt x="7734109" y="14478"/>
                  </a:lnTo>
                  <a:lnTo>
                    <a:pt x="7695652" y="32575"/>
                  </a:lnTo>
                  <a:lnTo>
                    <a:pt x="7658100" y="57912"/>
                  </a:lnTo>
                  <a:lnTo>
                    <a:pt x="7624167" y="90487"/>
                  </a:lnTo>
                  <a:lnTo>
                    <a:pt x="7596568" y="130302"/>
                  </a:lnTo>
                  <a:lnTo>
                    <a:pt x="7578018" y="177355"/>
                  </a:lnTo>
                  <a:lnTo>
                    <a:pt x="7571232" y="231648"/>
                  </a:lnTo>
                  <a:lnTo>
                    <a:pt x="7565609" y="2934396"/>
                  </a:lnTo>
                  <a:lnTo>
                    <a:pt x="7548958" y="2989288"/>
                  </a:lnTo>
                  <a:lnTo>
                    <a:pt x="7521918" y="3039876"/>
                  </a:lnTo>
                  <a:lnTo>
                    <a:pt x="7485529" y="3084217"/>
                  </a:lnTo>
                  <a:lnTo>
                    <a:pt x="7441188" y="3120606"/>
                  </a:lnTo>
                  <a:lnTo>
                    <a:pt x="7390600" y="3147646"/>
                  </a:lnTo>
                  <a:lnTo>
                    <a:pt x="7335708" y="3164297"/>
                  </a:lnTo>
                  <a:lnTo>
                    <a:pt x="7278624" y="3169920"/>
                  </a:lnTo>
                  <a:lnTo>
                    <a:pt x="524256" y="3169920"/>
                  </a:lnTo>
                  <a:lnTo>
                    <a:pt x="467171" y="3164297"/>
                  </a:lnTo>
                  <a:lnTo>
                    <a:pt x="412279" y="3147646"/>
                  </a:lnTo>
                  <a:lnTo>
                    <a:pt x="361691" y="3120606"/>
                  </a:lnTo>
                  <a:lnTo>
                    <a:pt x="317350" y="3084217"/>
                  </a:lnTo>
                  <a:lnTo>
                    <a:pt x="280961" y="3039876"/>
                  </a:lnTo>
                  <a:lnTo>
                    <a:pt x="253921" y="2989288"/>
                  </a:lnTo>
                  <a:lnTo>
                    <a:pt x="237270" y="2934396"/>
                  </a:lnTo>
                  <a:lnTo>
                    <a:pt x="231648" y="287731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1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19/notch-shelf/button-home/002"/>
            <p:cNvSpPr/>
            <p:nvPr/>
          </p:nvSpPr>
          <p:spPr>
            <a:xfrm>
              <a:off x="746760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19/notch-shelf/poly/003"/>
            <p:cNvSpPr/>
            <p:nvPr/>
          </p:nvSpPr>
          <p:spPr>
            <a:xfrm>
              <a:off x="868680" y="2420112"/>
              <a:ext cx="146304" cy="146303"/>
            </a:xfrm>
            <a:custGeom>
              <a:avLst/>
              <a:gdLst/>
              <a:ahLst/>
              <a:cxnLst/>
              <a:rect l="l" t="t" r="r" b="b"/>
              <a:pathLst>
                <a:path w="146304" h="146303">
                  <a:moveTo>
                    <a:pt x="73152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4" y="97535"/>
                  </a:lnTo>
                  <a:lnTo>
                    <a:pt x="85344" y="146303"/>
                  </a:lnTo>
                  <a:lnTo>
                    <a:pt x="121919" y="146303"/>
                  </a:lnTo>
                  <a:lnTo>
                    <a:pt x="121919" y="60959"/>
                  </a:lnTo>
                  <a:lnTo>
                    <a:pt x="146304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19/notch-shelf/button-music/004"/>
            <p:cNvSpPr/>
            <p:nvPr/>
          </p:nvSpPr>
          <p:spPr>
            <a:xfrm>
              <a:off x="1185672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19/notch-shelf/line/005"/>
            <p:cNvCxnSpPr/>
            <p:nvPr/>
          </p:nvCxnSpPr>
          <p:spPr>
            <a:xfrm flipV="1">
              <a:off x="1356360" y="2444495"/>
              <a:ext cx="0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19/notch-shelf/line/006"/>
            <p:cNvCxnSpPr/>
            <p:nvPr/>
          </p:nvCxnSpPr>
          <p:spPr>
            <a:xfrm flipV="1">
              <a:off x="1356360" y="2432303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19/notch-shelf/line/007"/>
            <p:cNvCxnSpPr/>
            <p:nvPr/>
          </p:nvCxnSpPr>
          <p:spPr>
            <a:xfrm>
              <a:off x="1441704" y="2432303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19/notch-shelf/ellipse/008"/>
            <p:cNvSpPr/>
            <p:nvPr/>
          </p:nvSpPr>
          <p:spPr>
            <a:xfrm>
              <a:off x="1319784" y="2523744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19/notch-shelf/ellipse/009"/>
            <p:cNvSpPr/>
            <p:nvPr/>
          </p:nvSpPr>
          <p:spPr>
            <a:xfrm>
              <a:off x="1405128" y="2511551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19/notch-shelf/button-bell/010"/>
            <p:cNvSpPr/>
            <p:nvPr/>
          </p:nvSpPr>
          <p:spPr>
            <a:xfrm>
              <a:off x="1624584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19/notch-shelf/poly/011"/>
            <p:cNvSpPr/>
            <p:nvPr/>
          </p:nvSpPr>
          <p:spPr>
            <a:xfrm>
              <a:off x="1758696" y="242011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60" y="0"/>
                  </a:moveTo>
                  <a:lnTo>
                    <a:pt x="24384" y="24383"/>
                  </a:lnTo>
                  <a:lnTo>
                    <a:pt x="12191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5" y="2438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19/notch-shelf/line/012"/>
            <p:cNvCxnSpPr/>
            <p:nvPr/>
          </p:nvCxnSpPr>
          <p:spPr>
            <a:xfrm>
              <a:off x="1795272" y="2554223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19/notch-shelf/ellipse/013"/>
            <p:cNvSpPr/>
            <p:nvPr/>
          </p:nvSpPr>
          <p:spPr>
            <a:xfrm>
              <a:off x="1807464" y="2407919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19/notch-shelf/button-chart/014"/>
            <p:cNvSpPr/>
            <p:nvPr/>
          </p:nvSpPr>
          <p:spPr>
            <a:xfrm>
              <a:off x="2063496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19/notch-shelf/line/015"/>
            <p:cNvCxnSpPr/>
            <p:nvPr/>
          </p:nvCxnSpPr>
          <p:spPr>
            <a:xfrm>
              <a:off x="2185416" y="2566415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19/notch-shelf/line/016"/>
            <p:cNvCxnSpPr/>
            <p:nvPr/>
          </p:nvCxnSpPr>
          <p:spPr>
            <a:xfrm flipV="1">
              <a:off x="2197608" y="2481071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19/notch-shelf/line/017"/>
            <p:cNvCxnSpPr/>
            <p:nvPr/>
          </p:nvCxnSpPr>
          <p:spPr>
            <a:xfrm>
              <a:off x="2234184" y="2481071"/>
              <a:ext cx="36576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19/notch-shelf/line/018"/>
            <p:cNvCxnSpPr/>
            <p:nvPr/>
          </p:nvCxnSpPr>
          <p:spPr>
            <a:xfrm flipV="1">
              <a:off x="2270760" y="2432303"/>
              <a:ext cx="48768" cy="7315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19/notch-shelf/button-Shelf/019"/>
            <p:cNvSpPr/>
            <p:nvPr/>
          </p:nvSpPr>
          <p:spPr>
            <a:xfrm>
              <a:off x="2502408" y="2310383"/>
              <a:ext cx="1177747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19/notch-shelf/poly/020"/>
            <p:cNvSpPr/>
            <p:nvPr/>
          </p:nvSpPr>
          <p:spPr>
            <a:xfrm>
              <a:off x="2682849" y="245668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19/notch-shelf/text/021"/>
            <p:cNvSpPr txBox="1"/>
            <p:nvPr/>
          </p:nvSpPr>
          <p:spPr>
            <a:xfrm>
              <a:off x="2926689" y="2310383"/>
              <a:ext cx="704697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Shelf</a:t>
              </a:r>
            </a:p>
          </p:txBody>
        </p:sp>
        <p:sp>
          <p:nvSpPr>
            <p:cNvPr id="33" name="N19/notch-shelf/button-clipboard/022"/>
            <p:cNvSpPr/>
            <p:nvPr/>
          </p:nvSpPr>
          <p:spPr>
            <a:xfrm>
              <a:off x="3728923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19/notch-shelf/rect/023"/>
            <p:cNvSpPr/>
            <p:nvPr/>
          </p:nvSpPr>
          <p:spPr>
            <a:xfrm>
              <a:off x="3875227" y="243230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19/notch-shelf/rect/024"/>
            <p:cNvSpPr/>
            <p:nvPr/>
          </p:nvSpPr>
          <p:spPr>
            <a:xfrm>
              <a:off x="3899611" y="241401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19/notch-shelf/line/025"/>
            <p:cNvCxnSpPr/>
            <p:nvPr/>
          </p:nvCxnSpPr>
          <p:spPr>
            <a:xfrm>
              <a:off x="3899611" y="248107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19/notch-shelf/line/026"/>
            <p:cNvCxnSpPr/>
            <p:nvPr/>
          </p:nvCxnSpPr>
          <p:spPr>
            <a:xfrm>
              <a:off x="3899611" y="251155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19/notch-shelf/button-gear/027"/>
            <p:cNvSpPr/>
            <p:nvPr/>
          </p:nvSpPr>
          <p:spPr>
            <a:xfrm>
              <a:off x="7208520" y="229819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19/notch-shelf/ellipse/028"/>
            <p:cNvSpPr/>
            <p:nvPr/>
          </p:nvSpPr>
          <p:spPr>
            <a:xfrm>
              <a:off x="7367016" y="245668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19/notch-shelf/line/029"/>
            <p:cNvCxnSpPr/>
            <p:nvPr/>
          </p:nvCxnSpPr>
          <p:spPr>
            <a:xfrm>
              <a:off x="7464551" y="249326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19/notch-shelf/line/030"/>
            <p:cNvCxnSpPr/>
            <p:nvPr/>
          </p:nvCxnSpPr>
          <p:spPr>
            <a:xfrm>
              <a:off x="7446697" y="253636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19/notch-shelf/line/031"/>
            <p:cNvCxnSpPr/>
            <p:nvPr/>
          </p:nvCxnSpPr>
          <p:spPr>
            <a:xfrm>
              <a:off x="7403591" y="255422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19/notch-shelf/line/032"/>
            <p:cNvCxnSpPr/>
            <p:nvPr/>
          </p:nvCxnSpPr>
          <p:spPr>
            <a:xfrm flipH="1">
              <a:off x="7343244" y="253636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19/notch-shelf/line/033"/>
            <p:cNvCxnSpPr/>
            <p:nvPr/>
          </p:nvCxnSpPr>
          <p:spPr>
            <a:xfrm flipH="1">
              <a:off x="7318247" y="249326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19/notch-shelf/line/034"/>
            <p:cNvCxnSpPr/>
            <p:nvPr/>
          </p:nvCxnSpPr>
          <p:spPr>
            <a:xfrm flipH="1" flipV="1">
              <a:off x="7343244" y="243291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19/notch-shelf/line/035"/>
            <p:cNvCxnSpPr/>
            <p:nvPr/>
          </p:nvCxnSpPr>
          <p:spPr>
            <a:xfrm flipV="1">
              <a:off x="7403591" y="24079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19/notch-shelf/line/036"/>
            <p:cNvCxnSpPr/>
            <p:nvPr/>
          </p:nvCxnSpPr>
          <p:spPr>
            <a:xfrm flipV="1">
              <a:off x="7446697" y="243291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19/notch-shelf/button-close/037"/>
            <p:cNvSpPr/>
            <p:nvPr/>
          </p:nvSpPr>
          <p:spPr>
            <a:xfrm>
              <a:off x="7671816" y="229819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19/notch-shelf/line/038"/>
            <p:cNvCxnSpPr/>
            <p:nvPr/>
          </p:nvCxnSpPr>
          <p:spPr>
            <a:xfrm>
              <a:off x="7818120" y="2444495"/>
              <a:ext cx="97536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19/notch-shelf/line/039"/>
            <p:cNvCxnSpPr/>
            <p:nvPr/>
          </p:nvCxnSpPr>
          <p:spPr>
            <a:xfrm flipH="1">
              <a:off x="7818120" y="2444495"/>
              <a:ext cx="97536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19/notch-shelf/text/040"/>
            <p:cNvSpPr txBox="1"/>
            <p:nvPr/>
          </p:nvSpPr>
          <p:spPr>
            <a:xfrm>
              <a:off x="746760" y="2761487"/>
              <a:ext cx="2926080" cy="2682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Quick stash</a:t>
              </a:r>
            </a:p>
          </p:txBody>
        </p:sp>
        <p:sp>
          <p:nvSpPr>
            <p:cNvPr id="52" name="N19/notch-shelf/button-Add files/041"/>
            <p:cNvSpPr/>
            <p:nvPr/>
          </p:nvSpPr>
          <p:spPr>
            <a:xfrm>
              <a:off x="6062472" y="2737103"/>
              <a:ext cx="1121664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19/notch-shelf/line/042"/>
            <p:cNvCxnSpPr/>
            <p:nvPr/>
          </p:nvCxnSpPr>
          <p:spPr>
            <a:xfrm>
              <a:off x="6102827" y="2846831"/>
              <a:ext cx="0" cy="12192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19/notch-shelf/line/043"/>
            <p:cNvCxnSpPr/>
            <p:nvPr/>
          </p:nvCxnSpPr>
          <p:spPr>
            <a:xfrm>
              <a:off x="6041867" y="2907791"/>
              <a:ext cx="12192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19/notch-shelf/text/044"/>
            <p:cNvSpPr txBox="1"/>
            <p:nvPr/>
          </p:nvSpPr>
          <p:spPr>
            <a:xfrm>
              <a:off x="6273515" y="2737103"/>
              <a:ext cx="861852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Add files</a:t>
              </a:r>
            </a:p>
          </p:txBody>
        </p:sp>
        <p:sp>
          <p:nvSpPr>
            <p:cNvPr id="56" name="N19/notch-shelf/button-Clear/045"/>
            <p:cNvSpPr/>
            <p:nvPr/>
          </p:nvSpPr>
          <p:spPr>
            <a:xfrm>
              <a:off x="7281672" y="2737103"/>
              <a:ext cx="780288" cy="341376"/>
            </a:xfrm>
            <a:prstGeom prst="roundRect">
              <a:avLst>
                <a:gd name="adj" fmla="val 3571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N19/notch-shelf/line/046"/>
            <p:cNvCxnSpPr/>
            <p:nvPr/>
          </p:nvCxnSpPr>
          <p:spPr>
            <a:xfrm>
              <a:off x="7305446" y="2871215"/>
              <a:ext cx="121920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19/notch-shelf/rect/047"/>
            <p:cNvSpPr/>
            <p:nvPr/>
          </p:nvSpPr>
          <p:spPr>
            <a:xfrm>
              <a:off x="7329830" y="2871215"/>
              <a:ext cx="73152" cy="109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19/notch-shelf/line/048"/>
            <p:cNvCxnSpPr/>
            <p:nvPr/>
          </p:nvCxnSpPr>
          <p:spPr>
            <a:xfrm>
              <a:off x="7342022" y="2846831"/>
              <a:ext cx="48768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19/notch-shelf/line/049"/>
            <p:cNvCxnSpPr/>
            <p:nvPr/>
          </p:nvCxnSpPr>
          <p:spPr>
            <a:xfrm>
              <a:off x="7354214" y="2895599"/>
              <a:ext cx="0" cy="6096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19/notch-shelf/line/050"/>
            <p:cNvCxnSpPr/>
            <p:nvPr/>
          </p:nvCxnSpPr>
          <p:spPr>
            <a:xfrm>
              <a:off x="7378598" y="2895599"/>
              <a:ext cx="0" cy="6096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N19/notch-shelf/text/051"/>
            <p:cNvSpPr txBox="1"/>
            <p:nvPr/>
          </p:nvSpPr>
          <p:spPr>
            <a:xfrm>
              <a:off x="7537094" y="2737103"/>
              <a:ext cx="476097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636366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63" name="N19/notch-shelf/text/052"/>
            <p:cNvSpPr txBox="1"/>
            <p:nvPr/>
          </p:nvSpPr>
          <p:spPr>
            <a:xfrm>
              <a:off x="746760" y="3078479"/>
              <a:ext cx="7315200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Drop files near the notch, or add them here. Originals stay in place.</a:t>
              </a:r>
            </a:p>
          </p:txBody>
        </p:sp>
        <p:sp>
          <p:nvSpPr>
            <p:cNvPr id="64" name="N19/notch-shelf/empty-state/053"/>
            <p:cNvSpPr/>
            <p:nvPr/>
          </p:nvSpPr>
          <p:spPr>
            <a:xfrm>
              <a:off x="746760" y="3419856"/>
              <a:ext cx="7315200" cy="804672"/>
            </a:xfrm>
            <a:prstGeom prst="roundRect">
              <a:avLst>
                <a:gd name="adj" fmla="val 21212"/>
              </a:avLst>
            </a:prstGeom>
            <a:solidFill>
              <a:srgbClr val="0A0A0B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19/notch-shelf/poly/054"/>
            <p:cNvSpPr/>
            <p:nvPr/>
          </p:nvSpPr>
          <p:spPr>
            <a:xfrm>
              <a:off x="4303776" y="3576828"/>
              <a:ext cx="201168" cy="134112"/>
            </a:xfrm>
            <a:custGeom>
              <a:avLst/>
              <a:gdLst/>
              <a:ahLst/>
              <a:cxnLst/>
              <a:rect l="l" t="t" r="r" b="b"/>
              <a:pathLst>
                <a:path w="201168" h="134112">
                  <a:moveTo>
                    <a:pt x="0" y="0"/>
                  </a:moveTo>
                  <a:lnTo>
                    <a:pt x="67056" y="0"/>
                  </a:lnTo>
                  <a:lnTo>
                    <a:pt x="92202" y="33528"/>
                  </a:lnTo>
                  <a:lnTo>
                    <a:pt x="201168" y="33528"/>
                  </a:lnTo>
                  <a:lnTo>
                    <a:pt x="201168" y="134112"/>
                  </a:lnTo>
                  <a:lnTo>
                    <a:pt x="0" y="134112"/>
                  </a:lnTo>
                  <a:close/>
                </a:path>
              </a:pathLst>
            </a:custGeom>
            <a:noFill/>
            <a:ln w="12700">
              <a:solidFill>
                <a:srgbClr val="8E8E9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19/notch-shelf/text/055"/>
            <p:cNvSpPr txBox="1"/>
            <p:nvPr/>
          </p:nvSpPr>
          <p:spPr>
            <a:xfrm>
              <a:off x="868680" y="3785615"/>
              <a:ext cx="7071360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48" b="1" i="0">
                  <a:solidFill>
                    <a:srgbClr val="F5F5F7"/>
                  </a:solidFill>
                  <a:latin typeface="Arial"/>
                </a:rPr>
                <a:t>Shelf is empty</a:t>
              </a:r>
            </a:p>
          </p:txBody>
        </p:sp>
        <p:sp>
          <p:nvSpPr>
            <p:cNvPr id="67" name="N19/notch-shelf/text/056"/>
            <p:cNvSpPr txBox="1"/>
            <p:nvPr/>
          </p:nvSpPr>
          <p:spPr>
            <a:xfrm>
              <a:off x="917448" y="4029455"/>
              <a:ext cx="6973824" cy="17068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6" b="0" i="0">
                  <a:solidFill>
                    <a:srgbClr val="98989D"/>
                  </a:solidFill>
                  <a:latin typeface="Arial"/>
                </a:rPr>
                <a:t>Stash a few files for later. Originals stay in place.</a:t>
              </a:r>
            </a:p>
          </p:txBody>
        </p:sp>
        <p:sp>
          <p:nvSpPr>
            <p:cNvPr id="68" name="N19/notch-shelf/drop-hint/057"/>
            <p:cNvSpPr/>
            <p:nvPr/>
          </p:nvSpPr>
          <p:spPr>
            <a:xfrm>
              <a:off x="746760" y="4322064"/>
              <a:ext cx="7315200" cy="390144"/>
            </a:xfrm>
            <a:prstGeom prst="roundRect">
              <a:avLst>
                <a:gd name="adj" fmla="val 43750"/>
              </a:avLst>
            </a:prstGeom>
            <a:solidFill>
              <a:srgbClr val="111112"/>
            </a:solidFill>
            <a:ln w="15240">
              <a:solidFill>
                <a:srgbClr val="48484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19/notch-shelf/text/058"/>
            <p:cNvSpPr txBox="1"/>
            <p:nvPr/>
          </p:nvSpPr>
          <p:spPr>
            <a:xfrm>
              <a:off x="868680" y="4322064"/>
              <a:ext cx="7071360" cy="3901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Drop files when the GTK target appears. Only references are saved.</a:t>
              </a:r>
            </a:p>
          </p:txBody>
        </p:sp>
      </p:grpSp>
      <p:sp>
        <p:nvSpPr>
          <p:cNvPr id="70" name="N19/text/010"/>
          <p:cNvSpPr txBox="1"/>
          <p:nvPr/>
        </p:nvSpPr>
        <p:spPr>
          <a:xfrm>
            <a:off x="502920" y="521208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Add files opens GTK file chooser. Clear is disabled when empty. Drop hint remains visible.</a:t>
            </a:r>
          </a:p>
        </p:txBody>
      </p:sp>
      <p:sp>
        <p:nvSpPr>
          <p:cNvPr id="71" name="N19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19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3" name="N19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19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Header: Quick stash / Add / Clear</a:t>
            </a:r>
          </a:p>
        </p:txBody>
      </p:sp>
      <p:sp>
        <p:nvSpPr>
          <p:cNvPr id="75" name="N19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19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Retry hidden when ready</a:t>
            </a:r>
          </a:p>
        </p:txBody>
      </p:sp>
      <p:sp>
        <p:nvSpPr>
          <p:cNvPr id="77" name="N19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N19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Empty state centered</a:t>
            </a:r>
          </a:p>
        </p:txBody>
      </p:sp>
      <p:sp>
        <p:nvSpPr>
          <p:cNvPr id="79" name="N19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19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Dashed drop hint radius 14</a:t>
            </a:r>
          </a:p>
        </p:txBody>
      </p:sp>
      <p:cxnSp>
        <p:nvCxnSpPr>
          <p:cNvPr id="81" name="N19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N19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83" name="N19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N19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Header buttons / empty copy / drop hint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SHELF PAGE</a:t>
            </a:r>
          </a:p>
        </p:txBody>
      </p:sp>
      <p:sp>
        <p:nvSpPr>
          <p:cNvPr id="5" name="N2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Shelf — with files</a:t>
            </a:r>
          </a:p>
        </p:txBody>
      </p:sp>
      <p:sp>
        <p:nvSpPr>
          <p:cNvPr id="6" name="N2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Rows store references only; originals are never moved or deleted</a:t>
            </a:r>
          </a:p>
        </p:txBody>
      </p:sp>
      <p:cxnSp>
        <p:nvCxnSpPr>
          <p:cNvPr id="7" name="N2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N20</a:t>
            </a:r>
          </a:p>
        </p:txBody>
      </p:sp>
      <p:sp>
        <p:nvSpPr>
          <p:cNvPr id="10" name="N2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20</a:t>
            </a:r>
          </a:p>
        </p:txBody>
      </p:sp>
      <p:grpSp>
        <p:nvGrpSpPr>
          <p:cNvPr id="11" name="N20/notch-shelf"/>
          <p:cNvGrpSpPr/>
          <p:nvPr/>
        </p:nvGrpSpPr>
        <p:grpSpPr>
          <a:xfrm>
            <a:off x="502920" y="1737360"/>
            <a:ext cx="7802880" cy="3169920"/>
            <a:chOff x="502920" y="1737360"/>
            <a:chExt cx="7802880" cy="3169920"/>
          </a:xfrm>
        </p:grpSpPr>
        <p:sp>
          <p:nvSpPr>
            <p:cNvPr id="12" name="N20/notch-shelf/notch-surface-open/001"/>
            <p:cNvSpPr/>
            <p:nvPr/>
          </p:nvSpPr>
          <p:spPr>
            <a:xfrm>
              <a:off x="502920" y="1737360"/>
              <a:ext cx="7802880" cy="3169920"/>
            </a:xfrm>
            <a:custGeom>
              <a:avLst/>
              <a:gdLst/>
              <a:ahLst/>
              <a:cxnLst/>
              <a:rect l="l" t="t" r="r" b="b"/>
              <a:pathLst>
                <a:path w="7802880" h="3169920">
                  <a:moveTo>
                    <a:pt x="0" y="0"/>
                  </a:moveTo>
                  <a:lnTo>
                    <a:pt x="7802880" y="0"/>
                  </a:lnTo>
                  <a:lnTo>
                    <a:pt x="7770756" y="3619"/>
                  </a:lnTo>
                  <a:lnTo>
                    <a:pt x="7734109" y="14478"/>
                  </a:lnTo>
                  <a:lnTo>
                    <a:pt x="7695652" y="32575"/>
                  </a:lnTo>
                  <a:lnTo>
                    <a:pt x="7658100" y="57912"/>
                  </a:lnTo>
                  <a:lnTo>
                    <a:pt x="7624167" y="90487"/>
                  </a:lnTo>
                  <a:lnTo>
                    <a:pt x="7596568" y="130302"/>
                  </a:lnTo>
                  <a:lnTo>
                    <a:pt x="7578018" y="177355"/>
                  </a:lnTo>
                  <a:lnTo>
                    <a:pt x="7571232" y="231648"/>
                  </a:lnTo>
                  <a:lnTo>
                    <a:pt x="7565609" y="2934396"/>
                  </a:lnTo>
                  <a:lnTo>
                    <a:pt x="7548958" y="2989288"/>
                  </a:lnTo>
                  <a:lnTo>
                    <a:pt x="7521918" y="3039876"/>
                  </a:lnTo>
                  <a:lnTo>
                    <a:pt x="7485529" y="3084217"/>
                  </a:lnTo>
                  <a:lnTo>
                    <a:pt x="7441188" y="3120606"/>
                  </a:lnTo>
                  <a:lnTo>
                    <a:pt x="7390600" y="3147646"/>
                  </a:lnTo>
                  <a:lnTo>
                    <a:pt x="7335708" y="3164297"/>
                  </a:lnTo>
                  <a:lnTo>
                    <a:pt x="7278624" y="3169920"/>
                  </a:lnTo>
                  <a:lnTo>
                    <a:pt x="524256" y="3169920"/>
                  </a:lnTo>
                  <a:lnTo>
                    <a:pt x="467171" y="3164297"/>
                  </a:lnTo>
                  <a:lnTo>
                    <a:pt x="412279" y="3147646"/>
                  </a:lnTo>
                  <a:lnTo>
                    <a:pt x="361691" y="3120606"/>
                  </a:lnTo>
                  <a:lnTo>
                    <a:pt x="317350" y="3084217"/>
                  </a:lnTo>
                  <a:lnTo>
                    <a:pt x="280961" y="3039876"/>
                  </a:lnTo>
                  <a:lnTo>
                    <a:pt x="253921" y="2989288"/>
                  </a:lnTo>
                  <a:lnTo>
                    <a:pt x="237270" y="2934396"/>
                  </a:lnTo>
                  <a:lnTo>
                    <a:pt x="231648" y="287731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1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0/notch-shelf/button-home/002"/>
            <p:cNvSpPr/>
            <p:nvPr/>
          </p:nvSpPr>
          <p:spPr>
            <a:xfrm>
              <a:off x="746760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20/notch-shelf/poly/003"/>
            <p:cNvSpPr/>
            <p:nvPr/>
          </p:nvSpPr>
          <p:spPr>
            <a:xfrm>
              <a:off x="868680" y="2420112"/>
              <a:ext cx="146304" cy="146303"/>
            </a:xfrm>
            <a:custGeom>
              <a:avLst/>
              <a:gdLst/>
              <a:ahLst/>
              <a:cxnLst/>
              <a:rect l="l" t="t" r="r" b="b"/>
              <a:pathLst>
                <a:path w="146304" h="146303">
                  <a:moveTo>
                    <a:pt x="73152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4" y="97535"/>
                  </a:lnTo>
                  <a:lnTo>
                    <a:pt x="85344" y="146303"/>
                  </a:lnTo>
                  <a:lnTo>
                    <a:pt x="121919" y="146303"/>
                  </a:lnTo>
                  <a:lnTo>
                    <a:pt x="121919" y="60959"/>
                  </a:lnTo>
                  <a:lnTo>
                    <a:pt x="146304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0/notch-shelf/button-music/004"/>
            <p:cNvSpPr/>
            <p:nvPr/>
          </p:nvSpPr>
          <p:spPr>
            <a:xfrm>
              <a:off x="1185672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20/notch-shelf/line/005"/>
            <p:cNvCxnSpPr/>
            <p:nvPr/>
          </p:nvCxnSpPr>
          <p:spPr>
            <a:xfrm flipV="1">
              <a:off x="1356360" y="2444495"/>
              <a:ext cx="0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20/notch-shelf/line/006"/>
            <p:cNvCxnSpPr/>
            <p:nvPr/>
          </p:nvCxnSpPr>
          <p:spPr>
            <a:xfrm flipV="1">
              <a:off x="1356360" y="2432303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20/notch-shelf/line/007"/>
            <p:cNvCxnSpPr/>
            <p:nvPr/>
          </p:nvCxnSpPr>
          <p:spPr>
            <a:xfrm>
              <a:off x="1441704" y="2432303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20/notch-shelf/ellipse/008"/>
            <p:cNvSpPr/>
            <p:nvPr/>
          </p:nvSpPr>
          <p:spPr>
            <a:xfrm>
              <a:off x="1319784" y="2523744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0/notch-shelf/ellipse/009"/>
            <p:cNvSpPr/>
            <p:nvPr/>
          </p:nvSpPr>
          <p:spPr>
            <a:xfrm>
              <a:off x="1405128" y="2511551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20/notch-shelf/button-bell/010"/>
            <p:cNvSpPr/>
            <p:nvPr/>
          </p:nvSpPr>
          <p:spPr>
            <a:xfrm>
              <a:off x="1624584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20/notch-shelf/poly/011"/>
            <p:cNvSpPr/>
            <p:nvPr/>
          </p:nvSpPr>
          <p:spPr>
            <a:xfrm>
              <a:off x="1758696" y="242011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60" y="0"/>
                  </a:moveTo>
                  <a:lnTo>
                    <a:pt x="24384" y="24383"/>
                  </a:lnTo>
                  <a:lnTo>
                    <a:pt x="12191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5" y="2438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20/notch-shelf/line/012"/>
            <p:cNvCxnSpPr/>
            <p:nvPr/>
          </p:nvCxnSpPr>
          <p:spPr>
            <a:xfrm>
              <a:off x="1795272" y="2554223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20/notch-shelf/ellipse/013"/>
            <p:cNvSpPr/>
            <p:nvPr/>
          </p:nvSpPr>
          <p:spPr>
            <a:xfrm>
              <a:off x="1807464" y="2407919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20/notch-shelf/button-chart/014"/>
            <p:cNvSpPr/>
            <p:nvPr/>
          </p:nvSpPr>
          <p:spPr>
            <a:xfrm>
              <a:off x="2063496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20/notch-shelf/line/015"/>
            <p:cNvCxnSpPr/>
            <p:nvPr/>
          </p:nvCxnSpPr>
          <p:spPr>
            <a:xfrm>
              <a:off x="2185416" y="2566415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20/notch-shelf/line/016"/>
            <p:cNvCxnSpPr/>
            <p:nvPr/>
          </p:nvCxnSpPr>
          <p:spPr>
            <a:xfrm flipV="1">
              <a:off x="2197608" y="2481071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20/notch-shelf/line/017"/>
            <p:cNvCxnSpPr/>
            <p:nvPr/>
          </p:nvCxnSpPr>
          <p:spPr>
            <a:xfrm>
              <a:off x="2234184" y="2481071"/>
              <a:ext cx="36576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20/notch-shelf/line/018"/>
            <p:cNvCxnSpPr/>
            <p:nvPr/>
          </p:nvCxnSpPr>
          <p:spPr>
            <a:xfrm flipV="1">
              <a:off x="2270760" y="2432303"/>
              <a:ext cx="48768" cy="7315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20/notch-shelf/button-Shelf/019"/>
            <p:cNvSpPr/>
            <p:nvPr/>
          </p:nvSpPr>
          <p:spPr>
            <a:xfrm>
              <a:off x="2502408" y="2310383"/>
              <a:ext cx="1177747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20/notch-shelf/poly/020"/>
            <p:cNvSpPr/>
            <p:nvPr/>
          </p:nvSpPr>
          <p:spPr>
            <a:xfrm>
              <a:off x="2682849" y="245668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20/notch-shelf/text/021"/>
            <p:cNvSpPr txBox="1"/>
            <p:nvPr/>
          </p:nvSpPr>
          <p:spPr>
            <a:xfrm>
              <a:off x="2926689" y="2310383"/>
              <a:ext cx="704697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Shelf</a:t>
              </a:r>
            </a:p>
          </p:txBody>
        </p:sp>
        <p:sp>
          <p:nvSpPr>
            <p:cNvPr id="33" name="N20/notch-shelf/button-clipboard/022"/>
            <p:cNvSpPr/>
            <p:nvPr/>
          </p:nvSpPr>
          <p:spPr>
            <a:xfrm>
              <a:off x="3728923" y="231038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20/notch-shelf/rect/023"/>
            <p:cNvSpPr/>
            <p:nvPr/>
          </p:nvSpPr>
          <p:spPr>
            <a:xfrm>
              <a:off x="3875227" y="243230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20/notch-shelf/rect/024"/>
            <p:cNvSpPr/>
            <p:nvPr/>
          </p:nvSpPr>
          <p:spPr>
            <a:xfrm>
              <a:off x="3899611" y="241401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20/notch-shelf/line/025"/>
            <p:cNvCxnSpPr/>
            <p:nvPr/>
          </p:nvCxnSpPr>
          <p:spPr>
            <a:xfrm>
              <a:off x="3899611" y="248107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20/notch-shelf/line/026"/>
            <p:cNvCxnSpPr/>
            <p:nvPr/>
          </p:nvCxnSpPr>
          <p:spPr>
            <a:xfrm>
              <a:off x="3899611" y="2511551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20/notch-shelf/button-gear/027"/>
            <p:cNvSpPr/>
            <p:nvPr/>
          </p:nvSpPr>
          <p:spPr>
            <a:xfrm>
              <a:off x="7208520" y="229819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20/notch-shelf/ellipse/028"/>
            <p:cNvSpPr/>
            <p:nvPr/>
          </p:nvSpPr>
          <p:spPr>
            <a:xfrm>
              <a:off x="7367016" y="245668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20/notch-shelf/line/029"/>
            <p:cNvCxnSpPr/>
            <p:nvPr/>
          </p:nvCxnSpPr>
          <p:spPr>
            <a:xfrm>
              <a:off x="7464551" y="2493263"/>
              <a:ext cx="24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20/notch-shelf/line/030"/>
            <p:cNvCxnSpPr/>
            <p:nvPr/>
          </p:nvCxnSpPr>
          <p:spPr>
            <a:xfrm>
              <a:off x="7446697" y="253636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20/notch-shelf/line/031"/>
            <p:cNvCxnSpPr/>
            <p:nvPr/>
          </p:nvCxnSpPr>
          <p:spPr>
            <a:xfrm>
              <a:off x="7403591" y="255422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0/notch-shelf/line/032"/>
            <p:cNvCxnSpPr/>
            <p:nvPr/>
          </p:nvCxnSpPr>
          <p:spPr>
            <a:xfrm flipH="1">
              <a:off x="7343244" y="253636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20/notch-shelf/line/033"/>
            <p:cNvCxnSpPr/>
            <p:nvPr/>
          </p:nvCxnSpPr>
          <p:spPr>
            <a:xfrm flipH="1">
              <a:off x="7318247" y="249326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20/notch-shelf/line/034"/>
            <p:cNvCxnSpPr/>
            <p:nvPr/>
          </p:nvCxnSpPr>
          <p:spPr>
            <a:xfrm flipH="1" flipV="1">
              <a:off x="7343244" y="243291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20/notch-shelf/line/035"/>
            <p:cNvCxnSpPr/>
            <p:nvPr/>
          </p:nvCxnSpPr>
          <p:spPr>
            <a:xfrm flipV="1">
              <a:off x="7403591" y="240791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20/notch-shelf/line/036"/>
            <p:cNvCxnSpPr/>
            <p:nvPr/>
          </p:nvCxnSpPr>
          <p:spPr>
            <a:xfrm flipV="1">
              <a:off x="7446697" y="243291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20/notch-shelf/button-close/037"/>
            <p:cNvSpPr/>
            <p:nvPr/>
          </p:nvSpPr>
          <p:spPr>
            <a:xfrm>
              <a:off x="7671816" y="229819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20/notch-shelf/line/038"/>
            <p:cNvCxnSpPr/>
            <p:nvPr/>
          </p:nvCxnSpPr>
          <p:spPr>
            <a:xfrm>
              <a:off x="7818120" y="2444495"/>
              <a:ext cx="97536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0/notch-shelf/line/039"/>
            <p:cNvCxnSpPr/>
            <p:nvPr/>
          </p:nvCxnSpPr>
          <p:spPr>
            <a:xfrm flipH="1">
              <a:off x="7818120" y="2444495"/>
              <a:ext cx="97536" cy="975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20/notch-shelf/text/040"/>
            <p:cNvSpPr txBox="1"/>
            <p:nvPr/>
          </p:nvSpPr>
          <p:spPr>
            <a:xfrm>
              <a:off x="746760" y="2761487"/>
              <a:ext cx="2926080" cy="2682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Quick stash</a:t>
              </a:r>
            </a:p>
          </p:txBody>
        </p:sp>
        <p:sp>
          <p:nvSpPr>
            <p:cNvPr id="52" name="N20/notch-shelf/button-Add files/041"/>
            <p:cNvSpPr/>
            <p:nvPr/>
          </p:nvSpPr>
          <p:spPr>
            <a:xfrm>
              <a:off x="6062472" y="2737103"/>
              <a:ext cx="1121664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20/notch-shelf/line/042"/>
            <p:cNvCxnSpPr/>
            <p:nvPr/>
          </p:nvCxnSpPr>
          <p:spPr>
            <a:xfrm>
              <a:off x="6102827" y="2846831"/>
              <a:ext cx="0" cy="12192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20/notch-shelf/line/043"/>
            <p:cNvCxnSpPr/>
            <p:nvPr/>
          </p:nvCxnSpPr>
          <p:spPr>
            <a:xfrm>
              <a:off x="6041867" y="2907791"/>
              <a:ext cx="12192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20/notch-shelf/text/044"/>
            <p:cNvSpPr txBox="1"/>
            <p:nvPr/>
          </p:nvSpPr>
          <p:spPr>
            <a:xfrm>
              <a:off x="6273515" y="2737103"/>
              <a:ext cx="861852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Add files</a:t>
              </a:r>
            </a:p>
          </p:txBody>
        </p:sp>
        <p:sp>
          <p:nvSpPr>
            <p:cNvPr id="56" name="N20/notch-shelf/button-Clear/045"/>
            <p:cNvSpPr/>
            <p:nvPr/>
          </p:nvSpPr>
          <p:spPr>
            <a:xfrm>
              <a:off x="7281672" y="2737103"/>
              <a:ext cx="780288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N20/notch-shelf/line/046"/>
            <p:cNvCxnSpPr/>
            <p:nvPr/>
          </p:nvCxnSpPr>
          <p:spPr>
            <a:xfrm>
              <a:off x="7305446" y="2871215"/>
              <a:ext cx="12192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20/notch-shelf/rect/047"/>
            <p:cNvSpPr/>
            <p:nvPr/>
          </p:nvSpPr>
          <p:spPr>
            <a:xfrm>
              <a:off x="7329830" y="2871215"/>
              <a:ext cx="73152" cy="109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20/notch-shelf/line/048"/>
            <p:cNvCxnSpPr/>
            <p:nvPr/>
          </p:nvCxnSpPr>
          <p:spPr>
            <a:xfrm>
              <a:off x="7342022" y="2846831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20/notch-shelf/line/049"/>
            <p:cNvCxnSpPr/>
            <p:nvPr/>
          </p:nvCxnSpPr>
          <p:spPr>
            <a:xfrm>
              <a:off x="7354214" y="2895599"/>
              <a:ext cx="0" cy="6096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20/notch-shelf/line/050"/>
            <p:cNvCxnSpPr/>
            <p:nvPr/>
          </p:nvCxnSpPr>
          <p:spPr>
            <a:xfrm>
              <a:off x="7378598" y="2895599"/>
              <a:ext cx="0" cy="6096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N20/notch-shelf/text/051"/>
            <p:cNvSpPr txBox="1"/>
            <p:nvPr/>
          </p:nvSpPr>
          <p:spPr>
            <a:xfrm>
              <a:off x="7537094" y="2737103"/>
              <a:ext cx="476097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63" name="N20/notch-shelf/text/052"/>
            <p:cNvSpPr txBox="1"/>
            <p:nvPr/>
          </p:nvSpPr>
          <p:spPr>
            <a:xfrm>
              <a:off x="746760" y="3078479"/>
              <a:ext cx="7315200" cy="29260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Drop files near the notch, or add them here. Originals stay in place.</a:t>
              </a:r>
            </a:p>
          </p:txBody>
        </p:sp>
        <p:sp>
          <p:nvSpPr>
            <p:cNvPr id="64" name="N20/notch-shelf/shelf-row/053"/>
            <p:cNvSpPr/>
            <p:nvPr/>
          </p:nvSpPr>
          <p:spPr>
            <a:xfrm>
              <a:off x="746760" y="3419856"/>
              <a:ext cx="7315200" cy="341376"/>
            </a:xfrm>
            <a:prstGeom prst="roundRect">
              <a:avLst>
                <a:gd name="adj" fmla="val 42857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20/notch-shelf/button-Fedora-Workstation-44.iso/054"/>
            <p:cNvSpPr/>
            <p:nvPr/>
          </p:nvSpPr>
          <p:spPr>
            <a:xfrm>
              <a:off x="819912" y="3456432"/>
              <a:ext cx="5949696" cy="292608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20/notch-shelf/poly/055"/>
            <p:cNvSpPr/>
            <p:nvPr/>
          </p:nvSpPr>
          <p:spPr>
            <a:xfrm>
              <a:off x="990599" y="3529584"/>
              <a:ext cx="97537" cy="146303"/>
            </a:xfrm>
            <a:custGeom>
              <a:avLst/>
              <a:gdLst/>
              <a:ahLst/>
              <a:cxnLst/>
              <a:rect l="l" t="t" r="r" b="b"/>
              <a:pathLst>
                <a:path w="97537" h="146303">
                  <a:moveTo>
                    <a:pt x="0" y="0"/>
                  </a:moveTo>
                  <a:lnTo>
                    <a:pt x="60961" y="0"/>
                  </a:lnTo>
                  <a:lnTo>
                    <a:pt x="97537" y="36576"/>
                  </a:lnTo>
                  <a:lnTo>
                    <a:pt x="97537" y="146303"/>
                  </a:lnTo>
                  <a:lnTo>
                    <a:pt x="0" y="146303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N20/notch-shelf/line/056"/>
            <p:cNvCxnSpPr/>
            <p:nvPr/>
          </p:nvCxnSpPr>
          <p:spPr>
            <a:xfrm>
              <a:off x="1051560" y="3529584"/>
              <a:ext cx="0" cy="36576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N20/notch-shelf/line/057"/>
            <p:cNvCxnSpPr/>
            <p:nvPr/>
          </p:nvCxnSpPr>
          <p:spPr>
            <a:xfrm>
              <a:off x="1051560" y="3566160"/>
              <a:ext cx="36576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N20/notch-shelf/text/058"/>
            <p:cNvSpPr txBox="1"/>
            <p:nvPr/>
          </p:nvSpPr>
          <p:spPr>
            <a:xfrm>
              <a:off x="1210056" y="3456432"/>
              <a:ext cx="5510784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0" i="0">
                  <a:solidFill>
                    <a:srgbClr val="E5E5EA"/>
                  </a:solidFill>
                  <a:latin typeface="Arial"/>
                </a:rPr>
                <a:t>Fedora-Workstation-44.iso</a:t>
              </a:r>
            </a:p>
          </p:txBody>
        </p:sp>
        <p:sp>
          <p:nvSpPr>
            <p:cNvPr id="70" name="N20/notch-shelf/button-copy/059"/>
            <p:cNvSpPr/>
            <p:nvPr/>
          </p:nvSpPr>
          <p:spPr>
            <a:xfrm>
              <a:off x="6891528" y="3456432"/>
              <a:ext cx="292608" cy="292608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20/notch-shelf/rect/060"/>
            <p:cNvSpPr/>
            <p:nvPr/>
          </p:nvSpPr>
          <p:spPr>
            <a:xfrm>
              <a:off x="7001256" y="3566160"/>
              <a:ext cx="97536" cy="10972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20/notch-shelf/rect/061"/>
            <p:cNvSpPr/>
            <p:nvPr/>
          </p:nvSpPr>
          <p:spPr>
            <a:xfrm>
              <a:off x="6976872" y="3529584"/>
              <a:ext cx="97536" cy="10972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20/notch-shelf/button-folder/062"/>
            <p:cNvSpPr/>
            <p:nvPr/>
          </p:nvSpPr>
          <p:spPr>
            <a:xfrm>
              <a:off x="7257288" y="3456432"/>
              <a:ext cx="292608" cy="292608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N20/notch-shelf/poly/063"/>
            <p:cNvSpPr/>
            <p:nvPr/>
          </p:nvSpPr>
          <p:spPr>
            <a:xfrm>
              <a:off x="7330440" y="3566160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20/notch-shelf/button-trash/064"/>
            <p:cNvSpPr/>
            <p:nvPr/>
          </p:nvSpPr>
          <p:spPr>
            <a:xfrm>
              <a:off x="7623047" y="3456432"/>
              <a:ext cx="292608" cy="292608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N20/notch-shelf/line/065"/>
            <p:cNvCxnSpPr/>
            <p:nvPr/>
          </p:nvCxnSpPr>
          <p:spPr>
            <a:xfrm>
              <a:off x="7708391" y="3566160"/>
              <a:ext cx="12192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N20/notch-shelf/rect/066"/>
            <p:cNvSpPr/>
            <p:nvPr/>
          </p:nvSpPr>
          <p:spPr>
            <a:xfrm>
              <a:off x="7732775" y="3566160"/>
              <a:ext cx="73152" cy="109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8" name="N20/notch-shelf/line/067"/>
            <p:cNvCxnSpPr/>
            <p:nvPr/>
          </p:nvCxnSpPr>
          <p:spPr>
            <a:xfrm>
              <a:off x="7744967" y="3541775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N20/notch-shelf/line/068"/>
            <p:cNvCxnSpPr/>
            <p:nvPr/>
          </p:nvCxnSpPr>
          <p:spPr>
            <a:xfrm>
              <a:off x="7757159" y="3590543"/>
              <a:ext cx="0" cy="6096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N20/notch-shelf/line/069"/>
            <p:cNvCxnSpPr/>
            <p:nvPr/>
          </p:nvCxnSpPr>
          <p:spPr>
            <a:xfrm>
              <a:off x="7781543" y="3590543"/>
              <a:ext cx="0" cy="60961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N20/notch-shelf/shelf-row/070"/>
            <p:cNvSpPr/>
            <p:nvPr/>
          </p:nvSpPr>
          <p:spPr>
            <a:xfrm>
              <a:off x="746760" y="3809999"/>
              <a:ext cx="7315200" cy="341376"/>
            </a:xfrm>
            <a:prstGeom prst="roundRect">
              <a:avLst>
                <a:gd name="adj" fmla="val 42857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20/notch-shelf/button-design-review.pptx/071"/>
            <p:cNvSpPr/>
            <p:nvPr/>
          </p:nvSpPr>
          <p:spPr>
            <a:xfrm>
              <a:off x="819912" y="3846575"/>
              <a:ext cx="5949696" cy="292608"/>
            </a:xfrm>
            <a:prstGeom prst="roundRect">
              <a:avLst>
                <a:gd name="adj" fmla="val 41666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20/notch-shelf/poly/072"/>
            <p:cNvSpPr/>
            <p:nvPr/>
          </p:nvSpPr>
          <p:spPr>
            <a:xfrm>
              <a:off x="990599" y="3919727"/>
              <a:ext cx="97537" cy="146304"/>
            </a:xfrm>
            <a:custGeom>
              <a:avLst/>
              <a:gdLst/>
              <a:ahLst/>
              <a:cxnLst/>
              <a:rect l="l" t="t" r="r" b="b"/>
              <a:pathLst>
                <a:path w="97537" h="146304">
                  <a:moveTo>
                    <a:pt x="0" y="0"/>
                  </a:moveTo>
                  <a:lnTo>
                    <a:pt x="60961" y="0"/>
                  </a:lnTo>
                  <a:lnTo>
                    <a:pt x="97537" y="36576"/>
                  </a:lnTo>
                  <a:lnTo>
                    <a:pt x="97537" y="146304"/>
                  </a:lnTo>
                  <a:lnTo>
                    <a:pt x="0" y="146304"/>
                  </a:lnTo>
                  <a:close/>
                </a:path>
              </a:pathLst>
            </a:custGeom>
            <a:noFill/>
            <a:ln w="1270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4" name="N20/notch-shelf/line/073"/>
            <p:cNvCxnSpPr/>
            <p:nvPr/>
          </p:nvCxnSpPr>
          <p:spPr>
            <a:xfrm>
              <a:off x="1051560" y="3919727"/>
              <a:ext cx="0" cy="36576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N20/notch-shelf/line/074"/>
            <p:cNvCxnSpPr/>
            <p:nvPr/>
          </p:nvCxnSpPr>
          <p:spPr>
            <a:xfrm>
              <a:off x="1051560" y="3956303"/>
              <a:ext cx="36576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N20/notch-shelf/text/075"/>
            <p:cNvSpPr txBox="1"/>
            <p:nvPr/>
          </p:nvSpPr>
          <p:spPr>
            <a:xfrm>
              <a:off x="1210056" y="3846575"/>
              <a:ext cx="5510784" cy="29260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0" i="0">
                  <a:solidFill>
                    <a:srgbClr val="E5E5EA"/>
                  </a:solidFill>
                  <a:latin typeface="Arial"/>
                </a:rPr>
                <a:t>design-review.pptx</a:t>
              </a:r>
            </a:p>
          </p:txBody>
        </p:sp>
        <p:sp>
          <p:nvSpPr>
            <p:cNvPr id="87" name="N20/notch-shelf/button-copy/076"/>
            <p:cNvSpPr/>
            <p:nvPr/>
          </p:nvSpPr>
          <p:spPr>
            <a:xfrm>
              <a:off x="6891528" y="3846575"/>
              <a:ext cx="292608" cy="292608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N20/notch-shelf/rect/077"/>
            <p:cNvSpPr/>
            <p:nvPr/>
          </p:nvSpPr>
          <p:spPr>
            <a:xfrm>
              <a:off x="7001256" y="3956303"/>
              <a:ext cx="97536" cy="10972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N20/notch-shelf/rect/078"/>
            <p:cNvSpPr/>
            <p:nvPr/>
          </p:nvSpPr>
          <p:spPr>
            <a:xfrm>
              <a:off x="6976872" y="3919727"/>
              <a:ext cx="97536" cy="10972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N20/notch-shelf/button-folder/079"/>
            <p:cNvSpPr/>
            <p:nvPr/>
          </p:nvSpPr>
          <p:spPr>
            <a:xfrm>
              <a:off x="7257288" y="3846575"/>
              <a:ext cx="292608" cy="292608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N20/notch-shelf/poly/080"/>
            <p:cNvSpPr/>
            <p:nvPr/>
          </p:nvSpPr>
          <p:spPr>
            <a:xfrm>
              <a:off x="7330440" y="3956303"/>
              <a:ext cx="146304" cy="97537"/>
            </a:xfrm>
            <a:custGeom>
              <a:avLst/>
              <a:gdLst/>
              <a:ahLst/>
              <a:cxnLst/>
              <a:rect l="l" t="t" r="r" b="b"/>
              <a:pathLst>
                <a:path w="146304" h="97537">
                  <a:moveTo>
                    <a:pt x="0" y="0"/>
                  </a:moveTo>
                  <a:lnTo>
                    <a:pt x="48768" y="0"/>
                  </a:lnTo>
                  <a:lnTo>
                    <a:pt x="67056" y="24385"/>
                  </a:lnTo>
                  <a:lnTo>
                    <a:pt x="146304" y="24385"/>
                  </a:lnTo>
                  <a:lnTo>
                    <a:pt x="146304" y="97537"/>
                  </a:lnTo>
                  <a:lnTo>
                    <a:pt x="0" y="97537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N20/notch-shelf/button-trash/081"/>
            <p:cNvSpPr/>
            <p:nvPr/>
          </p:nvSpPr>
          <p:spPr>
            <a:xfrm>
              <a:off x="7623047" y="3846575"/>
              <a:ext cx="292608" cy="292608"/>
            </a:xfrm>
            <a:prstGeom prst="roundRect">
              <a:avLst>
                <a:gd name="adj" fmla="val 41666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3" name="N20/notch-shelf/line/082"/>
            <p:cNvCxnSpPr/>
            <p:nvPr/>
          </p:nvCxnSpPr>
          <p:spPr>
            <a:xfrm>
              <a:off x="7708391" y="3956303"/>
              <a:ext cx="121920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N20/notch-shelf/rect/083"/>
            <p:cNvSpPr/>
            <p:nvPr/>
          </p:nvSpPr>
          <p:spPr>
            <a:xfrm>
              <a:off x="7732775" y="3956303"/>
              <a:ext cx="73152" cy="109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5" name="N20/notch-shelf/line/084"/>
            <p:cNvCxnSpPr/>
            <p:nvPr/>
          </p:nvCxnSpPr>
          <p:spPr>
            <a:xfrm>
              <a:off x="7744967" y="3931920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N20/notch-shelf/line/085"/>
            <p:cNvCxnSpPr/>
            <p:nvPr/>
          </p:nvCxnSpPr>
          <p:spPr>
            <a:xfrm>
              <a:off x="7757159" y="3980688"/>
              <a:ext cx="0" cy="6096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N20/notch-shelf/line/086"/>
            <p:cNvCxnSpPr/>
            <p:nvPr/>
          </p:nvCxnSpPr>
          <p:spPr>
            <a:xfrm>
              <a:off x="7781543" y="3980688"/>
              <a:ext cx="0" cy="6096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N20/notch-shelf/text/087"/>
            <p:cNvSpPr txBox="1"/>
            <p:nvPr/>
          </p:nvSpPr>
          <p:spPr>
            <a:xfrm>
              <a:off x="746760" y="4200144"/>
              <a:ext cx="7315200" cy="14630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8" b="0" i="0">
                  <a:solidFill>
                    <a:srgbClr val="98989D"/>
                  </a:solidFill>
                  <a:latin typeface="Arial"/>
                </a:rPr>
                <a:t>+1 more · scroll</a:t>
              </a:r>
            </a:p>
          </p:txBody>
        </p:sp>
        <p:sp>
          <p:nvSpPr>
            <p:cNvPr id="99" name="N20/notch-shelf/drop-hint/088"/>
            <p:cNvSpPr/>
            <p:nvPr/>
          </p:nvSpPr>
          <p:spPr>
            <a:xfrm>
              <a:off x="746760" y="4322064"/>
              <a:ext cx="7315200" cy="390144"/>
            </a:xfrm>
            <a:prstGeom prst="roundRect">
              <a:avLst>
                <a:gd name="adj" fmla="val 43750"/>
              </a:avLst>
            </a:prstGeom>
            <a:solidFill>
              <a:srgbClr val="111112"/>
            </a:solidFill>
            <a:ln w="15240">
              <a:solidFill>
                <a:srgbClr val="48484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N20/notch-shelf/text/089"/>
            <p:cNvSpPr txBox="1"/>
            <p:nvPr/>
          </p:nvSpPr>
          <p:spPr>
            <a:xfrm>
              <a:off x="868680" y="4322064"/>
              <a:ext cx="7071360" cy="39014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Drop files when the GTK target appears. Only references are saved.</a:t>
              </a:r>
            </a:p>
          </p:txBody>
        </p:sp>
      </p:grpSp>
      <p:sp>
        <p:nvSpPr>
          <p:cNvPr id="101" name="N20/text/010"/>
          <p:cNvSpPr txBox="1"/>
          <p:nvPr/>
        </p:nvSpPr>
        <p:spPr>
          <a:xfrm>
            <a:off x="502920" y="521208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Row actions: open · copy URI · reveal in Files · remove reference. List scrolls when needed.</a:t>
            </a:r>
          </a:p>
        </p:txBody>
      </p:sp>
      <p:sp>
        <p:nvSpPr>
          <p:cNvPr id="102" name="N20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N20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04" name="N20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N20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Row radius 12 / padding 8×10</a:t>
            </a:r>
          </a:p>
        </p:txBody>
      </p:sp>
      <p:sp>
        <p:nvSpPr>
          <p:cNvPr id="106" name="N20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N20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Filename button expands</a:t>
            </a:r>
          </a:p>
        </p:txBody>
      </p:sp>
      <p:sp>
        <p:nvSpPr>
          <p:cNvPr id="108" name="N20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N20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Three icon actions at right</a:t>
            </a:r>
          </a:p>
        </p:txBody>
      </p:sp>
      <p:sp>
        <p:nvSpPr>
          <p:cNvPr id="110" name="N20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N20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Clear removes all references only</a:t>
            </a:r>
          </a:p>
        </p:txBody>
      </p:sp>
      <p:cxnSp>
        <p:nvCxnSpPr>
          <p:cNvPr id="112" name="N20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N20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114" name="N20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N20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Row height / filename truncation / icon order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SHELF PAGE</a:t>
            </a:r>
          </a:p>
        </p:txBody>
      </p:sp>
      <p:sp>
        <p:nvSpPr>
          <p:cNvPr id="5" name="N2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Shelf — starting / offline</a:t>
            </a:r>
          </a:p>
        </p:txBody>
      </p:sp>
      <p:sp>
        <p:nvSpPr>
          <p:cNvPr id="6" name="N2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Retry is visible whenever helper state is not ready</a:t>
            </a:r>
          </a:p>
        </p:txBody>
      </p:sp>
      <p:cxnSp>
        <p:nvCxnSpPr>
          <p:cNvPr id="7" name="N2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N21</a:t>
            </a:r>
          </a:p>
        </p:txBody>
      </p:sp>
      <p:sp>
        <p:nvSpPr>
          <p:cNvPr id="10" name="N2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21</a:t>
            </a:r>
          </a:p>
        </p:txBody>
      </p:sp>
      <p:grpSp>
        <p:nvGrpSpPr>
          <p:cNvPr id="11" name="N21/notch-shelf"/>
          <p:cNvGrpSpPr/>
          <p:nvPr/>
        </p:nvGrpSpPr>
        <p:grpSpPr>
          <a:xfrm>
            <a:off x="502920" y="1645920"/>
            <a:ext cx="7193279" cy="2922270"/>
            <a:chOff x="502920" y="1645920"/>
            <a:chExt cx="7193279" cy="2922270"/>
          </a:xfrm>
        </p:grpSpPr>
        <p:sp>
          <p:nvSpPr>
            <p:cNvPr id="12" name="N21/notch-shelf/notch-surface-open/001"/>
            <p:cNvSpPr/>
            <p:nvPr/>
          </p:nvSpPr>
          <p:spPr>
            <a:xfrm>
              <a:off x="502920" y="1645920"/>
              <a:ext cx="7193279" cy="2922270"/>
            </a:xfrm>
            <a:custGeom>
              <a:avLst/>
              <a:gdLst/>
              <a:ahLst/>
              <a:cxnLst/>
              <a:rect l="l" t="t" r="r" b="b"/>
              <a:pathLst>
                <a:path w="7193279" h="2922270">
                  <a:moveTo>
                    <a:pt x="0" y="0"/>
                  </a:moveTo>
                  <a:lnTo>
                    <a:pt x="7193279" y="0"/>
                  </a:lnTo>
                  <a:lnTo>
                    <a:pt x="7163666" y="3336"/>
                  </a:lnTo>
                  <a:lnTo>
                    <a:pt x="7129882" y="13346"/>
                  </a:lnTo>
                  <a:lnTo>
                    <a:pt x="7094429" y="30030"/>
                  </a:lnTo>
                  <a:lnTo>
                    <a:pt x="7059810" y="53387"/>
                  </a:lnTo>
                  <a:lnTo>
                    <a:pt x="7028529" y="83418"/>
                  </a:lnTo>
                  <a:lnTo>
                    <a:pt x="7003086" y="120122"/>
                  </a:lnTo>
                  <a:lnTo>
                    <a:pt x="6985985" y="163499"/>
                  </a:lnTo>
                  <a:lnTo>
                    <a:pt x="6979729" y="213550"/>
                  </a:lnTo>
                  <a:lnTo>
                    <a:pt x="6974546" y="2705147"/>
                  </a:lnTo>
                  <a:lnTo>
                    <a:pt x="6959196" y="2755750"/>
                  </a:lnTo>
                  <a:lnTo>
                    <a:pt x="6934268" y="2802385"/>
                  </a:lnTo>
                  <a:lnTo>
                    <a:pt x="6900722" y="2843262"/>
                  </a:lnTo>
                  <a:lnTo>
                    <a:pt x="6859845" y="2876809"/>
                  </a:lnTo>
                  <a:lnTo>
                    <a:pt x="6813209" y="2901736"/>
                  </a:lnTo>
                  <a:lnTo>
                    <a:pt x="6762606" y="2917086"/>
                  </a:lnTo>
                  <a:lnTo>
                    <a:pt x="6709981" y="2922270"/>
                  </a:lnTo>
                  <a:lnTo>
                    <a:pt x="483298" y="2922270"/>
                  </a:lnTo>
                  <a:lnTo>
                    <a:pt x="430673" y="2917086"/>
                  </a:lnTo>
                  <a:lnTo>
                    <a:pt x="380070" y="2901736"/>
                  </a:lnTo>
                  <a:lnTo>
                    <a:pt x="333434" y="2876809"/>
                  </a:lnTo>
                  <a:lnTo>
                    <a:pt x="292557" y="2843262"/>
                  </a:lnTo>
                  <a:lnTo>
                    <a:pt x="259011" y="2802385"/>
                  </a:lnTo>
                  <a:lnTo>
                    <a:pt x="234083" y="2755750"/>
                  </a:lnTo>
                  <a:lnTo>
                    <a:pt x="218733" y="2705147"/>
                  </a:lnTo>
                  <a:lnTo>
                    <a:pt x="213550" y="2652522"/>
                  </a:lnTo>
                  <a:lnTo>
                    <a:pt x="213550" y="213550"/>
                  </a:lnTo>
                  <a:lnTo>
                    <a:pt x="207294" y="163499"/>
                  </a:lnTo>
                  <a:lnTo>
                    <a:pt x="190193" y="120122"/>
                  </a:lnTo>
                  <a:lnTo>
                    <a:pt x="164750" y="83418"/>
                  </a:lnTo>
                  <a:lnTo>
                    <a:pt x="133469" y="53387"/>
                  </a:lnTo>
                  <a:lnTo>
                    <a:pt x="98850" y="30030"/>
                  </a:lnTo>
                  <a:lnTo>
                    <a:pt x="63397" y="13346"/>
                  </a:lnTo>
                  <a:lnTo>
                    <a:pt x="29613" y="33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1/notch-shelf/button-home/002"/>
            <p:cNvSpPr/>
            <p:nvPr/>
          </p:nvSpPr>
          <p:spPr>
            <a:xfrm>
              <a:off x="727710" y="217417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21/notch-shelf/poly/003"/>
            <p:cNvSpPr/>
            <p:nvPr/>
          </p:nvSpPr>
          <p:spPr>
            <a:xfrm>
              <a:off x="840105" y="2275331"/>
              <a:ext cx="134874" cy="134874"/>
            </a:xfrm>
            <a:custGeom>
              <a:avLst/>
              <a:gdLst/>
              <a:ahLst/>
              <a:cxnLst/>
              <a:rect l="l" t="t" r="r" b="b"/>
              <a:pathLst>
                <a:path w="134874" h="134874">
                  <a:moveTo>
                    <a:pt x="67437" y="0"/>
                  </a:moveTo>
                  <a:lnTo>
                    <a:pt x="0" y="56198"/>
                  </a:lnTo>
                  <a:lnTo>
                    <a:pt x="22479" y="56198"/>
                  </a:lnTo>
                  <a:lnTo>
                    <a:pt x="22479" y="134874"/>
                  </a:lnTo>
                  <a:lnTo>
                    <a:pt x="56197" y="134874"/>
                  </a:lnTo>
                  <a:lnTo>
                    <a:pt x="56197" y="89917"/>
                  </a:lnTo>
                  <a:lnTo>
                    <a:pt x="78676" y="89917"/>
                  </a:lnTo>
                  <a:lnTo>
                    <a:pt x="78676" y="134874"/>
                  </a:lnTo>
                  <a:lnTo>
                    <a:pt x="112395" y="134874"/>
                  </a:lnTo>
                  <a:lnTo>
                    <a:pt x="112395" y="56198"/>
                  </a:lnTo>
                  <a:lnTo>
                    <a:pt x="134874" y="56198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1/notch-shelf/button-music/004"/>
            <p:cNvSpPr/>
            <p:nvPr/>
          </p:nvSpPr>
          <p:spPr>
            <a:xfrm>
              <a:off x="1132332" y="217417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21/notch-shelf/line/005"/>
            <p:cNvCxnSpPr/>
            <p:nvPr/>
          </p:nvCxnSpPr>
          <p:spPr>
            <a:xfrm flipV="1">
              <a:off x="1289685" y="2297811"/>
              <a:ext cx="0" cy="8991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21/notch-shelf/line/006"/>
            <p:cNvCxnSpPr/>
            <p:nvPr/>
          </p:nvCxnSpPr>
          <p:spPr>
            <a:xfrm flipV="1">
              <a:off x="1289685" y="2286571"/>
              <a:ext cx="78676" cy="1124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21/notch-shelf/line/007"/>
            <p:cNvCxnSpPr/>
            <p:nvPr/>
          </p:nvCxnSpPr>
          <p:spPr>
            <a:xfrm>
              <a:off x="1368361" y="2286571"/>
              <a:ext cx="0" cy="899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21/notch-shelf/ellipse/008"/>
            <p:cNvSpPr/>
            <p:nvPr/>
          </p:nvSpPr>
          <p:spPr>
            <a:xfrm>
              <a:off x="1255966" y="2370867"/>
              <a:ext cx="39338" cy="3371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1/notch-shelf/ellipse/009"/>
            <p:cNvSpPr/>
            <p:nvPr/>
          </p:nvSpPr>
          <p:spPr>
            <a:xfrm>
              <a:off x="1334643" y="2359628"/>
              <a:ext cx="39338" cy="3371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21/notch-shelf/button-bell/010"/>
            <p:cNvSpPr/>
            <p:nvPr/>
          </p:nvSpPr>
          <p:spPr>
            <a:xfrm>
              <a:off x="1536953" y="217417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21/notch-shelf/poly/011"/>
            <p:cNvSpPr/>
            <p:nvPr/>
          </p:nvSpPr>
          <p:spPr>
            <a:xfrm>
              <a:off x="1660588" y="2275331"/>
              <a:ext cx="112395" cy="101156"/>
            </a:xfrm>
            <a:custGeom>
              <a:avLst/>
              <a:gdLst/>
              <a:ahLst/>
              <a:cxnLst/>
              <a:rect l="l" t="t" r="r" b="b"/>
              <a:pathLst>
                <a:path w="112395" h="101156">
                  <a:moveTo>
                    <a:pt x="56198" y="0"/>
                  </a:moveTo>
                  <a:lnTo>
                    <a:pt x="22479" y="22480"/>
                  </a:lnTo>
                  <a:lnTo>
                    <a:pt x="11239" y="67437"/>
                  </a:lnTo>
                  <a:lnTo>
                    <a:pt x="0" y="101156"/>
                  </a:lnTo>
                  <a:lnTo>
                    <a:pt x="112395" y="101156"/>
                  </a:lnTo>
                  <a:lnTo>
                    <a:pt x="101155" y="67437"/>
                  </a:lnTo>
                  <a:lnTo>
                    <a:pt x="89916" y="2248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21/notch-shelf/line/012"/>
            <p:cNvCxnSpPr/>
            <p:nvPr/>
          </p:nvCxnSpPr>
          <p:spPr>
            <a:xfrm>
              <a:off x="1694307" y="2398966"/>
              <a:ext cx="44957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21/notch-shelf/ellipse/013"/>
            <p:cNvSpPr/>
            <p:nvPr/>
          </p:nvSpPr>
          <p:spPr>
            <a:xfrm>
              <a:off x="1705546" y="2264092"/>
              <a:ext cx="22479" cy="22479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21/notch-shelf/button-chart/014"/>
            <p:cNvSpPr/>
            <p:nvPr/>
          </p:nvSpPr>
          <p:spPr>
            <a:xfrm>
              <a:off x="1941575" y="217417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21/notch-shelf/line/015"/>
            <p:cNvCxnSpPr/>
            <p:nvPr/>
          </p:nvCxnSpPr>
          <p:spPr>
            <a:xfrm>
              <a:off x="2053970" y="2410205"/>
              <a:ext cx="13487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21/notch-shelf/line/016"/>
            <p:cNvCxnSpPr/>
            <p:nvPr/>
          </p:nvCxnSpPr>
          <p:spPr>
            <a:xfrm flipV="1">
              <a:off x="2065210" y="2331529"/>
              <a:ext cx="33718" cy="4495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21/notch-shelf/line/017"/>
            <p:cNvCxnSpPr/>
            <p:nvPr/>
          </p:nvCxnSpPr>
          <p:spPr>
            <a:xfrm>
              <a:off x="2098928" y="2331529"/>
              <a:ext cx="33719" cy="224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21/notch-shelf/line/018"/>
            <p:cNvCxnSpPr/>
            <p:nvPr/>
          </p:nvCxnSpPr>
          <p:spPr>
            <a:xfrm flipV="1">
              <a:off x="2132647" y="2286571"/>
              <a:ext cx="44958" cy="67437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21/notch-shelf/button-Shelf/019"/>
            <p:cNvSpPr/>
            <p:nvPr/>
          </p:nvSpPr>
          <p:spPr>
            <a:xfrm>
              <a:off x="2346197" y="2174176"/>
              <a:ext cx="1085735" cy="337184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21/notch-shelf/poly/020"/>
            <p:cNvSpPr/>
            <p:nvPr/>
          </p:nvSpPr>
          <p:spPr>
            <a:xfrm>
              <a:off x="2512542" y="2309050"/>
              <a:ext cx="134874" cy="89916"/>
            </a:xfrm>
            <a:custGeom>
              <a:avLst/>
              <a:gdLst/>
              <a:ahLst/>
              <a:cxnLst/>
              <a:rect l="l" t="t" r="r" b="b"/>
              <a:pathLst>
                <a:path w="134874" h="89916">
                  <a:moveTo>
                    <a:pt x="0" y="0"/>
                  </a:moveTo>
                  <a:lnTo>
                    <a:pt x="44958" y="0"/>
                  </a:lnTo>
                  <a:lnTo>
                    <a:pt x="61817" y="22479"/>
                  </a:lnTo>
                  <a:lnTo>
                    <a:pt x="134874" y="22479"/>
                  </a:lnTo>
                  <a:lnTo>
                    <a:pt x="134874" y="89916"/>
                  </a:lnTo>
                  <a:lnTo>
                    <a:pt x="0" y="89916"/>
                  </a:lnTo>
                  <a:close/>
                </a:path>
              </a:pathLst>
            </a:custGeom>
            <a:noFill/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21/notch-shelf/text/021"/>
            <p:cNvSpPr txBox="1"/>
            <p:nvPr/>
          </p:nvSpPr>
          <p:spPr>
            <a:xfrm>
              <a:off x="2737332" y="2174176"/>
              <a:ext cx="649643" cy="3371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9" b="1" i="0">
                  <a:solidFill>
                    <a:srgbClr val="FFFFFF"/>
                  </a:solidFill>
                  <a:latin typeface="Arial"/>
                </a:rPr>
                <a:t>Shelf</a:t>
              </a:r>
            </a:p>
          </p:txBody>
        </p:sp>
        <p:sp>
          <p:nvSpPr>
            <p:cNvPr id="33" name="N21/notch-shelf/button-clipboard/022"/>
            <p:cNvSpPr/>
            <p:nvPr/>
          </p:nvSpPr>
          <p:spPr>
            <a:xfrm>
              <a:off x="3476891" y="2174176"/>
              <a:ext cx="359664" cy="337184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21/notch-shelf/rect/023"/>
            <p:cNvSpPr/>
            <p:nvPr/>
          </p:nvSpPr>
          <p:spPr>
            <a:xfrm>
              <a:off x="3611765" y="2286571"/>
              <a:ext cx="89916" cy="123634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21/notch-shelf/rect/024"/>
            <p:cNvSpPr/>
            <p:nvPr/>
          </p:nvSpPr>
          <p:spPr>
            <a:xfrm>
              <a:off x="3634244" y="2269712"/>
              <a:ext cx="44958" cy="28098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N21/notch-shelf/line/025"/>
            <p:cNvCxnSpPr/>
            <p:nvPr/>
          </p:nvCxnSpPr>
          <p:spPr>
            <a:xfrm>
              <a:off x="3634244" y="2331529"/>
              <a:ext cx="4495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N21/notch-shelf/line/026"/>
            <p:cNvCxnSpPr/>
            <p:nvPr/>
          </p:nvCxnSpPr>
          <p:spPr>
            <a:xfrm>
              <a:off x="3634244" y="2359628"/>
              <a:ext cx="4495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21/notch-shelf/button-gear/027"/>
            <p:cNvSpPr/>
            <p:nvPr/>
          </p:nvSpPr>
          <p:spPr>
            <a:xfrm>
              <a:off x="6684645" y="2162937"/>
              <a:ext cx="359664" cy="35966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21/notch-shelf/ellipse/028"/>
            <p:cNvSpPr/>
            <p:nvPr/>
          </p:nvSpPr>
          <p:spPr>
            <a:xfrm>
              <a:off x="6830758" y="2309050"/>
              <a:ext cx="67437" cy="6743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21/notch-shelf/line/029"/>
            <p:cNvCxnSpPr/>
            <p:nvPr/>
          </p:nvCxnSpPr>
          <p:spPr>
            <a:xfrm>
              <a:off x="6920674" y="2342768"/>
              <a:ext cx="22479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21/notch-shelf/line/030"/>
            <p:cNvCxnSpPr/>
            <p:nvPr/>
          </p:nvCxnSpPr>
          <p:spPr>
            <a:xfrm>
              <a:off x="6904214" y="2382506"/>
              <a:ext cx="15895" cy="158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21/notch-shelf/line/031"/>
            <p:cNvCxnSpPr/>
            <p:nvPr/>
          </p:nvCxnSpPr>
          <p:spPr>
            <a:xfrm>
              <a:off x="6864477" y="2398966"/>
              <a:ext cx="0" cy="224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1/notch-shelf/line/032"/>
            <p:cNvCxnSpPr/>
            <p:nvPr/>
          </p:nvCxnSpPr>
          <p:spPr>
            <a:xfrm flipH="1">
              <a:off x="6808844" y="2382506"/>
              <a:ext cx="15895" cy="158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21/notch-shelf/line/033"/>
            <p:cNvCxnSpPr/>
            <p:nvPr/>
          </p:nvCxnSpPr>
          <p:spPr>
            <a:xfrm flipH="1">
              <a:off x="6785800" y="2342768"/>
              <a:ext cx="22479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21/notch-shelf/line/034"/>
            <p:cNvCxnSpPr/>
            <p:nvPr/>
          </p:nvCxnSpPr>
          <p:spPr>
            <a:xfrm flipH="1" flipV="1">
              <a:off x="6808844" y="2287136"/>
              <a:ext cx="15895" cy="158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21/notch-shelf/line/035"/>
            <p:cNvCxnSpPr/>
            <p:nvPr/>
          </p:nvCxnSpPr>
          <p:spPr>
            <a:xfrm flipV="1">
              <a:off x="6864477" y="2264092"/>
              <a:ext cx="0" cy="2247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21/notch-shelf/line/036"/>
            <p:cNvCxnSpPr/>
            <p:nvPr/>
          </p:nvCxnSpPr>
          <p:spPr>
            <a:xfrm flipV="1">
              <a:off x="6904214" y="2287136"/>
              <a:ext cx="15895" cy="1589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21/notch-shelf/button-close/037"/>
            <p:cNvSpPr/>
            <p:nvPr/>
          </p:nvSpPr>
          <p:spPr>
            <a:xfrm>
              <a:off x="7111746" y="2162937"/>
              <a:ext cx="359664" cy="35966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21/notch-shelf/line/038"/>
            <p:cNvCxnSpPr/>
            <p:nvPr/>
          </p:nvCxnSpPr>
          <p:spPr>
            <a:xfrm>
              <a:off x="7246620" y="2297811"/>
              <a:ext cx="89916" cy="8991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1/notch-shelf/line/039"/>
            <p:cNvCxnSpPr/>
            <p:nvPr/>
          </p:nvCxnSpPr>
          <p:spPr>
            <a:xfrm flipH="1">
              <a:off x="7246620" y="2297811"/>
              <a:ext cx="89916" cy="8991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21/notch-shelf/text/040"/>
            <p:cNvSpPr txBox="1"/>
            <p:nvPr/>
          </p:nvSpPr>
          <p:spPr>
            <a:xfrm>
              <a:off x="727710" y="2590037"/>
              <a:ext cx="2697480" cy="2472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 i="0">
                  <a:solidFill>
                    <a:srgbClr val="F5F5F7"/>
                  </a:solidFill>
                  <a:latin typeface="Arial"/>
                </a:rPr>
                <a:t>Quick stash</a:t>
              </a:r>
            </a:p>
          </p:txBody>
        </p:sp>
        <p:sp>
          <p:nvSpPr>
            <p:cNvPr id="52" name="N21/notch-shelf/button-Add files/041"/>
            <p:cNvSpPr/>
            <p:nvPr/>
          </p:nvSpPr>
          <p:spPr>
            <a:xfrm>
              <a:off x="4684014" y="2567558"/>
              <a:ext cx="1034033" cy="31470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21/notch-shelf/line/042"/>
            <p:cNvCxnSpPr/>
            <p:nvPr/>
          </p:nvCxnSpPr>
          <p:spPr>
            <a:xfrm>
              <a:off x="4721216" y="2668714"/>
              <a:ext cx="0" cy="112395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21/notch-shelf/line/043"/>
            <p:cNvCxnSpPr/>
            <p:nvPr/>
          </p:nvCxnSpPr>
          <p:spPr>
            <a:xfrm>
              <a:off x="4665019" y="2724911"/>
              <a:ext cx="112395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21/notch-shelf/text/044"/>
            <p:cNvSpPr txBox="1"/>
            <p:nvPr/>
          </p:nvSpPr>
          <p:spPr>
            <a:xfrm>
              <a:off x="4878569" y="2567558"/>
              <a:ext cx="794520" cy="3147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E5E5EA"/>
                  </a:solidFill>
                  <a:latin typeface="Arial"/>
                </a:rPr>
                <a:t>Add files</a:t>
              </a:r>
            </a:p>
          </p:txBody>
        </p:sp>
        <p:sp>
          <p:nvSpPr>
            <p:cNvPr id="56" name="N21/notch-shelf/button-Clear/045"/>
            <p:cNvSpPr/>
            <p:nvPr/>
          </p:nvSpPr>
          <p:spPr>
            <a:xfrm>
              <a:off x="5807964" y="2567558"/>
              <a:ext cx="719328" cy="314706"/>
            </a:xfrm>
            <a:prstGeom prst="roundRect">
              <a:avLst>
                <a:gd name="adj" fmla="val 3571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N21/notch-shelf/line/046"/>
            <p:cNvCxnSpPr/>
            <p:nvPr/>
          </p:nvCxnSpPr>
          <p:spPr>
            <a:xfrm>
              <a:off x="5829881" y="2691193"/>
              <a:ext cx="112395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N21/notch-shelf/rect/047"/>
            <p:cNvSpPr/>
            <p:nvPr/>
          </p:nvSpPr>
          <p:spPr>
            <a:xfrm>
              <a:off x="5852360" y="2691193"/>
              <a:ext cx="67437" cy="101155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21/notch-shelf/line/048"/>
            <p:cNvCxnSpPr/>
            <p:nvPr/>
          </p:nvCxnSpPr>
          <p:spPr>
            <a:xfrm>
              <a:off x="5863599" y="2668714"/>
              <a:ext cx="44958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N21/notch-shelf/line/049"/>
            <p:cNvCxnSpPr/>
            <p:nvPr/>
          </p:nvCxnSpPr>
          <p:spPr>
            <a:xfrm>
              <a:off x="5874839" y="2713672"/>
              <a:ext cx="0" cy="56197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N21/notch-shelf/line/050"/>
            <p:cNvCxnSpPr/>
            <p:nvPr/>
          </p:nvCxnSpPr>
          <p:spPr>
            <a:xfrm>
              <a:off x="5897318" y="2713672"/>
              <a:ext cx="0" cy="56197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N21/notch-shelf/text/051"/>
            <p:cNvSpPr txBox="1"/>
            <p:nvPr/>
          </p:nvSpPr>
          <p:spPr>
            <a:xfrm>
              <a:off x="6043431" y="2567558"/>
              <a:ext cx="438902" cy="3147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636366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63" name="N21/notch-shelf/button-Retry/052"/>
            <p:cNvSpPr/>
            <p:nvPr/>
          </p:nvSpPr>
          <p:spPr>
            <a:xfrm>
              <a:off x="6617208" y="2567558"/>
              <a:ext cx="854201" cy="31470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N21/notch-shelf/ellipse/053"/>
            <p:cNvSpPr/>
            <p:nvPr/>
          </p:nvSpPr>
          <p:spPr>
            <a:xfrm>
              <a:off x="6706562" y="2668714"/>
              <a:ext cx="112395" cy="112395"/>
            </a:xfrm>
            <a:prstGeom prst="ellipse">
              <a:avLst/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21/notch-shelf/poly/054"/>
            <p:cNvSpPr/>
            <p:nvPr/>
          </p:nvSpPr>
          <p:spPr>
            <a:xfrm>
              <a:off x="6785238" y="2657474"/>
              <a:ext cx="44958" cy="44958"/>
            </a:xfrm>
            <a:custGeom>
              <a:avLst/>
              <a:gdLst/>
              <a:ahLst/>
              <a:cxnLst/>
              <a:rect l="l" t="t" r="r" b="b"/>
              <a:pathLst>
                <a:path w="44958" h="44958">
                  <a:moveTo>
                    <a:pt x="22479" y="0"/>
                  </a:moveTo>
                  <a:lnTo>
                    <a:pt x="44958" y="44958"/>
                  </a:lnTo>
                  <a:lnTo>
                    <a:pt x="0" y="44958"/>
                  </a:lnTo>
                  <a:close/>
                </a:path>
              </a:pathLst>
            </a:cu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N21/notch-shelf/text/055"/>
            <p:cNvSpPr txBox="1"/>
            <p:nvPr/>
          </p:nvSpPr>
          <p:spPr>
            <a:xfrm>
              <a:off x="6920112" y="2567558"/>
              <a:ext cx="506339" cy="31470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E5E5EA"/>
                  </a:solidFill>
                  <a:latin typeface="Arial"/>
                </a:rPr>
                <a:t>Retry</a:t>
              </a:r>
            </a:p>
          </p:txBody>
        </p:sp>
        <p:sp>
          <p:nvSpPr>
            <p:cNvPr id="67" name="N21/notch-shelf/text/056"/>
            <p:cNvSpPr txBox="1"/>
            <p:nvPr/>
          </p:nvSpPr>
          <p:spPr>
            <a:xfrm>
              <a:off x="727710" y="2882264"/>
              <a:ext cx="6743700" cy="269748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98989D"/>
                  </a:solidFill>
                  <a:latin typeface="Arial"/>
                </a:rPr>
                <a:t>File shelf helper is offline. Press Retry to start it.</a:t>
              </a:r>
            </a:p>
          </p:txBody>
        </p:sp>
        <p:sp>
          <p:nvSpPr>
            <p:cNvPr id="68" name="N21/notch-shelf/text/057"/>
            <p:cNvSpPr txBox="1"/>
            <p:nvPr/>
          </p:nvSpPr>
          <p:spPr>
            <a:xfrm>
              <a:off x="727710" y="3196970"/>
              <a:ext cx="6743700" cy="224790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7" b="0" i="0">
                  <a:solidFill>
                    <a:srgbClr val="98989D"/>
                  </a:solidFill>
                  <a:latin typeface="Arial"/>
                </a:rPr>
                <a:t>Shelf is empty — files appear once the helper is connected.</a:t>
              </a:r>
            </a:p>
          </p:txBody>
        </p:sp>
        <p:sp>
          <p:nvSpPr>
            <p:cNvPr id="69" name="N21/notch-shelf/drop-hint/058"/>
            <p:cNvSpPr/>
            <p:nvPr/>
          </p:nvSpPr>
          <p:spPr>
            <a:xfrm>
              <a:off x="727710" y="3511677"/>
              <a:ext cx="6743700" cy="359664"/>
            </a:xfrm>
            <a:prstGeom prst="roundRect">
              <a:avLst>
                <a:gd name="adj" fmla="val 43750"/>
              </a:avLst>
            </a:prstGeom>
            <a:solidFill>
              <a:srgbClr val="111112"/>
            </a:solidFill>
            <a:ln w="15240">
              <a:solidFill>
                <a:srgbClr val="48484A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21/notch-shelf/text/059"/>
            <p:cNvSpPr txBox="1"/>
            <p:nvPr/>
          </p:nvSpPr>
          <p:spPr>
            <a:xfrm>
              <a:off x="840105" y="3511677"/>
              <a:ext cx="6518910" cy="3596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98989D"/>
                  </a:solidFill>
                  <a:latin typeface="Arial"/>
                </a:rPr>
                <a:t>Drop files when the GTK target appears. Only references are saved.</a:t>
              </a:r>
            </a:p>
          </p:txBody>
        </p:sp>
        <p:sp>
          <p:nvSpPr>
            <p:cNvPr id="71" name="N21/notch-shelf/text/060"/>
            <p:cNvSpPr txBox="1"/>
            <p:nvPr/>
          </p:nvSpPr>
          <p:spPr>
            <a:xfrm>
              <a:off x="727710" y="3961257"/>
              <a:ext cx="5394960" cy="4271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53" b="0" i="0">
                  <a:solidFill>
                    <a:srgbClr val="FF9F0A"/>
                  </a:solidFill>
                  <a:latin typeface="Arial"/>
                </a:rPr>
                <a:t>File shelf helper is offline. Press Retry to start it.</a:t>
              </a:r>
            </a:p>
          </p:txBody>
        </p:sp>
        <p:sp>
          <p:nvSpPr>
            <p:cNvPr id="72" name="N21/notch-shelf/button-Retry/061"/>
            <p:cNvSpPr/>
            <p:nvPr/>
          </p:nvSpPr>
          <p:spPr>
            <a:xfrm>
              <a:off x="6257544" y="3938778"/>
              <a:ext cx="719328" cy="292227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N21/notch-shelf/text/062"/>
            <p:cNvSpPr txBox="1"/>
            <p:nvPr/>
          </p:nvSpPr>
          <p:spPr>
            <a:xfrm>
              <a:off x="6324981" y="3938778"/>
              <a:ext cx="584454" cy="29222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15" b="0" i="0">
                  <a:solidFill>
                    <a:srgbClr val="E5E5EA"/>
                  </a:solidFill>
                  <a:latin typeface="Arial"/>
                </a:rPr>
                <a:t>Retry</a:t>
              </a:r>
            </a:p>
          </p:txBody>
        </p:sp>
        <p:sp>
          <p:nvSpPr>
            <p:cNvPr id="74" name="N21/notch-shelf/button-close/063"/>
            <p:cNvSpPr/>
            <p:nvPr/>
          </p:nvSpPr>
          <p:spPr>
            <a:xfrm>
              <a:off x="7066788" y="3938778"/>
              <a:ext cx="314706" cy="29222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5" name="N21/notch-shelf/line/064"/>
            <p:cNvCxnSpPr/>
            <p:nvPr/>
          </p:nvCxnSpPr>
          <p:spPr>
            <a:xfrm>
              <a:off x="7179183" y="4039933"/>
              <a:ext cx="89916" cy="899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N21/notch-shelf/line/065"/>
            <p:cNvCxnSpPr/>
            <p:nvPr/>
          </p:nvCxnSpPr>
          <p:spPr>
            <a:xfrm flipH="1">
              <a:off x="7179183" y="4039933"/>
              <a:ext cx="89916" cy="8991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N21/text/010"/>
          <p:cNvSpPr txBox="1"/>
          <p:nvPr/>
        </p:nvSpPr>
        <p:spPr>
          <a:xfrm>
            <a:off x="502920" y="507492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Starting: Retry becomes 'Starting…' and is disabled. Offline: Retry re-activates the helper.</a:t>
            </a:r>
          </a:p>
        </p:txBody>
      </p:sp>
      <p:grpSp>
        <p:nvGrpSpPr>
          <p:cNvPr id="78" name="N21/shelf-starting-mini"/>
          <p:cNvGrpSpPr/>
          <p:nvPr/>
        </p:nvGrpSpPr>
        <p:grpSpPr>
          <a:xfrm>
            <a:off x="502920" y="5486400"/>
            <a:ext cx="3566160" cy="640080"/>
            <a:chOff x="502920" y="5486400"/>
            <a:chExt cx="3566160" cy="640080"/>
          </a:xfrm>
        </p:grpSpPr>
        <p:sp>
          <p:nvSpPr>
            <p:cNvPr id="79" name="N21/shelf-starting-mini/notch-surface-open/001"/>
            <p:cNvSpPr/>
            <p:nvPr/>
          </p:nvSpPr>
          <p:spPr>
            <a:xfrm>
              <a:off x="502920" y="5486400"/>
              <a:ext cx="3566160" cy="640080"/>
            </a:xfrm>
            <a:custGeom>
              <a:avLst/>
              <a:gdLst/>
              <a:ahLst/>
              <a:cxnLst/>
              <a:rect l="l" t="t" r="r" b="b"/>
              <a:pathLst>
                <a:path w="3566160" h="640080">
                  <a:moveTo>
                    <a:pt x="0" y="0"/>
                  </a:moveTo>
                  <a:lnTo>
                    <a:pt x="3566160" y="0"/>
                  </a:lnTo>
                  <a:lnTo>
                    <a:pt x="3552357" y="1555"/>
                  </a:lnTo>
                  <a:lnTo>
                    <a:pt x="3536610" y="6221"/>
                  </a:lnTo>
                  <a:lnTo>
                    <a:pt x="3520085" y="13997"/>
                  </a:lnTo>
                  <a:lnTo>
                    <a:pt x="3503949" y="24884"/>
                  </a:lnTo>
                  <a:lnTo>
                    <a:pt x="3489369" y="38881"/>
                  </a:lnTo>
                  <a:lnTo>
                    <a:pt x="3477510" y="55989"/>
                  </a:lnTo>
                  <a:lnTo>
                    <a:pt x="3469539" y="76207"/>
                  </a:lnTo>
                  <a:lnTo>
                    <a:pt x="3466623" y="99536"/>
                  </a:lnTo>
                  <a:lnTo>
                    <a:pt x="3464207" y="538878"/>
                  </a:lnTo>
                  <a:lnTo>
                    <a:pt x="3457053" y="562464"/>
                  </a:lnTo>
                  <a:lnTo>
                    <a:pt x="3445434" y="584201"/>
                  </a:lnTo>
                  <a:lnTo>
                    <a:pt x="3429798" y="603254"/>
                  </a:lnTo>
                  <a:lnTo>
                    <a:pt x="3410745" y="618890"/>
                  </a:lnTo>
                  <a:lnTo>
                    <a:pt x="3389008" y="630509"/>
                  </a:lnTo>
                  <a:lnTo>
                    <a:pt x="3365422" y="637664"/>
                  </a:lnTo>
                  <a:lnTo>
                    <a:pt x="3340893" y="640080"/>
                  </a:lnTo>
                  <a:lnTo>
                    <a:pt x="225266" y="640080"/>
                  </a:lnTo>
                  <a:lnTo>
                    <a:pt x="200737" y="637664"/>
                  </a:lnTo>
                  <a:lnTo>
                    <a:pt x="177151" y="630509"/>
                  </a:lnTo>
                  <a:lnTo>
                    <a:pt x="155414" y="618890"/>
                  </a:lnTo>
                  <a:lnTo>
                    <a:pt x="136361" y="603254"/>
                  </a:lnTo>
                  <a:lnTo>
                    <a:pt x="120725" y="584201"/>
                  </a:lnTo>
                  <a:lnTo>
                    <a:pt x="109106" y="562464"/>
                  </a:lnTo>
                  <a:lnTo>
                    <a:pt x="101952" y="538878"/>
                  </a:lnTo>
                  <a:lnTo>
                    <a:pt x="99536" y="514350"/>
                  </a:lnTo>
                  <a:lnTo>
                    <a:pt x="99536" y="99536"/>
                  </a:lnTo>
                  <a:lnTo>
                    <a:pt x="96620" y="76207"/>
                  </a:lnTo>
                  <a:lnTo>
                    <a:pt x="88649" y="55989"/>
                  </a:lnTo>
                  <a:lnTo>
                    <a:pt x="76790" y="38881"/>
                  </a:lnTo>
                  <a:lnTo>
                    <a:pt x="62210" y="24884"/>
                  </a:lnTo>
                  <a:lnTo>
                    <a:pt x="46074" y="13997"/>
                  </a:lnTo>
                  <a:lnTo>
                    <a:pt x="29549" y="6221"/>
                  </a:lnTo>
                  <a:lnTo>
                    <a:pt x="13802" y="15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N21/shelf-starting-mini/text/002"/>
            <p:cNvSpPr txBox="1"/>
            <p:nvPr/>
          </p:nvSpPr>
          <p:spPr>
            <a:xfrm>
              <a:off x="685800" y="5596128"/>
              <a:ext cx="3200400" cy="18288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98989D"/>
                  </a:solidFill>
                  <a:latin typeface="Arial"/>
                </a:rPr>
                <a:t>Starting file shelf helper…</a:t>
              </a:r>
            </a:p>
          </p:txBody>
        </p:sp>
        <p:sp>
          <p:nvSpPr>
            <p:cNvPr id="81" name="N21/shelf-starting-mini/button-Starting…/003"/>
            <p:cNvSpPr/>
            <p:nvPr/>
          </p:nvSpPr>
          <p:spPr>
            <a:xfrm>
              <a:off x="3246120" y="5596128"/>
              <a:ext cx="640080" cy="228600"/>
            </a:xfrm>
            <a:prstGeom prst="roundRect">
              <a:avLst>
                <a:gd name="adj" fmla="val 20833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21/shelf-starting-mini/text/004"/>
            <p:cNvSpPr txBox="1"/>
            <p:nvPr/>
          </p:nvSpPr>
          <p:spPr>
            <a:xfrm>
              <a:off x="3274695" y="5596128"/>
              <a:ext cx="582930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2" b="0" i="0">
                  <a:solidFill>
                    <a:srgbClr val="636366"/>
                  </a:solidFill>
                  <a:latin typeface="Arial"/>
                </a:rPr>
                <a:t>Starting…</a:t>
              </a:r>
            </a:p>
          </p:txBody>
        </p:sp>
      </p:grpSp>
      <p:sp>
        <p:nvSpPr>
          <p:cNvPr id="83" name="N21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N21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85" name="N21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N21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State: ready / starting / offline</a:t>
            </a:r>
          </a:p>
        </p:txBody>
      </p:sp>
      <p:sp>
        <p:nvSpPr>
          <p:cNvPr id="87" name="N21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N21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Status footer wraps + Retry</a:t>
            </a:r>
          </a:p>
        </p:txBody>
      </p:sp>
      <p:sp>
        <p:nvSpPr>
          <p:cNvPr id="89" name="N21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N21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Error color #FF9F0A</a:t>
            </a:r>
          </a:p>
        </p:txBody>
      </p:sp>
      <p:sp>
        <p:nvSpPr>
          <p:cNvPr id="91" name="N21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N21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Helper idle exit after 5 min is normal</a:t>
            </a:r>
          </a:p>
        </p:txBody>
      </p:sp>
      <p:cxnSp>
        <p:nvCxnSpPr>
          <p:cNvPr id="93" name="N21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N21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95" name="N21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N21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Offline copy / retry placement / footer height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SHELF PAGE</a:t>
            </a:r>
          </a:p>
        </p:txBody>
      </p:sp>
      <p:sp>
        <p:nvSpPr>
          <p:cNvPr id="5" name="N2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External GTK drop target</a:t>
            </a:r>
          </a:p>
        </p:txBody>
      </p:sp>
      <p:sp>
        <p:nvSpPr>
          <p:cNvPr id="6" name="N2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Drag files near the notch → temporary GTK4 surface positioned by Mutter</a:t>
            </a:r>
          </a:p>
        </p:txBody>
      </p:sp>
      <p:cxnSp>
        <p:nvCxnSpPr>
          <p:cNvPr id="7" name="N2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N22</a:t>
            </a:r>
          </a:p>
        </p:txBody>
      </p:sp>
      <p:sp>
        <p:nvSpPr>
          <p:cNvPr id="10" name="N2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22</a:t>
            </a:r>
          </a:p>
        </p:txBody>
      </p:sp>
      <p:sp>
        <p:nvSpPr>
          <p:cNvPr id="11" name="N22/gnome-panel/010"/>
          <p:cNvSpPr/>
          <p:nvPr/>
        </p:nvSpPr>
        <p:spPr>
          <a:xfrm>
            <a:off x="502920" y="1783080"/>
            <a:ext cx="7635240" cy="36576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22/text/011"/>
          <p:cNvSpPr txBox="1"/>
          <p:nvPr/>
        </p:nvSpPr>
        <p:spPr>
          <a:xfrm>
            <a:off x="649224" y="1783080"/>
            <a:ext cx="109728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5F5F7"/>
                </a:solidFill>
                <a:latin typeface="Arial"/>
              </a:rPr>
              <a:t>Activities</a:t>
            </a:r>
          </a:p>
        </p:txBody>
      </p:sp>
      <p:cxnSp>
        <p:nvCxnSpPr>
          <p:cNvPr id="13" name="N22/line/012"/>
          <p:cNvCxnSpPr/>
          <p:nvPr/>
        </p:nvCxnSpPr>
        <p:spPr>
          <a:xfrm>
            <a:off x="7150608" y="1925955"/>
            <a:ext cx="0" cy="80010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22/poly/013"/>
          <p:cNvSpPr/>
          <p:nvPr/>
        </p:nvSpPr>
        <p:spPr>
          <a:xfrm>
            <a:off x="7126605" y="1925955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24003"/>
                </a:moveTo>
                <a:lnTo>
                  <a:pt x="24003" y="0"/>
                </a:lnTo>
                <a:lnTo>
                  <a:pt x="48006" y="24003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22/poly/014"/>
          <p:cNvSpPr/>
          <p:nvPr/>
        </p:nvSpPr>
        <p:spPr>
          <a:xfrm>
            <a:off x="7126605" y="1981962"/>
            <a:ext cx="48006" cy="24003"/>
          </a:xfrm>
          <a:custGeom>
            <a:avLst/>
            <a:gdLst/>
            <a:ahLst/>
            <a:cxnLst/>
            <a:rect l="l" t="t" r="r" b="b"/>
            <a:pathLst>
              <a:path w="48006" h="24003">
                <a:moveTo>
                  <a:pt x="0" y="0"/>
                </a:moveTo>
                <a:lnTo>
                  <a:pt x="24003" y="24003"/>
                </a:lnTo>
                <a:lnTo>
                  <a:pt x="48006" y="0"/>
                </a:lnTo>
                <a:close/>
              </a:path>
            </a:pathLst>
          </a:custGeom>
          <a:noFill/>
          <a:ln w="1270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22/poly/015"/>
          <p:cNvSpPr/>
          <p:nvPr/>
        </p:nvSpPr>
        <p:spPr>
          <a:xfrm>
            <a:off x="7339202" y="1925955"/>
            <a:ext cx="48006" cy="80010"/>
          </a:xfrm>
          <a:custGeom>
            <a:avLst/>
            <a:gdLst/>
            <a:ahLst/>
            <a:cxnLst/>
            <a:rect l="l" t="t" r="r" b="b"/>
            <a:pathLst>
              <a:path w="48006" h="80010">
                <a:moveTo>
                  <a:pt x="0" y="24003"/>
                </a:moveTo>
                <a:lnTo>
                  <a:pt x="24004" y="24003"/>
                </a:lnTo>
                <a:lnTo>
                  <a:pt x="48006" y="0"/>
                </a:lnTo>
                <a:lnTo>
                  <a:pt x="48006" y="80010"/>
                </a:lnTo>
                <a:lnTo>
                  <a:pt x="24004" y="56007"/>
                </a:lnTo>
                <a:lnTo>
                  <a:pt x="0" y="56007"/>
                </a:lnTo>
                <a:close/>
              </a:path>
            </a:pathLst>
          </a:cu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N22/line/016"/>
          <p:cNvCxnSpPr/>
          <p:nvPr/>
        </p:nvCxnSpPr>
        <p:spPr>
          <a:xfrm>
            <a:off x="7403211" y="1941957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N22/line/017"/>
          <p:cNvCxnSpPr/>
          <p:nvPr/>
        </p:nvCxnSpPr>
        <p:spPr>
          <a:xfrm flipH="1">
            <a:off x="7403211" y="1965960"/>
            <a:ext cx="16002" cy="24003"/>
          </a:xfrm>
          <a:prstGeom prst="line">
            <a:avLst/>
          </a:prstGeom>
          <a:ln w="10160">
            <a:solidFill>
              <a:srgbClr val="F5F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N22/rect/018"/>
          <p:cNvSpPr/>
          <p:nvPr/>
        </p:nvSpPr>
        <p:spPr>
          <a:xfrm>
            <a:off x="7559802" y="1941957"/>
            <a:ext cx="88011" cy="48006"/>
          </a:xfrm>
          <a:prstGeom prst="roundRect">
            <a:avLst>
              <a:gd name="adj" fmla="val 16666"/>
            </a:avLst>
          </a:prstGeom>
          <a:noFill/>
          <a:ln w="10160">
            <a:solidFill>
              <a:srgbClr val="F5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22/rect/019"/>
          <p:cNvSpPr/>
          <p:nvPr/>
        </p:nvSpPr>
        <p:spPr>
          <a:xfrm>
            <a:off x="7647813" y="1957959"/>
            <a:ext cx="12001" cy="1600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2/rect/020"/>
          <p:cNvSpPr/>
          <p:nvPr/>
        </p:nvSpPr>
        <p:spPr>
          <a:xfrm>
            <a:off x="7571803" y="1953958"/>
            <a:ext cx="48006" cy="24003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22/text/021"/>
          <p:cNvSpPr txBox="1"/>
          <p:nvPr/>
        </p:nvSpPr>
        <p:spPr>
          <a:xfrm>
            <a:off x="7754112" y="1783080"/>
            <a:ext cx="27432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5F5F7"/>
                </a:solidFill>
                <a:latin typeface="Arial"/>
              </a:rPr>
              <a:t>⏻</a:t>
            </a:r>
          </a:p>
        </p:txBody>
      </p:sp>
      <p:grpSp>
        <p:nvGrpSpPr>
          <p:cNvPr id="23" name="N22/gtk-drop"/>
          <p:cNvGrpSpPr/>
          <p:nvPr/>
        </p:nvGrpSpPr>
        <p:grpSpPr>
          <a:xfrm>
            <a:off x="914400" y="2286000"/>
            <a:ext cx="6812280" cy="2926080"/>
            <a:chOff x="914400" y="2286000"/>
            <a:chExt cx="6812280" cy="2926080"/>
          </a:xfrm>
        </p:grpSpPr>
        <p:sp>
          <p:nvSpPr>
            <p:cNvPr id="24" name="N22/gtk-drop/gtk-drop-window/001"/>
            <p:cNvSpPr/>
            <p:nvPr/>
          </p:nvSpPr>
          <p:spPr>
            <a:xfrm>
              <a:off x="914400" y="2286000"/>
              <a:ext cx="6812280" cy="2926080"/>
            </a:xfrm>
            <a:prstGeom prst="roundRect">
              <a:avLst>
                <a:gd name="adj" fmla="val 7187"/>
              </a:avLst>
            </a:prstGeom>
            <a:solidFill>
              <a:srgbClr val="14231D"/>
            </a:solidFill>
            <a:ln w="25400">
              <a:solidFill>
                <a:srgbClr val="8EE4C0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N22/gtk-drop/line/002"/>
            <p:cNvCxnSpPr/>
            <p:nvPr/>
          </p:nvCxnSpPr>
          <p:spPr>
            <a:xfrm>
              <a:off x="4297680" y="2754630"/>
              <a:ext cx="0" cy="228600"/>
            </a:xfrm>
            <a:prstGeom prst="line">
              <a:avLst/>
            </a:prstGeom>
            <a:ln w="10160">
              <a:solidFill>
                <a:srgbClr val="E4FF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N22/gtk-drop/poly/003"/>
            <p:cNvSpPr/>
            <p:nvPr/>
          </p:nvSpPr>
          <p:spPr>
            <a:xfrm>
              <a:off x="4211955" y="2897505"/>
              <a:ext cx="171450" cy="85725"/>
            </a:xfrm>
            <a:custGeom>
              <a:avLst/>
              <a:gdLst/>
              <a:ahLst/>
              <a:cxnLst/>
              <a:rect l="l" t="t" r="r" b="b"/>
              <a:pathLst>
                <a:path w="171450" h="85725">
                  <a:moveTo>
                    <a:pt x="0" y="0"/>
                  </a:moveTo>
                  <a:lnTo>
                    <a:pt x="85725" y="85725"/>
                  </a:lnTo>
                  <a:lnTo>
                    <a:pt x="171450" y="0"/>
                  </a:lnTo>
                  <a:close/>
                </a:path>
              </a:pathLst>
            </a:custGeom>
            <a:noFill/>
            <a:ln w="12700">
              <a:solidFill>
                <a:srgbClr val="E4FF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22/gtk-drop/line/004"/>
            <p:cNvCxnSpPr/>
            <p:nvPr/>
          </p:nvCxnSpPr>
          <p:spPr>
            <a:xfrm>
              <a:off x="4154805" y="3068955"/>
              <a:ext cx="285750" cy="0"/>
            </a:xfrm>
            <a:prstGeom prst="line">
              <a:avLst/>
            </a:prstGeom>
            <a:ln w="10160">
              <a:solidFill>
                <a:srgbClr val="E4FFF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N22/gtk-drop/text/005"/>
            <p:cNvSpPr txBox="1"/>
            <p:nvPr/>
          </p:nvSpPr>
          <p:spPr>
            <a:xfrm>
              <a:off x="1097280" y="3291840"/>
              <a:ext cx="6446520" cy="36576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E4FFF1"/>
                  </a:solidFill>
                  <a:latin typeface="Arial"/>
                </a:rPr>
                <a:t>Drop files to stash</a:t>
              </a:r>
            </a:p>
          </p:txBody>
        </p:sp>
        <p:sp>
          <p:nvSpPr>
            <p:cNvPr id="29" name="N22/gtk-drop/text/006"/>
            <p:cNvSpPr txBox="1"/>
            <p:nvPr/>
          </p:nvSpPr>
          <p:spPr>
            <a:xfrm>
              <a:off x="1371600" y="3794760"/>
              <a:ext cx="5897880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 i="0">
                  <a:solidFill>
                    <a:srgbClr val="ACD5BE"/>
                  </a:solidFill>
                  <a:latin typeface="Arial"/>
                </a:rPr>
                <a:t>Only shelf references are saved. Originals stay where they are.</a:t>
              </a:r>
            </a:p>
          </p:txBody>
        </p:sp>
      </p:grpSp>
      <p:sp>
        <p:nvSpPr>
          <p:cNvPr id="30" name="N22/text/022"/>
          <p:cNvSpPr txBox="1"/>
          <p:nvPr/>
        </p:nvSpPr>
        <p:spPr>
          <a:xfrm>
            <a:off x="502920" y="5440680"/>
            <a:ext cx="763524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Default target ≈600×232 at 640×320 open geometry. After drop: 'Files stashed. You can release the drag.'</a:t>
            </a:r>
          </a:p>
        </p:txBody>
      </p:sp>
      <p:sp>
        <p:nvSpPr>
          <p:cNvPr id="31" name="N22/spec-panel/023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22/text/024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33" name="N22/ellipse/025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22/text/026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BG #14231D · text #E4FFF1</a:t>
            </a:r>
          </a:p>
        </p:txBody>
      </p:sp>
      <p:sp>
        <p:nvSpPr>
          <p:cNvPr id="35" name="N22/ellipse/027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22/text/028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Dashed 2 px #8EE4C0</a:t>
            </a:r>
          </a:p>
        </p:txBody>
      </p:sp>
      <p:sp>
        <p:nvSpPr>
          <p:cNvPr id="37" name="N22/ellipse/029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22/text/030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Radius 22 · title 20 px bold</a:t>
            </a:r>
          </a:p>
        </p:txBody>
      </p:sp>
      <p:sp>
        <p:nvSpPr>
          <p:cNvPr id="39" name="N22/ellipse/031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22/text/032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Detail #ACD5BE · icon 48 px</a:t>
            </a:r>
          </a:p>
        </p:txBody>
      </p:sp>
      <p:sp>
        <p:nvSpPr>
          <p:cNvPr id="41" name="N22/ellipse/033"/>
          <p:cNvSpPr/>
          <p:nvPr/>
        </p:nvSpPr>
        <p:spPr>
          <a:xfrm>
            <a:off x="8659368" y="3319271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22/text/034"/>
          <p:cNvSpPr txBox="1"/>
          <p:nvPr/>
        </p:nvSpPr>
        <p:spPr>
          <a:xfrm>
            <a:off x="8805672" y="3255263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Not a Shell actor; GTK helper window</a:t>
            </a:r>
          </a:p>
        </p:txBody>
      </p:sp>
      <p:cxnSp>
        <p:nvCxnSpPr>
          <p:cNvPr id="43" name="N22/line/035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22/text/036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45" name="N22/edit-box/037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22/edit-note/038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Target colors / copy / size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CLIPS PAGE</a:t>
            </a:r>
          </a:p>
        </p:txBody>
      </p:sp>
      <p:sp>
        <p:nvSpPr>
          <p:cNvPr id="5" name="N2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Clips — manual only / empty</a:t>
            </a:r>
          </a:p>
        </p:txBody>
      </p:sp>
      <p:sp>
        <p:nvSpPr>
          <p:cNvPr id="6" name="N2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clipboard-enabled=false by default · explicit Capture now still works</a:t>
            </a:r>
          </a:p>
        </p:txBody>
      </p:sp>
      <p:cxnSp>
        <p:nvCxnSpPr>
          <p:cNvPr id="7" name="N2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N23</a:t>
            </a:r>
          </a:p>
        </p:txBody>
      </p:sp>
      <p:sp>
        <p:nvSpPr>
          <p:cNvPr id="10" name="N2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23</a:t>
            </a:r>
          </a:p>
        </p:txBody>
      </p:sp>
      <p:grpSp>
        <p:nvGrpSpPr>
          <p:cNvPr id="11" name="N23/notch-clipboard"/>
          <p:cNvGrpSpPr/>
          <p:nvPr/>
        </p:nvGrpSpPr>
        <p:grpSpPr>
          <a:xfrm>
            <a:off x="731520" y="1645920"/>
            <a:ext cx="7071360" cy="3657600"/>
            <a:chOff x="731520" y="1645920"/>
            <a:chExt cx="7071360" cy="3657600"/>
          </a:xfrm>
        </p:grpSpPr>
        <p:sp>
          <p:nvSpPr>
            <p:cNvPr id="12" name="N23/notch-clipboard/notch-surface-open/001"/>
            <p:cNvSpPr/>
            <p:nvPr/>
          </p:nvSpPr>
          <p:spPr>
            <a:xfrm>
              <a:off x="731520" y="1645920"/>
              <a:ext cx="7071360" cy="3657600"/>
            </a:xfrm>
            <a:custGeom>
              <a:avLst/>
              <a:gdLst/>
              <a:ahLst/>
              <a:cxnLst/>
              <a:rect l="l" t="t" r="r" b="b"/>
              <a:pathLst>
                <a:path w="7071360" h="3657600">
                  <a:moveTo>
                    <a:pt x="0" y="0"/>
                  </a:moveTo>
                  <a:lnTo>
                    <a:pt x="7071360" y="0"/>
                  </a:lnTo>
                  <a:lnTo>
                    <a:pt x="7039236" y="3619"/>
                  </a:lnTo>
                  <a:lnTo>
                    <a:pt x="7002589" y="14477"/>
                  </a:lnTo>
                  <a:lnTo>
                    <a:pt x="6964132" y="32575"/>
                  </a:lnTo>
                  <a:lnTo>
                    <a:pt x="6926579" y="57912"/>
                  </a:lnTo>
                  <a:lnTo>
                    <a:pt x="6892647" y="90487"/>
                  </a:lnTo>
                  <a:lnTo>
                    <a:pt x="6865048" y="130302"/>
                  </a:lnTo>
                  <a:lnTo>
                    <a:pt x="6846498" y="177355"/>
                  </a:lnTo>
                  <a:lnTo>
                    <a:pt x="6839711" y="231648"/>
                  </a:lnTo>
                  <a:lnTo>
                    <a:pt x="6834089" y="3422076"/>
                  </a:lnTo>
                  <a:lnTo>
                    <a:pt x="6817438" y="3476968"/>
                  </a:lnTo>
                  <a:lnTo>
                    <a:pt x="6790398" y="3527556"/>
                  </a:lnTo>
                  <a:lnTo>
                    <a:pt x="6754009" y="3571897"/>
                  </a:lnTo>
                  <a:lnTo>
                    <a:pt x="6709668" y="3608286"/>
                  </a:lnTo>
                  <a:lnTo>
                    <a:pt x="6659080" y="3635326"/>
                  </a:lnTo>
                  <a:lnTo>
                    <a:pt x="6604188" y="3651977"/>
                  </a:lnTo>
                  <a:lnTo>
                    <a:pt x="6547103" y="3657600"/>
                  </a:lnTo>
                  <a:lnTo>
                    <a:pt x="524256" y="3657600"/>
                  </a:lnTo>
                  <a:lnTo>
                    <a:pt x="467171" y="3651977"/>
                  </a:lnTo>
                  <a:lnTo>
                    <a:pt x="412279" y="3635326"/>
                  </a:lnTo>
                  <a:lnTo>
                    <a:pt x="361691" y="3608286"/>
                  </a:lnTo>
                  <a:lnTo>
                    <a:pt x="317350" y="3571897"/>
                  </a:lnTo>
                  <a:lnTo>
                    <a:pt x="280961" y="3527556"/>
                  </a:lnTo>
                  <a:lnTo>
                    <a:pt x="253921" y="3476968"/>
                  </a:lnTo>
                  <a:lnTo>
                    <a:pt x="237270" y="3422076"/>
                  </a:lnTo>
                  <a:lnTo>
                    <a:pt x="231648" y="336499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2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3/notch-clipboard/button-home/002"/>
            <p:cNvSpPr/>
            <p:nvPr/>
          </p:nvSpPr>
          <p:spPr>
            <a:xfrm>
              <a:off x="975360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23/notch-clipboard/poly/003"/>
            <p:cNvSpPr/>
            <p:nvPr/>
          </p:nvSpPr>
          <p:spPr>
            <a:xfrm>
              <a:off x="1097280" y="2328672"/>
              <a:ext cx="146304" cy="146303"/>
            </a:xfrm>
            <a:custGeom>
              <a:avLst/>
              <a:gdLst/>
              <a:ahLst/>
              <a:cxnLst/>
              <a:rect l="l" t="t" r="r" b="b"/>
              <a:pathLst>
                <a:path w="146304" h="146303">
                  <a:moveTo>
                    <a:pt x="73152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4" y="97535"/>
                  </a:lnTo>
                  <a:lnTo>
                    <a:pt x="85344" y="146303"/>
                  </a:lnTo>
                  <a:lnTo>
                    <a:pt x="121920" y="146303"/>
                  </a:lnTo>
                  <a:lnTo>
                    <a:pt x="121920" y="60959"/>
                  </a:lnTo>
                  <a:lnTo>
                    <a:pt x="146304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3/notch-clipboard/button-music/004"/>
            <p:cNvSpPr/>
            <p:nvPr/>
          </p:nvSpPr>
          <p:spPr>
            <a:xfrm>
              <a:off x="1414272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23/notch-clipboard/line/005"/>
            <p:cNvCxnSpPr/>
            <p:nvPr/>
          </p:nvCxnSpPr>
          <p:spPr>
            <a:xfrm flipV="1">
              <a:off x="1584960" y="2353055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23/notch-clipboard/line/006"/>
            <p:cNvCxnSpPr/>
            <p:nvPr/>
          </p:nvCxnSpPr>
          <p:spPr>
            <a:xfrm flipV="1">
              <a:off x="1584960" y="2340863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23/notch-clipboard/line/007"/>
            <p:cNvCxnSpPr/>
            <p:nvPr/>
          </p:nvCxnSpPr>
          <p:spPr>
            <a:xfrm>
              <a:off x="1670304" y="2340863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23/notch-clipboard/ellipse/008"/>
            <p:cNvSpPr/>
            <p:nvPr/>
          </p:nvSpPr>
          <p:spPr>
            <a:xfrm>
              <a:off x="1548384" y="2432303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3/notch-clipboard/ellipse/009"/>
            <p:cNvSpPr/>
            <p:nvPr/>
          </p:nvSpPr>
          <p:spPr>
            <a:xfrm>
              <a:off x="1633728" y="2420111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23/notch-clipboard/button-bell/010"/>
            <p:cNvSpPr/>
            <p:nvPr/>
          </p:nvSpPr>
          <p:spPr>
            <a:xfrm>
              <a:off x="1853184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23/notch-clipboard/poly/011"/>
            <p:cNvSpPr/>
            <p:nvPr/>
          </p:nvSpPr>
          <p:spPr>
            <a:xfrm>
              <a:off x="1987296" y="232867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59" y="0"/>
                  </a:moveTo>
                  <a:lnTo>
                    <a:pt x="24384" y="24383"/>
                  </a:lnTo>
                  <a:lnTo>
                    <a:pt x="12191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5" y="2438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23/notch-clipboard/line/012"/>
            <p:cNvCxnSpPr/>
            <p:nvPr/>
          </p:nvCxnSpPr>
          <p:spPr>
            <a:xfrm>
              <a:off x="2023872" y="2462783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23/notch-clipboard/ellipse/013"/>
            <p:cNvSpPr/>
            <p:nvPr/>
          </p:nvSpPr>
          <p:spPr>
            <a:xfrm>
              <a:off x="2036064" y="2316479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23/notch-clipboard/button-chart/014"/>
            <p:cNvSpPr/>
            <p:nvPr/>
          </p:nvSpPr>
          <p:spPr>
            <a:xfrm>
              <a:off x="2292096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23/notch-clipboard/line/015"/>
            <p:cNvCxnSpPr/>
            <p:nvPr/>
          </p:nvCxnSpPr>
          <p:spPr>
            <a:xfrm>
              <a:off x="2414016" y="2474975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23/notch-clipboard/line/016"/>
            <p:cNvCxnSpPr/>
            <p:nvPr/>
          </p:nvCxnSpPr>
          <p:spPr>
            <a:xfrm flipV="1">
              <a:off x="2426208" y="2389631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23/notch-clipboard/line/017"/>
            <p:cNvCxnSpPr/>
            <p:nvPr/>
          </p:nvCxnSpPr>
          <p:spPr>
            <a:xfrm>
              <a:off x="2462784" y="2389631"/>
              <a:ext cx="36576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23/notch-clipboard/line/018"/>
            <p:cNvCxnSpPr/>
            <p:nvPr/>
          </p:nvCxnSpPr>
          <p:spPr>
            <a:xfrm flipV="1">
              <a:off x="2499360" y="2340863"/>
              <a:ext cx="48768" cy="73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23/notch-clipboard/button-folder/019"/>
            <p:cNvSpPr/>
            <p:nvPr/>
          </p:nvSpPr>
          <p:spPr>
            <a:xfrm>
              <a:off x="2731008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23/notch-clipboard/poly/020"/>
            <p:cNvSpPr/>
            <p:nvPr/>
          </p:nvSpPr>
          <p:spPr>
            <a:xfrm>
              <a:off x="2852928" y="236524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23/notch-clipboard/button-Clips/021"/>
            <p:cNvSpPr/>
            <p:nvPr/>
          </p:nvSpPr>
          <p:spPr>
            <a:xfrm>
              <a:off x="3169920" y="2218943"/>
              <a:ext cx="1177747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23/notch-clipboard/rect/022"/>
            <p:cNvSpPr/>
            <p:nvPr/>
          </p:nvSpPr>
          <p:spPr>
            <a:xfrm>
              <a:off x="3374745" y="234086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23/notch-clipboard/rect/023"/>
            <p:cNvSpPr/>
            <p:nvPr/>
          </p:nvSpPr>
          <p:spPr>
            <a:xfrm>
              <a:off x="3399129" y="232257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N23/notch-clipboard/line/024"/>
            <p:cNvCxnSpPr/>
            <p:nvPr/>
          </p:nvCxnSpPr>
          <p:spPr>
            <a:xfrm>
              <a:off x="3399129" y="2389631"/>
              <a:ext cx="48768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N23/notch-clipboard/line/025"/>
            <p:cNvCxnSpPr/>
            <p:nvPr/>
          </p:nvCxnSpPr>
          <p:spPr>
            <a:xfrm>
              <a:off x="3399129" y="2420111"/>
              <a:ext cx="48768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N23/notch-clipboard/text/026"/>
            <p:cNvSpPr txBox="1"/>
            <p:nvPr/>
          </p:nvSpPr>
          <p:spPr>
            <a:xfrm>
              <a:off x="3594201" y="2218943"/>
              <a:ext cx="704697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Clips</a:t>
              </a:r>
            </a:p>
          </p:txBody>
        </p:sp>
        <p:sp>
          <p:nvSpPr>
            <p:cNvPr id="38" name="N23/notch-clipboard/button-gear/027"/>
            <p:cNvSpPr/>
            <p:nvPr/>
          </p:nvSpPr>
          <p:spPr>
            <a:xfrm>
              <a:off x="6705600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23/notch-clipboard/ellipse/028"/>
            <p:cNvSpPr/>
            <p:nvPr/>
          </p:nvSpPr>
          <p:spPr>
            <a:xfrm>
              <a:off x="6864096" y="236524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23/notch-clipboard/line/029"/>
            <p:cNvCxnSpPr/>
            <p:nvPr/>
          </p:nvCxnSpPr>
          <p:spPr>
            <a:xfrm>
              <a:off x="6961632" y="240182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23/notch-clipboard/line/030"/>
            <p:cNvCxnSpPr/>
            <p:nvPr/>
          </p:nvCxnSpPr>
          <p:spPr>
            <a:xfrm>
              <a:off x="6943777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23/notch-clipboard/line/031"/>
            <p:cNvCxnSpPr/>
            <p:nvPr/>
          </p:nvCxnSpPr>
          <p:spPr>
            <a:xfrm>
              <a:off x="6900672" y="246278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3/notch-clipboard/line/032"/>
            <p:cNvCxnSpPr/>
            <p:nvPr/>
          </p:nvCxnSpPr>
          <p:spPr>
            <a:xfrm flipH="1">
              <a:off x="6840324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23/notch-clipboard/line/033"/>
            <p:cNvCxnSpPr/>
            <p:nvPr/>
          </p:nvCxnSpPr>
          <p:spPr>
            <a:xfrm flipH="1">
              <a:off x="6815328" y="240182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23/notch-clipboard/line/034"/>
            <p:cNvCxnSpPr/>
            <p:nvPr/>
          </p:nvCxnSpPr>
          <p:spPr>
            <a:xfrm flipH="1" flipV="1">
              <a:off x="6840324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23/notch-clipboard/line/035"/>
            <p:cNvCxnSpPr/>
            <p:nvPr/>
          </p:nvCxnSpPr>
          <p:spPr>
            <a:xfrm flipV="1">
              <a:off x="6900672" y="231647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23/notch-clipboard/line/036"/>
            <p:cNvCxnSpPr/>
            <p:nvPr/>
          </p:nvCxnSpPr>
          <p:spPr>
            <a:xfrm flipV="1">
              <a:off x="6943777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23/notch-clipboard/button-close/037"/>
            <p:cNvSpPr/>
            <p:nvPr/>
          </p:nvSpPr>
          <p:spPr>
            <a:xfrm>
              <a:off x="7168896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23/notch-clipboard/line/038"/>
            <p:cNvCxnSpPr/>
            <p:nvPr/>
          </p:nvCxnSpPr>
          <p:spPr>
            <a:xfrm>
              <a:off x="731520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3/notch-clipboard/line/039"/>
            <p:cNvCxnSpPr/>
            <p:nvPr/>
          </p:nvCxnSpPr>
          <p:spPr>
            <a:xfrm flipH="1">
              <a:off x="731520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23/notch-clipboard/text/040"/>
            <p:cNvSpPr txBox="1"/>
            <p:nvPr/>
          </p:nvSpPr>
          <p:spPr>
            <a:xfrm>
              <a:off x="975360" y="2670048"/>
              <a:ext cx="3423513" cy="2682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Clipboard history · manual only</a:t>
              </a:r>
            </a:p>
          </p:txBody>
        </p:sp>
        <p:sp>
          <p:nvSpPr>
            <p:cNvPr id="52" name="N23/notch-clipboard/button-Capture now/041"/>
            <p:cNvSpPr/>
            <p:nvPr/>
          </p:nvSpPr>
          <p:spPr>
            <a:xfrm>
              <a:off x="4730496" y="2645664"/>
              <a:ext cx="1365504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23/notch-clipboard/rect/042"/>
            <p:cNvSpPr/>
            <p:nvPr/>
          </p:nvSpPr>
          <p:spPr>
            <a:xfrm>
              <a:off x="4736470" y="2755392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23/notch-clipboard/rect/043"/>
            <p:cNvSpPr/>
            <p:nvPr/>
          </p:nvSpPr>
          <p:spPr>
            <a:xfrm>
              <a:off x="4760854" y="2737104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23/notch-clipboard/line/044"/>
            <p:cNvCxnSpPr/>
            <p:nvPr/>
          </p:nvCxnSpPr>
          <p:spPr>
            <a:xfrm>
              <a:off x="4760854" y="2804160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23/notch-clipboard/line/045"/>
            <p:cNvCxnSpPr/>
            <p:nvPr/>
          </p:nvCxnSpPr>
          <p:spPr>
            <a:xfrm>
              <a:off x="4760854" y="2834639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N23/notch-clipboard/text/046"/>
            <p:cNvSpPr txBox="1"/>
            <p:nvPr/>
          </p:nvSpPr>
          <p:spPr>
            <a:xfrm>
              <a:off x="4955926" y="2645664"/>
              <a:ext cx="1091305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Capture now</a:t>
              </a:r>
            </a:p>
          </p:txBody>
        </p:sp>
        <p:sp>
          <p:nvSpPr>
            <p:cNvPr id="58" name="N23/notch-clipboard/button-Clear history/047"/>
            <p:cNvSpPr/>
            <p:nvPr/>
          </p:nvSpPr>
          <p:spPr>
            <a:xfrm>
              <a:off x="6193536" y="2645664"/>
              <a:ext cx="1365504" cy="341376"/>
            </a:xfrm>
            <a:prstGeom prst="roundRect">
              <a:avLst>
                <a:gd name="adj" fmla="val 35714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23/notch-clipboard/line/048"/>
            <p:cNvCxnSpPr/>
            <p:nvPr/>
          </p:nvCxnSpPr>
          <p:spPr>
            <a:xfrm>
              <a:off x="6079784" y="2779776"/>
              <a:ext cx="121920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N23/notch-clipboard/rect/049"/>
            <p:cNvSpPr/>
            <p:nvPr/>
          </p:nvSpPr>
          <p:spPr>
            <a:xfrm>
              <a:off x="6104168" y="2779776"/>
              <a:ext cx="73152" cy="109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6363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N23/notch-clipboard/line/050"/>
            <p:cNvCxnSpPr/>
            <p:nvPr/>
          </p:nvCxnSpPr>
          <p:spPr>
            <a:xfrm>
              <a:off x="6116360" y="2755392"/>
              <a:ext cx="48768" cy="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23/notch-clipboard/line/051"/>
            <p:cNvCxnSpPr/>
            <p:nvPr/>
          </p:nvCxnSpPr>
          <p:spPr>
            <a:xfrm>
              <a:off x="6128552" y="2804160"/>
              <a:ext cx="0" cy="6096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23/notch-clipboard/line/052"/>
            <p:cNvCxnSpPr/>
            <p:nvPr/>
          </p:nvCxnSpPr>
          <p:spPr>
            <a:xfrm>
              <a:off x="6152936" y="2804160"/>
              <a:ext cx="0" cy="60960"/>
            </a:xfrm>
            <a:prstGeom prst="line">
              <a:avLst/>
            </a:prstGeom>
            <a:ln w="10160">
              <a:solidFill>
                <a:srgbClr val="63636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23/notch-clipboard/text/053"/>
            <p:cNvSpPr txBox="1"/>
            <p:nvPr/>
          </p:nvSpPr>
          <p:spPr>
            <a:xfrm>
              <a:off x="6311432" y="2645664"/>
              <a:ext cx="1198839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636366"/>
                  </a:solidFill>
                  <a:latin typeface="Arial"/>
                </a:rPr>
                <a:t>Clear history</a:t>
              </a:r>
            </a:p>
          </p:txBody>
        </p:sp>
        <p:sp>
          <p:nvSpPr>
            <p:cNvPr id="65" name="N23/notch-clipboard/text/054"/>
            <p:cNvSpPr txBox="1"/>
            <p:nvPr/>
          </p:nvSpPr>
          <p:spPr>
            <a:xfrm>
              <a:off x="975360" y="3011424"/>
              <a:ext cx="6583680" cy="3901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RAM only. Cleared on lock/logout. Mixed-format and known password-manager clips are skipped.</a:t>
              </a:r>
            </a:p>
          </p:txBody>
        </p:sp>
        <p:sp>
          <p:nvSpPr>
            <p:cNvPr id="66" name="N23/notch-clipboard/empty-state/055"/>
            <p:cNvSpPr/>
            <p:nvPr/>
          </p:nvSpPr>
          <p:spPr>
            <a:xfrm>
              <a:off x="975360" y="3474720"/>
              <a:ext cx="6583680" cy="1633728"/>
            </a:xfrm>
            <a:prstGeom prst="roundRect">
              <a:avLst>
                <a:gd name="adj" fmla="val 10447"/>
              </a:avLst>
            </a:prstGeom>
            <a:solidFill>
              <a:srgbClr val="0A0A0B"/>
            </a:solidFill>
            <a:ln w="12700">
              <a:solidFill>
                <a:srgbClr val="24242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23/notch-clipboard/rect/056"/>
            <p:cNvSpPr/>
            <p:nvPr/>
          </p:nvSpPr>
          <p:spPr>
            <a:xfrm>
              <a:off x="4169663" y="3742943"/>
              <a:ext cx="195072" cy="268224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8E8E9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23/notch-clipboard/rect/057"/>
            <p:cNvSpPr/>
            <p:nvPr/>
          </p:nvSpPr>
          <p:spPr>
            <a:xfrm>
              <a:off x="4218432" y="3706367"/>
              <a:ext cx="97536" cy="60960"/>
            </a:xfrm>
            <a:prstGeom prst="roundRect">
              <a:avLst>
                <a:gd name="adj" fmla="val 24000"/>
              </a:avLst>
            </a:prstGeom>
            <a:solidFill>
              <a:srgbClr val="8E8E9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9" name="N23/notch-clipboard/line/058"/>
            <p:cNvCxnSpPr/>
            <p:nvPr/>
          </p:nvCxnSpPr>
          <p:spPr>
            <a:xfrm>
              <a:off x="4218432" y="3840479"/>
              <a:ext cx="97536" cy="0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N23/notch-clipboard/line/059"/>
            <p:cNvCxnSpPr/>
            <p:nvPr/>
          </p:nvCxnSpPr>
          <p:spPr>
            <a:xfrm>
              <a:off x="4218432" y="3901439"/>
              <a:ext cx="97536" cy="0"/>
            </a:xfrm>
            <a:prstGeom prst="line">
              <a:avLst/>
            </a:prstGeom>
            <a:ln w="10160">
              <a:solidFill>
                <a:srgbClr val="8E8E9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N23/notch-clipboard/text/060"/>
            <p:cNvSpPr txBox="1"/>
            <p:nvPr/>
          </p:nvSpPr>
          <p:spPr>
            <a:xfrm>
              <a:off x="1121664" y="4133087"/>
              <a:ext cx="6291072" cy="2438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5F5F7"/>
                  </a:solidFill>
                  <a:latin typeface="Arial"/>
                </a:rPr>
                <a:t>No clipboard history</a:t>
              </a:r>
            </a:p>
          </p:txBody>
        </p:sp>
        <p:sp>
          <p:nvSpPr>
            <p:cNvPr id="72" name="N23/notch-clipboard/text/061"/>
            <p:cNvSpPr txBox="1"/>
            <p:nvPr/>
          </p:nvSpPr>
          <p:spPr>
            <a:xfrm>
              <a:off x="1194816" y="4425696"/>
              <a:ext cx="6144768" cy="58521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Enable automatic history in Settings, or capture the current text explicitly.</a:t>
              </a:r>
            </a:p>
          </p:txBody>
        </p:sp>
      </p:grpSp>
      <p:sp>
        <p:nvSpPr>
          <p:cNvPr id="73" name="N23/text/010"/>
          <p:cNvSpPr txBox="1"/>
          <p:nvPr/>
        </p:nvSpPr>
        <p:spPr>
          <a:xfrm>
            <a:off x="731520" y="5486400"/>
            <a:ext cx="7086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Privacy note is always visible. Clear history is disabled until at least one item exists.</a:t>
            </a:r>
          </a:p>
        </p:txBody>
      </p:sp>
      <p:sp>
        <p:nvSpPr>
          <p:cNvPr id="74" name="N23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23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6" name="N23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23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Title: 'Clipboard history · manual only'</a:t>
            </a:r>
          </a:p>
        </p:txBody>
      </p:sp>
      <p:sp>
        <p:nvSpPr>
          <p:cNvPr id="78" name="N23/ellipse/015"/>
          <p:cNvSpPr/>
          <p:nvPr/>
        </p:nvSpPr>
        <p:spPr>
          <a:xfrm>
            <a:off x="8659368" y="25877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23/text/016"/>
          <p:cNvSpPr txBox="1"/>
          <p:nvPr/>
        </p:nvSpPr>
        <p:spPr>
          <a:xfrm>
            <a:off x="8805672" y="2523744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Capture now / Clear history</a:t>
            </a:r>
          </a:p>
        </p:txBody>
      </p:sp>
      <p:sp>
        <p:nvSpPr>
          <p:cNvPr id="80" name="N23/ellipse/017"/>
          <p:cNvSpPr/>
          <p:nvPr/>
        </p:nvSpPr>
        <p:spPr>
          <a:xfrm>
            <a:off x="8659368" y="289864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N23/text/018"/>
          <p:cNvSpPr txBox="1"/>
          <p:nvPr/>
        </p:nvSpPr>
        <p:spPr>
          <a:xfrm>
            <a:off x="8805672" y="283464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RAM-only privacy note</a:t>
            </a:r>
          </a:p>
        </p:txBody>
      </p:sp>
      <p:sp>
        <p:nvSpPr>
          <p:cNvPr id="82" name="N23/ellipse/019"/>
          <p:cNvSpPr/>
          <p:nvPr/>
        </p:nvSpPr>
        <p:spPr>
          <a:xfrm>
            <a:off x="8659368" y="320954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N23/text/020"/>
          <p:cNvSpPr txBox="1"/>
          <p:nvPr/>
        </p:nvSpPr>
        <p:spPr>
          <a:xfrm>
            <a:off x="8805672" y="314553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Empty state explains opt-in</a:t>
            </a:r>
          </a:p>
        </p:txBody>
      </p:sp>
      <p:cxnSp>
        <p:nvCxnSpPr>
          <p:cNvPr id="84" name="N23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N23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86" name="N23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N23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Privacy copy / empty state / button labels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CLIPS PAGE</a:t>
            </a:r>
          </a:p>
        </p:txBody>
      </p:sp>
      <p:sp>
        <p:nvSpPr>
          <p:cNvPr id="5" name="N2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Clips — history on</a:t>
            </a:r>
          </a:p>
        </p:txBody>
      </p:sp>
      <p:sp>
        <p:nvSpPr>
          <p:cNvPr id="6" name="N2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Bounded RAM-only history · click a row to restore it</a:t>
            </a:r>
          </a:p>
        </p:txBody>
      </p:sp>
      <p:cxnSp>
        <p:nvCxnSpPr>
          <p:cNvPr id="7" name="N2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N24</a:t>
            </a:r>
          </a:p>
        </p:txBody>
      </p:sp>
      <p:sp>
        <p:nvSpPr>
          <p:cNvPr id="10" name="N2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24</a:t>
            </a:r>
          </a:p>
        </p:txBody>
      </p:sp>
      <p:grpSp>
        <p:nvGrpSpPr>
          <p:cNvPr id="11" name="N24/notch-clipboard"/>
          <p:cNvGrpSpPr/>
          <p:nvPr/>
        </p:nvGrpSpPr>
        <p:grpSpPr>
          <a:xfrm>
            <a:off x="731520" y="1645920"/>
            <a:ext cx="7071360" cy="3657600"/>
            <a:chOff x="731520" y="1645920"/>
            <a:chExt cx="7071360" cy="3657600"/>
          </a:xfrm>
        </p:grpSpPr>
        <p:sp>
          <p:nvSpPr>
            <p:cNvPr id="12" name="N24/notch-clipboard/notch-surface-open/001"/>
            <p:cNvSpPr/>
            <p:nvPr/>
          </p:nvSpPr>
          <p:spPr>
            <a:xfrm>
              <a:off x="731520" y="1645920"/>
              <a:ext cx="7071360" cy="3657600"/>
            </a:xfrm>
            <a:custGeom>
              <a:avLst/>
              <a:gdLst/>
              <a:ahLst/>
              <a:cxnLst/>
              <a:rect l="l" t="t" r="r" b="b"/>
              <a:pathLst>
                <a:path w="7071360" h="3657600">
                  <a:moveTo>
                    <a:pt x="0" y="0"/>
                  </a:moveTo>
                  <a:lnTo>
                    <a:pt x="7071360" y="0"/>
                  </a:lnTo>
                  <a:lnTo>
                    <a:pt x="7039236" y="3619"/>
                  </a:lnTo>
                  <a:lnTo>
                    <a:pt x="7002589" y="14477"/>
                  </a:lnTo>
                  <a:lnTo>
                    <a:pt x="6964132" y="32575"/>
                  </a:lnTo>
                  <a:lnTo>
                    <a:pt x="6926579" y="57912"/>
                  </a:lnTo>
                  <a:lnTo>
                    <a:pt x="6892647" y="90487"/>
                  </a:lnTo>
                  <a:lnTo>
                    <a:pt x="6865048" y="130302"/>
                  </a:lnTo>
                  <a:lnTo>
                    <a:pt x="6846498" y="177355"/>
                  </a:lnTo>
                  <a:lnTo>
                    <a:pt x="6839711" y="231648"/>
                  </a:lnTo>
                  <a:lnTo>
                    <a:pt x="6834089" y="3422076"/>
                  </a:lnTo>
                  <a:lnTo>
                    <a:pt x="6817438" y="3476968"/>
                  </a:lnTo>
                  <a:lnTo>
                    <a:pt x="6790398" y="3527556"/>
                  </a:lnTo>
                  <a:lnTo>
                    <a:pt x="6754009" y="3571897"/>
                  </a:lnTo>
                  <a:lnTo>
                    <a:pt x="6709668" y="3608286"/>
                  </a:lnTo>
                  <a:lnTo>
                    <a:pt x="6659080" y="3635326"/>
                  </a:lnTo>
                  <a:lnTo>
                    <a:pt x="6604188" y="3651977"/>
                  </a:lnTo>
                  <a:lnTo>
                    <a:pt x="6547103" y="3657600"/>
                  </a:lnTo>
                  <a:lnTo>
                    <a:pt x="524256" y="3657600"/>
                  </a:lnTo>
                  <a:lnTo>
                    <a:pt x="467171" y="3651977"/>
                  </a:lnTo>
                  <a:lnTo>
                    <a:pt x="412279" y="3635326"/>
                  </a:lnTo>
                  <a:lnTo>
                    <a:pt x="361691" y="3608286"/>
                  </a:lnTo>
                  <a:lnTo>
                    <a:pt x="317350" y="3571897"/>
                  </a:lnTo>
                  <a:lnTo>
                    <a:pt x="280961" y="3527556"/>
                  </a:lnTo>
                  <a:lnTo>
                    <a:pt x="253921" y="3476968"/>
                  </a:lnTo>
                  <a:lnTo>
                    <a:pt x="237270" y="3422076"/>
                  </a:lnTo>
                  <a:lnTo>
                    <a:pt x="231648" y="3364992"/>
                  </a:lnTo>
                  <a:lnTo>
                    <a:pt x="231648" y="231648"/>
                  </a:lnTo>
                  <a:lnTo>
                    <a:pt x="224861" y="177355"/>
                  </a:lnTo>
                  <a:lnTo>
                    <a:pt x="206311" y="130302"/>
                  </a:lnTo>
                  <a:lnTo>
                    <a:pt x="178712" y="90487"/>
                  </a:lnTo>
                  <a:lnTo>
                    <a:pt x="144780" y="57912"/>
                  </a:lnTo>
                  <a:lnTo>
                    <a:pt x="107227" y="32575"/>
                  </a:lnTo>
                  <a:lnTo>
                    <a:pt x="68770" y="14478"/>
                  </a:lnTo>
                  <a:lnTo>
                    <a:pt x="32123" y="36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4/notch-clipboard/button-home/002"/>
            <p:cNvSpPr/>
            <p:nvPr/>
          </p:nvSpPr>
          <p:spPr>
            <a:xfrm>
              <a:off x="975360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24/notch-clipboard/poly/003"/>
            <p:cNvSpPr/>
            <p:nvPr/>
          </p:nvSpPr>
          <p:spPr>
            <a:xfrm>
              <a:off x="1097280" y="2328672"/>
              <a:ext cx="146304" cy="146303"/>
            </a:xfrm>
            <a:custGeom>
              <a:avLst/>
              <a:gdLst/>
              <a:ahLst/>
              <a:cxnLst/>
              <a:rect l="l" t="t" r="r" b="b"/>
              <a:pathLst>
                <a:path w="146304" h="146303">
                  <a:moveTo>
                    <a:pt x="73152" y="0"/>
                  </a:moveTo>
                  <a:lnTo>
                    <a:pt x="0" y="60959"/>
                  </a:lnTo>
                  <a:lnTo>
                    <a:pt x="24384" y="60959"/>
                  </a:lnTo>
                  <a:lnTo>
                    <a:pt x="24384" y="146303"/>
                  </a:lnTo>
                  <a:lnTo>
                    <a:pt x="60960" y="146303"/>
                  </a:lnTo>
                  <a:lnTo>
                    <a:pt x="60960" y="97535"/>
                  </a:lnTo>
                  <a:lnTo>
                    <a:pt x="85344" y="97535"/>
                  </a:lnTo>
                  <a:lnTo>
                    <a:pt x="85344" y="146303"/>
                  </a:lnTo>
                  <a:lnTo>
                    <a:pt x="121920" y="146303"/>
                  </a:lnTo>
                  <a:lnTo>
                    <a:pt x="121920" y="60959"/>
                  </a:lnTo>
                  <a:lnTo>
                    <a:pt x="146304" y="60959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4/notch-clipboard/button-music/004"/>
            <p:cNvSpPr/>
            <p:nvPr/>
          </p:nvSpPr>
          <p:spPr>
            <a:xfrm>
              <a:off x="1414272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N24/notch-clipboard/line/005"/>
            <p:cNvCxnSpPr/>
            <p:nvPr/>
          </p:nvCxnSpPr>
          <p:spPr>
            <a:xfrm flipV="1">
              <a:off x="1584960" y="2353055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N24/notch-clipboard/line/006"/>
            <p:cNvCxnSpPr/>
            <p:nvPr/>
          </p:nvCxnSpPr>
          <p:spPr>
            <a:xfrm flipV="1">
              <a:off x="1584960" y="2340863"/>
              <a:ext cx="85344" cy="1219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N24/notch-clipboard/line/007"/>
            <p:cNvCxnSpPr/>
            <p:nvPr/>
          </p:nvCxnSpPr>
          <p:spPr>
            <a:xfrm>
              <a:off x="1670304" y="2340863"/>
              <a:ext cx="0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N24/notch-clipboard/ellipse/008"/>
            <p:cNvSpPr/>
            <p:nvPr/>
          </p:nvSpPr>
          <p:spPr>
            <a:xfrm>
              <a:off x="1548384" y="2432303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4/notch-clipboard/ellipse/009"/>
            <p:cNvSpPr/>
            <p:nvPr/>
          </p:nvSpPr>
          <p:spPr>
            <a:xfrm>
              <a:off x="1633728" y="2420111"/>
              <a:ext cx="42672" cy="36576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N24/notch-clipboard/button-bell/010"/>
            <p:cNvSpPr/>
            <p:nvPr/>
          </p:nvSpPr>
          <p:spPr>
            <a:xfrm>
              <a:off x="1853184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24/notch-clipboard/poly/011"/>
            <p:cNvSpPr/>
            <p:nvPr/>
          </p:nvSpPr>
          <p:spPr>
            <a:xfrm>
              <a:off x="1987296" y="2328672"/>
              <a:ext cx="121920" cy="109727"/>
            </a:xfrm>
            <a:custGeom>
              <a:avLst/>
              <a:gdLst/>
              <a:ahLst/>
              <a:cxnLst/>
              <a:rect l="l" t="t" r="r" b="b"/>
              <a:pathLst>
                <a:path w="121920" h="109727">
                  <a:moveTo>
                    <a:pt x="60959" y="0"/>
                  </a:moveTo>
                  <a:lnTo>
                    <a:pt x="24384" y="24383"/>
                  </a:lnTo>
                  <a:lnTo>
                    <a:pt x="12191" y="73151"/>
                  </a:lnTo>
                  <a:lnTo>
                    <a:pt x="0" y="109727"/>
                  </a:lnTo>
                  <a:lnTo>
                    <a:pt x="121920" y="109727"/>
                  </a:lnTo>
                  <a:lnTo>
                    <a:pt x="109728" y="73151"/>
                  </a:lnTo>
                  <a:lnTo>
                    <a:pt x="97535" y="2438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N24/notch-clipboard/line/012"/>
            <p:cNvCxnSpPr/>
            <p:nvPr/>
          </p:nvCxnSpPr>
          <p:spPr>
            <a:xfrm>
              <a:off x="2023872" y="2462783"/>
              <a:ext cx="48768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N24/notch-clipboard/ellipse/013"/>
            <p:cNvSpPr/>
            <p:nvPr/>
          </p:nvSpPr>
          <p:spPr>
            <a:xfrm>
              <a:off x="2036064" y="2316479"/>
              <a:ext cx="24384" cy="24384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24/notch-clipboard/button-chart/014"/>
            <p:cNvSpPr/>
            <p:nvPr/>
          </p:nvSpPr>
          <p:spPr>
            <a:xfrm>
              <a:off x="2292096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6" name="N24/notch-clipboard/line/015"/>
            <p:cNvCxnSpPr/>
            <p:nvPr/>
          </p:nvCxnSpPr>
          <p:spPr>
            <a:xfrm>
              <a:off x="2414016" y="2474975"/>
              <a:ext cx="14630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N24/notch-clipboard/line/016"/>
            <p:cNvCxnSpPr/>
            <p:nvPr/>
          </p:nvCxnSpPr>
          <p:spPr>
            <a:xfrm flipV="1">
              <a:off x="2426208" y="2389631"/>
              <a:ext cx="36576" cy="48768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N24/notch-clipboard/line/017"/>
            <p:cNvCxnSpPr/>
            <p:nvPr/>
          </p:nvCxnSpPr>
          <p:spPr>
            <a:xfrm>
              <a:off x="2462784" y="2389631"/>
              <a:ext cx="36576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N24/notch-clipboard/line/018"/>
            <p:cNvCxnSpPr/>
            <p:nvPr/>
          </p:nvCxnSpPr>
          <p:spPr>
            <a:xfrm flipV="1">
              <a:off x="2499360" y="2340863"/>
              <a:ext cx="48768" cy="7315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N24/notch-clipboard/button-folder/019"/>
            <p:cNvSpPr/>
            <p:nvPr/>
          </p:nvSpPr>
          <p:spPr>
            <a:xfrm>
              <a:off x="2731008" y="2218943"/>
              <a:ext cx="390144" cy="365759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24/notch-clipboard/poly/020"/>
            <p:cNvSpPr/>
            <p:nvPr/>
          </p:nvSpPr>
          <p:spPr>
            <a:xfrm>
              <a:off x="2852928" y="2365248"/>
              <a:ext cx="146304" cy="97535"/>
            </a:xfrm>
            <a:custGeom>
              <a:avLst/>
              <a:gdLst/>
              <a:ahLst/>
              <a:cxnLst/>
              <a:rect l="l" t="t" r="r" b="b"/>
              <a:pathLst>
                <a:path w="146304" h="97535">
                  <a:moveTo>
                    <a:pt x="0" y="0"/>
                  </a:moveTo>
                  <a:lnTo>
                    <a:pt x="48768" y="0"/>
                  </a:lnTo>
                  <a:lnTo>
                    <a:pt x="67056" y="24383"/>
                  </a:lnTo>
                  <a:lnTo>
                    <a:pt x="146304" y="24383"/>
                  </a:lnTo>
                  <a:lnTo>
                    <a:pt x="146304" y="97535"/>
                  </a:lnTo>
                  <a:lnTo>
                    <a:pt x="0" y="97535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24/notch-clipboard/button-Clips/021"/>
            <p:cNvSpPr/>
            <p:nvPr/>
          </p:nvSpPr>
          <p:spPr>
            <a:xfrm>
              <a:off x="3169920" y="2218943"/>
              <a:ext cx="1177747" cy="365759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24/notch-clipboard/rect/022"/>
            <p:cNvSpPr/>
            <p:nvPr/>
          </p:nvSpPr>
          <p:spPr>
            <a:xfrm>
              <a:off x="3374745" y="2340863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24/notch-clipboard/rect/023"/>
            <p:cNvSpPr/>
            <p:nvPr/>
          </p:nvSpPr>
          <p:spPr>
            <a:xfrm>
              <a:off x="3399129" y="2322575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N24/notch-clipboard/line/024"/>
            <p:cNvCxnSpPr/>
            <p:nvPr/>
          </p:nvCxnSpPr>
          <p:spPr>
            <a:xfrm>
              <a:off x="3399129" y="2389631"/>
              <a:ext cx="48768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N24/notch-clipboard/line/025"/>
            <p:cNvCxnSpPr/>
            <p:nvPr/>
          </p:nvCxnSpPr>
          <p:spPr>
            <a:xfrm>
              <a:off x="3399129" y="2420111"/>
              <a:ext cx="48768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N24/notch-clipboard/text/026"/>
            <p:cNvSpPr txBox="1"/>
            <p:nvPr/>
          </p:nvSpPr>
          <p:spPr>
            <a:xfrm>
              <a:off x="3594201" y="2218943"/>
              <a:ext cx="704697" cy="36575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1" i="0">
                  <a:solidFill>
                    <a:srgbClr val="FFFFFF"/>
                  </a:solidFill>
                  <a:latin typeface="Arial"/>
                </a:rPr>
                <a:t>Clips</a:t>
              </a:r>
            </a:p>
          </p:txBody>
        </p:sp>
        <p:sp>
          <p:nvSpPr>
            <p:cNvPr id="38" name="N24/notch-clipboard/button-gear/027"/>
            <p:cNvSpPr/>
            <p:nvPr/>
          </p:nvSpPr>
          <p:spPr>
            <a:xfrm>
              <a:off x="6705600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24/notch-clipboard/ellipse/028"/>
            <p:cNvSpPr/>
            <p:nvPr/>
          </p:nvSpPr>
          <p:spPr>
            <a:xfrm>
              <a:off x="6864096" y="2365248"/>
              <a:ext cx="73152" cy="73152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N24/notch-clipboard/line/029"/>
            <p:cNvCxnSpPr/>
            <p:nvPr/>
          </p:nvCxnSpPr>
          <p:spPr>
            <a:xfrm>
              <a:off x="6961632" y="240182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N24/notch-clipboard/line/030"/>
            <p:cNvCxnSpPr/>
            <p:nvPr/>
          </p:nvCxnSpPr>
          <p:spPr>
            <a:xfrm>
              <a:off x="6943777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N24/notch-clipboard/line/031"/>
            <p:cNvCxnSpPr/>
            <p:nvPr/>
          </p:nvCxnSpPr>
          <p:spPr>
            <a:xfrm>
              <a:off x="6900672" y="2462783"/>
              <a:ext cx="0" cy="24385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4/notch-clipboard/line/032"/>
            <p:cNvCxnSpPr/>
            <p:nvPr/>
          </p:nvCxnSpPr>
          <p:spPr>
            <a:xfrm flipH="1">
              <a:off x="6840324" y="2444929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N24/notch-clipboard/line/033"/>
            <p:cNvCxnSpPr/>
            <p:nvPr/>
          </p:nvCxnSpPr>
          <p:spPr>
            <a:xfrm flipH="1">
              <a:off x="6815328" y="2401823"/>
              <a:ext cx="24384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N24/notch-clipboard/line/034"/>
            <p:cNvCxnSpPr/>
            <p:nvPr/>
          </p:nvCxnSpPr>
          <p:spPr>
            <a:xfrm flipH="1" flipV="1">
              <a:off x="6840324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N24/notch-clipboard/line/035"/>
            <p:cNvCxnSpPr/>
            <p:nvPr/>
          </p:nvCxnSpPr>
          <p:spPr>
            <a:xfrm flipV="1">
              <a:off x="6900672" y="2316479"/>
              <a:ext cx="0" cy="24384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N24/notch-clipboard/line/036"/>
            <p:cNvCxnSpPr/>
            <p:nvPr/>
          </p:nvCxnSpPr>
          <p:spPr>
            <a:xfrm flipV="1">
              <a:off x="6943777" y="2341476"/>
              <a:ext cx="17242" cy="17242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N24/notch-clipboard/button-close/037"/>
            <p:cNvSpPr/>
            <p:nvPr/>
          </p:nvSpPr>
          <p:spPr>
            <a:xfrm>
              <a:off x="7168896" y="2206752"/>
              <a:ext cx="390144" cy="390144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24/notch-clipboard/line/038"/>
            <p:cNvCxnSpPr/>
            <p:nvPr/>
          </p:nvCxnSpPr>
          <p:spPr>
            <a:xfrm>
              <a:off x="731520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4/notch-clipboard/line/039"/>
            <p:cNvCxnSpPr/>
            <p:nvPr/>
          </p:nvCxnSpPr>
          <p:spPr>
            <a:xfrm flipH="1">
              <a:off x="7315200" y="2353055"/>
              <a:ext cx="97536" cy="9753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24/notch-clipboard/text/040"/>
            <p:cNvSpPr txBox="1"/>
            <p:nvPr/>
          </p:nvSpPr>
          <p:spPr>
            <a:xfrm>
              <a:off x="975360" y="2670048"/>
              <a:ext cx="3423513" cy="2682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11" b="1" i="0">
                  <a:solidFill>
                    <a:srgbClr val="F5F5F7"/>
                  </a:solidFill>
                  <a:latin typeface="Arial"/>
                </a:rPr>
                <a:t>Clipboard history · on</a:t>
              </a:r>
            </a:p>
          </p:txBody>
        </p:sp>
        <p:sp>
          <p:nvSpPr>
            <p:cNvPr id="52" name="N24/notch-clipboard/button-Capture now/041"/>
            <p:cNvSpPr/>
            <p:nvPr/>
          </p:nvSpPr>
          <p:spPr>
            <a:xfrm>
              <a:off x="4730496" y="2645664"/>
              <a:ext cx="1365504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24/notch-clipboard/rect/042"/>
            <p:cNvSpPr/>
            <p:nvPr/>
          </p:nvSpPr>
          <p:spPr>
            <a:xfrm>
              <a:off x="4736470" y="2755392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24/notch-clipboard/rect/043"/>
            <p:cNvSpPr/>
            <p:nvPr/>
          </p:nvSpPr>
          <p:spPr>
            <a:xfrm>
              <a:off x="4760854" y="2737104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N24/notch-clipboard/line/044"/>
            <p:cNvCxnSpPr/>
            <p:nvPr/>
          </p:nvCxnSpPr>
          <p:spPr>
            <a:xfrm>
              <a:off x="4760854" y="2804160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N24/notch-clipboard/line/045"/>
            <p:cNvCxnSpPr/>
            <p:nvPr/>
          </p:nvCxnSpPr>
          <p:spPr>
            <a:xfrm>
              <a:off x="4760854" y="2834639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N24/notch-clipboard/text/046"/>
            <p:cNvSpPr txBox="1"/>
            <p:nvPr/>
          </p:nvSpPr>
          <p:spPr>
            <a:xfrm>
              <a:off x="4955926" y="2645664"/>
              <a:ext cx="1091305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Capture now</a:t>
              </a:r>
            </a:p>
          </p:txBody>
        </p:sp>
        <p:sp>
          <p:nvSpPr>
            <p:cNvPr id="58" name="N24/notch-clipboard/button-Clear history/047"/>
            <p:cNvSpPr/>
            <p:nvPr/>
          </p:nvSpPr>
          <p:spPr>
            <a:xfrm>
              <a:off x="6193536" y="2645664"/>
              <a:ext cx="1365504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9" name="N24/notch-clipboard/line/048"/>
            <p:cNvCxnSpPr/>
            <p:nvPr/>
          </p:nvCxnSpPr>
          <p:spPr>
            <a:xfrm>
              <a:off x="6079784" y="2779776"/>
              <a:ext cx="121920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N24/notch-clipboard/rect/049"/>
            <p:cNvSpPr/>
            <p:nvPr/>
          </p:nvSpPr>
          <p:spPr>
            <a:xfrm>
              <a:off x="6104168" y="2779776"/>
              <a:ext cx="73152" cy="109728"/>
            </a:xfrm>
            <a:prstGeom prst="roundRect">
              <a:avLst>
                <a:gd name="adj" fmla="val 16666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1" name="N24/notch-clipboard/line/050"/>
            <p:cNvCxnSpPr/>
            <p:nvPr/>
          </p:nvCxnSpPr>
          <p:spPr>
            <a:xfrm>
              <a:off x="6116360" y="2755392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N24/notch-clipboard/line/051"/>
            <p:cNvCxnSpPr/>
            <p:nvPr/>
          </p:nvCxnSpPr>
          <p:spPr>
            <a:xfrm>
              <a:off x="6128552" y="2804160"/>
              <a:ext cx="0" cy="6096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N24/notch-clipboard/line/052"/>
            <p:cNvCxnSpPr/>
            <p:nvPr/>
          </p:nvCxnSpPr>
          <p:spPr>
            <a:xfrm>
              <a:off x="6152936" y="2804160"/>
              <a:ext cx="0" cy="6096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N24/notch-clipboard/text/053"/>
            <p:cNvSpPr txBox="1"/>
            <p:nvPr/>
          </p:nvSpPr>
          <p:spPr>
            <a:xfrm>
              <a:off x="6311432" y="2645664"/>
              <a:ext cx="1198839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E5E5EA"/>
                  </a:solidFill>
                  <a:latin typeface="Arial"/>
                </a:rPr>
                <a:t>Clear history</a:t>
              </a:r>
            </a:p>
          </p:txBody>
        </p:sp>
        <p:sp>
          <p:nvSpPr>
            <p:cNvPr id="65" name="N24/notch-clipboard/text/054"/>
            <p:cNvSpPr txBox="1"/>
            <p:nvPr/>
          </p:nvSpPr>
          <p:spPr>
            <a:xfrm>
              <a:off x="975360" y="3011424"/>
              <a:ext cx="6583680" cy="3901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9" b="0" i="0">
                  <a:solidFill>
                    <a:srgbClr val="98989D"/>
                  </a:solidFill>
                  <a:latin typeface="Arial"/>
                </a:rPr>
                <a:t>RAM only. Cleared on lock/logout. Mixed-format and known password-manager clips are skipped.</a:t>
              </a:r>
            </a:p>
          </p:txBody>
        </p:sp>
        <p:sp>
          <p:nvSpPr>
            <p:cNvPr id="66" name="N24/notch-clipboard/clipboard-row/055"/>
            <p:cNvSpPr/>
            <p:nvPr/>
          </p:nvSpPr>
          <p:spPr>
            <a:xfrm>
              <a:off x="975360" y="3474720"/>
              <a:ext cx="6583680" cy="438912"/>
            </a:xfrm>
            <a:prstGeom prst="roundRect">
              <a:avLst>
                <a:gd name="adj" fmla="val 33333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N24/notch-clipboard/button-https://github.com/pavit12301611/notch/056"/>
            <p:cNvSpPr/>
            <p:nvPr/>
          </p:nvSpPr>
          <p:spPr>
            <a:xfrm>
              <a:off x="1048512" y="3535680"/>
              <a:ext cx="5608320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N24/notch-clipboard/rect/057"/>
            <p:cNvSpPr/>
            <p:nvPr/>
          </p:nvSpPr>
          <p:spPr>
            <a:xfrm>
              <a:off x="1219200" y="3645408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24/notch-clipboard/rect/058"/>
            <p:cNvSpPr/>
            <p:nvPr/>
          </p:nvSpPr>
          <p:spPr>
            <a:xfrm>
              <a:off x="1243584" y="3627120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0" name="N24/notch-clipboard/line/059"/>
            <p:cNvCxnSpPr/>
            <p:nvPr/>
          </p:nvCxnSpPr>
          <p:spPr>
            <a:xfrm>
              <a:off x="1243584" y="3694176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N24/notch-clipboard/line/060"/>
            <p:cNvCxnSpPr/>
            <p:nvPr/>
          </p:nvCxnSpPr>
          <p:spPr>
            <a:xfrm>
              <a:off x="1243584" y="3724656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N24/notch-clipboard/text/061"/>
            <p:cNvSpPr txBox="1"/>
            <p:nvPr/>
          </p:nvSpPr>
          <p:spPr>
            <a:xfrm>
              <a:off x="1438656" y="3535680"/>
              <a:ext cx="5169408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0" i="0">
                  <a:solidFill>
                    <a:srgbClr val="E5E5EA"/>
                  </a:solidFill>
                  <a:latin typeface="Arial"/>
                </a:rPr>
                <a:t>https://github.com/pavit12301611/notch</a:t>
              </a:r>
            </a:p>
          </p:txBody>
        </p:sp>
        <p:sp>
          <p:nvSpPr>
            <p:cNvPr id="73" name="N24/notch-clipboard/text/062"/>
            <p:cNvSpPr txBox="1"/>
            <p:nvPr/>
          </p:nvSpPr>
          <p:spPr>
            <a:xfrm>
              <a:off x="6754368" y="3474720"/>
              <a:ext cx="658368" cy="4389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4" b="0" i="0">
                  <a:solidFill>
                    <a:srgbClr val="98989D"/>
                  </a:solidFill>
                  <a:latin typeface="Arial"/>
                </a:rPr>
                <a:t>14:30</a:t>
              </a:r>
            </a:p>
          </p:txBody>
        </p:sp>
        <p:sp>
          <p:nvSpPr>
            <p:cNvPr id="74" name="N24/notch-clipboard/clipboard-row/063"/>
            <p:cNvSpPr/>
            <p:nvPr/>
          </p:nvSpPr>
          <p:spPr>
            <a:xfrm>
              <a:off x="975360" y="3986783"/>
              <a:ext cx="6583680" cy="438912"/>
            </a:xfrm>
            <a:prstGeom prst="roundRect">
              <a:avLst>
                <a:gd name="adj" fmla="val 33333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24/notch-clipboard/button-Design review notes: spacing, icons, empty states/064"/>
            <p:cNvSpPr/>
            <p:nvPr/>
          </p:nvSpPr>
          <p:spPr>
            <a:xfrm>
              <a:off x="1048512" y="4047743"/>
              <a:ext cx="5608320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N24/notch-clipboard/rect/065"/>
            <p:cNvSpPr/>
            <p:nvPr/>
          </p:nvSpPr>
          <p:spPr>
            <a:xfrm>
              <a:off x="1219200" y="4157471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N24/notch-clipboard/rect/066"/>
            <p:cNvSpPr/>
            <p:nvPr/>
          </p:nvSpPr>
          <p:spPr>
            <a:xfrm>
              <a:off x="1243584" y="4139183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8" name="N24/notch-clipboard/line/067"/>
            <p:cNvCxnSpPr/>
            <p:nvPr/>
          </p:nvCxnSpPr>
          <p:spPr>
            <a:xfrm>
              <a:off x="1243584" y="4206240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N24/notch-clipboard/line/068"/>
            <p:cNvCxnSpPr/>
            <p:nvPr/>
          </p:nvCxnSpPr>
          <p:spPr>
            <a:xfrm>
              <a:off x="1243584" y="4236720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N24/notch-clipboard/text/069"/>
            <p:cNvSpPr txBox="1"/>
            <p:nvPr/>
          </p:nvSpPr>
          <p:spPr>
            <a:xfrm>
              <a:off x="1438656" y="4047743"/>
              <a:ext cx="5169408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0" i="0">
                  <a:solidFill>
                    <a:srgbClr val="E5E5EA"/>
                  </a:solidFill>
                  <a:latin typeface="Arial"/>
                </a:rPr>
                <a:t>Design review notes: spacing, icons, empty states</a:t>
              </a:r>
            </a:p>
          </p:txBody>
        </p:sp>
        <p:sp>
          <p:nvSpPr>
            <p:cNvPr id="81" name="N24/notch-clipboard/text/070"/>
            <p:cNvSpPr txBox="1"/>
            <p:nvPr/>
          </p:nvSpPr>
          <p:spPr>
            <a:xfrm>
              <a:off x="6754368" y="3986783"/>
              <a:ext cx="658368" cy="4389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4" b="0" i="0">
                  <a:solidFill>
                    <a:srgbClr val="98989D"/>
                  </a:solidFill>
                  <a:latin typeface="Arial"/>
                </a:rPr>
                <a:t>14:22</a:t>
              </a:r>
            </a:p>
          </p:txBody>
        </p:sp>
        <p:sp>
          <p:nvSpPr>
            <p:cNvPr id="82" name="N24/notch-clipboard/clipboard-row/071"/>
            <p:cNvSpPr/>
            <p:nvPr/>
          </p:nvSpPr>
          <p:spPr>
            <a:xfrm>
              <a:off x="975360" y="4498848"/>
              <a:ext cx="6583680" cy="438912"/>
            </a:xfrm>
            <a:prstGeom prst="roundRect">
              <a:avLst>
                <a:gd name="adj" fmla="val 33333"/>
              </a:avLst>
            </a:prstGeom>
            <a:solidFill>
              <a:srgbClr val="1C1C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24/notch-clipboard/button-sudo dnf install gnome-extensions-app/072"/>
            <p:cNvSpPr/>
            <p:nvPr/>
          </p:nvSpPr>
          <p:spPr>
            <a:xfrm>
              <a:off x="1048512" y="4559808"/>
              <a:ext cx="5608320" cy="341376"/>
            </a:xfrm>
            <a:prstGeom prst="roundRect">
              <a:avLst>
                <a:gd name="adj" fmla="val 35714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24/notch-clipboard/rect/073"/>
            <p:cNvSpPr/>
            <p:nvPr/>
          </p:nvSpPr>
          <p:spPr>
            <a:xfrm>
              <a:off x="1219200" y="4669536"/>
              <a:ext cx="97536" cy="134112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E5E5E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24/notch-clipboard/rect/074"/>
            <p:cNvSpPr/>
            <p:nvPr/>
          </p:nvSpPr>
          <p:spPr>
            <a:xfrm>
              <a:off x="1243584" y="4651247"/>
              <a:ext cx="48768" cy="30480"/>
            </a:xfrm>
            <a:prstGeom prst="roundRect">
              <a:avLst>
                <a:gd name="adj" fmla="val 24000"/>
              </a:avLst>
            </a:prstGeom>
            <a:solidFill>
              <a:srgbClr val="E5E5E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6" name="N24/notch-clipboard/line/075"/>
            <p:cNvCxnSpPr/>
            <p:nvPr/>
          </p:nvCxnSpPr>
          <p:spPr>
            <a:xfrm>
              <a:off x="1243584" y="4718304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N24/notch-clipboard/line/076"/>
            <p:cNvCxnSpPr/>
            <p:nvPr/>
          </p:nvCxnSpPr>
          <p:spPr>
            <a:xfrm>
              <a:off x="1243584" y="4748784"/>
              <a:ext cx="48768" cy="0"/>
            </a:xfrm>
            <a:prstGeom prst="line">
              <a:avLst/>
            </a:prstGeom>
            <a:ln w="10160">
              <a:solidFill>
                <a:srgbClr val="E5E5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N24/notch-clipboard/text/077"/>
            <p:cNvSpPr txBox="1"/>
            <p:nvPr/>
          </p:nvSpPr>
          <p:spPr>
            <a:xfrm>
              <a:off x="1438656" y="4559808"/>
              <a:ext cx="5169408" cy="3413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44" b="0" i="0">
                  <a:solidFill>
                    <a:srgbClr val="E5E5EA"/>
                  </a:solidFill>
                  <a:latin typeface="Arial"/>
                </a:rPr>
                <a:t>sudo dnf install gnome-extensions-app</a:t>
              </a:r>
            </a:p>
          </p:txBody>
        </p:sp>
        <p:sp>
          <p:nvSpPr>
            <p:cNvPr id="89" name="N24/notch-clipboard/text/078"/>
            <p:cNvSpPr txBox="1"/>
            <p:nvPr/>
          </p:nvSpPr>
          <p:spPr>
            <a:xfrm>
              <a:off x="6754368" y="4498848"/>
              <a:ext cx="658368" cy="43891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4" b="0" i="0">
                  <a:solidFill>
                    <a:srgbClr val="98989D"/>
                  </a:solidFill>
                  <a:latin typeface="Arial"/>
                </a:rPr>
                <a:t>13:58</a:t>
              </a:r>
            </a:p>
          </p:txBody>
        </p:sp>
      </p:grpSp>
      <p:sp>
        <p:nvSpPr>
          <p:cNvPr id="90" name="N24/text/010"/>
          <p:cNvSpPr txBox="1"/>
          <p:nvPr/>
        </p:nvSpPr>
        <p:spPr>
          <a:xfrm>
            <a:off x="731520" y="5486400"/>
            <a:ext cx="708660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Preview: flattened whitespace, max 160 chars. Time: locale HH:MM. Narrow rows stack time.</a:t>
            </a:r>
          </a:p>
        </p:txBody>
      </p:sp>
      <p:sp>
        <p:nvSpPr>
          <p:cNvPr id="91" name="N24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N24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93" name="N24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N24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Default limit 20; range 5–50</a:t>
            </a:r>
          </a:p>
        </p:txBody>
      </p:sp>
      <p:sp>
        <p:nvSpPr>
          <p:cNvPr id="95" name="N24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N24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64 KiB per item; RAM only</a:t>
            </a:r>
          </a:p>
        </p:txBody>
      </p:sp>
      <p:sp>
        <p:nvSpPr>
          <p:cNvPr id="97" name="N24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N24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Cleared on lock/logout/disable</a:t>
            </a:r>
          </a:p>
        </p:txBody>
      </p:sp>
      <p:sp>
        <p:nvSpPr>
          <p:cNvPr id="99" name="N24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N24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Password hints / mixed formats skipped</a:t>
            </a:r>
          </a:p>
        </p:txBody>
      </p:sp>
      <p:cxnSp>
        <p:nvCxnSpPr>
          <p:cNvPr id="101" name="N24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N24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103" name="N24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N24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Row density / preview length / time alignment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SHARED CHROME</a:t>
            </a:r>
          </a:p>
        </p:txBody>
      </p:sp>
      <p:sp>
        <p:nvSpPr>
          <p:cNvPr id="5" name="N2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Status footer patterns</a:t>
            </a:r>
          </a:p>
        </p:txBody>
      </p:sp>
      <p:sp>
        <p:nvSpPr>
          <p:cNvPr id="6" name="N2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Success / info / error · optional Retry · dismiss always available</a:t>
            </a:r>
          </a:p>
        </p:txBody>
      </p:sp>
      <p:cxnSp>
        <p:nvCxnSpPr>
          <p:cNvPr id="7" name="N2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N25</a:t>
            </a:r>
          </a:p>
        </p:txBody>
      </p:sp>
      <p:sp>
        <p:nvSpPr>
          <p:cNvPr id="10" name="N2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25</a:t>
            </a:r>
          </a:p>
        </p:txBody>
      </p:sp>
      <p:grpSp>
        <p:nvGrpSpPr>
          <p:cNvPr id="11" name="N25/status-1.95"/>
          <p:cNvGrpSpPr/>
          <p:nvPr/>
        </p:nvGrpSpPr>
        <p:grpSpPr>
          <a:xfrm>
            <a:off x="502920" y="1783080"/>
            <a:ext cx="7635240" cy="868680"/>
            <a:chOff x="502920" y="1783080"/>
            <a:chExt cx="7635240" cy="868680"/>
          </a:xfrm>
        </p:grpSpPr>
        <p:sp>
          <p:nvSpPr>
            <p:cNvPr id="12" name="N25/status-1.95/notch-surface-open/001"/>
            <p:cNvSpPr/>
            <p:nvPr/>
          </p:nvSpPr>
          <p:spPr>
            <a:xfrm>
              <a:off x="502920" y="1783080"/>
              <a:ext cx="7635240" cy="868680"/>
            </a:xfrm>
            <a:custGeom>
              <a:avLst/>
              <a:gdLst/>
              <a:ahLst/>
              <a:cxnLst/>
              <a:rect l="l" t="t" r="r" b="b"/>
              <a:pathLst>
                <a:path w="7635240" h="868680">
                  <a:moveTo>
                    <a:pt x="0" y="0"/>
                  </a:moveTo>
                  <a:lnTo>
                    <a:pt x="7635240" y="0"/>
                  </a:lnTo>
                  <a:lnTo>
                    <a:pt x="7615163" y="2262"/>
                  </a:lnTo>
                  <a:lnTo>
                    <a:pt x="7592258" y="9048"/>
                  </a:lnTo>
                  <a:lnTo>
                    <a:pt x="7568222" y="20359"/>
                  </a:lnTo>
                  <a:lnTo>
                    <a:pt x="7544752" y="36195"/>
                  </a:lnTo>
                  <a:lnTo>
                    <a:pt x="7523544" y="56554"/>
                  </a:lnTo>
                  <a:lnTo>
                    <a:pt x="7506295" y="81438"/>
                  </a:lnTo>
                  <a:lnTo>
                    <a:pt x="7494701" y="110847"/>
                  </a:lnTo>
                  <a:lnTo>
                    <a:pt x="7490460" y="144780"/>
                  </a:lnTo>
                  <a:lnTo>
                    <a:pt x="7486946" y="721478"/>
                  </a:lnTo>
                  <a:lnTo>
                    <a:pt x="7476539" y="755785"/>
                  </a:lnTo>
                  <a:lnTo>
                    <a:pt x="7459639" y="787402"/>
                  </a:lnTo>
                  <a:lnTo>
                    <a:pt x="7436895" y="815115"/>
                  </a:lnTo>
                  <a:lnTo>
                    <a:pt x="7409182" y="837859"/>
                  </a:lnTo>
                  <a:lnTo>
                    <a:pt x="7377565" y="854759"/>
                  </a:lnTo>
                  <a:lnTo>
                    <a:pt x="7343258" y="865166"/>
                  </a:lnTo>
                  <a:lnTo>
                    <a:pt x="7307580" y="868680"/>
                  </a:lnTo>
                  <a:lnTo>
                    <a:pt x="327660" y="868680"/>
                  </a:lnTo>
                  <a:lnTo>
                    <a:pt x="291981" y="865166"/>
                  </a:lnTo>
                  <a:lnTo>
                    <a:pt x="257674" y="854759"/>
                  </a:lnTo>
                  <a:lnTo>
                    <a:pt x="226057" y="837859"/>
                  </a:lnTo>
                  <a:lnTo>
                    <a:pt x="198344" y="815115"/>
                  </a:lnTo>
                  <a:lnTo>
                    <a:pt x="175600" y="787402"/>
                  </a:lnTo>
                  <a:lnTo>
                    <a:pt x="158700" y="755785"/>
                  </a:lnTo>
                  <a:lnTo>
                    <a:pt x="148293" y="721478"/>
                  </a:lnTo>
                  <a:lnTo>
                    <a:pt x="144780" y="685799"/>
                  </a:lnTo>
                  <a:lnTo>
                    <a:pt x="144780" y="144780"/>
                  </a:lnTo>
                  <a:lnTo>
                    <a:pt x="140538" y="110847"/>
                  </a:lnTo>
                  <a:lnTo>
                    <a:pt x="128944" y="81438"/>
                  </a:lnTo>
                  <a:lnTo>
                    <a:pt x="111695" y="56554"/>
                  </a:lnTo>
                  <a:lnTo>
                    <a:pt x="90487" y="36195"/>
                  </a:lnTo>
                  <a:lnTo>
                    <a:pt x="67017" y="20359"/>
                  </a:lnTo>
                  <a:lnTo>
                    <a:pt x="42981" y="9048"/>
                  </a:lnTo>
                  <a:lnTo>
                    <a:pt x="20076" y="22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25/status-1.95/text/002"/>
            <p:cNvSpPr txBox="1"/>
            <p:nvPr/>
          </p:nvSpPr>
          <p:spPr>
            <a:xfrm>
              <a:off x="777240" y="2175510"/>
              <a:ext cx="6724650" cy="3848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7" b="0" i="0">
                  <a:solidFill>
                    <a:srgbClr val="FFD60A"/>
                  </a:solidFill>
                  <a:latin typeface="Arial"/>
                </a:rPr>
                <a:t>File URI copied.</a:t>
              </a:r>
            </a:p>
          </p:txBody>
        </p:sp>
        <p:sp>
          <p:nvSpPr>
            <p:cNvPr id="14" name="N25/status-1.95/button-close/003"/>
            <p:cNvSpPr/>
            <p:nvPr/>
          </p:nvSpPr>
          <p:spPr>
            <a:xfrm>
              <a:off x="7574280" y="2157412"/>
              <a:ext cx="253364" cy="23526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N25/status-1.95/line/004"/>
            <p:cNvCxnSpPr/>
            <p:nvPr/>
          </p:nvCxnSpPr>
          <p:spPr>
            <a:xfrm>
              <a:off x="7664767" y="2238851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N25/status-1.95/line/005"/>
            <p:cNvCxnSpPr/>
            <p:nvPr/>
          </p:nvCxnSpPr>
          <p:spPr>
            <a:xfrm flipH="1">
              <a:off x="7664767" y="2238851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N25/text/010"/>
          <p:cNvSpPr txBox="1"/>
          <p:nvPr/>
        </p:nvSpPr>
        <p:spPr>
          <a:xfrm>
            <a:off x="502920" y="2697480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Transient success · 1800 ms</a:t>
            </a:r>
          </a:p>
        </p:txBody>
      </p:sp>
      <p:grpSp>
        <p:nvGrpSpPr>
          <p:cNvPr id="18" name="N25/status-3.17"/>
          <p:cNvGrpSpPr/>
          <p:nvPr/>
        </p:nvGrpSpPr>
        <p:grpSpPr>
          <a:xfrm>
            <a:off x="502920" y="2898648"/>
            <a:ext cx="7635240" cy="868680"/>
            <a:chOff x="502920" y="2898648"/>
            <a:chExt cx="7635240" cy="868680"/>
          </a:xfrm>
        </p:grpSpPr>
        <p:sp>
          <p:nvSpPr>
            <p:cNvPr id="19" name="N25/status-3.17/notch-surface-open/001"/>
            <p:cNvSpPr/>
            <p:nvPr/>
          </p:nvSpPr>
          <p:spPr>
            <a:xfrm>
              <a:off x="502920" y="2898648"/>
              <a:ext cx="7635240" cy="868680"/>
            </a:xfrm>
            <a:custGeom>
              <a:avLst/>
              <a:gdLst/>
              <a:ahLst/>
              <a:cxnLst/>
              <a:rect l="l" t="t" r="r" b="b"/>
              <a:pathLst>
                <a:path w="7635240" h="868680">
                  <a:moveTo>
                    <a:pt x="0" y="0"/>
                  </a:moveTo>
                  <a:lnTo>
                    <a:pt x="7635240" y="0"/>
                  </a:lnTo>
                  <a:lnTo>
                    <a:pt x="7615163" y="2262"/>
                  </a:lnTo>
                  <a:lnTo>
                    <a:pt x="7592258" y="9048"/>
                  </a:lnTo>
                  <a:lnTo>
                    <a:pt x="7568222" y="20359"/>
                  </a:lnTo>
                  <a:lnTo>
                    <a:pt x="7544752" y="36195"/>
                  </a:lnTo>
                  <a:lnTo>
                    <a:pt x="7523544" y="56554"/>
                  </a:lnTo>
                  <a:lnTo>
                    <a:pt x="7506295" y="81438"/>
                  </a:lnTo>
                  <a:lnTo>
                    <a:pt x="7494701" y="110847"/>
                  </a:lnTo>
                  <a:lnTo>
                    <a:pt x="7490460" y="144780"/>
                  </a:lnTo>
                  <a:lnTo>
                    <a:pt x="7486946" y="721478"/>
                  </a:lnTo>
                  <a:lnTo>
                    <a:pt x="7476539" y="755785"/>
                  </a:lnTo>
                  <a:lnTo>
                    <a:pt x="7459639" y="787402"/>
                  </a:lnTo>
                  <a:lnTo>
                    <a:pt x="7436895" y="815115"/>
                  </a:lnTo>
                  <a:lnTo>
                    <a:pt x="7409182" y="837859"/>
                  </a:lnTo>
                  <a:lnTo>
                    <a:pt x="7377565" y="854759"/>
                  </a:lnTo>
                  <a:lnTo>
                    <a:pt x="7343258" y="865166"/>
                  </a:lnTo>
                  <a:lnTo>
                    <a:pt x="7307580" y="868680"/>
                  </a:lnTo>
                  <a:lnTo>
                    <a:pt x="327660" y="868680"/>
                  </a:lnTo>
                  <a:lnTo>
                    <a:pt x="291981" y="865166"/>
                  </a:lnTo>
                  <a:lnTo>
                    <a:pt x="257674" y="854759"/>
                  </a:lnTo>
                  <a:lnTo>
                    <a:pt x="226057" y="837859"/>
                  </a:lnTo>
                  <a:lnTo>
                    <a:pt x="198344" y="815115"/>
                  </a:lnTo>
                  <a:lnTo>
                    <a:pt x="175600" y="787402"/>
                  </a:lnTo>
                  <a:lnTo>
                    <a:pt x="158700" y="755785"/>
                  </a:lnTo>
                  <a:lnTo>
                    <a:pt x="148293" y="721478"/>
                  </a:lnTo>
                  <a:lnTo>
                    <a:pt x="144780" y="685800"/>
                  </a:lnTo>
                  <a:lnTo>
                    <a:pt x="144780" y="144780"/>
                  </a:lnTo>
                  <a:lnTo>
                    <a:pt x="140538" y="110847"/>
                  </a:lnTo>
                  <a:lnTo>
                    <a:pt x="128944" y="81438"/>
                  </a:lnTo>
                  <a:lnTo>
                    <a:pt x="111695" y="56554"/>
                  </a:lnTo>
                  <a:lnTo>
                    <a:pt x="90487" y="36195"/>
                  </a:lnTo>
                  <a:lnTo>
                    <a:pt x="67017" y="20359"/>
                  </a:lnTo>
                  <a:lnTo>
                    <a:pt x="42981" y="9048"/>
                  </a:lnTo>
                  <a:lnTo>
                    <a:pt x="20076" y="22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25/status-3.17/text/002"/>
            <p:cNvSpPr txBox="1"/>
            <p:nvPr/>
          </p:nvSpPr>
          <p:spPr>
            <a:xfrm>
              <a:off x="777240" y="3291078"/>
              <a:ext cx="6724650" cy="3848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7" b="0" i="0">
                  <a:solidFill>
                    <a:srgbClr val="FFD60A"/>
                  </a:solidFill>
                  <a:latin typeface="Arial"/>
                </a:rPr>
                <a:t>Do Not Disturb on</a:t>
              </a:r>
            </a:p>
          </p:txBody>
        </p:sp>
        <p:sp>
          <p:nvSpPr>
            <p:cNvPr id="21" name="N25/status-3.17/button-close/003"/>
            <p:cNvSpPr/>
            <p:nvPr/>
          </p:nvSpPr>
          <p:spPr>
            <a:xfrm>
              <a:off x="7574280" y="3272980"/>
              <a:ext cx="253364" cy="23526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N25/status-3.17/line/004"/>
            <p:cNvCxnSpPr/>
            <p:nvPr/>
          </p:nvCxnSpPr>
          <p:spPr>
            <a:xfrm>
              <a:off x="7664767" y="3354419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N25/status-3.17/line/005"/>
            <p:cNvCxnSpPr/>
            <p:nvPr/>
          </p:nvCxnSpPr>
          <p:spPr>
            <a:xfrm flipH="1">
              <a:off x="7664767" y="3354419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N25/text/011"/>
          <p:cNvSpPr txBox="1"/>
          <p:nvPr/>
        </p:nvSpPr>
        <p:spPr>
          <a:xfrm>
            <a:off x="502920" y="3813048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Quick action confirmation · 2200 ms</a:t>
            </a:r>
          </a:p>
        </p:txBody>
      </p:sp>
      <p:grpSp>
        <p:nvGrpSpPr>
          <p:cNvPr id="25" name="N25/status-4.39"/>
          <p:cNvGrpSpPr/>
          <p:nvPr/>
        </p:nvGrpSpPr>
        <p:grpSpPr>
          <a:xfrm>
            <a:off x="502920" y="4014215"/>
            <a:ext cx="7635240" cy="868681"/>
            <a:chOff x="502920" y="4014215"/>
            <a:chExt cx="7635240" cy="868681"/>
          </a:xfrm>
        </p:grpSpPr>
        <p:sp>
          <p:nvSpPr>
            <p:cNvPr id="26" name="N25/status-4.39/notch-surface-open/001"/>
            <p:cNvSpPr/>
            <p:nvPr/>
          </p:nvSpPr>
          <p:spPr>
            <a:xfrm>
              <a:off x="502920" y="4014215"/>
              <a:ext cx="7635240" cy="868681"/>
            </a:xfrm>
            <a:custGeom>
              <a:avLst/>
              <a:gdLst/>
              <a:ahLst/>
              <a:cxnLst/>
              <a:rect l="l" t="t" r="r" b="b"/>
              <a:pathLst>
                <a:path w="7635240" h="868681">
                  <a:moveTo>
                    <a:pt x="0" y="0"/>
                  </a:moveTo>
                  <a:lnTo>
                    <a:pt x="7635240" y="0"/>
                  </a:lnTo>
                  <a:lnTo>
                    <a:pt x="7615163" y="2263"/>
                  </a:lnTo>
                  <a:lnTo>
                    <a:pt x="7592258" y="9049"/>
                  </a:lnTo>
                  <a:lnTo>
                    <a:pt x="7568222" y="20360"/>
                  </a:lnTo>
                  <a:lnTo>
                    <a:pt x="7544752" y="36196"/>
                  </a:lnTo>
                  <a:lnTo>
                    <a:pt x="7523544" y="56555"/>
                  </a:lnTo>
                  <a:lnTo>
                    <a:pt x="7506295" y="81439"/>
                  </a:lnTo>
                  <a:lnTo>
                    <a:pt x="7494701" y="110848"/>
                  </a:lnTo>
                  <a:lnTo>
                    <a:pt x="7490460" y="144780"/>
                  </a:lnTo>
                  <a:lnTo>
                    <a:pt x="7486946" y="721479"/>
                  </a:lnTo>
                  <a:lnTo>
                    <a:pt x="7476539" y="755786"/>
                  </a:lnTo>
                  <a:lnTo>
                    <a:pt x="7459639" y="787403"/>
                  </a:lnTo>
                  <a:lnTo>
                    <a:pt x="7436895" y="815116"/>
                  </a:lnTo>
                  <a:lnTo>
                    <a:pt x="7409182" y="837860"/>
                  </a:lnTo>
                  <a:lnTo>
                    <a:pt x="7377565" y="854760"/>
                  </a:lnTo>
                  <a:lnTo>
                    <a:pt x="7343258" y="865167"/>
                  </a:lnTo>
                  <a:lnTo>
                    <a:pt x="7307580" y="868681"/>
                  </a:lnTo>
                  <a:lnTo>
                    <a:pt x="327660" y="868681"/>
                  </a:lnTo>
                  <a:lnTo>
                    <a:pt x="291981" y="865167"/>
                  </a:lnTo>
                  <a:lnTo>
                    <a:pt x="257674" y="854760"/>
                  </a:lnTo>
                  <a:lnTo>
                    <a:pt x="226057" y="837860"/>
                  </a:lnTo>
                  <a:lnTo>
                    <a:pt x="198344" y="815116"/>
                  </a:lnTo>
                  <a:lnTo>
                    <a:pt x="175600" y="787403"/>
                  </a:lnTo>
                  <a:lnTo>
                    <a:pt x="158700" y="755786"/>
                  </a:lnTo>
                  <a:lnTo>
                    <a:pt x="148293" y="721479"/>
                  </a:lnTo>
                  <a:lnTo>
                    <a:pt x="144780" y="685801"/>
                  </a:lnTo>
                  <a:lnTo>
                    <a:pt x="144780" y="144780"/>
                  </a:lnTo>
                  <a:lnTo>
                    <a:pt x="140538" y="110848"/>
                  </a:lnTo>
                  <a:lnTo>
                    <a:pt x="128944" y="81439"/>
                  </a:lnTo>
                  <a:lnTo>
                    <a:pt x="111695" y="56555"/>
                  </a:lnTo>
                  <a:lnTo>
                    <a:pt x="90487" y="36195"/>
                  </a:lnTo>
                  <a:lnTo>
                    <a:pt x="67017" y="20360"/>
                  </a:lnTo>
                  <a:lnTo>
                    <a:pt x="42981" y="9049"/>
                  </a:lnTo>
                  <a:lnTo>
                    <a:pt x="20076" y="2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25/status-4.39/text/002"/>
            <p:cNvSpPr txBox="1"/>
            <p:nvPr/>
          </p:nvSpPr>
          <p:spPr>
            <a:xfrm>
              <a:off x="777240" y="4406645"/>
              <a:ext cx="6000750" cy="3848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7" b="0" i="0">
                  <a:solidFill>
                    <a:srgbClr val="FF9F0A"/>
                  </a:solidFill>
                  <a:latin typeface="Arial"/>
                </a:rPr>
                <a:t>File shelf helper could not start. Run notch-doctor.</a:t>
              </a:r>
            </a:p>
          </p:txBody>
        </p:sp>
        <p:sp>
          <p:nvSpPr>
            <p:cNvPr id="28" name="N25/status-4.39/button-Retry/003"/>
            <p:cNvSpPr/>
            <p:nvPr/>
          </p:nvSpPr>
          <p:spPr>
            <a:xfrm>
              <a:off x="6886575" y="4388548"/>
              <a:ext cx="579120" cy="235267"/>
            </a:xfrm>
            <a:prstGeom prst="roundRect">
              <a:avLst>
                <a:gd name="adj" fmla="val 38461"/>
              </a:avLst>
            </a:prstGeom>
            <a:solidFill>
              <a:srgbClr val="2C2C2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25/status-4.39/text/004"/>
            <p:cNvSpPr txBox="1"/>
            <p:nvPr/>
          </p:nvSpPr>
          <p:spPr>
            <a:xfrm>
              <a:off x="6940867" y="4388548"/>
              <a:ext cx="470534" cy="23526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7" b="0" i="0">
                  <a:solidFill>
                    <a:srgbClr val="E5E5EA"/>
                  </a:solidFill>
                  <a:latin typeface="Arial"/>
                </a:rPr>
                <a:t>Retry</a:t>
              </a:r>
            </a:p>
          </p:txBody>
        </p:sp>
        <p:sp>
          <p:nvSpPr>
            <p:cNvPr id="30" name="N25/status-4.39/button-close/005"/>
            <p:cNvSpPr/>
            <p:nvPr/>
          </p:nvSpPr>
          <p:spPr>
            <a:xfrm>
              <a:off x="7538085" y="4388548"/>
              <a:ext cx="253364" cy="23526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N25/status-4.39/line/006"/>
            <p:cNvCxnSpPr/>
            <p:nvPr/>
          </p:nvCxnSpPr>
          <p:spPr>
            <a:xfrm>
              <a:off x="7628572" y="4469987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N25/status-4.39/line/007"/>
            <p:cNvCxnSpPr/>
            <p:nvPr/>
          </p:nvCxnSpPr>
          <p:spPr>
            <a:xfrm flipH="1">
              <a:off x="7628572" y="4469987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N25/text/012"/>
          <p:cNvSpPr txBox="1"/>
          <p:nvPr/>
        </p:nvSpPr>
        <p:spPr>
          <a:xfrm>
            <a:off x="502920" y="4928616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Helper error · Retry + dismiss</a:t>
            </a:r>
          </a:p>
        </p:txBody>
      </p:sp>
      <p:grpSp>
        <p:nvGrpSpPr>
          <p:cNvPr id="34" name="N25/status-5.609999999999999"/>
          <p:cNvGrpSpPr/>
          <p:nvPr/>
        </p:nvGrpSpPr>
        <p:grpSpPr>
          <a:xfrm>
            <a:off x="502920" y="5129783"/>
            <a:ext cx="7635240" cy="868681"/>
            <a:chOff x="502920" y="5129783"/>
            <a:chExt cx="7635240" cy="868681"/>
          </a:xfrm>
        </p:grpSpPr>
        <p:sp>
          <p:nvSpPr>
            <p:cNvPr id="35" name="N25/status-5.609999999999999/notch-surface-open/001"/>
            <p:cNvSpPr/>
            <p:nvPr/>
          </p:nvSpPr>
          <p:spPr>
            <a:xfrm>
              <a:off x="502920" y="5129783"/>
              <a:ext cx="7635240" cy="868681"/>
            </a:xfrm>
            <a:custGeom>
              <a:avLst/>
              <a:gdLst/>
              <a:ahLst/>
              <a:cxnLst/>
              <a:rect l="l" t="t" r="r" b="b"/>
              <a:pathLst>
                <a:path w="7635240" h="868681">
                  <a:moveTo>
                    <a:pt x="0" y="0"/>
                  </a:moveTo>
                  <a:lnTo>
                    <a:pt x="7635240" y="0"/>
                  </a:lnTo>
                  <a:lnTo>
                    <a:pt x="7615163" y="2263"/>
                  </a:lnTo>
                  <a:lnTo>
                    <a:pt x="7592258" y="9049"/>
                  </a:lnTo>
                  <a:lnTo>
                    <a:pt x="7568222" y="20360"/>
                  </a:lnTo>
                  <a:lnTo>
                    <a:pt x="7544752" y="36195"/>
                  </a:lnTo>
                  <a:lnTo>
                    <a:pt x="7523544" y="56555"/>
                  </a:lnTo>
                  <a:lnTo>
                    <a:pt x="7506295" y="81439"/>
                  </a:lnTo>
                  <a:lnTo>
                    <a:pt x="7494701" y="110848"/>
                  </a:lnTo>
                  <a:lnTo>
                    <a:pt x="7490460" y="144780"/>
                  </a:lnTo>
                  <a:lnTo>
                    <a:pt x="7486946" y="721479"/>
                  </a:lnTo>
                  <a:lnTo>
                    <a:pt x="7476539" y="755786"/>
                  </a:lnTo>
                  <a:lnTo>
                    <a:pt x="7459639" y="787403"/>
                  </a:lnTo>
                  <a:lnTo>
                    <a:pt x="7436895" y="815116"/>
                  </a:lnTo>
                  <a:lnTo>
                    <a:pt x="7409182" y="837860"/>
                  </a:lnTo>
                  <a:lnTo>
                    <a:pt x="7377565" y="854760"/>
                  </a:lnTo>
                  <a:lnTo>
                    <a:pt x="7343258" y="865167"/>
                  </a:lnTo>
                  <a:lnTo>
                    <a:pt x="7307580" y="868681"/>
                  </a:lnTo>
                  <a:lnTo>
                    <a:pt x="327660" y="868681"/>
                  </a:lnTo>
                  <a:lnTo>
                    <a:pt x="291981" y="865167"/>
                  </a:lnTo>
                  <a:lnTo>
                    <a:pt x="257674" y="854760"/>
                  </a:lnTo>
                  <a:lnTo>
                    <a:pt x="226057" y="837860"/>
                  </a:lnTo>
                  <a:lnTo>
                    <a:pt x="198344" y="815116"/>
                  </a:lnTo>
                  <a:lnTo>
                    <a:pt x="175600" y="787403"/>
                  </a:lnTo>
                  <a:lnTo>
                    <a:pt x="158700" y="755786"/>
                  </a:lnTo>
                  <a:lnTo>
                    <a:pt x="148293" y="721479"/>
                  </a:lnTo>
                  <a:lnTo>
                    <a:pt x="144780" y="685800"/>
                  </a:lnTo>
                  <a:lnTo>
                    <a:pt x="144780" y="144780"/>
                  </a:lnTo>
                  <a:lnTo>
                    <a:pt x="140538" y="110848"/>
                  </a:lnTo>
                  <a:lnTo>
                    <a:pt x="128944" y="81439"/>
                  </a:lnTo>
                  <a:lnTo>
                    <a:pt x="111695" y="56555"/>
                  </a:lnTo>
                  <a:lnTo>
                    <a:pt x="90487" y="36196"/>
                  </a:lnTo>
                  <a:lnTo>
                    <a:pt x="67017" y="20360"/>
                  </a:lnTo>
                  <a:lnTo>
                    <a:pt x="42981" y="9049"/>
                  </a:lnTo>
                  <a:lnTo>
                    <a:pt x="20076" y="22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25/status-5.609999999999999/text/002"/>
            <p:cNvSpPr txBox="1"/>
            <p:nvPr/>
          </p:nvSpPr>
          <p:spPr>
            <a:xfrm>
              <a:off x="777240" y="5522213"/>
              <a:ext cx="6724650" cy="38481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47" b="0" i="0">
                  <a:solidFill>
                    <a:srgbClr val="FF9F0A"/>
                  </a:solidFill>
                  <a:latin typeface="Arial"/>
                </a:rPr>
                <a:t>Night Light is locked by system policy.</a:t>
              </a:r>
            </a:p>
          </p:txBody>
        </p:sp>
        <p:sp>
          <p:nvSpPr>
            <p:cNvPr id="37" name="N25/status-5.609999999999999/button-close/003"/>
            <p:cNvSpPr/>
            <p:nvPr/>
          </p:nvSpPr>
          <p:spPr>
            <a:xfrm>
              <a:off x="7574280" y="5504116"/>
              <a:ext cx="253364" cy="235267"/>
            </a:xfrm>
            <a:prstGeom prst="roundRect">
              <a:avLst>
                <a:gd name="adj" fmla="val 38461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N25/status-5.609999999999999/line/004"/>
            <p:cNvCxnSpPr/>
            <p:nvPr/>
          </p:nvCxnSpPr>
          <p:spPr>
            <a:xfrm>
              <a:off x="7664767" y="5585555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N25/status-5.609999999999999/line/005"/>
            <p:cNvCxnSpPr/>
            <p:nvPr/>
          </p:nvCxnSpPr>
          <p:spPr>
            <a:xfrm flipH="1">
              <a:off x="7664767" y="5585555"/>
              <a:ext cx="72390" cy="7239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N25/text/013"/>
          <p:cNvSpPr txBox="1"/>
          <p:nvPr/>
        </p:nvSpPr>
        <p:spPr>
          <a:xfrm>
            <a:off x="502920" y="6044183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Policy error · no retry</a:t>
            </a:r>
          </a:p>
        </p:txBody>
      </p:sp>
      <p:sp>
        <p:nvSpPr>
          <p:cNvPr id="41" name="N25/spec-panel/014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25/text/015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3" name="N25/ellipse/016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25/text/017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Info #FFD60A · error #FF9F0A</a:t>
            </a:r>
          </a:p>
        </p:txBody>
      </p:sp>
      <p:sp>
        <p:nvSpPr>
          <p:cNvPr id="45" name="N25/ellipse/018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25/text/019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Height = lines×18 + 10</a:t>
            </a:r>
          </a:p>
        </p:txBody>
      </p:sp>
      <p:sp>
        <p:nvSpPr>
          <p:cNvPr id="47" name="N25/ellipse/020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25/text/021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1–3 lines; chars/line ≈ width/7</a:t>
            </a:r>
          </a:p>
        </p:txBody>
      </p:sp>
      <p:sp>
        <p:nvSpPr>
          <p:cNvPr id="49" name="N25/ellipse/022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25/text/023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Footer reduces page height, never overlays</a:t>
            </a:r>
          </a:p>
        </p:txBody>
      </p:sp>
      <p:cxnSp>
        <p:nvCxnSpPr>
          <p:cNvPr id="51" name="N25/line/024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N25/text/025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53" name="N25/edit-box/026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25/edit-note/027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Footer padding / retry width / dismiss icon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ADAPTIVE LAYOUT</a:t>
            </a:r>
          </a:p>
        </p:txBody>
      </p:sp>
      <p:sp>
        <p:nvSpPr>
          <p:cNvPr id="5" name="N2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Header modes</a:t>
            </a:r>
          </a:p>
        </p:txBody>
      </p:sp>
      <p:sp>
        <p:nvSpPr>
          <p:cNvPr id="6" name="N2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Based on effective content width, not raw window width</a:t>
            </a:r>
          </a:p>
        </p:txBody>
      </p:sp>
      <p:cxnSp>
        <p:nvCxnSpPr>
          <p:cNvPr id="7" name="N2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N26</a:t>
            </a:r>
          </a:p>
        </p:txBody>
      </p:sp>
      <p:sp>
        <p:nvSpPr>
          <p:cNvPr id="10" name="N2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26</a:t>
            </a:r>
          </a:p>
        </p:txBody>
      </p:sp>
      <p:sp>
        <p:nvSpPr>
          <p:cNvPr id="11" name="N26/text/010"/>
          <p:cNvSpPr txBox="1"/>
          <p:nvPr/>
        </p:nvSpPr>
        <p:spPr>
          <a:xfrm>
            <a:off x="502920" y="1783080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labels</a:t>
            </a:r>
          </a:p>
        </p:txBody>
      </p:sp>
      <p:sp>
        <p:nvSpPr>
          <p:cNvPr id="12" name="N26/text/011"/>
          <p:cNvSpPr txBox="1"/>
          <p:nvPr/>
        </p:nvSpPr>
        <p:spPr>
          <a:xfrm>
            <a:off x="502920" y="2057400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Consolas"/>
              </a:rPr>
              <a:t>≥760 px</a:t>
            </a:r>
          </a:p>
        </p:txBody>
      </p:sp>
      <p:grpSp>
        <p:nvGrpSpPr>
          <p:cNvPr id="13" name="N26/header-labels"/>
          <p:cNvGrpSpPr/>
          <p:nvPr/>
        </p:nvGrpSpPr>
        <p:grpSpPr>
          <a:xfrm>
            <a:off x="2011680" y="1783080"/>
            <a:ext cx="6400800" cy="566928"/>
            <a:chOff x="2011680" y="1783080"/>
            <a:chExt cx="6400800" cy="566928"/>
          </a:xfrm>
        </p:grpSpPr>
        <p:sp>
          <p:nvSpPr>
            <p:cNvPr id="14" name="N26/header-labels/rect/001"/>
            <p:cNvSpPr/>
            <p:nvPr/>
          </p:nvSpPr>
          <p:spPr>
            <a:xfrm>
              <a:off x="2011680" y="1783080"/>
              <a:ext cx="6400800" cy="566928"/>
            </a:xfrm>
            <a:prstGeom prst="roundRect">
              <a:avLst>
                <a:gd name="adj" fmla="val 16129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26/header-labels/button-Home/002"/>
            <p:cNvSpPr/>
            <p:nvPr/>
          </p:nvSpPr>
          <p:spPr>
            <a:xfrm>
              <a:off x="2148840" y="1912905"/>
              <a:ext cx="693686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26/header-labels/poly/003"/>
            <p:cNvSpPr/>
            <p:nvPr/>
          </p:nvSpPr>
          <p:spPr>
            <a:xfrm>
              <a:off x="2264130" y="1985771"/>
              <a:ext cx="97155" cy="97156"/>
            </a:xfrm>
            <a:custGeom>
              <a:avLst/>
              <a:gdLst/>
              <a:ahLst/>
              <a:cxnLst/>
              <a:rect l="l" t="t" r="r" b="b"/>
              <a:pathLst>
                <a:path w="97155" h="97156">
                  <a:moveTo>
                    <a:pt x="48578" y="0"/>
                  </a:moveTo>
                  <a:lnTo>
                    <a:pt x="0" y="40482"/>
                  </a:lnTo>
                  <a:lnTo>
                    <a:pt x="16193" y="40482"/>
                  </a:lnTo>
                  <a:lnTo>
                    <a:pt x="16193" y="97156"/>
                  </a:lnTo>
                  <a:lnTo>
                    <a:pt x="40481" y="97156"/>
                  </a:lnTo>
                  <a:lnTo>
                    <a:pt x="40481" y="64770"/>
                  </a:lnTo>
                  <a:lnTo>
                    <a:pt x="56674" y="64770"/>
                  </a:lnTo>
                  <a:lnTo>
                    <a:pt x="56674" y="97156"/>
                  </a:lnTo>
                  <a:lnTo>
                    <a:pt x="80963" y="97156"/>
                  </a:lnTo>
                  <a:lnTo>
                    <a:pt x="80963" y="40482"/>
                  </a:lnTo>
                  <a:lnTo>
                    <a:pt x="97155" y="4048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26/header-labels/text/004"/>
            <p:cNvSpPr txBox="1"/>
            <p:nvPr/>
          </p:nvSpPr>
          <p:spPr>
            <a:xfrm>
              <a:off x="2426055" y="1912905"/>
              <a:ext cx="384086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Home</a:t>
              </a:r>
            </a:p>
          </p:txBody>
        </p:sp>
        <p:sp>
          <p:nvSpPr>
            <p:cNvPr id="18" name="N26/header-labels/button-Music/005"/>
            <p:cNvSpPr/>
            <p:nvPr/>
          </p:nvSpPr>
          <p:spPr>
            <a:xfrm>
              <a:off x="2874911" y="1912905"/>
              <a:ext cx="782097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N26/header-labels/line/006"/>
            <p:cNvCxnSpPr/>
            <p:nvPr/>
          </p:nvCxnSpPr>
          <p:spPr>
            <a:xfrm flipV="1">
              <a:off x="3027121" y="2001964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N26/header-labels/line/007"/>
            <p:cNvCxnSpPr/>
            <p:nvPr/>
          </p:nvCxnSpPr>
          <p:spPr>
            <a:xfrm flipV="1">
              <a:off x="3027121" y="1993868"/>
              <a:ext cx="56673" cy="809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N26/header-labels/line/008"/>
            <p:cNvCxnSpPr/>
            <p:nvPr/>
          </p:nvCxnSpPr>
          <p:spPr>
            <a:xfrm>
              <a:off x="3083794" y="1993868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N26/header-labels/ellipse/009"/>
            <p:cNvSpPr/>
            <p:nvPr/>
          </p:nvSpPr>
          <p:spPr>
            <a:xfrm>
              <a:off x="3002832" y="2054590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26/header-labels/ellipse/010"/>
            <p:cNvSpPr/>
            <p:nvPr/>
          </p:nvSpPr>
          <p:spPr>
            <a:xfrm>
              <a:off x="3059506" y="2046493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26/header-labels/text/011"/>
            <p:cNvSpPr txBox="1"/>
            <p:nvPr/>
          </p:nvSpPr>
          <p:spPr>
            <a:xfrm>
              <a:off x="3156661" y="1912905"/>
              <a:ext cx="467963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Music</a:t>
              </a:r>
            </a:p>
          </p:txBody>
        </p:sp>
        <p:sp>
          <p:nvSpPr>
            <p:cNvPr id="25" name="N26/header-labels/button-Alerts/012"/>
            <p:cNvSpPr/>
            <p:nvPr/>
          </p:nvSpPr>
          <p:spPr>
            <a:xfrm>
              <a:off x="3689394" y="1912905"/>
              <a:ext cx="870508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26/header-labels/poly/013"/>
            <p:cNvSpPr/>
            <p:nvPr/>
          </p:nvSpPr>
          <p:spPr>
            <a:xfrm>
              <a:off x="3821849" y="1985771"/>
              <a:ext cx="80962" cy="72867"/>
            </a:xfrm>
            <a:custGeom>
              <a:avLst/>
              <a:gdLst/>
              <a:ahLst/>
              <a:cxnLst/>
              <a:rect l="l" t="t" r="r" b="b"/>
              <a:pathLst>
                <a:path w="80962" h="72867">
                  <a:moveTo>
                    <a:pt x="40481" y="0"/>
                  </a:moveTo>
                  <a:lnTo>
                    <a:pt x="16192" y="16193"/>
                  </a:lnTo>
                  <a:lnTo>
                    <a:pt x="8096" y="48578"/>
                  </a:lnTo>
                  <a:lnTo>
                    <a:pt x="0" y="72867"/>
                  </a:lnTo>
                  <a:lnTo>
                    <a:pt x="80962" y="72867"/>
                  </a:lnTo>
                  <a:lnTo>
                    <a:pt x="72866" y="48578"/>
                  </a:lnTo>
                  <a:lnTo>
                    <a:pt x="64770" y="1619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N26/header-labels/line/014"/>
            <p:cNvCxnSpPr/>
            <p:nvPr/>
          </p:nvCxnSpPr>
          <p:spPr>
            <a:xfrm>
              <a:off x="3846137" y="2074830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N26/header-labels/ellipse/015"/>
            <p:cNvSpPr/>
            <p:nvPr/>
          </p:nvSpPr>
          <p:spPr>
            <a:xfrm>
              <a:off x="3854234" y="1977675"/>
              <a:ext cx="16192" cy="1619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26/header-labels/text/016"/>
            <p:cNvSpPr txBox="1"/>
            <p:nvPr/>
          </p:nvSpPr>
          <p:spPr>
            <a:xfrm>
              <a:off x="3975677" y="1912905"/>
              <a:ext cx="551840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Alerts</a:t>
              </a:r>
            </a:p>
          </p:txBody>
        </p:sp>
        <p:sp>
          <p:nvSpPr>
            <p:cNvPr id="30" name="N26/header-labels/button-System/017"/>
            <p:cNvSpPr/>
            <p:nvPr/>
          </p:nvSpPr>
          <p:spPr>
            <a:xfrm>
              <a:off x="4592288" y="1912905"/>
              <a:ext cx="870508" cy="24288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N26/header-labels/line/018"/>
            <p:cNvCxnSpPr/>
            <p:nvPr/>
          </p:nvCxnSpPr>
          <p:spPr>
            <a:xfrm>
              <a:off x="4716646" y="2082927"/>
              <a:ext cx="9715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N26/header-labels/line/019"/>
            <p:cNvCxnSpPr/>
            <p:nvPr/>
          </p:nvCxnSpPr>
          <p:spPr>
            <a:xfrm flipV="1">
              <a:off x="4724742" y="2026253"/>
              <a:ext cx="24289" cy="3238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N26/header-labels/line/020"/>
            <p:cNvCxnSpPr/>
            <p:nvPr/>
          </p:nvCxnSpPr>
          <p:spPr>
            <a:xfrm>
              <a:off x="4749031" y="2026253"/>
              <a:ext cx="24289" cy="1619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N26/header-labels/line/021"/>
            <p:cNvCxnSpPr/>
            <p:nvPr/>
          </p:nvCxnSpPr>
          <p:spPr>
            <a:xfrm flipV="1">
              <a:off x="4773320" y="1993868"/>
              <a:ext cx="32385" cy="48577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N26/header-labels/text/022"/>
            <p:cNvSpPr txBox="1"/>
            <p:nvPr/>
          </p:nvSpPr>
          <p:spPr>
            <a:xfrm>
              <a:off x="4878571" y="1912905"/>
              <a:ext cx="551840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FFFFFF"/>
                  </a:solidFill>
                  <a:latin typeface="Arial"/>
                </a:rPr>
                <a:t>System</a:t>
              </a:r>
            </a:p>
          </p:txBody>
        </p:sp>
        <p:sp>
          <p:nvSpPr>
            <p:cNvPr id="36" name="N26/header-labels/button-Shelf/023"/>
            <p:cNvSpPr/>
            <p:nvPr/>
          </p:nvSpPr>
          <p:spPr>
            <a:xfrm>
              <a:off x="5495182" y="1912905"/>
              <a:ext cx="782097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26/header-labels/poly/024"/>
            <p:cNvSpPr/>
            <p:nvPr/>
          </p:nvSpPr>
          <p:spPr>
            <a:xfrm>
              <a:off x="5615006" y="2010060"/>
              <a:ext cx="97155" cy="64770"/>
            </a:xfrm>
            <a:custGeom>
              <a:avLst/>
              <a:gdLst/>
              <a:ahLst/>
              <a:cxnLst/>
              <a:rect l="l" t="t" r="r" b="b"/>
              <a:pathLst>
                <a:path w="97155" h="64770">
                  <a:moveTo>
                    <a:pt x="0" y="0"/>
                  </a:moveTo>
                  <a:lnTo>
                    <a:pt x="32385" y="0"/>
                  </a:lnTo>
                  <a:lnTo>
                    <a:pt x="44529" y="16193"/>
                  </a:lnTo>
                  <a:lnTo>
                    <a:pt x="97155" y="16193"/>
                  </a:lnTo>
                  <a:lnTo>
                    <a:pt x="97155" y="64770"/>
                  </a:lnTo>
                  <a:lnTo>
                    <a:pt x="0" y="6477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26/header-labels/text/025"/>
            <p:cNvSpPr txBox="1"/>
            <p:nvPr/>
          </p:nvSpPr>
          <p:spPr>
            <a:xfrm>
              <a:off x="5776931" y="1912905"/>
              <a:ext cx="467963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Shelf</a:t>
              </a:r>
            </a:p>
          </p:txBody>
        </p:sp>
        <p:sp>
          <p:nvSpPr>
            <p:cNvPr id="39" name="N26/header-labels/button-Clips/026"/>
            <p:cNvSpPr/>
            <p:nvPr/>
          </p:nvSpPr>
          <p:spPr>
            <a:xfrm>
              <a:off x="6309664" y="1912905"/>
              <a:ext cx="782097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N26/header-labels/rect/027"/>
            <p:cNvSpPr/>
            <p:nvPr/>
          </p:nvSpPr>
          <p:spPr>
            <a:xfrm>
              <a:off x="6445681" y="1993868"/>
              <a:ext cx="64770" cy="8905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26/header-labels/rect/028"/>
            <p:cNvSpPr/>
            <p:nvPr/>
          </p:nvSpPr>
          <p:spPr>
            <a:xfrm>
              <a:off x="6461874" y="1981723"/>
              <a:ext cx="32385" cy="2024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N26/header-labels/line/029"/>
            <p:cNvCxnSpPr/>
            <p:nvPr/>
          </p:nvCxnSpPr>
          <p:spPr>
            <a:xfrm>
              <a:off x="6461874" y="202625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N26/header-labels/line/030"/>
            <p:cNvCxnSpPr/>
            <p:nvPr/>
          </p:nvCxnSpPr>
          <p:spPr>
            <a:xfrm>
              <a:off x="6461874" y="204649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N26/header-labels/text/031"/>
            <p:cNvSpPr txBox="1"/>
            <p:nvPr/>
          </p:nvSpPr>
          <p:spPr>
            <a:xfrm>
              <a:off x="6591414" y="1912905"/>
              <a:ext cx="467963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A1A1A6"/>
                  </a:solidFill>
                  <a:latin typeface="Arial"/>
                </a:rPr>
                <a:t>Clips</a:t>
              </a:r>
            </a:p>
          </p:txBody>
        </p:sp>
        <p:sp>
          <p:nvSpPr>
            <p:cNvPr id="45" name="N26/header-labels/button-gear/032"/>
            <p:cNvSpPr/>
            <p:nvPr/>
          </p:nvSpPr>
          <p:spPr>
            <a:xfrm>
              <a:off x="7708582" y="190480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N26/header-labels/ellipse/033"/>
            <p:cNvSpPr/>
            <p:nvPr/>
          </p:nvSpPr>
          <p:spPr>
            <a:xfrm>
              <a:off x="7813833" y="2010060"/>
              <a:ext cx="48577" cy="4857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N26/header-labels/line/034"/>
            <p:cNvCxnSpPr/>
            <p:nvPr/>
          </p:nvCxnSpPr>
          <p:spPr>
            <a:xfrm>
              <a:off x="7878603" y="203434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N26/header-labels/line/035"/>
            <p:cNvCxnSpPr/>
            <p:nvPr/>
          </p:nvCxnSpPr>
          <p:spPr>
            <a:xfrm>
              <a:off x="7866747" y="206297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N26/header-labels/line/036"/>
            <p:cNvCxnSpPr/>
            <p:nvPr/>
          </p:nvCxnSpPr>
          <p:spPr>
            <a:xfrm>
              <a:off x="7838122" y="2074830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N26/header-labels/line/037"/>
            <p:cNvCxnSpPr/>
            <p:nvPr/>
          </p:nvCxnSpPr>
          <p:spPr>
            <a:xfrm flipH="1">
              <a:off x="7798048" y="206297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N26/header-labels/line/038"/>
            <p:cNvCxnSpPr/>
            <p:nvPr/>
          </p:nvCxnSpPr>
          <p:spPr>
            <a:xfrm flipH="1">
              <a:off x="7781448" y="203434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N26/header-labels/line/039"/>
            <p:cNvCxnSpPr/>
            <p:nvPr/>
          </p:nvCxnSpPr>
          <p:spPr>
            <a:xfrm flipH="1" flipV="1">
              <a:off x="7798048" y="199427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N26/header-labels/line/040"/>
            <p:cNvCxnSpPr/>
            <p:nvPr/>
          </p:nvCxnSpPr>
          <p:spPr>
            <a:xfrm flipV="1">
              <a:off x="7838122" y="1977675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N26/header-labels/line/041"/>
            <p:cNvCxnSpPr/>
            <p:nvPr/>
          </p:nvCxnSpPr>
          <p:spPr>
            <a:xfrm flipV="1">
              <a:off x="7866747" y="199427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N26/header-labels/button-close/042"/>
            <p:cNvSpPr/>
            <p:nvPr/>
          </p:nvSpPr>
          <p:spPr>
            <a:xfrm>
              <a:off x="8016240" y="190480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6" name="N26/header-labels/line/043"/>
            <p:cNvCxnSpPr/>
            <p:nvPr/>
          </p:nvCxnSpPr>
          <p:spPr>
            <a:xfrm>
              <a:off x="8113395" y="200196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N26/header-labels/line/044"/>
            <p:cNvCxnSpPr/>
            <p:nvPr/>
          </p:nvCxnSpPr>
          <p:spPr>
            <a:xfrm flipH="1">
              <a:off x="8113395" y="200196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N26/text/012"/>
          <p:cNvSpPr txBox="1"/>
          <p:nvPr/>
        </p:nvSpPr>
        <p:spPr>
          <a:xfrm>
            <a:off x="2011680" y="2423160"/>
            <a:ext cx="64008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All six labels visible</a:t>
            </a:r>
          </a:p>
        </p:txBody>
      </p:sp>
      <p:sp>
        <p:nvSpPr>
          <p:cNvPr id="59" name="N26/text/013"/>
          <p:cNvSpPr txBox="1"/>
          <p:nvPr/>
        </p:nvSpPr>
        <p:spPr>
          <a:xfrm>
            <a:off x="502920" y="3108960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active</a:t>
            </a:r>
          </a:p>
        </p:txBody>
      </p:sp>
      <p:sp>
        <p:nvSpPr>
          <p:cNvPr id="60" name="N26/text/014"/>
          <p:cNvSpPr txBox="1"/>
          <p:nvPr/>
        </p:nvSpPr>
        <p:spPr>
          <a:xfrm>
            <a:off x="502920" y="3383279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Consolas"/>
              </a:rPr>
              <a:t>420–759 px</a:t>
            </a:r>
          </a:p>
        </p:txBody>
      </p:sp>
      <p:grpSp>
        <p:nvGrpSpPr>
          <p:cNvPr id="61" name="N26/header-active"/>
          <p:cNvGrpSpPr/>
          <p:nvPr/>
        </p:nvGrpSpPr>
        <p:grpSpPr>
          <a:xfrm>
            <a:off x="2011680" y="3108960"/>
            <a:ext cx="4754880" cy="566928"/>
            <a:chOff x="2011680" y="3108960"/>
            <a:chExt cx="4754880" cy="566928"/>
          </a:xfrm>
        </p:grpSpPr>
        <p:sp>
          <p:nvSpPr>
            <p:cNvPr id="62" name="N26/header-active/rect/001"/>
            <p:cNvSpPr/>
            <p:nvPr/>
          </p:nvSpPr>
          <p:spPr>
            <a:xfrm>
              <a:off x="2011680" y="3108960"/>
              <a:ext cx="4754880" cy="566928"/>
            </a:xfrm>
            <a:prstGeom prst="roundRect">
              <a:avLst>
                <a:gd name="adj" fmla="val 16129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26/header-active/button-home/002"/>
            <p:cNvSpPr/>
            <p:nvPr/>
          </p:nvSpPr>
          <p:spPr>
            <a:xfrm>
              <a:off x="2148840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N26/header-active/poly/003"/>
            <p:cNvSpPr/>
            <p:nvPr/>
          </p:nvSpPr>
          <p:spPr>
            <a:xfrm>
              <a:off x="2229802" y="3311652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48578" y="0"/>
                  </a:moveTo>
                  <a:lnTo>
                    <a:pt x="0" y="40481"/>
                  </a:lnTo>
                  <a:lnTo>
                    <a:pt x="16193" y="40481"/>
                  </a:lnTo>
                  <a:lnTo>
                    <a:pt x="16193" y="97155"/>
                  </a:lnTo>
                  <a:lnTo>
                    <a:pt x="40481" y="97155"/>
                  </a:lnTo>
                  <a:lnTo>
                    <a:pt x="40481" y="64770"/>
                  </a:lnTo>
                  <a:lnTo>
                    <a:pt x="56674" y="64770"/>
                  </a:lnTo>
                  <a:lnTo>
                    <a:pt x="56674" y="97155"/>
                  </a:lnTo>
                  <a:lnTo>
                    <a:pt x="80963" y="97155"/>
                  </a:lnTo>
                  <a:lnTo>
                    <a:pt x="80963" y="40481"/>
                  </a:lnTo>
                  <a:lnTo>
                    <a:pt x="97155" y="40481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26/header-active/button-music/004"/>
            <p:cNvSpPr/>
            <p:nvPr/>
          </p:nvSpPr>
          <p:spPr>
            <a:xfrm>
              <a:off x="2440305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6" name="N26/header-active/line/005"/>
            <p:cNvCxnSpPr/>
            <p:nvPr/>
          </p:nvCxnSpPr>
          <p:spPr>
            <a:xfrm flipV="1">
              <a:off x="2553652" y="3327844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N26/header-active/line/006"/>
            <p:cNvCxnSpPr/>
            <p:nvPr/>
          </p:nvCxnSpPr>
          <p:spPr>
            <a:xfrm flipV="1">
              <a:off x="2553652" y="3319748"/>
              <a:ext cx="56674" cy="809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N26/header-active/line/007"/>
            <p:cNvCxnSpPr/>
            <p:nvPr/>
          </p:nvCxnSpPr>
          <p:spPr>
            <a:xfrm>
              <a:off x="2610326" y="3319748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N26/header-active/ellipse/008"/>
            <p:cNvSpPr/>
            <p:nvPr/>
          </p:nvSpPr>
          <p:spPr>
            <a:xfrm>
              <a:off x="2529363" y="3380470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N26/header-active/ellipse/009"/>
            <p:cNvSpPr/>
            <p:nvPr/>
          </p:nvSpPr>
          <p:spPr>
            <a:xfrm>
              <a:off x="2586037" y="3372373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N26/header-active/button-bell/010"/>
            <p:cNvSpPr/>
            <p:nvPr/>
          </p:nvSpPr>
          <p:spPr>
            <a:xfrm>
              <a:off x="2731770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N26/header-active/poly/011"/>
            <p:cNvSpPr/>
            <p:nvPr/>
          </p:nvSpPr>
          <p:spPr>
            <a:xfrm>
              <a:off x="2820828" y="3311652"/>
              <a:ext cx="80963" cy="72866"/>
            </a:xfrm>
            <a:custGeom>
              <a:avLst/>
              <a:gdLst/>
              <a:ahLst/>
              <a:cxnLst/>
              <a:rect l="l" t="t" r="r" b="b"/>
              <a:pathLst>
                <a:path w="80963" h="72866">
                  <a:moveTo>
                    <a:pt x="40482" y="0"/>
                  </a:moveTo>
                  <a:lnTo>
                    <a:pt x="16193" y="16192"/>
                  </a:lnTo>
                  <a:lnTo>
                    <a:pt x="8097" y="48577"/>
                  </a:lnTo>
                  <a:lnTo>
                    <a:pt x="0" y="72866"/>
                  </a:lnTo>
                  <a:lnTo>
                    <a:pt x="80963" y="72866"/>
                  </a:lnTo>
                  <a:lnTo>
                    <a:pt x="72867" y="48577"/>
                  </a:lnTo>
                  <a:lnTo>
                    <a:pt x="64770" y="1619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3" name="N26/header-active/line/012"/>
            <p:cNvCxnSpPr/>
            <p:nvPr/>
          </p:nvCxnSpPr>
          <p:spPr>
            <a:xfrm>
              <a:off x="2845117" y="3400710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N26/header-active/ellipse/013"/>
            <p:cNvSpPr/>
            <p:nvPr/>
          </p:nvSpPr>
          <p:spPr>
            <a:xfrm>
              <a:off x="2853213" y="3303555"/>
              <a:ext cx="16192" cy="1619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N26/header-active/button-System/014"/>
            <p:cNvSpPr/>
            <p:nvPr/>
          </p:nvSpPr>
          <p:spPr>
            <a:xfrm>
              <a:off x="3023235" y="3238785"/>
              <a:ext cx="870508" cy="24288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76" name="N26/header-active/line/015"/>
            <p:cNvCxnSpPr/>
            <p:nvPr/>
          </p:nvCxnSpPr>
          <p:spPr>
            <a:xfrm>
              <a:off x="3147593" y="3408807"/>
              <a:ext cx="9715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N26/header-active/line/016"/>
            <p:cNvCxnSpPr/>
            <p:nvPr/>
          </p:nvCxnSpPr>
          <p:spPr>
            <a:xfrm flipV="1">
              <a:off x="3155689" y="3352133"/>
              <a:ext cx="24289" cy="3238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N26/header-active/line/017"/>
            <p:cNvCxnSpPr/>
            <p:nvPr/>
          </p:nvCxnSpPr>
          <p:spPr>
            <a:xfrm>
              <a:off x="3179978" y="3352133"/>
              <a:ext cx="24289" cy="1619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N26/header-active/line/018"/>
            <p:cNvCxnSpPr/>
            <p:nvPr/>
          </p:nvCxnSpPr>
          <p:spPr>
            <a:xfrm flipV="1">
              <a:off x="3204267" y="3319748"/>
              <a:ext cx="32385" cy="48577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N26/header-active/text/019"/>
            <p:cNvSpPr txBox="1"/>
            <p:nvPr/>
          </p:nvSpPr>
          <p:spPr>
            <a:xfrm>
              <a:off x="3309518" y="3238785"/>
              <a:ext cx="551840" cy="24288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92" b="1" i="0">
                  <a:solidFill>
                    <a:srgbClr val="FFFFFF"/>
                  </a:solidFill>
                  <a:latin typeface="Arial"/>
                </a:rPr>
                <a:t>System</a:t>
              </a:r>
            </a:p>
          </p:txBody>
        </p:sp>
        <p:sp>
          <p:nvSpPr>
            <p:cNvPr id="81" name="N26/header-active/button-folder/020"/>
            <p:cNvSpPr/>
            <p:nvPr/>
          </p:nvSpPr>
          <p:spPr>
            <a:xfrm>
              <a:off x="3926128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N26/header-active/poly/021"/>
            <p:cNvSpPr/>
            <p:nvPr/>
          </p:nvSpPr>
          <p:spPr>
            <a:xfrm>
              <a:off x="4007091" y="3335940"/>
              <a:ext cx="97155" cy="64770"/>
            </a:xfrm>
            <a:custGeom>
              <a:avLst/>
              <a:gdLst/>
              <a:ahLst/>
              <a:cxnLst/>
              <a:rect l="l" t="t" r="r" b="b"/>
              <a:pathLst>
                <a:path w="97155" h="64770">
                  <a:moveTo>
                    <a:pt x="0" y="0"/>
                  </a:moveTo>
                  <a:lnTo>
                    <a:pt x="32385" y="0"/>
                  </a:lnTo>
                  <a:lnTo>
                    <a:pt x="44529" y="16193"/>
                  </a:lnTo>
                  <a:lnTo>
                    <a:pt x="97155" y="16193"/>
                  </a:lnTo>
                  <a:lnTo>
                    <a:pt x="97155" y="64770"/>
                  </a:lnTo>
                  <a:lnTo>
                    <a:pt x="0" y="6477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N26/header-active/button-clipboard/022"/>
            <p:cNvSpPr/>
            <p:nvPr/>
          </p:nvSpPr>
          <p:spPr>
            <a:xfrm>
              <a:off x="4217593" y="323878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N26/header-active/rect/023"/>
            <p:cNvSpPr/>
            <p:nvPr/>
          </p:nvSpPr>
          <p:spPr>
            <a:xfrm>
              <a:off x="4314748" y="3319748"/>
              <a:ext cx="64770" cy="8905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N26/header-active/rect/024"/>
            <p:cNvSpPr/>
            <p:nvPr/>
          </p:nvSpPr>
          <p:spPr>
            <a:xfrm>
              <a:off x="4330941" y="3307603"/>
              <a:ext cx="32385" cy="2024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6" name="N26/header-active/line/025"/>
            <p:cNvCxnSpPr/>
            <p:nvPr/>
          </p:nvCxnSpPr>
          <p:spPr>
            <a:xfrm>
              <a:off x="4330941" y="335213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N26/header-active/line/026"/>
            <p:cNvCxnSpPr/>
            <p:nvPr/>
          </p:nvCxnSpPr>
          <p:spPr>
            <a:xfrm>
              <a:off x="4330941" y="337237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N26/header-active/button-gear/027"/>
            <p:cNvSpPr/>
            <p:nvPr/>
          </p:nvSpPr>
          <p:spPr>
            <a:xfrm>
              <a:off x="6062662" y="323068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N26/header-active/ellipse/028"/>
            <p:cNvSpPr/>
            <p:nvPr/>
          </p:nvSpPr>
          <p:spPr>
            <a:xfrm>
              <a:off x="6167913" y="3335940"/>
              <a:ext cx="48577" cy="4857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0" name="N26/header-active/line/029"/>
            <p:cNvCxnSpPr/>
            <p:nvPr/>
          </p:nvCxnSpPr>
          <p:spPr>
            <a:xfrm>
              <a:off x="6232683" y="336022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N26/header-active/line/030"/>
            <p:cNvCxnSpPr/>
            <p:nvPr/>
          </p:nvCxnSpPr>
          <p:spPr>
            <a:xfrm>
              <a:off x="6220827" y="338885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N26/header-active/line/031"/>
            <p:cNvCxnSpPr/>
            <p:nvPr/>
          </p:nvCxnSpPr>
          <p:spPr>
            <a:xfrm>
              <a:off x="6192202" y="3400710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N26/header-active/line/032"/>
            <p:cNvCxnSpPr/>
            <p:nvPr/>
          </p:nvCxnSpPr>
          <p:spPr>
            <a:xfrm flipH="1">
              <a:off x="6152128" y="338885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N26/header-active/line/033"/>
            <p:cNvCxnSpPr/>
            <p:nvPr/>
          </p:nvCxnSpPr>
          <p:spPr>
            <a:xfrm flipH="1">
              <a:off x="6135528" y="336022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N26/header-active/line/034"/>
            <p:cNvCxnSpPr/>
            <p:nvPr/>
          </p:nvCxnSpPr>
          <p:spPr>
            <a:xfrm flipH="1" flipV="1">
              <a:off x="6152128" y="332015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N26/header-active/line/035"/>
            <p:cNvCxnSpPr/>
            <p:nvPr/>
          </p:nvCxnSpPr>
          <p:spPr>
            <a:xfrm flipV="1">
              <a:off x="6192202" y="3303555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N26/header-active/line/036"/>
            <p:cNvCxnSpPr/>
            <p:nvPr/>
          </p:nvCxnSpPr>
          <p:spPr>
            <a:xfrm flipV="1">
              <a:off x="6220827" y="332015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N26/header-active/button-close/037"/>
            <p:cNvSpPr/>
            <p:nvPr/>
          </p:nvSpPr>
          <p:spPr>
            <a:xfrm>
              <a:off x="6370320" y="323068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9" name="N26/header-active/line/038"/>
            <p:cNvCxnSpPr/>
            <p:nvPr/>
          </p:nvCxnSpPr>
          <p:spPr>
            <a:xfrm>
              <a:off x="6467475" y="332784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N26/header-active/line/039"/>
            <p:cNvCxnSpPr/>
            <p:nvPr/>
          </p:nvCxnSpPr>
          <p:spPr>
            <a:xfrm flipH="1">
              <a:off x="6467475" y="332784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N26/text/015"/>
          <p:cNvSpPr txBox="1"/>
          <p:nvPr/>
        </p:nvSpPr>
        <p:spPr>
          <a:xfrm>
            <a:off x="2011680" y="3749039"/>
            <a:ext cx="4754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Only active tab keeps its label</a:t>
            </a:r>
          </a:p>
        </p:txBody>
      </p:sp>
      <p:sp>
        <p:nvSpPr>
          <p:cNvPr id="102" name="N26/text/016"/>
          <p:cNvSpPr txBox="1"/>
          <p:nvPr/>
        </p:nvSpPr>
        <p:spPr>
          <a:xfrm>
            <a:off x="502920" y="4434840"/>
            <a:ext cx="13716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0D158"/>
                </a:solidFill>
                <a:latin typeface="Arial"/>
              </a:rPr>
              <a:t>icons</a:t>
            </a:r>
          </a:p>
        </p:txBody>
      </p:sp>
      <p:sp>
        <p:nvSpPr>
          <p:cNvPr id="103" name="N26/text/017"/>
          <p:cNvSpPr txBox="1"/>
          <p:nvPr/>
        </p:nvSpPr>
        <p:spPr>
          <a:xfrm>
            <a:off x="502920" y="4709159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Consolas"/>
              </a:rPr>
              <a:t>&lt;420 px</a:t>
            </a:r>
          </a:p>
        </p:txBody>
      </p:sp>
      <p:grpSp>
        <p:nvGrpSpPr>
          <p:cNvPr id="104" name="N26/header-icons"/>
          <p:cNvGrpSpPr/>
          <p:nvPr/>
        </p:nvGrpSpPr>
        <p:grpSpPr>
          <a:xfrm>
            <a:off x="2011680" y="4434840"/>
            <a:ext cx="3108960" cy="566928"/>
            <a:chOff x="2011680" y="4434840"/>
            <a:chExt cx="3108960" cy="566928"/>
          </a:xfrm>
        </p:grpSpPr>
        <p:sp>
          <p:nvSpPr>
            <p:cNvPr id="105" name="N26/header-icons/rect/001"/>
            <p:cNvSpPr/>
            <p:nvPr/>
          </p:nvSpPr>
          <p:spPr>
            <a:xfrm>
              <a:off x="2011680" y="4434840"/>
              <a:ext cx="3108960" cy="566928"/>
            </a:xfrm>
            <a:prstGeom prst="roundRect">
              <a:avLst>
                <a:gd name="adj" fmla="val 16129"/>
              </a:avLst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N26/header-icons/button-home/002"/>
            <p:cNvSpPr/>
            <p:nvPr/>
          </p:nvSpPr>
          <p:spPr>
            <a:xfrm>
              <a:off x="2148840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N26/header-icons/poly/003"/>
            <p:cNvSpPr/>
            <p:nvPr/>
          </p:nvSpPr>
          <p:spPr>
            <a:xfrm>
              <a:off x="2229802" y="4637531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48578" y="0"/>
                  </a:moveTo>
                  <a:lnTo>
                    <a:pt x="0" y="40482"/>
                  </a:lnTo>
                  <a:lnTo>
                    <a:pt x="16193" y="40482"/>
                  </a:lnTo>
                  <a:lnTo>
                    <a:pt x="16193" y="97155"/>
                  </a:lnTo>
                  <a:lnTo>
                    <a:pt x="40481" y="97155"/>
                  </a:lnTo>
                  <a:lnTo>
                    <a:pt x="40481" y="64770"/>
                  </a:lnTo>
                  <a:lnTo>
                    <a:pt x="56674" y="64770"/>
                  </a:lnTo>
                  <a:lnTo>
                    <a:pt x="56674" y="97155"/>
                  </a:lnTo>
                  <a:lnTo>
                    <a:pt x="80963" y="97155"/>
                  </a:lnTo>
                  <a:lnTo>
                    <a:pt x="80963" y="40482"/>
                  </a:lnTo>
                  <a:lnTo>
                    <a:pt x="97155" y="40482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N26/header-icons/button-music/004"/>
            <p:cNvSpPr/>
            <p:nvPr/>
          </p:nvSpPr>
          <p:spPr>
            <a:xfrm>
              <a:off x="2440305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9" name="N26/header-icons/line/005"/>
            <p:cNvCxnSpPr/>
            <p:nvPr/>
          </p:nvCxnSpPr>
          <p:spPr>
            <a:xfrm flipV="1">
              <a:off x="2553652" y="4653724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N26/header-icons/line/006"/>
            <p:cNvCxnSpPr/>
            <p:nvPr/>
          </p:nvCxnSpPr>
          <p:spPr>
            <a:xfrm flipV="1">
              <a:off x="2553652" y="4645628"/>
              <a:ext cx="56674" cy="8096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N26/header-icons/line/007"/>
            <p:cNvCxnSpPr/>
            <p:nvPr/>
          </p:nvCxnSpPr>
          <p:spPr>
            <a:xfrm>
              <a:off x="2610326" y="4645628"/>
              <a:ext cx="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N26/header-icons/ellipse/008"/>
            <p:cNvSpPr/>
            <p:nvPr/>
          </p:nvSpPr>
          <p:spPr>
            <a:xfrm>
              <a:off x="2529363" y="4706350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N26/header-icons/ellipse/009"/>
            <p:cNvSpPr/>
            <p:nvPr/>
          </p:nvSpPr>
          <p:spPr>
            <a:xfrm>
              <a:off x="2586037" y="4698253"/>
              <a:ext cx="28336" cy="24288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N26/header-icons/button-bell/010"/>
            <p:cNvSpPr/>
            <p:nvPr/>
          </p:nvSpPr>
          <p:spPr>
            <a:xfrm>
              <a:off x="2731770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N26/header-icons/poly/011"/>
            <p:cNvSpPr/>
            <p:nvPr/>
          </p:nvSpPr>
          <p:spPr>
            <a:xfrm>
              <a:off x="2820828" y="4637531"/>
              <a:ext cx="80963" cy="72867"/>
            </a:xfrm>
            <a:custGeom>
              <a:avLst/>
              <a:gdLst/>
              <a:ahLst/>
              <a:cxnLst/>
              <a:rect l="l" t="t" r="r" b="b"/>
              <a:pathLst>
                <a:path w="80963" h="72867">
                  <a:moveTo>
                    <a:pt x="40482" y="0"/>
                  </a:moveTo>
                  <a:lnTo>
                    <a:pt x="16193" y="16193"/>
                  </a:lnTo>
                  <a:lnTo>
                    <a:pt x="8097" y="48578"/>
                  </a:lnTo>
                  <a:lnTo>
                    <a:pt x="0" y="72867"/>
                  </a:lnTo>
                  <a:lnTo>
                    <a:pt x="80963" y="72867"/>
                  </a:lnTo>
                  <a:lnTo>
                    <a:pt x="72867" y="48578"/>
                  </a:lnTo>
                  <a:lnTo>
                    <a:pt x="64770" y="16193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6" name="N26/header-icons/line/012"/>
            <p:cNvCxnSpPr/>
            <p:nvPr/>
          </p:nvCxnSpPr>
          <p:spPr>
            <a:xfrm>
              <a:off x="2845117" y="4726590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N26/header-icons/ellipse/013"/>
            <p:cNvSpPr/>
            <p:nvPr/>
          </p:nvSpPr>
          <p:spPr>
            <a:xfrm>
              <a:off x="2853213" y="4629435"/>
              <a:ext cx="16192" cy="16192"/>
            </a:xfrm>
            <a:prstGeom prst="ellipse">
              <a:avLst/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N26/header-icons/button-chart/014"/>
            <p:cNvSpPr/>
            <p:nvPr/>
          </p:nvSpPr>
          <p:spPr>
            <a:xfrm>
              <a:off x="3023235" y="4564665"/>
              <a:ext cx="259080" cy="242887"/>
            </a:xfrm>
            <a:prstGeom prst="roundRect">
              <a:avLst>
                <a:gd name="adj" fmla="val 33333"/>
              </a:avLst>
            </a:prstGeom>
            <a:solidFill>
              <a:srgbClr val="29292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9" name="N26/header-icons/line/015"/>
            <p:cNvCxnSpPr/>
            <p:nvPr/>
          </p:nvCxnSpPr>
          <p:spPr>
            <a:xfrm>
              <a:off x="3104197" y="4734686"/>
              <a:ext cx="97155" cy="0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N26/header-icons/line/016"/>
            <p:cNvCxnSpPr/>
            <p:nvPr/>
          </p:nvCxnSpPr>
          <p:spPr>
            <a:xfrm flipV="1">
              <a:off x="3112293" y="4678013"/>
              <a:ext cx="24289" cy="32385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N26/header-icons/line/017"/>
            <p:cNvCxnSpPr/>
            <p:nvPr/>
          </p:nvCxnSpPr>
          <p:spPr>
            <a:xfrm>
              <a:off x="3136582" y="4678013"/>
              <a:ext cx="24289" cy="16192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N26/header-icons/line/018"/>
            <p:cNvCxnSpPr/>
            <p:nvPr/>
          </p:nvCxnSpPr>
          <p:spPr>
            <a:xfrm flipV="1">
              <a:off x="3160871" y="4645628"/>
              <a:ext cx="32385" cy="48577"/>
            </a:xfrm>
            <a:prstGeom prst="line">
              <a:avLst/>
            </a:prstGeom>
            <a:ln w="1016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N26/header-icons/button-folder/019"/>
            <p:cNvSpPr/>
            <p:nvPr/>
          </p:nvSpPr>
          <p:spPr>
            <a:xfrm>
              <a:off x="3314700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N26/header-icons/poly/020"/>
            <p:cNvSpPr/>
            <p:nvPr/>
          </p:nvSpPr>
          <p:spPr>
            <a:xfrm>
              <a:off x="3395662" y="4661820"/>
              <a:ext cx="97155" cy="64770"/>
            </a:xfrm>
            <a:custGeom>
              <a:avLst/>
              <a:gdLst/>
              <a:ahLst/>
              <a:cxnLst/>
              <a:rect l="l" t="t" r="r" b="b"/>
              <a:pathLst>
                <a:path w="97155" h="64770">
                  <a:moveTo>
                    <a:pt x="0" y="0"/>
                  </a:moveTo>
                  <a:lnTo>
                    <a:pt x="32385" y="0"/>
                  </a:lnTo>
                  <a:lnTo>
                    <a:pt x="44529" y="16193"/>
                  </a:lnTo>
                  <a:lnTo>
                    <a:pt x="97155" y="16193"/>
                  </a:lnTo>
                  <a:lnTo>
                    <a:pt x="97155" y="64770"/>
                  </a:lnTo>
                  <a:lnTo>
                    <a:pt x="0" y="64770"/>
                  </a:lnTo>
                  <a:close/>
                </a:path>
              </a:pathLst>
            </a:custGeom>
            <a:noFill/>
            <a:ln w="1270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N26/header-icons/button-clipboard/021"/>
            <p:cNvSpPr/>
            <p:nvPr/>
          </p:nvSpPr>
          <p:spPr>
            <a:xfrm>
              <a:off x="3606165" y="4564665"/>
              <a:ext cx="259080" cy="242887"/>
            </a:xfrm>
            <a:prstGeom prst="roundRect">
              <a:avLst>
                <a:gd name="adj" fmla="val 33333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N26/header-icons/rect/022"/>
            <p:cNvSpPr/>
            <p:nvPr/>
          </p:nvSpPr>
          <p:spPr>
            <a:xfrm>
              <a:off x="3703320" y="4645628"/>
              <a:ext cx="64770" cy="89058"/>
            </a:xfrm>
            <a:prstGeom prst="roundRect">
              <a:avLst>
                <a:gd name="adj" fmla="val 12500"/>
              </a:avLst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N26/header-icons/rect/023"/>
            <p:cNvSpPr/>
            <p:nvPr/>
          </p:nvSpPr>
          <p:spPr>
            <a:xfrm>
              <a:off x="3719512" y="4633483"/>
              <a:ext cx="32385" cy="20240"/>
            </a:xfrm>
            <a:prstGeom prst="roundRect">
              <a:avLst>
                <a:gd name="adj" fmla="val 24000"/>
              </a:avLst>
            </a:prstGeom>
            <a:solidFill>
              <a:srgbClr val="A1A1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8" name="N26/header-icons/line/024"/>
            <p:cNvCxnSpPr/>
            <p:nvPr/>
          </p:nvCxnSpPr>
          <p:spPr>
            <a:xfrm>
              <a:off x="3719512" y="467801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N26/header-icons/line/025"/>
            <p:cNvCxnSpPr/>
            <p:nvPr/>
          </p:nvCxnSpPr>
          <p:spPr>
            <a:xfrm>
              <a:off x="3719512" y="4698253"/>
              <a:ext cx="32385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N26/header-icons/button-gear/026"/>
            <p:cNvSpPr/>
            <p:nvPr/>
          </p:nvSpPr>
          <p:spPr>
            <a:xfrm>
              <a:off x="4416742" y="455656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N26/header-icons/ellipse/027"/>
            <p:cNvSpPr/>
            <p:nvPr/>
          </p:nvSpPr>
          <p:spPr>
            <a:xfrm>
              <a:off x="4521993" y="4661820"/>
              <a:ext cx="48577" cy="48577"/>
            </a:xfrm>
            <a:prstGeom prst="ellipse">
              <a:avLst/>
            </a:prstGeom>
            <a:noFill/>
            <a:ln w="10160">
              <a:solidFill>
                <a:srgbClr val="A1A1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2" name="N26/header-icons/line/028"/>
            <p:cNvCxnSpPr/>
            <p:nvPr/>
          </p:nvCxnSpPr>
          <p:spPr>
            <a:xfrm>
              <a:off x="4586763" y="468610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N26/header-icons/line/029"/>
            <p:cNvCxnSpPr/>
            <p:nvPr/>
          </p:nvCxnSpPr>
          <p:spPr>
            <a:xfrm>
              <a:off x="4574907" y="471473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N26/header-icons/line/030"/>
            <p:cNvCxnSpPr/>
            <p:nvPr/>
          </p:nvCxnSpPr>
          <p:spPr>
            <a:xfrm>
              <a:off x="4546282" y="4726590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N26/header-icons/line/031"/>
            <p:cNvCxnSpPr/>
            <p:nvPr/>
          </p:nvCxnSpPr>
          <p:spPr>
            <a:xfrm flipH="1">
              <a:off x="4506208" y="4714734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N26/header-icons/line/032"/>
            <p:cNvCxnSpPr/>
            <p:nvPr/>
          </p:nvCxnSpPr>
          <p:spPr>
            <a:xfrm flipH="1">
              <a:off x="4489608" y="4686109"/>
              <a:ext cx="16193" cy="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N26/header-icons/line/033"/>
            <p:cNvCxnSpPr/>
            <p:nvPr/>
          </p:nvCxnSpPr>
          <p:spPr>
            <a:xfrm flipH="1" flipV="1">
              <a:off x="4506208" y="464603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N26/header-icons/line/034"/>
            <p:cNvCxnSpPr/>
            <p:nvPr/>
          </p:nvCxnSpPr>
          <p:spPr>
            <a:xfrm flipV="1">
              <a:off x="4546282" y="4629435"/>
              <a:ext cx="0" cy="16193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N26/header-icons/line/035"/>
            <p:cNvCxnSpPr/>
            <p:nvPr/>
          </p:nvCxnSpPr>
          <p:spPr>
            <a:xfrm flipV="1">
              <a:off x="4574907" y="4646035"/>
              <a:ext cx="11449" cy="11449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N26/header-icons/button-close/036"/>
            <p:cNvSpPr/>
            <p:nvPr/>
          </p:nvSpPr>
          <p:spPr>
            <a:xfrm>
              <a:off x="4724400" y="4556569"/>
              <a:ext cx="259080" cy="259080"/>
            </a:xfrm>
            <a:prstGeom prst="roundRect">
              <a:avLst>
                <a:gd name="adj" fmla="val 31250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1" name="N26/header-icons/line/037"/>
            <p:cNvCxnSpPr/>
            <p:nvPr/>
          </p:nvCxnSpPr>
          <p:spPr>
            <a:xfrm>
              <a:off x="4821555" y="465372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N26/header-icons/line/038"/>
            <p:cNvCxnSpPr/>
            <p:nvPr/>
          </p:nvCxnSpPr>
          <p:spPr>
            <a:xfrm flipH="1">
              <a:off x="4821555" y="4653724"/>
              <a:ext cx="64770" cy="64770"/>
            </a:xfrm>
            <a:prstGeom prst="line">
              <a:avLst/>
            </a:prstGeom>
            <a:ln w="10160">
              <a:solidFill>
                <a:srgbClr val="A1A1A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N26/text/018"/>
          <p:cNvSpPr txBox="1"/>
          <p:nvPr/>
        </p:nvSpPr>
        <p:spPr>
          <a:xfrm>
            <a:off x="2011680" y="507492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All tabs icon-only; no ellipsis</a:t>
            </a:r>
          </a:p>
        </p:txBody>
      </p:sp>
      <p:sp>
        <p:nvSpPr>
          <p:cNvPr id="144" name="N26/spec-panel/019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N26/text/020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146" name="N26/ellipse/021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N26/text/022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Tab text never ellipsizes</a:t>
            </a:r>
          </a:p>
        </p:txBody>
      </p:sp>
      <p:sp>
        <p:nvSpPr>
          <p:cNvPr id="148" name="N26/ellipse/023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N26/text/024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Settings + close always visible</a:t>
            </a:r>
          </a:p>
        </p:txBody>
      </p:sp>
      <p:sp>
        <p:nvSpPr>
          <p:cNvPr id="150" name="N26/ellipse/025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N26/text/026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Active tab fill rgba(255,255,255,.16)</a:t>
            </a:r>
          </a:p>
        </p:txBody>
      </p:sp>
      <p:sp>
        <p:nvSpPr>
          <p:cNvPr id="152" name="N26/ellipse/027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N26/text/028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Horizontal tab scroll is disabled</a:t>
            </a:r>
          </a:p>
        </p:txBody>
      </p:sp>
      <p:cxnSp>
        <p:nvCxnSpPr>
          <p:cNvPr id="154" name="N26/line/029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N26/text/030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156" name="N26/edit-box/031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N26/edit-note/032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Breakpoints / active label / icon padding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ADAPTIVE LAYOUT</a:t>
            </a:r>
          </a:p>
        </p:txBody>
      </p:sp>
      <p:sp>
        <p:nvSpPr>
          <p:cNvPr id="5" name="N2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Page reflow rules</a:t>
            </a:r>
          </a:p>
        </p:txBody>
      </p:sp>
      <p:sp>
        <p:nvSpPr>
          <p:cNvPr id="6" name="N2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Compact &lt;420 px · narrow &lt;340 px effective content width</a:t>
            </a:r>
          </a:p>
        </p:txBody>
      </p:sp>
      <p:cxnSp>
        <p:nvCxnSpPr>
          <p:cNvPr id="7" name="N2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N27</a:t>
            </a:r>
          </a:p>
        </p:txBody>
      </p:sp>
      <p:sp>
        <p:nvSpPr>
          <p:cNvPr id="10" name="N2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27</a:t>
            </a:r>
          </a:p>
        </p:txBody>
      </p:sp>
      <p:sp>
        <p:nvSpPr>
          <p:cNvPr id="11" name="N27/rect/010"/>
          <p:cNvSpPr/>
          <p:nvPr/>
        </p:nvSpPr>
        <p:spPr>
          <a:xfrm>
            <a:off x="502920" y="173736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27/text/011"/>
          <p:cNvSpPr txBox="1"/>
          <p:nvPr/>
        </p:nvSpPr>
        <p:spPr>
          <a:xfrm>
            <a:off x="685800" y="173736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Home</a:t>
            </a:r>
          </a:p>
        </p:txBody>
      </p:sp>
      <p:sp>
        <p:nvSpPr>
          <p:cNvPr id="13" name="N27/text/012"/>
          <p:cNvSpPr txBox="1"/>
          <p:nvPr/>
        </p:nvSpPr>
        <p:spPr>
          <a:xfrm>
            <a:off x="1874519" y="173736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stacks clock above centered actions; narrow hides Full player; art 56 px.</a:t>
            </a:r>
          </a:p>
        </p:txBody>
      </p:sp>
      <p:sp>
        <p:nvSpPr>
          <p:cNvPr id="14" name="N27/rect/013"/>
          <p:cNvSpPr/>
          <p:nvPr/>
        </p:nvSpPr>
        <p:spPr>
          <a:xfrm>
            <a:off x="502920" y="2377439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27/text/014"/>
          <p:cNvSpPr txBox="1"/>
          <p:nvPr/>
        </p:nvSpPr>
        <p:spPr>
          <a:xfrm>
            <a:off x="685800" y="2377439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Music</a:t>
            </a:r>
          </a:p>
        </p:txBody>
      </p:sp>
      <p:sp>
        <p:nvSpPr>
          <p:cNvPr id="16" name="N27/text/015"/>
          <p:cNvSpPr txBox="1"/>
          <p:nvPr/>
        </p:nvSpPr>
        <p:spPr>
          <a:xfrm>
            <a:off x="1874519" y="2377439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Narrow stacks art above metadata; volume rows stack; art 56 px in compact.</a:t>
            </a:r>
          </a:p>
        </p:txBody>
      </p:sp>
      <p:sp>
        <p:nvSpPr>
          <p:cNvPr id="17" name="N27/rect/016"/>
          <p:cNvSpPr/>
          <p:nvPr/>
        </p:nvSpPr>
        <p:spPr>
          <a:xfrm>
            <a:off x="502920" y="301752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27/text/017"/>
          <p:cNvSpPr txBox="1"/>
          <p:nvPr/>
        </p:nvSpPr>
        <p:spPr>
          <a:xfrm>
            <a:off x="685800" y="301752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Alerts</a:t>
            </a:r>
          </a:p>
        </p:txBody>
      </p:sp>
      <p:sp>
        <p:nvSpPr>
          <p:cNvPr id="19" name="N27/text/018"/>
          <p:cNvSpPr txBox="1"/>
          <p:nvPr/>
        </p:nvSpPr>
        <p:spPr>
          <a:xfrm>
            <a:off x="1874519" y="301752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Clear all becomes icon-only; notification actions stack vertically.</a:t>
            </a:r>
          </a:p>
        </p:txBody>
      </p:sp>
      <p:sp>
        <p:nvSpPr>
          <p:cNvPr id="20" name="N27/rect/019"/>
          <p:cNvSpPr/>
          <p:nvPr/>
        </p:nvSpPr>
        <p:spPr>
          <a:xfrm>
            <a:off x="502920" y="365760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27/text/020"/>
          <p:cNvSpPr txBox="1"/>
          <p:nvPr/>
        </p:nvSpPr>
        <p:spPr>
          <a:xfrm>
            <a:off x="685800" y="365760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System</a:t>
            </a:r>
          </a:p>
        </p:txBody>
      </p:sp>
      <p:sp>
        <p:nvSpPr>
          <p:cNvPr id="22" name="N27/text/021"/>
          <p:cNvSpPr txBox="1"/>
          <p:nvPr/>
        </p:nvSpPr>
        <p:spPr>
          <a:xfrm>
            <a:off x="1874519" y="365760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Stats: 4 columns ≥560, 2 columns ≥320, 1 column below; actions stack in compact.</a:t>
            </a:r>
          </a:p>
        </p:txBody>
      </p:sp>
      <p:sp>
        <p:nvSpPr>
          <p:cNvPr id="23" name="N27/rect/022"/>
          <p:cNvSpPr/>
          <p:nvPr/>
        </p:nvSpPr>
        <p:spPr>
          <a:xfrm>
            <a:off x="502920" y="429768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27/text/023"/>
          <p:cNvSpPr txBox="1"/>
          <p:nvPr/>
        </p:nvSpPr>
        <p:spPr>
          <a:xfrm>
            <a:off x="685800" y="429768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Shelf</a:t>
            </a:r>
          </a:p>
        </p:txBody>
      </p:sp>
      <p:sp>
        <p:nvSpPr>
          <p:cNvPr id="25" name="N27/text/024"/>
          <p:cNvSpPr txBox="1"/>
          <p:nvPr/>
        </p:nvSpPr>
        <p:spPr>
          <a:xfrm>
            <a:off x="1874519" y="429768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Add/Clear/Retry become icon-only; rows keep three action icons.</a:t>
            </a:r>
          </a:p>
        </p:txBody>
      </p:sp>
      <p:sp>
        <p:nvSpPr>
          <p:cNvPr id="26" name="N27/rect/025"/>
          <p:cNvSpPr/>
          <p:nvPr/>
        </p:nvSpPr>
        <p:spPr>
          <a:xfrm>
            <a:off x="502920" y="493776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27/text/026"/>
          <p:cNvSpPr txBox="1"/>
          <p:nvPr/>
        </p:nvSpPr>
        <p:spPr>
          <a:xfrm>
            <a:off x="685800" y="493776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Clips</a:t>
            </a:r>
          </a:p>
        </p:txBody>
      </p:sp>
      <p:sp>
        <p:nvSpPr>
          <p:cNvPr id="28" name="N27/text/027"/>
          <p:cNvSpPr txBox="1"/>
          <p:nvPr/>
        </p:nvSpPr>
        <p:spPr>
          <a:xfrm>
            <a:off x="1874519" y="493776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Compact header buttons icon-only; narrow rows stack timestamp below preview.</a:t>
            </a:r>
          </a:p>
        </p:txBody>
      </p:sp>
      <p:sp>
        <p:nvSpPr>
          <p:cNvPr id="29" name="N27/rect/028"/>
          <p:cNvSpPr/>
          <p:nvPr/>
        </p:nvSpPr>
        <p:spPr>
          <a:xfrm>
            <a:off x="502920" y="5577840"/>
            <a:ext cx="7635240" cy="566928"/>
          </a:xfrm>
          <a:prstGeom prst="roundRect">
            <a:avLst>
              <a:gd name="adj" fmla="val 1290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27/text/029"/>
          <p:cNvSpPr txBox="1"/>
          <p:nvPr/>
        </p:nvSpPr>
        <p:spPr>
          <a:xfrm>
            <a:off x="685800" y="5577840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0D158"/>
                </a:solidFill>
                <a:latin typeface="Arial"/>
              </a:rPr>
              <a:t>Text scale</a:t>
            </a:r>
          </a:p>
        </p:txBody>
      </p:sp>
      <p:sp>
        <p:nvSpPr>
          <p:cNvPr id="31" name="N27/text/030"/>
          <p:cNvSpPr txBox="1"/>
          <p:nvPr/>
        </p:nvSpPr>
        <p:spPr>
          <a:xfrm>
            <a:off x="1874519" y="5577840"/>
            <a:ext cx="60807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Geometry reserves space for GNOME text scaling; content is not double-scaled.</a:t>
            </a:r>
          </a:p>
        </p:txBody>
      </p:sp>
      <p:sp>
        <p:nvSpPr>
          <p:cNvPr id="32" name="N27/spec-panel/03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27/text/03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34" name="N27/ellipse/03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27/text/03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Breakpoints are logical effective px</a:t>
            </a:r>
          </a:p>
        </p:txBody>
      </p:sp>
      <p:sp>
        <p:nvSpPr>
          <p:cNvPr id="36" name="N27/ellipse/03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27/text/03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Vertical page scroll remains available</a:t>
            </a:r>
          </a:p>
        </p:txBody>
      </p:sp>
      <p:sp>
        <p:nvSpPr>
          <p:cNvPr id="38" name="N27/ellipse/03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27/text/03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horizontal page scroll</a:t>
            </a:r>
          </a:p>
        </p:txBody>
      </p:sp>
      <p:sp>
        <p:nvSpPr>
          <p:cNvPr id="40" name="N27/ellipse/03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27/text/04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Minimum content 120×80</a:t>
            </a:r>
          </a:p>
        </p:txBody>
      </p:sp>
      <p:cxnSp>
        <p:nvCxnSpPr>
          <p:cNvPr id="42" name="N27/line/04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N27/text/04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44" name="N27/edit-box/04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27/edit-note/04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Add a custom breakpoint / reflow sketch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MOTION</a:t>
            </a:r>
          </a:p>
        </p:txBody>
      </p:sp>
      <p:sp>
        <p:nvSpPr>
          <p:cNvPr id="5" name="N2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Opening, closing and resizing</a:t>
            </a:r>
          </a:p>
        </p:txBody>
      </p:sp>
      <p:sp>
        <p:nvSpPr>
          <p:cNvPr id="6" name="N2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Mac spring by default; smooth easing optional; reduced-motion respected</a:t>
            </a:r>
          </a:p>
        </p:txBody>
      </p:sp>
      <p:cxnSp>
        <p:nvCxnSpPr>
          <p:cNvPr id="7" name="N2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N28</a:t>
            </a:r>
          </a:p>
        </p:txBody>
      </p:sp>
      <p:sp>
        <p:nvSpPr>
          <p:cNvPr id="10" name="N2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28</a:t>
            </a:r>
          </a:p>
        </p:txBody>
      </p:sp>
      <p:sp>
        <p:nvSpPr>
          <p:cNvPr id="11" name="N28/rect/010"/>
          <p:cNvSpPr/>
          <p:nvPr/>
        </p:nvSpPr>
        <p:spPr>
          <a:xfrm>
            <a:off x="502920" y="1783080"/>
            <a:ext cx="7635240" cy="868680"/>
          </a:xfrm>
          <a:prstGeom prst="roundRect">
            <a:avLst>
              <a:gd name="adj" fmla="val 1052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28/text/011"/>
          <p:cNvSpPr txBox="1"/>
          <p:nvPr/>
        </p:nvSpPr>
        <p:spPr>
          <a:xfrm>
            <a:off x="685800" y="1892807"/>
            <a:ext cx="2057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Open</a:t>
            </a:r>
          </a:p>
        </p:txBody>
      </p:sp>
      <p:sp>
        <p:nvSpPr>
          <p:cNvPr id="13" name="N28/text/012"/>
          <p:cNvSpPr txBox="1"/>
          <p:nvPr/>
        </p:nvSpPr>
        <p:spPr>
          <a:xfrm>
            <a:off x="2788920" y="1892807"/>
            <a:ext cx="5166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0D158"/>
                </a:solidFill>
                <a:latin typeface="Consolas"/>
              </a:rPr>
              <a:t>response 0.42 / damping 0.8</a:t>
            </a:r>
          </a:p>
        </p:txBody>
      </p:sp>
      <p:sp>
        <p:nvSpPr>
          <p:cNvPr id="14" name="N28/text/013"/>
          <p:cNvSpPr txBox="1"/>
          <p:nvPr/>
        </p:nvSpPr>
        <p:spPr>
          <a:xfrm>
            <a:off x="685800" y="219456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Content fades in 180 ms after 70 ms; closed layer fades 100 ms.</a:t>
            </a:r>
          </a:p>
        </p:txBody>
      </p:sp>
      <p:sp>
        <p:nvSpPr>
          <p:cNvPr id="15" name="N28/rect/014"/>
          <p:cNvSpPr/>
          <p:nvPr/>
        </p:nvSpPr>
        <p:spPr>
          <a:xfrm>
            <a:off x="502920" y="2788920"/>
            <a:ext cx="7635240" cy="868680"/>
          </a:xfrm>
          <a:prstGeom prst="roundRect">
            <a:avLst>
              <a:gd name="adj" fmla="val 1052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28/text/015"/>
          <p:cNvSpPr txBox="1"/>
          <p:nvPr/>
        </p:nvSpPr>
        <p:spPr>
          <a:xfrm>
            <a:off x="685800" y="2898648"/>
            <a:ext cx="2057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Close</a:t>
            </a:r>
          </a:p>
        </p:txBody>
      </p:sp>
      <p:sp>
        <p:nvSpPr>
          <p:cNvPr id="17" name="N28/text/016"/>
          <p:cNvSpPr txBox="1"/>
          <p:nvPr/>
        </p:nvSpPr>
        <p:spPr>
          <a:xfrm>
            <a:off x="2788920" y="2898648"/>
            <a:ext cx="5166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0D158"/>
                </a:solidFill>
                <a:latin typeface="Consolas"/>
              </a:rPr>
              <a:t>response 0.45 / damping 1.0</a:t>
            </a:r>
          </a:p>
        </p:txBody>
      </p:sp>
      <p:sp>
        <p:nvSpPr>
          <p:cNvPr id="18" name="N28/text/017"/>
          <p:cNvSpPr txBox="1"/>
          <p:nvPr/>
        </p:nvSpPr>
        <p:spPr>
          <a:xfrm>
            <a:off x="685800" y="320040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Content fades 90 ms; closed layer returns after 60 ms / 140 ms.</a:t>
            </a:r>
          </a:p>
        </p:txBody>
      </p:sp>
      <p:sp>
        <p:nvSpPr>
          <p:cNvPr id="19" name="N28/rect/018"/>
          <p:cNvSpPr/>
          <p:nvPr/>
        </p:nvSpPr>
        <p:spPr>
          <a:xfrm>
            <a:off x="502920" y="3794760"/>
            <a:ext cx="7635240" cy="868680"/>
          </a:xfrm>
          <a:prstGeom prst="roundRect">
            <a:avLst>
              <a:gd name="adj" fmla="val 1052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28/text/019"/>
          <p:cNvSpPr txBox="1"/>
          <p:nvPr/>
        </p:nvSpPr>
        <p:spPr>
          <a:xfrm>
            <a:off x="685800" y="3904488"/>
            <a:ext cx="2057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Resize / page switch</a:t>
            </a:r>
          </a:p>
        </p:txBody>
      </p:sp>
      <p:sp>
        <p:nvSpPr>
          <p:cNvPr id="21" name="N28/text/020"/>
          <p:cNvSpPr txBox="1"/>
          <p:nvPr/>
        </p:nvSpPr>
        <p:spPr>
          <a:xfrm>
            <a:off x="2788920" y="3904488"/>
            <a:ext cx="5166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0D158"/>
                </a:solidFill>
                <a:latin typeface="Consolas"/>
              </a:rPr>
              <a:t>response 0.38 / damping 0.8</a:t>
            </a:r>
          </a:p>
        </p:txBody>
      </p:sp>
      <p:sp>
        <p:nvSpPr>
          <p:cNvPr id="22" name="N28/text/021"/>
          <p:cNvSpPr txBox="1"/>
          <p:nvPr/>
        </p:nvSpPr>
        <p:spPr>
          <a:xfrm>
            <a:off x="685800" y="420624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Geometry springs x/y/w/h/radii; timeline stops when settled.</a:t>
            </a:r>
          </a:p>
        </p:txBody>
      </p:sp>
      <p:sp>
        <p:nvSpPr>
          <p:cNvPr id="23" name="N28/rect/022"/>
          <p:cNvSpPr/>
          <p:nvPr/>
        </p:nvSpPr>
        <p:spPr>
          <a:xfrm>
            <a:off x="502920" y="4800600"/>
            <a:ext cx="7635240" cy="868680"/>
          </a:xfrm>
          <a:prstGeom prst="roundRect">
            <a:avLst>
              <a:gd name="adj" fmla="val 1052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28/text/023"/>
          <p:cNvSpPr txBox="1"/>
          <p:nvPr/>
        </p:nvSpPr>
        <p:spPr>
          <a:xfrm>
            <a:off x="685800" y="4910328"/>
            <a:ext cx="2057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5F7"/>
                </a:solidFill>
                <a:latin typeface="Arial"/>
              </a:rPr>
              <a:t>Smooth profile</a:t>
            </a:r>
          </a:p>
        </p:txBody>
      </p:sp>
      <p:sp>
        <p:nvSpPr>
          <p:cNvPr id="25" name="N28/text/024"/>
          <p:cNvSpPr txBox="1"/>
          <p:nvPr/>
        </p:nvSpPr>
        <p:spPr>
          <a:xfrm>
            <a:off x="2788920" y="4910328"/>
            <a:ext cx="51663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0D158"/>
                </a:solidFill>
                <a:latin typeface="Consolas"/>
              </a:rPr>
              <a:t>open 420 ms / close 450 ms</a:t>
            </a:r>
          </a:p>
        </p:txBody>
      </p:sp>
      <p:sp>
        <p:nvSpPr>
          <p:cNvPr id="26" name="N28/text/025"/>
          <p:cNvSpPr txBox="1"/>
          <p:nvPr/>
        </p:nvSpPr>
        <p:spPr>
          <a:xfrm>
            <a:off x="685800" y="521208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easeOutCubic; durations are user-configurable 0–1000 ms.</a:t>
            </a:r>
          </a:p>
        </p:txBody>
      </p:sp>
      <p:sp>
        <p:nvSpPr>
          <p:cNvPr id="27" name="N28/text/026"/>
          <p:cNvSpPr txBox="1"/>
          <p:nvPr/>
        </p:nvSpPr>
        <p:spPr>
          <a:xfrm>
            <a:off x="502920" y="5897880"/>
            <a:ext cx="763524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Animations off or GNOME Enable Animations off → immediate snap. Visualizer runs only while closed and visible.</a:t>
            </a:r>
          </a:p>
        </p:txBody>
      </p:sp>
      <p:sp>
        <p:nvSpPr>
          <p:cNvPr id="28" name="N28/spec-panel/027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28/text/028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30" name="N28/ellipse/029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28/text/030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Hover delay 250 ms</a:t>
            </a:r>
          </a:p>
        </p:txBody>
      </p:sp>
      <p:sp>
        <p:nvSpPr>
          <p:cNvPr id="32" name="N28/ellipse/031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28/text/032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Hover-exit close 120 ms</a:t>
            </a:r>
          </a:p>
        </p:txBody>
      </p:sp>
      <p:sp>
        <p:nvSpPr>
          <p:cNvPr id="34" name="N28/ellipse/033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28/text/034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Peek timeout 5000 ms</a:t>
            </a:r>
          </a:p>
        </p:txBody>
      </p:sp>
      <p:sp>
        <p:nvSpPr>
          <p:cNvPr id="36" name="N28/ellipse/035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28/text/036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Auto-hide 0 = disabled</a:t>
            </a:r>
          </a:p>
        </p:txBody>
      </p:sp>
      <p:sp>
        <p:nvSpPr>
          <p:cNvPr id="38" name="N28/ellipse/037"/>
          <p:cNvSpPr/>
          <p:nvPr/>
        </p:nvSpPr>
        <p:spPr>
          <a:xfrm>
            <a:off x="8659368" y="3319271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28/text/038"/>
          <p:cNvSpPr txBox="1"/>
          <p:nvPr/>
        </p:nvSpPr>
        <p:spPr>
          <a:xfrm>
            <a:off x="8805672" y="3255263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Spring timeline capped at 2000 ms</a:t>
            </a:r>
          </a:p>
        </p:txBody>
      </p:sp>
      <p:cxnSp>
        <p:nvCxnSpPr>
          <p:cNvPr id="40" name="N28/line/039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N28/text/040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42" name="N28/edit-box/041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N28/edit-note/042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Motion feel / durations / overshoot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2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2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2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BEHAVIOR</a:t>
            </a:r>
          </a:p>
        </p:txBody>
      </p:sp>
      <p:sp>
        <p:nvSpPr>
          <p:cNvPr id="5" name="N2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Visibility and lifecycle matrix</a:t>
            </a:r>
          </a:p>
        </p:txBody>
      </p:sp>
      <p:sp>
        <p:nvSpPr>
          <p:cNvPr id="6" name="N2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When the notch hides, pauses or falls back</a:t>
            </a:r>
          </a:p>
        </p:txBody>
      </p:sp>
      <p:cxnSp>
        <p:nvCxnSpPr>
          <p:cNvPr id="7" name="N2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2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2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N29</a:t>
            </a:r>
          </a:p>
        </p:txBody>
      </p:sp>
      <p:sp>
        <p:nvSpPr>
          <p:cNvPr id="10" name="N2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29</a:t>
            </a:r>
          </a:p>
        </p:txBody>
      </p:sp>
      <p:sp>
        <p:nvSpPr>
          <p:cNvPr id="11" name="N29/rect/010"/>
          <p:cNvSpPr/>
          <p:nvPr/>
        </p:nvSpPr>
        <p:spPr>
          <a:xfrm>
            <a:off x="502920" y="1783080"/>
            <a:ext cx="7635240" cy="384048"/>
          </a:xfrm>
          <a:prstGeom prst="roundRect">
            <a:avLst>
              <a:gd name="adj" fmla="val 14285"/>
            </a:avLst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29/text/011"/>
          <p:cNvSpPr txBox="1"/>
          <p:nvPr/>
        </p:nvSpPr>
        <p:spPr>
          <a:xfrm>
            <a:off x="612648" y="1783080"/>
            <a:ext cx="173736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Context</a:t>
            </a:r>
          </a:p>
        </p:txBody>
      </p:sp>
      <p:sp>
        <p:nvSpPr>
          <p:cNvPr id="13" name="N29/text/012"/>
          <p:cNvSpPr txBox="1"/>
          <p:nvPr/>
        </p:nvSpPr>
        <p:spPr>
          <a:xfrm>
            <a:off x="2532888" y="1783080"/>
            <a:ext cx="105156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Notch</a:t>
            </a:r>
          </a:p>
        </p:txBody>
      </p:sp>
      <p:sp>
        <p:nvSpPr>
          <p:cNvPr id="14" name="N29/text/013"/>
          <p:cNvSpPr txBox="1"/>
          <p:nvPr/>
        </p:nvSpPr>
        <p:spPr>
          <a:xfrm>
            <a:off x="3767328" y="1783080"/>
            <a:ext cx="182880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Notifications</a:t>
            </a:r>
          </a:p>
        </p:txBody>
      </p:sp>
      <p:sp>
        <p:nvSpPr>
          <p:cNvPr id="15" name="N29/text/014"/>
          <p:cNvSpPr txBox="1"/>
          <p:nvPr/>
        </p:nvSpPr>
        <p:spPr>
          <a:xfrm>
            <a:off x="5779008" y="1783080"/>
            <a:ext cx="2286000" cy="3840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Clipboard / sampling</a:t>
            </a:r>
          </a:p>
        </p:txBody>
      </p:sp>
      <p:sp>
        <p:nvSpPr>
          <p:cNvPr id="16" name="N29/rect/015"/>
          <p:cNvSpPr/>
          <p:nvPr/>
        </p:nvSpPr>
        <p:spPr>
          <a:xfrm>
            <a:off x="502920" y="2167128"/>
            <a:ext cx="7635240" cy="566928"/>
          </a:xfrm>
          <a:prstGeom prst="roundRect">
            <a:avLst>
              <a:gd name="adj" fmla="val 6451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29/text/016"/>
          <p:cNvSpPr txBox="1"/>
          <p:nvPr/>
        </p:nvSpPr>
        <p:spPr>
          <a:xfrm>
            <a:off x="612648" y="2167128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Normal desktop</a:t>
            </a:r>
          </a:p>
        </p:txBody>
      </p:sp>
      <p:sp>
        <p:nvSpPr>
          <p:cNvPr id="18" name="N29/text/017"/>
          <p:cNvSpPr txBox="1"/>
          <p:nvPr/>
        </p:nvSpPr>
        <p:spPr>
          <a:xfrm>
            <a:off x="2532888" y="2167128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Visible</a:t>
            </a:r>
          </a:p>
        </p:txBody>
      </p:sp>
      <p:sp>
        <p:nvSpPr>
          <p:cNvPr id="19" name="N29/text/018"/>
          <p:cNvSpPr txBox="1"/>
          <p:nvPr/>
        </p:nvSpPr>
        <p:spPr>
          <a:xfrm>
            <a:off x="3767328" y="2167128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Routed to notch</a:t>
            </a:r>
          </a:p>
        </p:txBody>
      </p:sp>
      <p:sp>
        <p:nvSpPr>
          <p:cNvPr id="20" name="N29/text/019"/>
          <p:cNvSpPr txBox="1"/>
          <p:nvPr/>
        </p:nvSpPr>
        <p:spPr>
          <a:xfrm>
            <a:off x="5779008" y="2167128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Clipboard opt-in; stats only on System</a:t>
            </a:r>
          </a:p>
        </p:txBody>
      </p:sp>
      <p:sp>
        <p:nvSpPr>
          <p:cNvPr id="21" name="N29/rect/020"/>
          <p:cNvSpPr/>
          <p:nvPr/>
        </p:nvSpPr>
        <p:spPr>
          <a:xfrm>
            <a:off x="502920" y="2734056"/>
            <a:ext cx="7635240" cy="566928"/>
          </a:xfrm>
          <a:prstGeom prst="roundRect">
            <a:avLst>
              <a:gd name="adj" fmla="val 6451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29/text/021"/>
          <p:cNvSpPr txBox="1"/>
          <p:nvPr/>
        </p:nvSpPr>
        <p:spPr>
          <a:xfrm>
            <a:off x="612648" y="2734056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Fullscreen (hide on)</a:t>
            </a:r>
          </a:p>
        </p:txBody>
      </p:sp>
      <p:sp>
        <p:nvSpPr>
          <p:cNvPr id="23" name="N29/text/022"/>
          <p:cNvSpPr txBox="1"/>
          <p:nvPr/>
        </p:nvSpPr>
        <p:spPr>
          <a:xfrm>
            <a:off x="2532888" y="2734056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Hidden</a:t>
            </a:r>
          </a:p>
        </p:txBody>
      </p:sp>
      <p:sp>
        <p:nvSpPr>
          <p:cNvPr id="24" name="N29/text/023"/>
          <p:cNvSpPr txBox="1"/>
          <p:nvPr/>
        </p:nvSpPr>
        <p:spPr>
          <a:xfrm>
            <a:off x="3767328" y="2734056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Native banner path</a:t>
            </a:r>
          </a:p>
        </p:txBody>
      </p:sp>
      <p:sp>
        <p:nvSpPr>
          <p:cNvPr id="25" name="N29/text/024"/>
          <p:cNvSpPr txBox="1"/>
          <p:nvPr/>
        </p:nvSpPr>
        <p:spPr>
          <a:xfrm>
            <a:off x="5779008" y="2734056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Visualizer/stats paused</a:t>
            </a:r>
          </a:p>
        </p:txBody>
      </p:sp>
      <p:sp>
        <p:nvSpPr>
          <p:cNvPr id="26" name="N29/rect/025"/>
          <p:cNvSpPr/>
          <p:nvPr/>
        </p:nvSpPr>
        <p:spPr>
          <a:xfrm>
            <a:off x="502920" y="3300984"/>
            <a:ext cx="7635240" cy="566928"/>
          </a:xfrm>
          <a:prstGeom prst="roundRect">
            <a:avLst>
              <a:gd name="adj" fmla="val 6451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29/text/026"/>
          <p:cNvSpPr txBox="1"/>
          <p:nvPr/>
        </p:nvSpPr>
        <p:spPr>
          <a:xfrm>
            <a:off x="612648" y="3300984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Overview (hide on)</a:t>
            </a:r>
          </a:p>
        </p:txBody>
      </p:sp>
      <p:sp>
        <p:nvSpPr>
          <p:cNvPr id="28" name="N29/text/027"/>
          <p:cNvSpPr txBox="1"/>
          <p:nvPr/>
        </p:nvSpPr>
        <p:spPr>
          <a:xfrm>
            <a:off x="2532888" y="3300984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Hidden</a:t>
            </a:r>
          </a:p>
        </p:txBody>
      </p:sp>
      <p:sp>
        <p:nvSpPr>
          <p:cNvPr id="29" name="N29/text/028"/>
          <p:cNvSpPr txBox="1"/>
          <p:nvPr/>
        </p:nvSpPr>
        <p:spPr>
          <a:xfrm>
            <a:off x="3767328" y="3300984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Native banner path</a:t>
            </a:r>
          </a:p>
        </p:txBody>
      </p:sp>
      <p:sp>
        <p:nvSpPr>
          <p:cNvPr id="30" name="N29/text/029"/>
          <p:cNvSpPr txBox="1"/>
          <p:nvPr/>
        </p:nvSpPr>
        <p:spPr>
          <a:xfrm>
            <a:off x="5779008" y="3300984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Visualizer/stats paused</a:t>
            </a:r>
          </a:p>
        </p:txBody>
      </p:sp>
      <p:sp>
        <p:nvSpPr>
          <p:cNvPr id="31" name="N29/rect/030"/>
          <p:cNvSpPr/>
          <p:nvPr/>
        </p:nvSpPr>
        <p:spPr>
          <a:xfrm>
            <a:off x="502920" y="3867912"/>
            <a:ext cx="7635240" cy="566928"/>
          </a:xfrm>
          <a:prstGeom prst="roundRect">
            <a:avLst>
              <a:gd name="adj" fmla="val 6451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29/text/031"/>
          <p:cNvSpPr txBox="1"/>
          <p:nvPr/>
        </p:nvSpPr>
        <p:spPr>
          <a:xfrm>
            <a:off x="612648" y="3867912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Lock / greeter</a:t>
            </a:r>
          </a:p>
        </p:txBody>
      </p:sp>
      <p:sp>
        <p:nvSpPr>
          <p:cNvPr id="33" name="N29/text/032"/>
          <p:cNvSpPr txBox="1"/>
          <p:nvPr/>
        </p:nvSpPr>
        <p:spPr>
          <a:xfrm>
            <a:off x="2532888" y="3867912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Hidden</a:t>
            </a:r>
          </a:p>
        </p:txBody>
      </p:sp>
      <p:sp>
        <p:nvSpPr>
          <p:cNvPr id="34" name="N29/text/033"/>
          <p:cNvSpPr txBox="1"/>
          <p:nvPr/>
        </p:nvSpPr>
        <p:spPr>
          <a:xfrm>
            <a:off x="3767328" y="386791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Native path</a:t>
            </a:r>
          </a:p>
        </p:txBody>
      </p:sp>
      <p:sp>
        <p:nvSpPr>
          <p:cNvPr id="35" name="N29/text/034"/>
          <p:cNvSpPr txBox="1"/>
          <p:nvPr/>
        </p:nvSpPr>
        <p:spPr>
          <a:xfrm>
            <a:off x="5779008" y="3867912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Clipboard paused/cleared</a:t>
            </a:r>
          </a:p>
        </p:txBody>
      </p:sp>
      <p:sp>
        <p:nvSpPr>
          <p:cNvPr id="36" name="N29/rect/035"/>
          <p:cNvSpPr/>
          <p:nvPr/>
        </p:nvSpPr>
        <p:spPr>
          <a:xfrm>
            <a:off x="502920" y="4434840"/>
            <a:ext cx="7635240" cy="566928"/>
          </a:xfrm>
          <a:prstGeom prst="roundRect">
            <a:avLst>
              <a:gd name="adj" fmla="val 6451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N29/text/036"/>
          <p:cNvSpPr txBox="1"/>
          <p:nvPr/>
        </p:nvSpPr>
        <p:spPr>
          <a:xfrm>
            <a:off x="612648" y="4434840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External drag</a:t>
            </a:r>
          </a:p>
        </p:txBody>
      </p:sp>
      <p:sp>
        <p:nvSpPr>
          <p:cNvPr id="38" name="N29/text/037"/>
          <p:cNvSpPr txBox="1"/>
          <p:nvPr/>
        </p:nvSpPr>
        <p:spPr>
          <a:xfrm>
            <a:off x="2532888" y="4434840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Drop target</a:t>
            </a:r>
          </a:p>
        </p:txBody>
      </p:sp>
      <p:sp>
        <p:nvSpPr>
          <p:cNvPr id="39" name="N29/text/038"/>
          <p:cNvSpPr txBox="1"/>
          <p:nvPr/>
        </p:nvSpPr>
        <p:spPr>
          <a:xfrm>
            <a:off x="3767328" y="443484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Peek suppressed</a:t>
            </a:r>
          </a:p>
        </p:txBody>
      </p:sp>
      <p:sp>
        <p:nvSpPr>
          <p:cNvPr id="40" name="N29/text/039"/>
          <p:cNvSpPr txBox="1"/>
          <p:nvPr/>
        </p:nvSpPr>
        <p:spPr>
          <a:xfrm>
            <a:off x="5779008" y="443484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Shelf helper active</a:t>
            </a:r>
          </a:p>
        </p:txBody>
      </p:sp>
      <p:sp>
        <p:nvSpPr>
          <p:cNvPr id="41" name="N29/rect/040"/>
          <p:cNvSpPr/>
          <p:nvPr/>
        </p:nvSpPr>
        <p:spPr>
          <a:xfrm>
            <a:off x="502920" y="5001768"/>
            <a:ext cx="7635240" cy="566928"/>
          </a:xfrm>
          <a:prstGeom prst="roundRect">
            <a:avLst>
              <a:gd name="adj" fmla="val 6451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29/text/041"/>
          <p:cNvSpPr txBox="1"/>
          <p:nvPr/>
        </p:nvSpPr>
        <p:spPr>
          <a:xfrm>
            <a:off x="612648" y="5001768"/>
            <a:ext cx="17373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Helper idle 5 min</a:t>
            </a:r>
          </a:p>
        </p:txBody>
      </p:sp>
      <p:sp>
        <p:nvSpPr>
          <p:cNvPr id="43" name="N29/text/042"/>
          <p:cNvSpPr txBox="1"/>
          <p:nvPr/>
        </p:nvSpPr>
        <p:spPr>
          <a:xfrm>
            <a:off x="2532888" y="5001768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Shelf offline</a:t>
            </a:r>
          </a:p>
        </p:txBody>
      </p:sp>
      <p:sp>
        <p:nvSpPr>
          <p:cNvPr id="44" name="N29/text/043"/>
          <p:cNvSpPr txBox="1"/>
          <p:nvPr/>
        </p:nvSpPr>
        <p:spPr>
          <a:xfrm>
            <a:off x="3767328" y="5001768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Unchanged</a:t>
            </a:r>
          </a:p>
        </p:txBody>
      </p:sp>
      <p:sp>
        <p:nvSpPr>
          <p:cNvPr id="45" name="N29/text/044"/>
          <p:cNvSpPr txBox="1"/>
          <p:nvPr/>
        </p:nvSpPr>
        <p:spPr>
          <a:xfrm>
            <a:off x="5779008" y="5001768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Helper exits; Retry restarts</a:t>
            </a:r>
          </a:p>
        </p:txBody>
      </p:sp>
      <p:sp>
        <p:nvSpPr>
          <p:cNvPr id="46" name="N29/spec-panel/045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N29/text/046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8" name="N29/ellipse/047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29/text/048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hide-on-fullscreen=true</a:t>
            </a:r>
          </a:p>
        </p:txBody>
      </p:sp>
      <p:sp>
        <p:nvSpPr>
          <p:cNvPr id="50" name="N29/ellipse/049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29/text/050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hide-in-overview=true</a:t>
            </a:r>
          </a:p>
        </p:txBody>
      </p:sp>
      <p:sp>
        <p:nvSpPr>
          <p:cNvPr id="52" name="N29/ellipse/051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N29/text/052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reserve-space=false (experimental)</a:t>
            </a:r>
          </a:p>
        </p:txBody>
      </p:sp>
      <p:sp>
        <p:nvSpPr>
          <p:cNvPr id="54" name="N29/ellipse/053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N29/text/054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Panel clock restored when notch hides</a:t>
            </a:r>
          </a:p>
        </p:txBody>
      </p:sp>
      <p:cxnSp>
        <p:nvCxnSpPr>
          <p:cNvPr id="56" name="N29/line/055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N29/text/056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58" name="N29/edit-box/057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29/edit-note/058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Add/remove a visibility rule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</a:t>
            </a:r>
          </a:p>
        </p:txBody>
      </p:sp>
      <p:sp>
        <p:nvSpPr>
          <p:cNvPr id="5" name="N3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Two native settings surfaces</a:t>
            </a:r>
          </a:p>
        </p:txBody>
      </p:sp>
      <p:sp>
        <p:nvSpPr>
          <p:cNvPr id="6" name="N3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Same GSettings schema; inline extension prefs and companion app</a:t>
            </a:r>
          </a:p>
        </p:txBody>
      </p:sp>
      <p:cxnSp>
        <p:nvCxnSpPr>
          <p:cNvPr id="7" name="N3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N30</a:t>
            </a:r>
          </a:p>
        </p:txBody>
      </p:sp>
      <p:sp>
        <p:nvSpPr>
          <p:cNvPr id="10" name="N3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30</a:t>
            </a:r>
          </a:p>
        </p:txBody>
      </p:sp>
      <p:sp>
        <p:nvSpPr>
          <p:cNvPr id="11" name="N30/rect/010"/>
          <p:cNvSpPr/>
          <p:nvPr/>
        </p:nvSpPr>
        <p:spPr>
          <a:xfrm>
            <a:off x="502920" y="178308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30/text/011"/>
          <p:cNvSpPr txBox="1"/>
          <p:nvPr/>
        </p:nvSpPr>
        <p:spPr>
          <a:xfrm>
            <a:off x="731520" y="1965960"/>
            <a:ext cx="493776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Arial"/>
              </a:rPr>
              <a:t>Extension preferences (inline)</a:t>
            </a:r>
          </a:p>
        </p:txBody>
      </p:sp>
      <p:sp>
        <p:nvSpPr>
          <p:cNvPr id="13" name="N30/text/012"/>
          <p:cNvSpPr txBox="1"/>
          <p:nvPr/>
        </p:nvSpPr>
        <p:spPr>
          <a:xfrm>
            <a:off x="731520" y="23774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Opened from notch gear or GNOME Extensions.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Pages: Appearance · Behavior · Privacy.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No placeholder launcher page.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MacBook preset applies the full default set.</a:t>
            </a:r>
          </a:p>
        </p:txBody>
      </p:sp>
      <p:sp>
        <p:nvSpPr>
          <p:cNvPr id="14" name="N30/rect/013"/>
          <p:cNvSpPr/>
          <p:nvPr/>
        </p:nvSpPr>
        <p:spPr>
          <a:xfrm>
            <a:off x="6263640" y="1783080"/>
            <a:ext cx="5394960" cy="4206240"/>
          </a:xfrm>
          <a:prstGeom prst="roundRect">
            <a:avLst>
              <a:gd name="adj" fmla="val 3043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30/text/014"/>
          <p:cNvSpPr txBox="1"/>
          <p:nvPr/>
        </p:nvSpPr>
        <p:spPr>
          <a:xfrm>
            <a:off x="6492240" y="1965960"/>
            <a:ext cx="493776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5F7"/>
                </a:solidFill>
                <a:latin typeface="Arial"/>
              </a:rPr>
              <a:t>Companion app (GTK4 / Adw)</a:t>
            </a:r>
          </a:p>
        </p:txBody>
      </p:sp>
      <p:sp>
        <p:nvSpPr>
          <p:cNvPr id="16" name="N30/text/015"/>
          <p:cNvSpPr txBox="1"/>
          <p:nvPr/>
        </p:nvSpPr>
        <p:spPr>
          <a:xfrm>
            <a:off x="6492240" y="237744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notch-settings · 760×780 default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Pages: Appearance · Behavior · Privacy &amp; shelf · About.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Adds file chooser, reference-list path and live status.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6"/>
                </a:solidFill>
                <a:latin typeface="Arial"/>
              </a:rPr>
              <a:t>About shows extension/helper health and source link.</a:t>
            </a:r>
          </a:p>
        </p:txBody>
      </p:sp>
      <p:sp>
        <p:nvSpPr>
          <p:cNvPr id="17" name="N30/text/016"/>
          <p:cNvSpPr txBox="1"/>
          <p:nvPr/>
        </p:nvSpPr>
        <p:spPr>
          <a:xfrm>
            <a:off x="502920" y="6126480"/>
            <a:ext cx="1115568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1A1A6"/>
                </a:solidFill>
                <a:latin typeface="Arial"/>
              </a:rPr>
              <a:t>Next slides show each page. Rows are schematic; exact labels/defaults are listed for editing.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APPEARANCE</a:t>
            </a:r>
          </a:p>
        </p:txBody>
      </p:sp>
      <p:sp>
        <p:nvSpPr>
          <p:cNvPr id="5" name="N3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Shape &amp; position</a:t>
            </a:r>
          </a:p>
        </p:txBody>
      </p:sp>
      <p:sp>
        <p:nvSpPr>
          <p:cNvPr id="6" name="N3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Logical pixels; clamped to selected monitor</a:t>
            </a:r>
          </a:p>
        </p:txBody>
      </p:sp>
      <p:cxnSp>
        <p:nvCxnSpPr>
          <p:cNvPr id="7" name="N3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N31</a:t>
            </a:r>
          </a:p>
        </p:txBody>
      </p:sp>
      <p:sp>
        <p:nvSpPr>
          <p:cNvPr id="10" name="N3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31</a:t>
            </a:r>
          </a:p>
        </p:txBody>
      </p:sp>
      <p:grpSp>
        <p:nvGrpSpPr>
          <p:cNvPr id="11" name="N31/settings-Appearance"/>
          <p:cNvGrpSpPr/>
          <p:nvPr/>
        </p:nvGrpSpPr>
        <p:grpSpPr>
          <a:xfrm>
            <a:off x="502920" y="1627632"/>
            <a:ext cx="7635240" cy="4526280"/>
            <a:chOff x="502920" y="1627632"/>
            <a:chExt cx="7635240" cy="4526280"/>
          </a:xfrm>
        </p:grpSpPr>
        <p:sp>
          <p:nvSpPr>
            <p:cNvPr id="12" name="N31/settings-Appearance/adw-window/001"/>
            <p:cNvSpPr/>
            <p:nvPr/>
          </p:nvSpPr>
          <p:spPr>
            <a:xfrm>
              <a:off x="502920" y="1627632"/>
              <a:ext cx="7635240" cy="4526280"/>
            </a:xfrm>
            <a:prstGeom prst="roundRect">
              <a:avLst>
                <a:gd name="adj" fmla="val 2424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1/settings-Appearance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1/settings-Appearance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1/settings-Appearance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 Preferences</a:t>
              </a:r>
            </a:p>
          </p:txBody>
        </p:sp>
        <p:sp>
          <p:nvSpPr>
            <p:cNvPr id="16" name="N31/settings-Appearance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1/settings-Appearance/rect/006"/>
            <p:cNvSpPr/>
            <p:nvPr/>
          </p:nvSpPr>
          <p:spPr>
            <a:xfrm>
              <a:off x="681228" y="2157984"/>
              <a:ext cx="173736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1/settings-Appearance/text/007"/>
            <p:cNvSpPr txBox="1"/>
            <p:nvPr/>
          </p:nvSpPr>
          <p:spPr>
            <a:xfrm>
              <a:off x="681228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1/settings-Appearance/rect/008"/>
            <p:cNvSpPr/>
            <p:nvPr/>
          </p:nvSpPr>
          <p:spPr>
            <a:xfrm>
              <a:off x="2528316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1/settings-Appearance/text/009"/>
            <p:cNvSpPr txBox="1"/>
            <p:nvPr/>
          </p:nvSpPr>
          <p:spPr>
            <a:xfrm>
              <a:off x="2528316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1/settings-Appearance/rect/010"/>
            <p:cNvSpPr/>
            <p:nvPr/>
          </p:nvSpPr>
          <p:spPr>
            <a:xfrm>
              <a:off x="4375404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1/settings-Appearance/text/011"/>
            <p:cNvSpPr txBox="1"/>
            <p:nvPr/>
          </p:nvSpPr>
          <p:spPr>
            <a:xfrm>
              <a:off x="4375404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</a:t>
              </a:r>
            </a:p>
          </p:txBody>
        </p:sp>
        <p:sp>
          <p:nvSpPr>
            <p:cNvPr id="23" name="N31/settings-Appearance/text/012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Scroll for more geometry rows →</a:t>
              </a:r>
            </a:p>
          </p:txBody>
        </p:sp>
        <p:sp>
          <p:nvSpPr>
            <p:cNvPr id="24" name="N31/settings-Appearance/text/013"/>
            <p:cNvSpPr txBox="1"/>
            <p:nvPr/>
          </p:nvSpPr>
          <p:spPr>
            <a:xfrm>
              <a:off x="822960" y="2889503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Shape &amp; position</a:t>
              </a:r>
            </a:p>
          </p:txBody>
        </p:sp>
        <p:sp>
          <p:nvSpPr>
            <p:cNvPr id="25" name="N31/settings-Appearance/text/014"/>
            <p:cNvSpPr txBox="1"/>
            <p:nvPr/>
          </p:nvSpPr>
          <p:spPr>
            <a:xfrm>
              <a:off x="822960" y="312724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Dimensions use logical pixels and are clamped to the selected monitor.</a:t>
              </a:r>
            </a:p>
          </p:txBody>
        </p:sp>
        <p:sp>
          <p:nvSpPr>
            <p:cNvPr id="26" name="N31/settings-Appearance/adw-group/015"/>
            <p:cNvSpPr/>
            <p:nvPr/>
          </p:nvSpPr>
          <p:spPr>
            <a:xfrm>
              <a:off x="777240" y="3401568"/>
              <a:ext cx="7086600" cy="2359152"/>
            </a:xfrm>
            <a:prstGeom prst="roundRect">
              <a:avLst>
                <a:gd name="adj" fmla="val 3875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31/settings-Appearance/text/016"/>
            <p:cNvSpPr txBox="1"/>
            <p:nvPr/>
          </p:nvSpPr>
          <p:spPr>
            <a:xfrm>
              <a:off x="941832" y="343814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Placement</a:t>
              </a:r>
            </a:p>
          </p:txBody>
        </p:sp>
        <p:sp>
          <p:nvSpPr>
            <p:cNvPr id="28" name="N31/settings-Appearance/text/017"/>
            <p:cNvSpPr txBox="1"/>
            <p:nvPr/>
          </p:nvSpPr>
          <p:spPr>
            <a:xfrm>
              <a:off x="941832" y="3602735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MacBook mode replaces the centered top-bar clock</a:t>
              </a:r>
            </a:p>
          </p:txBody>
        </p:sp>
        <p:sp>
          <p:nvSpPr>
            <p:cNvPr id="29" name="N31/settings-Appearance/rect/018"/>
            <p:cNvSpPr/>
            <p:nvPr/>
          </p:nvSpPr>
          <p:spPr>
            <a:xfrm>
              <a:off x="5852160" y="3465575"/>
              <a:ext cx="1920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31/settings-Appearance/text/019"/>
            <p:cNvSpPr txBox="1"/>
            <p:nvPr/>
          </p:nvSpPr>
          <p:spPr>
            <a:xfrm>
              <a:off x="5925312" y="3465575"/>
              <a:ext cx="164592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FFFFFF"/>
                  </a:solidFill>
                  <a:latin typeface="Arial"/>
                </a:rPr>
                <a:t>MacBook top edge (default)</a:t>
              </a:r>
            </a:p>
          </p:txBody>
        </p:sp>
        <p:sp>
          <p:nvSpPr>
            <p:cNvPr id="31" name="N31/settings-Appearance/text/020"/>
            <p:cNvSpPr txBox="1"/>
            <p:nvPr/>
          </p:nvSpPr>
          <p:spPr>
            <a:xfrm>
              <a:off x="7589520" y="3465575"/>
              <a:ext cx="14630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⌄</a:t>
              </a:r>
            </a:p>
          </p:txBody>
        </p:sp>
        <p:cxnSp>
          <p:nvCxnSpPr>
            <p:cNvPr id="32" name="N31/settings-Appearance/line/021"/>
            <p:cNvCxnSpPr/>
            <p:nvPr/>
          </p:nvCxnSpPr>
          <p:spPr>
            <a:xfrm>
              <a:off x="941832" y="375818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31/settings-Appearance/text/022"/>
            <p:cNvSpPr txBox="1"/>
            <p:nvPr/>
          </p:nvSpPr>
          <p:spPr>
            <a:xfrm>
              <a:off x="941832" y="376732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MacBook preset</a:t>
              </a:r>
            </a:p>
          </p:txBody>
        </p:sp>
        <p:sp>
          <p:nvSpPr>
            <p:cNvPr id="34" name="N31/settings-Appearance/text/023"/>
            <p:cNvSpPr txBox="1"/>
            <p:nvPr/>
          </p:nvSpPr>
          <p:spPr>
            <a:xfrm>
              <a:off x="941832" y="3931920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Top-edge notch, idle clock, notification routing, smooth animation</a:t>
              </a:r>
            </a:p>
          </p:txBody>
        </p:sp>
        <p:sp>
          <p:nvSpPr>
            <p:cNvPr id="35" name="N31/settings-Appearance/rect/024"/>
            <p:cNvSpPr/>
            <p:nvPr/>
          </p:nvSpPr>
          <p:spPr>
            <a:xfrm>
              <a:off x="6766560" y="3794759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31/settings-Appearance/text/025"/>
            <p:cNvSpPr txBox="1"/>
            <p:nvPr/>
          </p:nvSpPr>
          <p:spPr>
            <a:xfrm>
              <a:off x="6766560" y="3794759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Apply</a:t>
              </a:r>
            </a:p>
          </p:txBody>
        </p:sp>
        <p:cxnSp>
          <p:nvCxnSpPr>
            <p:cNvPr id="37" name="N31/settings-Appearance/line/026"/>
            <p:cNvCxnSpPr/>
            <p:nvPr/>
          </p:nvCxnSpPr>
          <p:spPr>
            <a:xfrm>
              <a:off x="941832" y="408736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N31/settings-Appearance/text/027"/>
            <p:cNvSpPr txBox="1"/>
            <p:nvPr/>
          </p:nvSpPr>
          <p:spPr>
            <a:xfrm>
              <a:off x="941832" y="409651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Monitor</a:t>
              </a:r>
            </a:p>
          </p:txBody>
        </p:sp>
        <p:sp>
          <p:nvSpPr>
            <p:cNvPr id="39" name="N31/settings-Appearance/text/028"/>
            <p:cNvSpPr txBox="1"/>
            <p:nvPr/>
          </p:nvSpPr>
          <p:spPr>
            <a:xfrm>
              <a:off x="941832" y="4261104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−1 = primary monitor</a:t>
              </a:r>
            </a:p>
          </p:txBody>
        </p:sp>
        <p:sp>
          <p:nvSpPr>
            <p:cNvPr id="40" name="N31/settings-Appearance/rect/029"/>
            <p:cNvSpPr/>
            <p:nvPr/>
          </p:nvSpPr>
          <p:spPr>
            <a:xfrm>
              <a:off x="6537960" y="4123944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31/settings-Appearance/text/030"/>
            <p:cNvSpPr txBox="1"/>
            <p:nvPr/>
          </p:nvSpPr>
          <p:spPr>
            <a:xfrm>
              <a:off x="6537960" y="4123944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-1</a:t>
              </a:r>
            </a:p>
          </p:txBody>
        </p:sp>
        <p:sp>
          <p:nvSpPr>
            <p:cNvPr id="42" name="N31/settings-Appearance/text/031"/>
            <p:cNvSpPr txBox="1"/>
            <p:nvPr/>
          </p:nvSpPr>
          <p:spPr>
            <a:xfrm>
              <a:off x="7251192" y="4123944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3" name="N31/settings-Appearance/text/032"/>
            <p:cNvSpPr txBox="1"/>
            <p:nvPr/>
          </p:nvSpPr>
          <p:spPr>
            <a:xfrm>
              <a:off x="7397496" y="4123944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44" name="N31/settings-Appearance/line/033"/>
            <p:cNvCxnSpPr/>
            <p:nvPr/>
          </p:nvCxnSpPr>
          <p:spPr>
            <a:xfrm>
              <a:off x="941832" y="4416552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N31/settings-Appearance/text/034"/>
            <p:cNvSpPr txBox="1"/>
            <p:nvPr/>
          </p:nvSpPr>
          <p:spPr>
            <a:xfrm>
              <a:off x="941832" y="442569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Collapsed base width</a:t>
              </a:r>
            </a:p>
          </p:txBody>
        </p:sp>
        <p:sp>
          <p:nvSpPr>
            <p:cNvPr id="46" name="N31/settings-Appearance/rect/035"/>
            <p:cNvSpPr/>
            <p:nvPr/>
          </p:nvSpPr>
          <p:spPr>
            <a:xfrm>
              <a:off x="6537960" y="4453128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N31/settings-Appearance/text/036"/>
            <p:cNvSpPr txBox="1"/>
            <p:nvPr/>
          </p:nvSpPr>
          <p:spPr>
            <a:xfrm>
              <a:off x="6537960" y="4453128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185</a:t>
              </a:r>
            </a:p>
          </p:txBody>
        </p:sp>
        <p:sp>
          <p:nvSpPr>
            <p:cNvPr id="48" name="N31/settings-Appearance/text/037"/>
            <p:cNvSpPr txBox="1"/>
            <p:nvPr/>
          </p:nvSpPr>
          <p:spPr>
            <a:xfrm>
              <a:off x="7251192" y="4453128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9" name="N31/settings-Appearance/text/038"/>
            <p:cNvSpPr txBox="1"/>
            <p:nvPr/>
          </p:nvSpPr>
          <p:spPr>
            <a:xfrm>
              <a:off x="7397496" y="4453128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50" name="N31/settings-Appearance/line/039"/>
            <p:cNvCxnSpPr/>
            <p:nvPr/>
          </p:nvCxnSpPr>
          <p:spPr>
            <a:xfrm>
              <a:off x="941832" y="4745736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N31/settings-Appearance/text/040"/>
            <p:cNvSpPr txBox="1"/>
            <p:nvPr/>
          </p:nvSpPr>
          <p:spPr>
            <a:xfrm>
              <a:off x="941832" y="475488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Collapsed height</a:t>
              </a:r>
            </a:p>
          </p:txBody>
        </p:sp>
        <p:sp>
          <p:nvSpPr>
            <p:cNvPr id="52" name="N31/settings-Appearance/rect/041"/>
            <p:cNvSpPr/>
            <p:nvPr/>
          </p:nvSpPr>
          <p:spPr>
            <a:xfrm>
              <a:off x="6537960" y="4782312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N31/settings-Appearance/text/042"/>
            <p:cNvSpPr txBox="1"/>
            <p:nvPr/>
          </p:nvSpPr>
          <p:spPr>
            <a:xfrm>
              <a:off x="6537960" y="4782312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32</a:t>
              </a:r>
            </a:p>
          </p:txBody>
        </p:sp>
        <p:sp>
          <p:nvSpPr>
            <p:cNvPr id="54" name="N31/settings-Appearance/text/043"/>
            <p:cNvSpPr txBox="1"/>
            <p:nvPr/>
          </p:nvSpPr>
          <p:spPr>
            <a:xfrm>
              <a:off x="7251192" y="478231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55" name="N31/settings-Appearance/text/044"/>
            <p:cNvSpPr txBox="1"/>
            <p:nvPr/>
          </p:nvSpPr>
          <p:spPr>
            <a:xfrm>
              <a:off x="7397496" y="478231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56" name="N31/settings-Appearance/line/045"/>
            <p:cNvCxnSpPr/>
            <p:nvPr/>
          </p:nvCxnSpPr>
          <p:spPr>
            <a:xfrm>
              <a:off x="941832" y="5074920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N31/settings-Appearance/text/046"/>
            <p:cNvSpPr txBox="1"/>
            <p:nvPr/>
          </p:nvSpPr>
          <p:spPr>
            <a:xfrm>
              <a:off x="941832" y="5084064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Maximum page width</a:t>
              </a:r>
            </a:p>
          </p:txBody>
        </p:sp>
        <p:sp>
          <p:nvSpPr>
            <p:cNvPr id="58" name="N31/settings-Appearance/rect/047"/>
            <p:cNvSpPr/>
            <p:nvPr/>
          </p:nvSpPr>
          <p:spPr>
            <a:xfrm>
              <a:off x="6537960" y="5111496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31/settings-Appearance/text/048"/>
            <p:cNvSpPr txBox="1"/>
            <p:nvPr/>
          </p:nvSpPr>
          <p:spPr>
            <a:xfrm>
              <a:off x="6537960" y="5111496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640</a:t>
              </a:r>
            </a:p>
          </p:txBody>
        </p:sp>
        <p:sp>
          <p:nvSpPr>
            <p:cNvPr id="60" name="N31/settings-Appearance/text/049"/>
            <p:cNvSpPr txBox="1"/>
            <p:nvPr/>
          </p:nvSpPr>
          <p:spPr>
            <a:xfrm>
              <a:off x="7251192" y="5111496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61" name="N31/settings-Appearance/text/050"/>
            <p:cNvSpPr txBox="1"/>
            <p:nvPr/>
          </p:nvSpPr>
          <p:spPr>
            <a:xfrm>
              <a:off x="7397496" y="5111496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62" name="N31/settings-Appearance/line/051"/>
            <p:cNvCxnSpPr/>
            <p:nvPr/>
          </p:nvCxnSpPr>
          <p:spPr>
            <a:xfrm>
              <a:off x="941832" y="540410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N31/settings-Appearance/text/052"/>
            <p:cNvSpPr txBox="1"/>
            <p:nvPr/>
          </p:nvSpPr>
          <p:spPr>
            <a:xfrm>
              <a:off x="941832" y="5413248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Maximum page height</a:t>
              </a:r>
            </a:p>
          </p:txBody>
        </p:sp>
        <p:sp>
          <p:nvSpPr>
            <p:cNvPr id="64" name="N31/settings-Appearance/rect/053"/>
            <p:cNvSpPr/>
            <p:nvPr/>
          </p:nvSpPr>
          <p:spPr>
            <a:xfrm>
              <a:off x="6537960" y="5440680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31/settings-Appearance/text/054"/>
            <p:cNvSpPr txBox="1"/>
            <p:nvPr/>
          </p:nvSpPr>
          <p:spPr>
            <a:xfrm>
              <a:off x="6537960" y="5440680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320</a:t>
              </a:r>
            </a:p>
          </p:txBody>
        </p:sp>
        <p:sp>
          <p:nvSpPr>
            <p:cNvPr id="66" name="N31/settings-Appearance/text/055"/>
            <p:cNvSpPr txBox="1"/>
            <p:nvPr/>
          </p:nvSpPr>
          <p:spPr>
            <a:xfrm>
              <a:off x="7251192" y="5440680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67" name="N31/settings-Appearance/text/056"/>
            <p:cNvSpPr txBox="1"/>
            <p:nvPr/>
          </p:nvSpPr>
          <p:spPr>
            <a:xfrm>
              <a:off x="7397496" y="5440680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sp>
          <p:nvSpPr>
            <p:cNvPr id="68" name="N31/settings-Appearance/rect/057"/>
            <p:cNvSpPr/>
            <p:nvPr/>
          </p:nvSpPr>
          <p:spPr>
            <a:xfrm>
              <a:off x="8028432" y="2633472"/>
              <a:ext cx="45720" cy="333756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N31/settings-Appearance/rect/058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0" name="N31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31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72" name="N31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31/text/013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Placement: panel / top-center / floating</a:t>
            </a:r>
          </a:p>
        </p:txBody>
      </p:sp>
      <p:sp>
        <p:nvSpPr>
          <p:cNvPr id="74" name="N31/ellipse/014"/>
          <p:cNvSpPr/>
          <p:nvPr/>
        </p:nvSpPr>
        <p:spPr>
          <a:xfrm>
            <a:off x="8659368" y="25877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31/text/015"/>
          <p:cNvSpPr txBox="1"/>
          <p:nvPr/>
        </p:nvSpPr>
        <p:spPr>
          <a:xfrm>
            <a:off x="8805672" y="2523744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Monitor −1…15</a:t>
            </a:r>
          </a:p>
        </p:txBody>
      </p:sp>
      <p:sp>
        <p:nvSpPr>
          <p:cNvPr id="76" name="N31/ellipse/016"/>
          <p:cNvSpPr/>
          <p:nvPr/>
        </p:nvSpPr>
        <p:spPr>
          <a:xfrm>
            <a:off x="8659368" y="289864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31/text/017"/>
          <p:cNvSpPr txBox="1"/>
          <p:nvPr/>
        </p:nvSpPr>
        <p:spPr>
          <a:xfrm>
            <a:off x="8805672" y="283464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Collapsed 150–520 × 24–64</a:t>
            </a:r>
          </a:p>
        </p:txBody>
      </p:sp>
      <p:sp>
        <p:nvSpPr>
          <p:cNvPr id="78" name="N31/ellipse/018"/>
          <p:cNvSpPr/>
          <p:nvPr/>
        </p:nvSpPr>
        <p:spPr>
          <a:xfrm>
            <a:off x="8659368" y="320954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N31/text/019"/>
          <p:cNvSpPr txBox="1"/>
          <p:nvPr/>
        </p:nvSpPr>
        <p:spPr>
          <a:xfrm>
            <a:off x="8805672" y="314553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Expanded 480–1100 × 200–720</a:t>
            </a:r>
          </a:p>
        </p:txBody>
      </p:sp>
      <p:cxnSp>
        <p:nvCxnSpPr>
          <p:cNvPr id="80" name="N31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N31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82" name="N31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N31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Row order / labels / grouping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APPEARANCE</a:t>
            </a:r>
          </a:p>
        </p:txBody>
      </p:sp>
      <p:sp>
        <p:nvSpPr>
          <p:cNvPr id="5" name="N3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Geometry switches + finish</a:t>
            </a:r>
          </a:p>
        </p:txBody>
      </p:sp>
      <p:sp>
        <p:nvSpPr>
          <p:cNvPr id="6" name="N3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Lower part of Appearance page</a:t>
            </a:r>
          </a:p>
        </p:txBody>
      </p:sp>
      <p:cxnSp>
        <p:nvCxnSpPr>
          <p:cNvPr id="7" name="N3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N32</a:t>
            </a:r>
          </a:p>
        </p:txBody>
      </p:sp>
      <p:sp>
        <p:nvSpPr>
          <p:cNvPr id="10" name="N3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32</a:t>
            </a:r>
          </a:p>
        </p:txBody>
      </p:sp>
      <p:grpSp>
        <p:nvGrpSpPr>
          <p:cNvPr id="11" name="N32/settings-Appearance"/>
          <p:cNvGrpSpPr/>
          <p:nvPr/>
        </p:nvGrpSpPr>
        <p:grpSpPr>
          <a:xfrm>
            <a:off x="502920" y="1627632"/>
            <a:ext cx="7635240" cy="4389120"/>
            <a:chOff x="502920" y="1627632"/>
            <a:chExt cx="7635240" cy="4389120"/>
          </a:xfrm>
        </p:grpSpPr>
        <p:sp>
          <p:nvSpPr>
            <p:cNvPr id="12" name="N32/settings-Appearance/adw-window/001"/>
            <p:cNvSpPr/>
            <p:nvPr/>
          </p:nvSpPr>
          <p:spPr>
            <a:xfrm>
              <a:off x="502920" y="1627632"/>
              <a:ext cx="7635240" cy="4389120"/>
            </a:xfrm>
            <a:prstGeom prst="roundRect">
              <a:avLst>
                <a:gd name="adj" fmla="val 2500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2/settings-Appearance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2/settings-Appearance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2/settings-Appearance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 Preferences</a:t>
              </a:r>
            </a:p>
          </p:txBody>
        </p:sp>
        <p:sp>
          <p:nvSpPr>
            <p:cNvPr id="16" name="N32/settings-Appearance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2/settings-Appearance/rect/006"/>
            <p:cNvSpPr/>
            <p:nvPr/>
          </p:nvSpPr>
          <p:spPr>
            <a:xfrm>
              <a:off x="681228" y="2157984"/>
              <a:ext cx="173736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2/settings-Appearance/text/007"/>
            <p:cNvSpPr txBox="1"/>
            <p:nvPr/>
          </p:nvSpPr>
          <p:spPr>
            <a:xfrm>
              <a:off x="681228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2/settings-Appearance/rect/008"/>
            <p:cNvSpPr/>
            <p:nvPr/>
          </p:nvSpPr>
          <p:spPr>
            <a:xfrm>
              <a:off x="2528316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2/settings-Appearance/text/009"/>
            <p:cNvSpPr txBox="1"/>
            <p:nvPr/>
          </p:nvSpPr>
          <p:spPr>
            <a:xfrm>
              <a:off x="2528316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2/settings-Appearance/rect/010"/>
            <p:cNvSpPr/>
            <p:nvPr/>
          </p:nvSpPr>
          <p:spPr>
            <a:xfrm>
              <a:off x="4375404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2/settings-Appearance/text/011"/>
            <p:cNvSpPr txBox="1"/>
            <p:nvPr/>
          </p:nvSpPr>
          <p:spPr>
            <a:xfrm>
              <a:off x="4375404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</a:t>
              </a:r>
            </a:p>
          </p:txBody>
        </p:sp>
        <p:sp>
          <p:nvSpPr>
            <p:cNvPr id="23" name="N32/settings-Appearance/text/012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Shape &amp; position (continued)</a:t>
              </a:r>
            </a:p>
          </p:txBody>
        </p:sp>
        <p:sp>
          <p:nvSpPr>
            <p:cNvPr id="24" name="N32/settings-Appearance/adw-group/013"/>
            <p:cNvSpPr/>
            <p:nvPr/>
          </p:nvSpPr>
          <p:spPr>
            <a:xfrm>
              <a:off x="777240" y="2852928"/>
              <a:ext cx="7086600" cy="1371600"/>
            </a:xfrm>
            <a:prstGeom prst="roundRect">
              <a:avLst>
                <a:gd name="adj" fmla="val 666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32/settings-Appearance/text/014"/>
            <p:cNvSpPr txBox="1"/>
            <p:nvPr/>
          </p:nvSpPr>
          <p:spPr>
            <a:xfrm>
              <a:off x="941832" y="288950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Match panel height when closed</a:t>
              </a:r>
            </a:p>
          </p:txBody>
        </p:sp>
        <p:sp>
          <p:nvSpPr>
            <p:cNvPr id="26" name="N32/settings-Appearance/rect/015"/>
            <p:cNvSpPr/>
            <p:nvPr/>
          </p:nvSpPr>
          <p:spPr>
            <a:xfrm>
              <a:off x="7132320" y="2944368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32/settings-Appearance/ellipse/016"/>
            <p:cNvSpPr/>
            <p:nvPr/>
          </p:nvSpPr>
          <p:spPr>
            <a:xfrm>
              <a:off x="7315200" y="2962656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N32/settings-Appearance/line/017"/>
            <p:cNvCxnSpPr/>
            <p:nvPr/>
          </p:nvCxnSpPr>
          <p:spPr>
            <a:xfrm>
              <a:off x="941832" y="320954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N32/settings-Appearance/text/018"/>
            <p:cNvSpPr txBox="1"/>
            <p:nvPr/>
          </p:nvSpPr>
          <p:spPr>
            <a:xfrm>
              <a:off x="941832" y="321868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Adaptive MacBook corners</a:t>
              </a:r>
            </a:p>
          </p:txBody>
        </p:sp>
        <p:sp>
          <p:nvSpPr>
            <p:cNvPr id="30" name="N32/settings-Appearance/rect/019"/>
            <p:cNvSpPr/>
            <p:nvPr/>
          </p:nvSpPr>
          <p:spPr>
            <a:xfrm>
              <a:off x="7132320" y="3273551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32/settings-Appearance/ellipse/020"/>
            <p:cNvSpPr/>
            <p:nvPr/>
          </p:nvSpPr>
          <p:spPr>
            <a:xfrm>
              <a:off x="7315200" y="3291839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N32/settings-Appearance/line/021"/>
            <p:cNvCxnSpPr/>
            <p:nvPr/>
          </p:nvCxnSpPr>
          <p:spPr>
            <a:xfrm>
              <a:off x="941832" y="3538727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32/settings-Appearance/text/022"/>
            <p:cNvSpPr txBox="1"/>
            <p:nvPr/>
          </p:nvSpPr>
          <p:spPr>
            <a:xfrm>
              <a:off x="941832" y="354787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Floating top margin</a:t>
              </a:r>
            </a:p>
          </p:txBody>
        </p:sp>
        <p:sp>
          <p:nvSpPr>
            <p:cNvPr id="34" name="N32/settings-Appearance/rect/023"/>
            <p:cNvSpPr/>
            <p:nvPr/>
          </p:nvSpPr>
          <p:spPr>
            <a:xfrm>
              <a:off x="6537960" y="3575303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32/settings-Appearance/text/024"/>
            <p:cNvSpPr txBox="1"/>
            <p:nvPr/>
          </p:nvSpPr>
          <p:spPr>
            <a:xfrm>
              <a:off x="6537960" y="3575303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12</a:t>
              </a:r>
            </a:p>
          </p:txBody>
        </p:sp>
        <p:sp>
          <p:nvSpPr>
            <p:cNvPr id="36" name="N32/settings-Appearance/text/025"/>
            <p:cNvSpPr txBox="1"/>
            <p:nvPr/>
          </p:nvSpPr>
          <p:spPr>
            <a:xfrm>
              <a:off x="7251192" y="3575303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37" name="N32/settings-Appearance/text/026"/>
            <p:cNvSpPr txBox="1"/>
            <p:nvPr/>
          </p:nvSpPr>
          <p:spPr>
            <a:xfrm>
              <a:off x="7397496" y="3575303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38" name="N32/settings-Appearance/line/027"/>
            <p:cNvCxnSpPr/>
            <p:nvPr/>
          </p:nvCxnSpPr>
          <p:spPr>
            <a:xfrm>
              <a:off x="941832" y="3867911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32/settings-Appearance/text/028"/>
            <p:cNvSpPr txBox="1"/>
            <p:nvPr/>
          </p:nvSpPr>
          <p:spPr>
            <a:xfrm>
              <a:off x="941832" y="3877055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Horizontal offset</a:t>
              </a:r>
            </a:p>
          </p:txBody>
        </p:sp>
        <p:sp>
          <p:nvSpPr>
            <p:cNvPr id="40" name="N32/settings-Appearance/rect/029"/>
            <p:cNvSpPr/>
            <p:nvPr/>
          </p:nvSpPr>
          <p:spPr>
            <a:xfrm>
              <a:off x="6537960" y="3904487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32/settings-Appearance/text/030"/>
            <p:cNvSpPr txBox="1"/>
            <p:nvPr/>
          </p:nvSpPr>
          <p:spPr>
            <a:xfrm>
              <a:off x="6537960" y="3904487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0</a:t>
              </a:r>
            </a:p>
          </p:txBody>
        </p:sp>
        <p:sp>
          <p:nvSpPr>
            <p:cNvPr id="42" name="N32/settings-Appearance/text/031"/>
            <p:cNvSpPr txBox="1"/>
            <p:nvPr/>
          </p:nvSpPr>
          <p:spPr>
            <a:xfrm>
              <a:off x="7251192" y="3904487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3" name="N32/settings-Appearance/text/032"/>
            <p:cNvSpPr txBox="1"/>
            <p:nvPr/>
          </p:nvSpPr>
          <p:spPr>
            <a:xfrm>
              <a:off x="7397496" y="3904487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sp>
          <p:nvSpPr>
            <p:cNvPr id="44" name="N32/settings-Appearance/text/033"/>
            <p:cNvSpPr txBox="1"/>
            <p:nvPr/>
          </p:nvSpPr>
          <p:spPr>
            <a:xfrm>
              <a:off x="822960" y="4389120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Finish</a:t>
              </a:r>
            </a:p>
          </p:txBody>
        </p:sp>
        <p:sp>
          <p:nvSpPr>
            <p:cNvPr id="45" name="N32/settings-Appearance/adw-group/034"/>
            <p:cNvSpPr/>
            <p:nvPr/>
          </p:nvSpPr>
          <p:spPr>
            <a:xfrm>
              <a:off x="777240" y="4626864"/>
              <a:ext cx="7086600" cy="1042416"/>
            </a:xfrm>
            <a:prstGeom prst="roundRect">
              <a:avLst>
                <a:gd name="adj" fmla="val 8771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N32/settings-Appearance/text/035"/>
            <p:cNvSpPr txBox="1"/>
            <p:nvPr/>
          </p:nvSpPr>
          <p:spPr>
            <a:xfrm>
              <a:off x="941832" y="466344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Corner radius</a:t>
              </a:r>
            </a:p>
          </p:txBody>
        </p:sp>
        <p:sp>
          <p:nvSpPr>
            <p:cNvPr id="47" name="N32/settings-Appearance/rect/036"/>
            <p:cNvSpPr/>
            <p:nvPr/>
          </p:nvSpPr>
          <p:spPr>
            <a:xfrm>
              <a:off x="6537960" y="4690872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N32/settings-Appearance/text/037"/>
            <p:cNvSpPr txBox="1"/>
            <p:nvPr/>
          </p:nvSpPr>
          <p:spPr>
            <a:xfrm>
              <a:off x="6537960" y="4690872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24</a:t>
              </a:r>
            </a:p>
          </p:txBody>
        </p:sp>
        <p:sp>
          <p:nvSpPr>
            <p:cNvPr id="49" name="N32/settings-Appearance/text/038"/>
            <p:cNvSpPr txBox="1"/>
            <p:nvPr/>
          </p:nvSpPr>
          <p:spPr>
            <a:xfrm>
              <a:off x="7251192" y="469087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50" name="N32/settings-Appearance/text/039"/>
            <p:cNvSpPr txBox="1"/>
            <p:nvPr/>
          </p:nvSpPr>
          <p:spPr>
            <a:xfrm>
              <a:off x="7397496" y="469087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51" name="N32/settings-Appearance/line/040"/>
            <p:cNvCxnSpPr/>
            <p:nvPr/>
          </p:nvCxnSpPr>
          <p:spPr>
            <a:xfrm>
              <a:off x="941832" y="4983480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N32/settings-Appearance/text/041"/>
            <p:cNvSpPr txBox="1"/>
            <p:nvPr/>
          </p:nvSpPr>
          <p:spPr>
            <a:xfrm>
              <a:off x="941832" y="4992624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Opacity</a:t>
              </a:r>
            </a:p>
          </p:txBody>
        </p:sp>
        <p:sp>
          <p:nvSpPr>
            <p:cNvPr id="53" name="N32/settings-Appearance/text/042"/>
            <p:cNvSpPr txBox="1"/>
            <p:nvPr/>
          </p:nvSpPr>
          <p:spPr>
            <a:xfrm>
              <a:off x="941832" y="5157216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The notch remains opaque enough for readable controls</a:t>
              </a:r>
            </a:p>
          </p:txBody>
        </p:sp>
        <p:sp>
          <p:nvSpPr>
            <p:cNvPr id="54" name="N32/settings-Appearance/rect/043"/>
            <p:cNvSpPr/>
            <p:nvPr/>
          </p:nvSpPr>
          <p:spPr>
            <a:xfrm>
              <a:off x="6355080" y="5129784"/>
              <a:ext cx="914400" cy="36576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32/settings-Appearance/rect/044"/>
            <p:cNvSpPr/>
            <p:nvPr/>
          </p:nvSpPr>
          <p:spPr>
            <a:xfrm>
              <a:off x="6355080" y="5129784"/>
              <a:ext cx="914400" cy="36576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N32/settings-Appearance/ellipse/045"/>
            <p:cNvSpPr/>
            <p:nvPr/>
          </p:nvSpPr>
          <p:spPr>
            <a:xfrm>
              <a:off x="7205472" y="5084064"/>
              <a:ext cx="128016" cy="1280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32/settings-Appearance/text/046"/>
            <p:cNvSpPr txBox="1"/>
            <p:nvPr/>
          </p:nvSpPr>
          <p:spPr>
            <a:xfrm>
              <a:off x="7360920" y="5020056"/>
              <a:ext cx="27432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FFFFFF"/>
                  </a:solidFill>
                  <a:latin typeface="Arial"/>
                </a:rPr>
                <a:t>1.00</a:t>
              </a:r>
            </a:p>
          </p:txBody>
        </p:sp>
        <p:cxnSp>
          <p:nvCxnSpPr>
            <p:cNvPr id="58" name="N32/settings-Appearance/line/047"/>
            <p:cNvCxnSpPr/>
            <p:nvPr/>
          </p:nvCxnSpPr>
          <p:spPr>
            <a:xfrm>
              <a:off x="941832" y="531266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N32/settings-Appearance/text/048"/>
            <p:cNvSpPr txBox="1"/>
            <p:nvPr/>
          </p:nvSpPr>
          <p:spPr>
            <a:xfrm>
              <a:off x="941832" y="5321808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Notch scale</a:t>
              </a:r>
            </a:p>
          </p:txBody>
        </p:sp>
        <p:sp>
          <p:nvSpPr>
            <p:cNvPr id="60" name="N32/settings-Appearance/rect/049"/>
            <p:cNvSpPr/>
            <p:nvPr/>
          </p:nvSpPr>
          <p:spPr>
            <a:xfrm>
              <a:off x="6355080" y="5458968"/>
              <a:ext cx="914400" cy="36576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N32/settings-Appearance/rect/050"/>
            <p:cNvSpPr/>
            <p:nvPr/>
          </p:nvSpPr>
          <p:spPr>
            <a:xfrm>
              <a:off x="6355080" y="5458968"/>
              <a:ext cx="304495" cy="36576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N32/settings-Appearance/ellipse/051"/>
            <p:cNvSpPr/>
            <p:nvPr/>
          </p:nvSpPr>
          <p:spPr>
            <a:xfrm>
              <a:off x="6595567" y="5413248"/>
              <a:ext cx="128016" cy="1280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N32/settings-Appearance/text/052"/>
            <p:cNvSpPr txBox="1"/>
            <p:nvPr/>
          </p:nvSpPr>
          <p:spPr>
            <a:xfrm>
              <a:off x="7360920" y="5349240"/>
              <a:ext cx="27432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FFFFFF"/>
                  </a:solidFill>
                  <a:latin typeface="Arial"/>
                </a:rPr>
                <a:t>1.00</a:t>
              </a:r>
            </a:p>
          </p:txBody>
        </p:sp>
        <p:sp>
          <p:nvSpPr>
            <p:cNvPr id="64" name="N32/settings-Appearance/rect/053"/>
            <p:cNvSpPr/>
            <p:nvPr/>
          </p:nvSpPr>
          <p:spPr>
            <a:xfrm>
              <a:off x="8028432" y="2633472"/>
              <a:ext cx="45720" cy="320040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N32/settings-Appearance/rect/054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6" name="N32/text/010"/>
          <p:cNvSpPr txBox="1"/>
          <p:nvPr/>
        </p:nvSpPr>
        <p:spPr>
          <a:xfrm>
            <a:off x="502920" y="6108192"/>
            <a:ext cx="76352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1A1A6"/>
                </a:solidFill>
                <a:latin typeface="Arial"/>
              </a:rPr>
              <a:t>Opacity 0.50–1.00 · Notch scale 0.75–1.50 · corner radius applies when adaptive corners are off.</a:t>
            </a:r>
          </a:p>
        </p:txBody>
      </p:sp>
      <p:sp>
        <p:nvSpPr>
          <p:cNvPr id="67" name="N32/spec-panel/011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32/text/012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9" name="N32/ellipse/013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32/text/014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Match panel height default on</a:t>
            </a:r>
          </a:p>
        </p:txBody>
      </p:sp>
      <p:sp>
        <p:nvSpPr>
          <p:cNvPr id="71" name="N32/ellipse/015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32/text/016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Adaptive corners default on</a:t>
            </a:r>
          </a:p>
        </p:txBody>
      </p:sp>
      <p:sp>
        <p:nvSpPr>
          <p:cNvPr id="73" name="N32/ellipse/017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32/text/018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Opacity 1.00; scale 1.00</a:t>
            </a:r>
          </a:p>
        </p:txBody>
      </p:sp>
      <p:sp>
        <p:nvSpPr>
          <p:cNvPr id="75" name="N32/ellipse/019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32/text/020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Corner radius 8–40</a:t>
            </a:r>
          </a:p>
        </p:txBody>
      </p:sp>
      <p:cxnSp>
        <p:nvCxnSpPr>
          <p:cNvPr id="77" name="N32/line/021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N32/text/022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79" name="N32/edit-box/023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N32/edit-note/024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Finish controls / slider labels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BEHAVIOR</a:t>
            </a:r>
          </a:p>
        </p:txBody>
      </p:sp>
      <p:sp>
        <p:nvSpPr>
          <p:cNvPr id="5" name="N3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MacBook notch + motion</a:t>
            </a:r>
          </a:p>
        </p:txBody>
      </p:sp>
      <p:sp>
        <p:nvSpPr>
          <p:cNvPr id="6" name="N3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Top-edge behavior, notification routing and animation profile</a:t>
            </a:r>
          </a:p>
        </p:txBody>
      </p:sp>
      <p:cxnSp>
        <p:nvCxnSpPr>
          <p:cNvPr id="7" name="N3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N33</a:t>
            </a:r>
          </a:p>
        </p:txBody>
      </p:sp>
      <p:sp>
        <p:nvSpPr>
          <p:cNvPr id="10" name="N3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33</a:t>
            </a:r>
          </a:p>
        </p:txBody>
      </p:sp>
      <p:grpSp>
        <p:nvGrpSpPr>
          <p:cNvPr id="11" name="N33/settings-Behavior"/>
          <p:cNvGrpSpPr/>
          <p:nvPr/>
        </p:nvGrpSpPr>
        <p:grpSpPr>
          <a:xfrm>
            <a:off x="502920" y="1627632"/>
            <a:ext cx="7635240" cy="4526280"/>
            <a:chOff x="502920" y="1627632"/>
            <a:chExt cx="7635240" cy="4526280"/>
          </a:xfrm>
        </p:grpSpPr>
        <p:sp>
          <p:nvSpPr>
            <p:cNvPr id="12" name="N33/settings-Behavior/adw-window/001"/>
            <p:cNvSpPr/>
            <p:nvPr/>
          </p:nvSpPr>
          <p:spPr>
            <a:xfrm>
              <a:off x="502920" y="1627632"/>
              <a:ext cx="7635240" cy="4526280"/>
            </a:xfrm>
            <a:prstGeom prst="roundRect">
              <a:avLst>
                <a:gd name="adj" fmla="val 2424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3/settings-Behavior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3/settings-Behavior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3/settings-Behavior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 Preferences</a:t>
              </a:r>
            </a:p>
          </p:txBody>
        </p:sp>
        <p:sp>
          <p:nvSpPr>
            <p:cNvPr id="16" name="N33/settings-Behavior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3/settings-Behavior/rect/006"/>
            <p:cNvSpPr/>
            <p:nvPr/>
          </p:nvSpPr>
          <p:spPr>
            <a:xfrm>
              <a:off x="681228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3/settings-Behavior/text/007"/>
            <p:cNvSpPr txBox="1"/>
            <p:nvPr/>
          </p:nvSpPr>
          <p:spPr>
            <a:xfrm>
              <a:off x="681228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3/settings-Behavior/rect/008"/>
            <p:cNvSpPr/>
            <p:nvPr/>
          </p:nvSpPr>
          <p:spPr>
            <a:xfrm>
              <a:off x="2528316" y="2157984"/>
              <a:ext cx="173736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3/settings-Behavior/text/009"/>
            <p:cNvSpPr txBox="1"/>
            <p:nvPr/>
          </p:nvSpPr>
          <p:spPr>
            <a:xfrm>
              <a:off x="2528316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3/settings-Behavior/rect/010"/>
            <p:cNvSpPr/>
            <p:nvPr/>
          </p:nvSpPr>
          <p:spPr>
            <a:xfrm>
              <a:off x="4375404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3/settings-Behavior/text/011"/>
            <p:cNvSpPr txBox="1"/>
            <p:nvPr/>
          </p:nvSpPr>
          <p:spPr>
            <a:xfrm>
              <a:off x="4375404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</a:t>
              </a:r>
            </a:p>
          </p:txBody>
        </p:sp>
        <p:sp>
          <p:nvSpPr>
            <p:cNvPr id="23" name="N33/settings-Behavior/text/012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Scroll for durations and opening/hiding groups →</a:t>
              </a:r>
            </a:p>
          </p:txBody>
        </p:sp>
        <p:sp>
          <p:nvSpPr>
            <p:cNvPr id="24" name="N33/settings-Behavior/text/013"/>
            <p:cNvSpPr txBox="1"/>
            <p:nvPr/>
          </p:nvSpPr>
          <p:spPr>
            <a:xfrm>
              <a:off x="822960" y="2889503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MacBook notch</a:t>
              </a:r>
            </a:p>
          </p:txBody>
        </p:sp>
        <p:sp>
          <p:nvSpPr>
            <p:cNvPr id="25" name="N33/settings-Behavior/text/014"/>
            <p:cNvSpPr txBox="1"/>
            <p:nvPr/>
          </p:nvSpPr>
          <p:spPr>
            <a:xfrm>
              <a:off x="822960" y="312724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The default is a top-edge notch, not a floating Dynamic Island.</a:t>
              </a:r>
            </a:p>
          </p:txBody>
        </p:sp>
        <p:sp>
          <p:nvSpPr>
            <p:cNvPr id="26" name="N33/settings-Behavior/adw-group/015"/>
            <p:cNvSpPr/>
            <p:nvPr/>
          </p:nvSpPr>
          <p:spPr>
            <a:xfrm>
              <a:off x="777240" y="3401568"/>
              <a:ext cx="7086600" cy="2359152"/>
            </a:xfrm>
            <a:prstGeom prst="roundRect">
              <a:avLst>
                <a:gd name="adj" fmla="val 3875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33/settings-Behavior/text/016"/>
            <p:cNvSpPr txBox="1"/>
            <p:nvPr/>
          </p:nvSpPr>
          <p:spPr>
            <a:xfrm>
              <a:off x="941832" y="343814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Replace top-bar date &amp; time</a:t>
              </a:r>
            </a:p>
          </p:txBody>
        </p:sp>
        <p:sp>
          <p:nvSpPr>
            <p:cNvPr id="28" name="N33/settings-Behavior/rect/017"/>
            <p:cNvSpPr/>
            <p:nvPr/>
          </p:nvSpPr>
          <p:spPr>
            <a:xfrm>
              <a:off x="7132320" y="3493007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33/settings-Behavior/ellipse/018"/>
            <p:cNvSpPr/>
            <p:nvPr/>
          </p:nvSpPr>
          <p:spPr>
            <a:xfrm>
              <a:off x="7315200" y="3511295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N33/settings-Behavior/line/019"/>
            <p:cNvCxnSpPr/>
            <p:nvPr/>
          </p:nvCxnSpPr>
          <p:spPr>
            <a:xfrm>
              <a:off x="941832" y="375818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33/settings-Behavior/text/020"/>
            <p:cNvSpPr txBox="1"/>
            <p:nvPr/>
          </p:nvSpPr>
          <p:spPr>
            <a:xfrm>
              <a:off x="941832" y="376732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Show time when idle</a:t>
              </a:r>
            </a:p>
          </p:txBody>
        </p:sp>
        <p:sp>
          <p:nvSpPr>
            <p:cNvPr id="32" name="N33/settings-Behavior/rect/021"/>
            <p:cNvSpPr/>
            <p:nvPr/>
          </p:nvSpPr>
          <p:spPr>
            <a:xfrm>
              <a:off x="7132320" y="3822191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33/settings-Behavior/ellipse/022"/>
            <p:cNvSpPr/>
            <p:nvPr/>
          </p:nvSpPr>
          <p:spPr>
            <a:xfrm>
              <a:off x="7315200" y="3840479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4" name="N33/settings-Behavior/line/023"/>
            <p:cNvCxnSpPr/>
            <p:nvPr/>
          </p:nvCxnSpPr>
          <p:spPr>
            <a:xfrm>
              <a:off x="941832" y="408736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N33/settings-Behavior/text/024"/>
            <p:cNvSpPr txBox="1"/>
            <p:nvPr/>
          </p:nvSpPr>
          <p:spPr>
            <a:xfrm>
              <a:off x="941832" y="409651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Show notifications in the notch</a:t>
              </a:r>
            </a:p>
          </p:txBody>
        </p:sp>
        <p:sp>
          <p:nvSpPr>
            <p:cNvPr id="36" name="N33/settings-Behavior/rect/025"/>
            <p:cNvSpPr/>
            <p:nvPr/>
          </p:nvSpPr>
          <p:spPr>
            <a:xfrm>
              <a:off x="7132320" y="4151376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33/settings-Behavior/ellipse/026"/>
            <p:cNvSpPr/>
            <p:nvPr/>
          </p:nvSpPr>
          <p:spPr>
            <a:xfrm>
              <a:off x="7315200" y="4169663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N33/settings-Behavior/line/027"/>
            <p:cNvCxnSpPr/>
            <p:nvPr/>
          </p:nvCxnSpPr>
          <p:spPr>
            <a:xfrm>
              <a:off x="941832" y="4416552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33/settings-Behavior/text/028"/>
            <p:cNvSpPr txBox="1"/>
            <p:nvPr/>
          </p:nvSpPr>
          <p:spPr>
            <a:xfrm>
              <a:off x="941832" y="442569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Compact notification peeks</a:t>
              </a:r>
            </a:p>
          </p:txBody>
        </p:sp>
        <p:sp>
          <p:nvSpPr>
            <p:cNvPr id="40" name="N33/settings-Behavior/rect/029"/>
            <p:cNvSpPr/>
            <p:nvPr/>
          </p:nvSpPr>
          <p:spPr>
            <a:xfrm>
              <a:off x="7132320" y="4480560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33/settings-Behavior/ellipse/030"/>
            <p:cNvSpPr/>
            <p:nvPr/>
          </p:nvSpPr>
          <p:spPr>
            <a:xfrm>
              <a:off x="7315200" y="4498848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2" name="N33/settings-Behavior/line/031"/>
            <p:cNvCxnSpPr/>
            <p:nvPr/>
          </p:nvCxnSpPr>
          <p:spPr>
            <a:xfrm>
              <a:off x="941832" y="4745736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N33/settings-Behavior/text/032"/>
            <p:cNvSpPr txBox="1"/>
            <p:nvPr/>
          </p:nvSpPr>
          <p:spPr>
            <a:xfrm>
              <a:off x="941832" y="475488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Peek duration (ms)</a:t>
              </a:r>
            </a:p>
          </p:txBody>
        </p:sp>
        <p:sp>
          <p:nvSpPr>
            <p:cNvPr id="44" name="N33/settings-Behavior/rect/033"/>
            <p:cNvSpPr/>
            <p:nvPr/>
          </p:nvSpPr>
          <p:spPr>
            <a:xfrm>
              <a:off x="6537960" y="4782312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N33/settings-Behavior/text/034"/>
            <p:cNvSpPr txBox="1"/>
            <p:nvPr/>
          </p:nvSpPr>
          <p:spPr>
            <a:xfrm>
              <a:off x="6537960" y="4782312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5000</a:t>
              </a:r>
            </a:p>
          </p:txBody>
        </p:sp>
        <p:sp>
          <p:nvSpPr>
            <p:cNvPr id="46" name="N33/settings-Behavior/text/035"/>
            <p:cNvSpPr txBox="1"/>
            <p:nvPr/>
          </p:nvSpPr>
          <p:spPr>
            <a:xfrm>
              <a:off x="7251192" y="478231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7" name="N33/settings-Behavior/text/036"/>
            <p:cNvSpPr txBox="1"/>
            <p:nvPr/>
          </p:nvSpPr>
          <p:spPr>
            <a:xfrm>
              <a:off x="7397496" y="4782312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48" name="N33/settings-Behavior/line/037"/>
            <p:cNvCxnSpPr/>
            <p:nvPr/>
          </p:nvCxnSpPr>
          <p:spPr>
            <a:xfrm>
              <a:off x="941832" y="5074920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N33/settings-Behavior/text/038"/>
            <p:cNvSpPr txBox="1"/>
            <p:nvPr/>
          </p:nvSpPr>
          <p:spPr>
            <a:xfrm>
              <a:off x="941832" y="5084064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Closed music wings</a:t>
              </a:r>
            </a:p>
          </p:txBody>
        </p:sp>
        <p:sp>
          <p:nvSpPr>
            <p:cNvPr id="50" name="N33/settings-Behavior/rect/039"/>
            <p:cNvSpPr/>
            <p:nvPr/>
          </p:nvSpPr>
          <p:spPr>
            <a:xfrm>
              <a:off x="7132320" y="5138928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N33/settings-Behavior/ellipse/040"/>
            <p:cNvSpPr/>
            <p:nvPr/>
          </p:nvSpPr>
          <p:spPr>
            <a:xfrm>
              <a:off x="7315200" y="5157216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N33/settings-Behavior/line/041"/>
            <p:cNvCxnSpPr/>
            <p:nvPr/>
          </p:nvCxnSpPr>
          <p:spPr>
            <a:xfrm>
              <a:off x="941832" y="540410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N33/settings-Behavior/text/042"/>
            <p:cNvSpPr txBox="1"/>
            <p:nvPr/>
          </p:nvSpPr>
          <p:spPr>
            <a:xfrm>
              <a:off x="941832" y="5413248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Motion profile</a:t>
              </a:r>
            </a:p>
          </p:txBody>
        </p:sp>
        <p:sp>
          <p:nvSpPr>
            <p:cNvPr id="54" name="N33/settings-Behavior/rect/043"/>
            <p:cNvSpPr/>
            <p:nvPr/>
          </p:nvSpPr>
          <p:spPr>
            <a:xfrm>
              <a:off x="5852160" y="5440680"/>
              <a:ext cx="1920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N33/settings-Behavior/text/044"/>
            <p:cNvSpPr txBox="1"/>
            <p:nvPr/>
          </p:nvSpPr>
          <p:spPr>
            <a:xfrm>
              <a:off x="5925312" y="5440680"/>
              <a:ext cx="164592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FFFFFF"/>
                  </a:solidFill>
                  <a:latin typeface="Arial"/>
                </a:rPr>
                <a:t>Mac spring</a:t>
              </a:r>
            </a:p>
          </p:txBody>
        </p:sp>
        <p:sp>
          <p:nvSpPr>
            <p:cNvPr id="56" name="N33/settings-Behavior/text/045"/>
            <p:cNvSpPr txBox="1"/>
            <p:nvPr/>
          </p:nvSpPr>
          <p:spPr>
            <a:xfrm>
              <a:off x="7589520" y="5440680"/>
              <a:ext cx="146304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⌄</a:t>
              </a:r>
            </a:p>
          </p:txBody>
        </p:sp>
        <p:sp>
          <p:nvSpPr>
            <p:cNvPr id="57" name="N33/settings-Behavior/rect/046"/>
            <p:cNvSpPr/>
            <p:nvPr/>
          </p:nvSpPr>
          <p:spPr>
            <a:xfrm>
              <a:off x="8028432" y="2633472"/>
              <a:ext cx="45720" cy="333756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33/settings-Behavior/rect/047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9" name="N33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33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1" name="N33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N33/text/013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Peek 2000–15000 ms, step 500</a:t>
            </a:r>
          </a:p>
        </p:txBody>
      </p:sp>
      <p:sp>
        <p:nvSpPr>
          <p:cNvPr id="63" name="N33/ellipse/014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33/text/015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Motion: Mac spring / Smooth easing</a:t>
            </a:r>
          </a:p>
        </p:txBody>
      </p:sp>
      <p:sp>
        <p:nvSpPr>
          <p:cNvPr id="65" name="N33/ellipse/016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33/text/017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Smooth open 420 ms; close 450 ms</a:t>
            </a:r>
          </a:p>
        </p:txBody>
      </p:sp>
      <p:sp>
        <p:nvSpPr>
          <p:cNvPr id="67" name="N33/ellipse/018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33/text/019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Durations 0–1000 ms, step 20</a:t>
            </a:r>
          </a:p>
        </p:txBody>
      </p:sp>
      <p:cxnSp>
        <p:nvCxnSpPr>
          <p:cNvPr id="69" name="N33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N33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71" name="N33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N33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Switch order / motion labels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BEHAVIOR</a:t>
            </a:r>
          </a:p>
        </p:txBody>
      </p:sp>
      <p:sp>
        <p:nvSpPr>
          <p:cNvPr id="5" name="N3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Opening, hiding, actions, media</a:t>
            </a:r>
          </a:p>
        </p:txBody>
      </p:sp>
      <p:sp>
        <p:nvSpPr>
          <p:cNvPr id="6" name="N3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Lower part of Behavior page</a:t>
            </a:r>
          </a:p>
        </p:txBody>
      </p:sp>
      <p:cxnSp>
        <p:nvCxnSpPr>
          <p:cNvPr id="7" name="N3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N34</a:t>
            </a:r>
          </a:p>
        </p:txBody>
      </p:sp>
      <p:sp>
        <p:nvSpPr>
          <p:cNvPr id="10" name="N3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34</a:t>
            </a:r>
          </a:p>
        </p:txBody>
      </p:sp>
      <p:grpSp>
        <p:nvGrpSpPr>
          <p:cNvPr id="11" name="N34/settings-Behavior"/>
          <p:cNvGrpSpPr/>
          <p:nvPr/>
        </p:nvGrpSpPr>
        <p:grpSpPr>
          <a:xfrm>
            <a:off x="502920" y="1627632"/>
            <a:ext cx="7635240" cy="3977639"/>
            <a:chOff x="502920" y="1627632"/>
            <a:chExt cx="7635240" cy="3977639"/>
          </a:xfrm>
        </p:grpSpPr>
        <p:sp>
          <p:nvSpPr>
            <p:cNvPr id="12" name="N34/settings-Behavior/adw-window/001"/>
            <p:cNvSpPr/>
            <p:nvPr/>
          </p:nvSpPr>
          <p:spPr>
            <a:xfrm>
              <a:off x="502920" y="1627632"/>
              <a:ext cx="7635240" cy="3977639"/>
            </a:xfrm>
            <a:prstGeom prst="roundRect">
              <a:avLst>
                <a:gd name="adj" fmla="val 2758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4/settings-Behavior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4/settings-Behavior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4/settings-Behavior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 Preferences</a:t>
              </a:r>
            </a:p>
          </p:txBody>
        </p:sp>
        <p:sp>
          <p:nvSpPr>
            <p:cNvPr id="16" name="N34/settings-Behavior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4/settings-Behavior/rect/006"/>
            <p:cNvSpPr/>
            <p:nvPr/>
          </p:nvSpPr>
          <p:spPr>
            <a:xfrm>
              <a:off x="681228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4/settings-Behavior/text/007"/>
            <p:cNvSpPr txBox="1"/>
            <p:nvPr/>
          </p:nvSpPr>
          <p:spPr>
            <a:xfrm>
              <a:off x="681228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4/settings-Behavior/rect/008"/>
            <p:cNvSpPr/>
            <p:nvPr/>
          </p:nvSpPr>
          <p:spPr>
            <a:xfrm>
              <a:off x="2528316" y="2157984"/>
              <a:ext cx="173736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4/settings-Behavior/text/009"/>
            <p:cNvSpPr txBox="1"/>
            <p:nvPr/>
          </p:nvSpPr>
          <p:spPr>
            <a:xfrm>
              <a:off x="2528316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4/settings-Behavior/rect/010"/>
            <p:cNvSpPr/>
            <p:nvPr/>
          </p:nvSpPr>
          <p:spPr>
            <a:xfrm>
              <a:off x="4375404" y="2157984"/>
              <a:ext cx="173736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4/settings-Behavior/text/011"/>
            <p:cNvSpPr txBox="1"/>
            <p:nvPr/>
          </p:nvSpPr>
          <p:spPr>
            <a:xfrm>
              <a:off x="4375404" y="2157984"/>
              <a:ext cx="173736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</a:t>
              </a:r>
            </a:p>
          </p:txBody>
        </p:sp>
        <p:sp>
          <p:nvSpPr>
            <p:cNvPr id="23" name="N34/settings-Behavior/text/012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Opening &amp; hiding</a:t>
              </a:r>
            </a:p>
          </p:txBody>
        </p:sp>
        <p:sp>
          <p:nvSpPr>
            <p:cNvPr id="24" name="N34/settings-Behavior/adw-group/013"/>
            <p:cNvSpPr/>
            <p:nvPr/>
          </p:nvSpPr>
          <p:spPr>
            <a:xfrm>
              <a:off x="777240" y="2852928"/>
              <a:ext cx="7086600" cy="2359152"/>
            </a:xfrm>
            <a:prstGeom prst="roundRect">
              <a:avLst>
                <a:gd name="adj" fmla="val 3875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34/settings-Behavior/text/014"/>
            <p:cNvSpPr txBox="1"/>
            <p:nvPr/>
          </p:nvSpPr>
          <p:spPr>
            <a:xfrm>
              <a:off x="941832" y="288950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Open on hover</a:t>
              </a:r>
            </a:p>
          </p:txBody>
        </p:sp>
        <p:sp>
          <p:nvSpPr>
            <p:cNvPr id="26" name="N34/settings-Behavior/rect/015"/>
            <p:cNvSpPr/>
            <p:nvPr/>
          </p:nvSpPr>
          <p:spPr>
            <a:xfrm>
              <a:off x="7132320" y="2944368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34/settings-Behavior/ellipse/016"/>
            <p:cNvSpPr/>
            <p:nvPr/>
          </p:nvSpPr>
          <p:spPr>
            <a:xfrm>
              <a:off x="7315200" y="2962656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N34/settings-Behavior/line/017"/>
            <p:cNvCxnSpPr/>
            <p:nvPr/>
          </p:nvCxnSpPr>
          <p:spPr>
            <a:xfrm>
              <a:off x="941832" y="320954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N34/settings-Behavior/text/018"/>
            <p:cNvSpPr txBox="1"/>
            <p:nvPr/>
          </p:nvSpPr>
          <p:spPr>
            <a:xfrm>
              <a:off x="941832" y="321868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Hover delay (ms)</a:t>
              </a:r>
            </a:p>
          </p:txBody>
        </p:sp>
        <p:sp>
          <p:nvSpPr>
            <p:cNvPr id="30" name="N34/settings-Behavior/rect/019"/>
            <p:cNvSpPr/>
            <p:nvPr/>
          </p:nvSpPr>
          <p:spPr>
            <a:xfrm>
              <a:off x="6537960" y="3246120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34/settings-Behavior/text/020"/>
            <p:cNvSpPr txBox="1"/>
            <p:nvPr/>
          </p:nvSpPr>
          <p:spPr>
            <a:xfrm>
              <a:off x="6537960" y="3246120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250</a:t>
              </a:r>
            </a:p>
          </p:txBody>
        </p:sp>
        <p:sp>
          <p:nvSpPr>
            <p:cNvPr id="32" name="N34/settings-Behavior/text/021"/>
            <p:cNvSpPr txBox="1"/>
            <p:nvPr/>
          </p:nvSpPr>
          <p:spPr>
            <a:xfrm>
              <a:off x="7251192" y="3246120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33" name="N34/settings-Behavior/text/022"/>
            <p:cNvSpPr txBox="1"/>
            <p:nvPr/>
          </p:nvSpPr>
          <p:spPr>
            <a:xfrm>
              <a:off x="7397496" y="3246120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34" name="N34/settings-Behavior/line/023"/>
            <p:cNvCxnSpPr/>
            <p:nvPr/>
          </p:nvCxnSpPr>
          <p:spPr>
            <a:xfrm>
              <a:off x="941832" y="3538727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N34/settings-Behavior/text/024"/>
            <p:cNvSpPr txBox="1"/>
            <p:nvPr/>
          </p:nvSpPr>
          <p:spPr>
            <a:xfrm>
              <a:off x="941832" y="354787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Auto-hide delay (ms)</a:t>
              </a:r>
            </a:p>
          </p:txBody>
        </p:sp>
        <p:sp>
          <p:nvSpPr>
            <p:cNvPr id="36" name="N34/settings-Behavior/text/025"/>
            <p:cNvSpPr txBox="1"/>
            <p:nvPr/>
          </p:nvSpPr>
          <p:spPr>
            <a:xfrm>
              <a:off x="941832" y="3712463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0 disables</a:t>
              </a:r>
            </a:p>
          </p:txBody>
        </p:sp>
        <p:sp>
          <p:nvSpPr>
            <p:cNvPr id="37" name="N34/settings-Behavior/rect/026"/>
            <p:cNvSpPr/>
            <p:nvPr/>
          </p:nvSpPr>
          <p:spPr>
            <a:xfrm>
              <a:off x="6537960" y="3575303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34/settings-Behavior/text/027"/>
            <p:cNvSpPr txBox="1"/>
            <p:nvPr/>
          </p:nvSpPr>
          <p:spPr>
            <a:xfrm>
              <a:off x="6537960" y="3575303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0</a:t>
              </a:r>
            </a:p>
          </p:txBody>
        </p:sp>
        <p:sp>
          <p:nvSpPr>
            <p:cNvPr id="39" name="N34/settings-Behavior/text/028"/>
            <p:cNvSpPr txBox="1"/>
            <p:nvPr/>
          </p:nvSpPr>
          <p:spPr>
            <a:xfrm>
              <a:off x="7251192" y="3575303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40" name="N34/settings-Behavior/text/029"/>
            <p:cNvSpPr txBox="1"/>
            <p:nvPr/>
          </p:nvSpPr>
          <p:spPr>
            <a:xfrm>
              <a:off x="7397496" y="3575303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41" name="N34/settings-Behavior/line/030"/>
            <p:cNvCxnSpPr/>
            <p:nvPr/>
          </p:nvCxnSpPr>
          <p:spPr>
            <a:xfrm>
              <a:off x="941832" y="3867911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N34/settings-Behavior/text/031"/>
            <p:cNvSpPr txBox="1"/>
            <p:nvPr/>
          </p:nvSpPr>
          <p:spPr>
            <a:xfrm>
              <a:off x="941832" y="3877055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Smooth animations</a:t>
              </a:r>
            </a:p>
          </p:txBody>
        </p:sp>
        <p:sp>
          <p:nvSpPr>
            <p:cNvPr id="43" name="N34/settings-Behavior/rect/032"/>
            <p:cNvSpPr/>
            <p:nvPr/>
          </p:nvSpPr>
          <p:spPr>
            <a:xfrm>
              <a:off x="7132320" y="3931920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N34/settings-Behavior/ellipse/033"/>
            <p:cNvSpPr/>
            <p:nvPr/>
          </p:nvSpPr>
          <p:spPr>
            <a:xfrm>
              <a:off x="7315200" y="3950207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N34/settings-Behavior/line/034"/>
            <p:cNvCxnSpPr/>
            <p:nvPr/>
          </p:nvCxnSpPr>
          <p:spPr>
            <a:xfrm>
              <a:off x="941832" y="4197096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N34/settings-Behavior/text/035"/>
            <p:cNvSpPr txBox="1"/>
            <p:nvPr/>
          </p:nvSpPr>
          <p:spPr>
            <a:xfrm>
              <a:off x="941832" y="420624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Hide on fullscreen</a:t>
              </a:r>
            </a:p>
          </p:txBody>
        </p:sp>
        <p:sp>
          <p:nvSpPr>
            <p:cNvPr id="47" name="N34/settings-Behavior/rect/036"/>
            <p:cNvSpPr/>
            <p:nvPr/>
          </p:nvSpPr>
          <p:spPr>
            <a:xfrm>
              <a:off x="7132320" y="4261104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N34/settings-Behavior/ellipse/037"/>
            <p:cNvSpPr/>
            <p:nvPr/>
          </p:nvSpPr>
          <p:spPr>
            <a:xfrm>
              <a:off x="7315200" y="4279392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N34/settings-Behavior/line/038"/>
            <p:cNvCxnSpPr/>
            <p:nvPr/>
          </p:nvCxnSpPr>
          <p:spPr>
            <a:xfrm>
              <a:off x="941832" y="4526280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N34/settings-Behavior/text/039"/>
            <p:cNvSpPr txBox="1"/>
            <p:nvPr/>
          </p:nvSpPr>
          <p:spPr>
            <a:xfrm>
              <a:off x="941832" y="4535424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Hide in Activities overview</a:t>
              </a:r>
            </a:p>
          </p:txBody>
        </p:sp>
        <p:sp>
          <p:nvSpPr>
            <p:cNvPr id="51" name="N34/settings-Behavior/rect/040"/>
            <p:cNvSpPr/>
            <p:nvPr/>
          </p:nvSpPr>
          <p:spPr>
            <a:xfrm>
              <a:off x="7132320" y="4590288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78AE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34/settings-Behavior/ellipse/041"/>
            <p:cNvSpPr/>
            <p:nvPr/>
          </p:nvSpPr>
          <p:spPr>
            <a:xfrm>
              <a:off x="7315200" y="4608576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3" name="N34/settings-Behavior/line/042"/>
            <p:cNvCxnSpPr/>
            <p:nvPr/>
          </p:nvCxnSpPr>
          <p:spPr>
            <a:xfrm>
              <a:off x="941832" y="4855464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N34/settings-Behavior/text/043"/>
            <p:cNvSpPr txBox="1"/>
            <p:nvPr/>
          </p:nvSpPr>
          <p:spPr>
            <a:xfrm>
              <a:off x="941832" y="4864608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Reserve collapsed space</a:t>
              </a:r>
            </a:p>
          </p:txBody>
        </p:sp>
        <p:sp>
          <p:nvSpPr>
            <p:cNvPr id="55" name="N34/settings-Behavior/text/044"/>
            <p:cNvSpPr txBox="1"/>
            <p:nvPr/>
          </p:nvSpPr>
          <p:spPr>
            <a:xfrm>
              <a:off x="941832" y="5029200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Experimental</a:t>
              </a:r>
            </a:p>
          </p:txBody>
        </p:sp>
        <p:sp>
          <p:nvSpPr>
            <p:cNvPr id="56" name="N34/settings-Behavior/rect/045"/>
            <p:cNvSpPr/>
            <p:nvPr/>
          </p:nvSpPr>
          <p:spPr>
            <a:xfrm>
              <a:off x="7132320" y="4919472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34/settings-Behavior/ellipse/046"/>
            <p:cNvSpPr/>
            <p:nvPr/>
          </p:nvSpPr>
          <p:spPr>
            <a:xfrm>
              <a:off x="7150608" y="4937760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N34/settings-Behavior/rect/047"/>
            <p:cNvSpPr/>
            <p:nvPr/>
          </p:nvSpPr>
          <p:spPr>
            <a:xfrm>
              <a:off x="8028432" y="2633472"/>
              <a:ext cx="45720" cy="278892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N34/settings-Behavior/rect/048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0" name="N34/rect/010"/>
          <p:cNvSpPr/>
          <p:nvPr/>
        </p:nvSpPr>
        <p:spPr>
          <a:xfrm>
            <a:off x="502920" y="5760720"/>
            <a:ext cx="7635240" cy="411480"/>
          </a:xfrm>
          <a:prstGeom prst="roundRect">
            <a:avLst>
              <a:gd name="adj" fmla="val 17777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34/text/011"/>
          <p:cNvSpPr txBox="1"/>
          <p:nvPr/>
        </p:nvSpPr>
        <p:spPr>
          <a:xfrm>
            <a:off x="685800" y="5760720"/>
            <a:ext cx="72694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5F5F7"/>
                </a:solidFill>
                <a:latin typeface="Arial"/>
              </a:rPr>
              <a:t>Quick actions: Do Not Disturb · Night Light · Dark Mode   |   Media: Download remote album art   |   Shortcut: Super + `</a:t>
            </a:r>
          </a:p>
        </p:txBody>
      </p:sp>
      <p:sp>
        <p:nvSpPr>
          <p:cNvPr id="62" name="N34/spec-panel/012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34/text/013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64" name="N34/ellipse/014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34/text/015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Hover 0–1500 ms</a:t>
            </a:r>
          </a:p>
        </p:txBody>
      </p:sp>
      <p:sp>
        <p:nvSpPr>
          <p:cNvPr id="66" name="N34/ellipse/016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34/text/017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Auto-hide 0–60000 ms</a:t>
            </a:r>
          </a:p>
        </p:txBody>
      </p:sp>
      <p:sp>
        <p:nvSpPr>
          <p:cNvPr id="68" name="N34/ellipse/018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34/text/019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All three quick actions default on</a:t>
            </a:r>
          </a:p>
        </p:txBody>
      </p:sp>
      <p:sp>
        <p:nvSpPr>
          <p:cNvPr id="70" name="N34/ellipse/020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34/text/021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Remote art default on</a:t>
            </a:r>
          </a:p>
        </p:txBody>
      </p:sp>
      <p:sp>
        <p:nvSpPr>
          <p:cNvPr id="72" name="N34/ellipse/022"/>
          <p:cNvSpPr/>
          <p:nvPr/>
        </p:nvSpPr>
        <p:spPr>
          <a:xfrm>
            <a:off x="8659368" y="3319271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N34/text/023"/>
          <p:cNvSpPr txBox="1"/>
          <p:nvPr/>
        </p:nvSpPr>
        <p:spPr>
          <a:xfrm>
            <a:off x="8805672" y="3255263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Shortcut configurable in schema</a:t>
            </a:r>
          </a:p>
        </p:txBody>
      </p:sp>
      <p:cxnSp>
        <p:nvCxnSpPr>
          <p:cNvPr id="74" name="N34/line/024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N34/text/025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76" name="N34/edit-box/026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N34/edit-note/027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Group order / experimental badge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5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5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5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PRIVACY</a:t>
            </a:r>
          </a:p>
        </p:txBody>
      </p:sp>
      <p:sp>
        <p:nvSpPr>
          <p:cNvPr id="5" name="N35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Clipboard history + file shelf</a:t>
            </a:r>
          </a:p>
        </p:txBody>
      </p:sp>
      <p:sp>
        <p:nvSpPr>
          <p:cNvPr id="6" name="N35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Companion title is 'Privacy &amp; shelf'; inline prefs title is 'Privacy'</a:t>
            </a:r>
          </a:p>
        </p:txBody>
      </p:sp>
      <p:cxnSp>
        <p:nvCxnSpPr>
          <p:cNvPr id="7" name="N35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5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5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N35</a:t>
            </a:r>
          </a:p>
        </p:txBody>
      </p:sp>
      <p:sp>
        <p:nvSpPr>
          <p:cNvPr id="10" name="N35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35</a:t>
            </a:r>
          </a:p>
        </p:txBody>
      </p:sp>
      <p:grpSp>
        <p:nvGrpSpPr>
          <p:cNvPr id="11" name="N35/settings-Privacy &amp; shelf"/>
          <p:cNvGrpSpPr/>
          <p:nvPr/>
        </p:nvGrpSpPr>
        <p:grpSpPr>
          <a:xfrm>
            <a:off x="502920" y="1627632"/>
            <a:ext cx="7635240" cy="4389120"/>
            <a:chOff x="502920" y="1627632"/>
            <a:chExt cx="7635240" cy="4389120"/>
          </a:xfrm>
        </p:grpSpPr>
        <p:sp>
          <p:nvSpPr>
            <p:cNvPr id="12" name="N35/settings-Privacy &amp; shelf/adw-window/001"/>
            <p:cNvSpPr/>
            <p:nvPr/>
          </p:nvSpPr>
          <p:spPr>
            <a:xfrm>
              <a:off x="502920" y="1627632"/>
              <a:ext cx="7635240" cy="4389120"/>
            </a:xfrm>
            <a:prstGeom prst="roundRect">
              <a:avLst>
                <a:gd name="adj" fmla="val 2500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5/settings-Privacy &amp; shelf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5/settings-Privacy &amp; shelf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5/settings-Privacy &amp; shelf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</a:t>
              </a:r>
            </a:p>
          </p:txBody>
        </p:sp>
        <p:sp>
          <p:nvSpPr>
            <p:cNvPr id="16" name="N35/settings-Privacy &amp; shelf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5/settings-Privacy &amp; shelf/rect/006"/>
            <p:cNvSpPr/>
            <p:nvPr/>
          </p:nvSpPr>
          <p:spPr>
            <a:xfrm>
              <a:off x="1321307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5/settings-Privacy &amp; shelf/text/007"/>
            <p:cNvSpPr txBox="1"/>
            <p:nvPr/>
          </p:nvSpPr>
          <p:spPr>
            <a:xfrm>
              <a:off x="1321307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5/settings-Privacy &amp; shelf/rect/008"/>
            <p:cNvSpPr/>
            <p:nvPr/>
          </p:nvSpPr>
          <p:spPr>
            <a:xfrm>
              <a:off x="2848356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5/settings-Privacy &amp; shelf/text/009"/>
            <p:cNvSpPr txBox="1"/>
            <p:nvPr/>
          </p:nvSpPr>
          <p:spPr>
            <a:xfrm>
              <a:off x="2848356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5/settings-Privacy &amp; shelf/rect/010"/>
            <p:cNvSpPr/>
            <p:nvPr/>
          </p:nvSpPr>
          <p:spPr>
            <a:xfrm>
              <a:off x="4375404" y="2157984"/>
              <a:ext cx="141732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5/settings-Privacy &amp; shelf/text/011"/>
            <p:cNvSpPr txBox="1"/>
            <p:nvPr/>
          </p:nvSpPr>
          <p:spPr>
            <a:xfrm>
              <a:off x="4375404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Privacy &amp; shelf</a:t>
              </a:r>
            </a:p>
          </p:txBody>
        </p:sp>
        <p:sp>
          <p:nvSpPr>
            <p:cNvPr id="23" name="N35/settings-Privacy &amp; shelf/rect/012"/>
            <p:cNvSpPr/>
            <p:nvPr/>
          </p:nvSpPr>
          <p:spPr>
            <a:xfrm>
              <a:off x="5902452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35/settings-Privacy &amp; shelf/text/013"/>
            <p:cNvSpPr txBox="1"/>
            <p:nvPr/>
          </p:nvSpPr>
          <p:spPr>
            <a:xfrm>
              <a:off x="5902452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About</a:t>
              </a:r>
            </a:p>
          </p:txBody>
        </p:sp>
        <p:sp>
          <p:nvSpPr>
            <p:cNvPr id="25" name="N35/settings-Privacy &amp; shelf/text/014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Clipboard history</a:t>
              </a:r>
            </a:p>
          </p:txBody>
        </p:sp>
        <p:sp>
          <p:nvSpPr>
            <p:cNvPr id="26" name="N35/settings-Privacy &amp; shelf/text/015"/>
            <p:cNvSpPr txBox="1"/>
            <p:nvPr/>
          </p:nvSpPr>
          <p:spPr>
            <a:xfrm>
              <a:off x="822960" y="285292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RAM-only, bounded, cleared on lock/disable. Keep off when handling secrets.</a:t>
              </a:r>
            </a:p>
          </p:txBody>
        </p:sp>
        <p:sp>
          <p:nvSpPr>
            <p:cNvPr id="27" name="N35/settings-Privacy &amp; shelf/adw-group/016"/>
            <p:cNvSpPr/>
            <p:nvPr/>
          </p:nvSpPr>
          <p:spPr>
            <a:xfrm>
              <a:off x="777240" y="3127248"/>
              <a:ext cx="7086600" cy="1042416"/>
            </a:xfrm>
            <a:prstGeom prst="roundRect">
              <a:avLst>
                <a:gd name="adj" fmla="val 8771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35/settings-Privacy &amp; shelf/text/017"/>
            <p:cNvSpPr txBox="1"/>
            <p:nvPr/>
          </p:nvSpPr>
          <p:spPr>
            <a:xfrm>
              <a:off x="941832" y="316382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Remember copied text</a:t>
              </a:r>
            </a:p>
          </p:txBody>
        </p:sp>
        <p:sp>
          <p:nvSpPr>
            <p:cNvPr id="29" name="N35/settings-Privacy &amp; shelf/rect/018"/>
            <p:cNvSpPr/>
            <p:nvPr/>
          </p:nvSpPr>
          <p:spPr>
            <a:xfrm>
              <a:off x="7132320" y="3218687"/>
              <a:ext cx="384048" cy="201168"/>
            </a:xfrm>
            <a:prstGeom prst="roundRect">
              <a:avLst>
                <a:gd name="adj" fmla="val 50000"/>
              </a:avLst>
            </a:prstGeom>
            <a:solidFill>
              <a:srgbClr val="5E5C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35/settings-Privacy &amp; shelf/ellipse/019"/>
            <p:cNvSpPr/>
            <p:nvPr/>
          </p:nvSpPr>
          <p:spPr>
            <a:xfrm>
              <a:off x="7150608" y="3236975"/>
              <a:ext cx="164592" cy="1645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N35/settings-Privacy &amp; shelf/line/020"/>
            <p:cNvCxnSpPr/>
            <p:nvPr/>
          </p:nvCxnSpPr>
          <p:spPr>
            <a:xfrm>
              <a:off x="941832" y="348386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N35/settings-Privacy &amp; shelf/text/021"/>
            <p:cNvSpPr txBox="1"/>
            <p:nvPr/>
          </p:nvSpPr>
          <p:spPr>
            <a:xfrm>
              <a:off x="941832" y="349300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History size</a:t>
              </a:r>
            </a:p>
          </p:txBody>
        </p:sp>
        <p:sp>
          <p:nvSpPr>
            <p:cNvPr id="33" name="N35/settings-Privacy &amp; shelf/text/022"/>
            <p:cNvSpPr txBox="1"/>
            <p:nvPr/>
          </p:nvSpPr>
          <p:spPr>
            <a:xfrm>
              <a:off x="941832" y="3657599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Entries</a:t>
              </a:r>
            </a:p>
          </p:txBody>
        </p:sp>
        <p:sp>
          <p:nvSpPr>
            <p:cNvPr id="34" name="N35/settings-Privacy &amp; shelf/rect/023"/>
            <p:cNvSpPr/>
            <p:nvPr/>
          </p:nvSpPr>
          <p:spPr>
            <a:xfrm>
              <a:off x="6537960" y="3520439"/>
              <a:ext cx="10058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35/settings-Privacy &amp; shelf/text/024"/>
            <p:cNvSpPr txBox="1"/>
            <p:nvPr/>
          </p:nvSpPr>
          <p:spPr>
            <a:xfrm>
              <a:off x="6537960" y="3520439"/>
              <a:ext cx="68580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20</a:t>
              </a:r>
            </a:p>
          </p:txBody>
        </p:sp>
        <p:sp>
          <p:nvSpPr>
            <p:cNvPr id="36" name="N35/settings-Privacy &amp; shelf/text/025"/>
            <p:cNvSpPr txBox="1"/>
            <p:nvPr/>
          </p:nvSpPr>
          <p:spPr>
            <a:xfrm>
              <a:off x="7251192" y="3520439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−</a:t>
              </a:r>
            </a:p>
          </p:txBody>
        </p:sp>
        <p:sp>
          <p:nvSpPr>
            <p:cNvPr id="37" name="N35/settings-Privacy &amp; shelf/text/026"/>
            <p:cNvSpPr txBox="1"/>
            <p:nvPr/>
          </p:nvSpPr>
          <p:spPr>
            <a:xfrm>
              <a:off x="7397496" y="3520439"/>
              <a:ext cx="128016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C0BFBC"/>
                  </a:solidFill>
                  <a:latin typeface="Arial"/>
                </a:rPr>
                <a:t>+</a:t>
              </a:r>
            </a:p>
          </p:txBody>
        </p:sp>
        <p:cxnSp>
          <p:nvCxnSpPr>
            <p:cNvPr id="38" name="N35/settings-Privacy &amp; shelf/line/027"/>
            <p:cNvCxnSpPr/>
            <p:nvPr/>
          </p:nvCxnSpPr>
          <p:spPr>
            <a:xfrm>
              <a:off x="941832" y="381304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N35/settings-Privacy &amp; shelf/text/028"/>
            <p:cNvSpPr txBox="1"/>
            <p:nvPr/>
          </p:nvSpPr>
          <p:spPr>
            <a:xfrm>
              <a:off x="941832" y="382219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Clear clipboard history</a:t>
              </a:r>
            </a:p>
          </p:txBody>
        </p:sp>
        <p:sp>
          <p:nvSpPr>
            <p:cNvPr id="40" name="N35/settings-Privacy &amp; shelf/text/029"/>
            <p:cNvSpPr txBox="1"/>
            <p:nvPr/>
          </p:nvSpPr>
          <p:spPr>
            <a:xfrm>
              <a:off x="941832" y="3986784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Does not erase the current system clipboard</a:t>
              </a:r>
            </a:p>
          </p:txBody>
        </p:sp>
        <p:sp>
          <p:nvSpPr>
            <p:cNvPr id="41" name="N35/settings-Privacy &amp; shelf/rect/030"/>
            <p:cNvSpPr/>
            <p:nvPr/>
          </p:nvSpPr>
          <p:spPr>
            <a:xfrm>
              <a:off x="6766560" y="3849624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N35/settings-Privacy &amp; shelf/text/031"/>
            <p:cNvSpPr txBox="1"/>
            <p:nvPr/>
          </p:nvSpPr>
          <p:spPr>
            <a:xfrm>
              <a:off x="6766560" y="3849624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Clear</a:t>
              </a:r>
            </a:p>
          </p:txBody>
        </p:sp>
        <p:sp>
          <p:nvSpPr>
            <p:cNvPr id="43" name="N35/settings-Privacy &amp; shelf/text/032"/>
            <p:cNvSpPr txBox="1"/>
            <p:nvPr/>
          </p:nvSpPr>
          <p:spPr>
            <a:xfrm>
              <a:off x="822960" y="4334256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File shelf</a:t>
              </a:r>
            </a:p>
          </p:txBody>
        </p:sp>
        <p:sp>
          <p:nvSpPr>
            <p:cNvPr id="44" name="N35/settings-Privacy &amp; shelf/text/033"/>
            <p:cNvSpPr txBox="1"/>
            <p:nvPr/>
          </p:nvSpPr>
          <p:spPr>
            <a:xfrm>
              <a:off x="822960" y="4572000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Local file references only. Originals are never moved or deleted.</a:t>
              </a:r>
            </a:p>
          </p:txBody>
        </p:sp>
        <p:sp>
          <p:nvSpPr>
            <p:cNvPr id="45" name="N35/settings-Privacy &amp; shelf/adw-group/034"/>
            <p:cNvSpPr/>
            <p:nvPr/>
          </p:nvSpPr>
          <p:spPr>
            <a:xfrm>
              <a:off x="777240" y="4846320"/>
              <a:ext cx="7086600" cy="713232"/>
            </a:xfrm>
            <a:prstGeom prst="roundRect">
              <a:avLst>
                <a:gd name="adj" fmla="val 12820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N35/settings-Privacy &amp; shelf/text/035"/>
            <p:cNvSpPr txBox="1"/>
            <p:nvPr/>
          </p:nvSpPr>
          <p:spPr>
            <a:xfrm>
              <a:off x="941832" y="488289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Reference list</a:t>
              </a:r>
            </a:p>
          </p:txBody>
        </p:sp>
        <p:sp>
          <p:nvSpPr>
            <p:cNvPr id="47" name="N35/settings-Privacy &amp; shelf/text/036"/>
            <p:cNvSpPr txBox="1"/>
            <p:nvPr/>
          </p:nvSpPr>
          <p:spPr>
            <a:xfrm>
              <a:off x="5852160" y="4910328"/>
              <a:ext cx="1920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C0BFBC"/>
                  </a:solidFill>
                  <a:latin typeface="Arial"/>
                </a:rPr>
                <a:t>~/.local/state/notch/shelf.json</a:t>
              </a:r>
            </a:p>
          </p:txBody>
        </p:sp>
        <p:cxnSp>
          <p:nvCxnSpPr>
            <p:cNvPr id="48" name="N35/settings-Privacy &amp; shelf/line/037"/>
            <p:cNvCxnSpPr/>
            <p:nvPr/>
          </p:nvCxnSpPr>
          <p:spPr>
            <a:xfrm>
              <a:off x="941832" y="5202936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N35/settings-Privacy &amp; shelf/text/038"/>
            <p:cNvSpPr txBox="1"/>
            <p:nvPr/>
          </p:nvSpPr>
          <p:spPr>
            <a:xfrm>
              <a:off x="941832" y="5212080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Add files</a:t>
              </a:r>
            </a:p>
          </p:txBody>
        </p:sp>
        <p:sp>
          <p:nvSpPr>
            <p:cNvPr id="50" name="N35/settings-Privacy &amp; shelf/text/039"/>
            <p:cNvSpPr txBox="1"/>
            <p:nvPr/>
          </p:nvSpPr>
          <p:spPr>
            <a:xfrm>
              <a:off x="941832" y="5376672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GTK file chooser / desktop portal</a:t>
              </a:r>
            </a:p>
          </p:txBody>
        </p:sp>
        <p:sp>
          <p:nvSpPr>
            <p:cNvPr id="51" name="N35/settings-Privacy &amp; shelf/rect/040"/>
            <p:cNvSpPr/>
            <p:nvPr/>
          </p:nvSpPr>
          <p:spPr>
            <a:xfrm>
              <a:off x="6766560" y="5239512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N35/settings-Privacy &amp; shelf/text/041"/>
            <p:cNvSpPr txBox="1"/>
            <p:nvPr/>
          </p:nvSpPr>
          <p:spPr>
            <a:xfrm>
              <a:off x="6766560" y="5239512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Choose files</a:t>
              </a:r>
            </a:p>
          </p:txBody>
        </p:sp>
        <p:sp>
          <p:nvSpPr>
            <p:cNvPr id="53" name="N35/settings-Privacy &amp; shelf/rect/042"/>
            <p:cNvSpPr/>
            <p:nvPr/>
          </p:nvSpPr>
          <p:spPr>
            <a:xfrm>
              <a:off x="8028432" y="2633472"/>
              <a:ext cx="45720" cy="320040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N35/settings-Privacy &amp; shelf/rect/043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5" name="N35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N35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57" name="N35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35/text/013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Clipboard off by default</a:t>
            </a:r>
          </a:p>
        </p:txBody>
      </p:sp>
      <p:sp>
        <p:nvSpPr>
          <p:cNvPr id="59" name="N35/ellipse/014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35/text/015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Limit 5–50, step 5</a:t>
            </a:r>
          </a:p>
        </p:txBody>
      </p:sp>
      <p:sp>
        <p:nvSpPr>
          <p:cNvPr id="61" name="N35/ellipse/016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N35/text/017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64 KiB/item; 1 s capture poll</a:t>
            </a:r>
          </a:p>
        </p:txBody>
      </p:sp>
      <p:sp>
        <p:nvSpPr>
          <p:cNvPr id="63" name="N35/ellipse/018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35/text/019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Shelf stores references, not copies</a:t>
            </a:r>
          </a:p>
        </p:txBody>
      </p:sp>
      <p:cxnSp>
        <p:nvCxnSpPr>
          <p:cNvPr id="65" name="N35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N35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67" name="N35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N35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Privacy wording / row order / warnings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6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6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6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 · ABOUT</a:t>
            </a:r>
          </a:p>
        </p:txBody>
      </p:sp>
      <p:sp>
        <p:nvSpPr>
          <p:cNvPr id="5" name="N36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About + live status</a:t>
            </a:r>
          </a:p>
        </p:txBody>
      </p:sp>
      <p:sp>
        <p:nvSpPr>
          <p:cNvPr id="6" name="N36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Companion app only</a:t>
            </a:r>
          </a:p>
        </p:txBody>
      </p:sp>
      <p:cxnSp>
        <p:nvCxnSpPr>
          <p:cNvPr id="7" name="N36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6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6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N36</a:t>
            </a:r>
          </a:p>
        </p:txBody>
      </p:sp>
      <p:sp>
        <p:nvSpPr>
          <p:cNvPr id="10" name="N36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36</a:t>
            </a:r>
          </a:p>
        </p:txBody>
      </p:sp>
      <p:grpSp>
        <p:nvGrpSpPr>
          <p:cNvPr id="11" name="N36/settings-About"/>
          <p:cNvGrpSpPr/>
          <p:nvPr/>
        </p:nvGrpSpPr>
        <p:grpSpPr>
          <a:xfrm>
            <a:off x="502920" y="1627632"/>
            <a:ext cx="7635240" cy="4297680"/>
            <a:chOff x="502920" y="1627632"/>
            <a:chExt cx="7635240" cy="4297680"/>
          </a:xfrm>
        </p:grpSpPr>
        <p:sp>
          <p:nvSpPr>
            <p:cNvPr id="12" name="N36/settings-About/adw-window/001"/>
            <p:cNvSpPr/>
            <p:nvPr/>
          </p:nvSpPr>
          <p:spPr>
            <a:xfrm>
              <a:off x="502920" y="1627632"/>
              <a:ext cx="7635240" cy="4297680"/>
            </a:xfrm>
            <a:prstGeom prst="roundRect">
              <a:avLst>
                <a:gd name="adj" fmla="val 2553"/>
              </a:avLst>
            </a:prstGeom>
            <a:solidFill>
              <a:srgbClr val="242428"/>
            </a:solidFill>
            <a:ln w="12700">
              <a:solidFill>
                <a:srgbClr val="45454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36/settings-About/adw-header/002"/>
            <p:cNvSpPr/>
            <p:nvPr/>
          </p:nvSpPr>
          <p:spPr>
            <a:xfrm>
              <a:off x="502920" y="1627632"/>
              <a:ext cx="7635240" cy="420624"/>
            </a:xfrm>
            <a:prstGeom prst="roundRect">
              <a:avLst>
                <a:gd name="adj" fmla="val 26086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N36/settings-About/rect/003"/>
            <p:cNvSpPr/>
            <p:nvPr/>
          </p:nvSpPr>
          <p:spPr>
            <a:xfrm>
              <a:off x="502920" y="1847088"/>
              <a:ext cx="7635240" cy="201168"/>
            </a:xfrm>
            <a:prstGeom prst="rect">
              <a:avLst/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36/settings-About/text/004"/>
            <p:cNvSpPr txBox="1"/>
            <p:nvPr/>
          </p:nvSpPr>
          <p:spPr>
            <a:xfrm>
              <a:off x="685800" y="1627632"/>
              <a:ext cx="7269479" cy="42062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Arial"/>
                </a:rPr>
                <a:t>Notch</a:t>
              </a:r>
            </a:p>
          </p:txBody>
        </p:sp>
        <p:sp>
          <p:nvSpPr>
            <p:cNvPr id="16" name="N36/settings-About/ellipse/005"/>
            <p:cNvSpPr/>
            <p:nvPr/>
          </p:nvSpPr>
          <p:spPr>
            <a:xfrm>
              <a:off x="7827264" y="1764792"/>
              <a:ext cx="146304" cy="146304"/>
            </a:xfrm>
            <a:prstGeom prst="ellipse">
              <a:avLst/>
            </a:prstGeom>
            <a:noFill/>
            <a:ln w="12700">
              <a:solidFill>
                <a:srgbClr val="C0BFB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36/settings-About/rect/006"/>
            <p:cNvSpPr/>
            <p:nvPr/>
          </p:nvSpPr>
          <p:spPr>
            <a:xfrm>
              <a:off x="1321307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N36/settings-About/text/007"/>
            <p:cNvSpPr txBox="1"/>
            <p:nvPr/>
          </p:nvSpPr>
          <p:spPr>
            <a:xfrm>
              <a:off x="1321307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Appearance</a:t>
              </a:r>
            </a:p>
          </p:txBody>
        </p:sp>
        <p:sp>
          <p:nvSpPr>
            <p:cNvPr id="19" name="N36/settings-About/rect/008"/>
            <p:cNvSpPr/>
            <p:nvPr/>
          </p:nvSpPr>
          <p:spPr>
            <a:xfrm>
              <a:off x="2848356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N36/settings-About/text/009"/>
            <p:cNvSpPr txBox="1"/>
            <p:nvPr/>
          </p:nvSpPr>
          <p:spPr>
            <a:xfrm>
              <a:off x="2848356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Behavior</a:t>
              </a:r>
            </a:p>
          </p:txBody>
        </p:sp>
        <p:sp>
          <p:nvSpPr>
            <p:cNvPr id="21" name="N36/settings-About/rect/010"/>
            <p:cNvSpPr/>
            <p:nvPr/>
          </p:nvSpPr>
          <p:spPr>
            <a:xfrm>
              <a:off x="4375404" y="2157984"/>
              <a:ext cx="1417320" cy="310896"/>
            </a:xfrm>
            <a:prstGeom prst="roundRect">
              <a:avLst>
                <a:gd name="adj" fmla="val 23529"/>
              </a:avLst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36/settings-About/text/011"/>
            <p:cNvSpPr txBox="1"/>
            <p:nvPr/>
          </p:nvSpPr>
          <p:spPr>
            <a:xfrm>
              <a:off x="4375404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C0BFBC"/>
                  </a:solidFill>
                  <a:latin typeface="Arial"/>
                </a:rPr>
                <a:t>Privacy &amp; shelf</a:t>
              </a:r>
            </a:p>
          </p:txBody>
        </p:sp>
        <p:sp>
          <p:nvSpPr>
            <p:cNvPr id="23" name="N36/settings-About/rect/012"/>
            <p:cNvSpPr/>
            <p:nvPr/>
          </p:nvSpPr>
          <p:spPr>
            <a:xfrm>
              <a:off x="5902452" y="2157984"/>
              <a:ext cx="1417320" cy="310896"/>
            </a:xfrm>
            <a:prstGeom prst="roundRect">
              <a:avLst>
                <a:gd name="adj" fmla="val 23529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36/settings-About/text/013"/>
            <p:cNvSpPr txBox="1"/>
            <p:nvPr/>
          </p:nvSpPr>
          <p:spPr>
            <a:xfrm>
              <a:off x="5902452" y="2157984"/>
              <a:ext cx="1417320" cy="31089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1" i="0">
                  <a:solidFill>
                    <a:srgbClr val="FFFFFF"/>
                  </a:solidFill>
                  <a:latin typeface="Arial"/>
                </a:rPr>
                <a:t>About</a:t>
              </a:r>
            </a:p>
          </p:txBody>
        </p:sp>
        <p:sp>
          <p:nvSpPr>
            <p:cNvPr id="25" name="N36/settings-About/text/014"/>
            <p:cNvSpPr txBox="1"/>
            <p:nvPr/>
          </p:nvSpPr>
          <p:spPr>
            <a:xfrm>
              <a:off x="822960" y="2615184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Notch 0.1.0</a:t>
              </a:r>
            </a:p>
          </p:txBody>
        </p:sp>
        <p:sp>
          <p:nvSpPr>
            <p:cNvPr id="26" name="N36/settings-About/text/015"/>
            <p:cNvSpPr txBox="1"/>
            <p:nvPr/>
          </p:nvSpPr>
          <p:spPr>
            <a:xfrm>
              <a:off x="822960" y="2852928"/>
              <a:ext cx="6995159" cy="31089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 b="0" i="0">
                  <a:solidFill>
                    <a:srgbClr val="C0BFBC"/>
                  </a:solidFill>
                  <a:latin typeface="Arial"/>
                </a:rPr>
                <a:t>A native Shell notch with GTK4/Libadwaita companions. Inspired by Cyclop; no Cyclop code or assets are included.</a:t>
              </a:r>
            </a:p>
          </p:txBody>
        </p:sp>
        <p:sp>
          <p:nvSpPr>
            <p:cNvPr id="27" name="N36/settings-About/adw-group/016"/>
            <p:cNvSpPr/>
            <p:nvPr/>
          </p:nvSpPr>
          <p:spPr>
            <a:xfrm>
              <a:off x="777240" y="3127248"/>
              <a:ext cx="7086600" cy="1042416"/>
            </a:xfrm>
            <a:prstGeom prst="roundRect">
              <a:avLst>
                <a:gd name="adj" fmla="val 8771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36/settings-About/text/017"/>
            <p:cNvSpPr txBox="1"/>
            <p:nvPr/>
          </p:nvSpPr>
          <p:spPr>
            <a:xfrm>
              <a:off x="941832" y="3163823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Shell extension</a:t>
              </a:r>
            </a:p>
          </p:txBody>
        </p:sp>
        <p:sp>
          <p:nvSpPr>
            <p:cNvPr id="29" name="N36/settings-About/text/018"/>
            <p:cNvSpPr txBox="1"/>
            <p:nvPr/>
          </p:nvSpPr>
          <p:spPr>
            <a:xfrm>
              <a:off x="5852160" y="3191256"/>
              <a:ext cx="1920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C0BFBC"/>
                  </a:solidFill>
                  <a:latin typeface="Arial"/>
                </a:rPr>
                <a:t>Running · 0 clips · 0 files</a:t>
              </a:r>
            </a:p>
          </p:txBody>
        </p:sp>
        <p:cxnSp>
          <p:nvCxnSpPr>
            <p:cNvPr id="30" name="N36/settings-About/line/019"/>
            <p:cNvCxnSpPr/>
            <p:nvPr/>
          </p:nvCxnSpPr>
          <p:spPr>
            <a:xfrm>
              <a:off x="941832" y="3483863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N36/settings-About/text/020"/>
            <p:cNvSpPr txBox="1"/>
            <p:nvPr/>
          </p:nvSpPr>
          <p:spPr>
            <a:xfrm>
              <a:off x="941832" y="3493007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File helper</a:t>
              </a:r>
            </a:p>
          </p:txBody>
        </p:sp>
        <p:sp>
          <p:nvSpPr>
            <p:cNvPr id="32" name="N36/settings-About/text/021"/>
            <p:cNvSpPr txBox="1"/>
            <p:nvPr/>
          </p:nvSpPr>
          <p:spPr>
            <a:xfrm>
              <a:off x="5852160" y="3520439"/>
              <a:ext cx="1920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C0BFBC"/>
                  </a:solidFill>
                  <a:latin typeface="Arial"/>
                </a:rPr>
                <a:t>Ready · version 0.1.0</a:t>
              </a:r>
            </a:p>
          </p:txBody>
        </p:sp>
        <p:cxnSp>
          <p:nvCxnSpPr>
            <p:cNvPr id="33" name="N36/settings-About/line/022"/>
            <p:cNvCxnSpPr/>
            <p:nvPr/>
          </p:nvCxnSpPr>
          <p:spPr>
            <a:xfrm>
              <a:off x="941832" y="3813048"/>
              <a:ext cx="6757416" cy="0"/>
            </a:xfrm>
            <a:prstGeom prst="line">
              <a:avLst/>
            </a:prstGeom>
            <a:ln w="6350">
              <a:solidFill>
                <a:srgbClr val="45454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N36/settings-About/text/023"/>
            <p:cNvSpPr txBox="1"/>
            <p:nvPr/>
          </p:nvSpPr>
          <p:spPr>
            <a:xfrm>
              <a:off x="941832" y="3822191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Refresh status</a:t>
              </a:r>
            </a:p>
          </p:txBody>
        </p:sp>
        <p:sp>
          <p:nvSpPr>
            <p:cNvPr id="35" name="N36/settings-About/rect/024"/>
            <p:cNvSpPr/>
            <p:nvPr/>
          </p:nvSpPr>
          <p:spPr>
            <a:xfrm>
              <a:off x="6766560" y="3849624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36/settings-About/text/025"/>
            <p:cNvSpPr txBox="1"/>
            <p:nvPr/>
          </p:nvSpPr>
          <p:spPr>
            <a:xfrm>
              <a:off x="6766560" y="3849624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Check</a:t>
              </a:r>
            </a:p>
          </p:txBody>
        </p:sp>
        <p:sp>
          <p:nvSpPr>
            <p:cNvPr id="37" name="N36/settings-About/text/026"/>
            <p:cNvSpPr txBox="1"/>
            <p:nvPr/>
          </p:nvSpPr>
          <p:spPr>
            <a:xfrm>
              <a:off x="822960" y="4334256"/>
              <a:ext cx="6995159" cy="21945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 i="0">
                  <a:solidFill>
                    <a:srgbClr val="FFFFFF"/>
                  </a:solidFill>
                  <a:latin typeface="Arial"/>
                </a:rPr>
                <a:t>Project</a:t>
              </a:r>
            </a:p>
          </p:txBody>
        </p:sp>
        <p:sp>
          <p:nvSpPr>
            <p:cNvPr id="38" name="N36/settings-About/adw-group/027"/>
            <p:cNvSpPr/>
            <p:nvPr/>
          </p:nvSpPr>
          <p:spPr>
            <a:xfrm>
              <a:off x="777240" y="4572000"/>
              <a:ext cx="7086600" cy="384048"/>
            </a:xfrm>
            <a:prstGeom prst="roundRect">
              <a:avLst>
                <a:gd name="adj" fmla="val 23809"/>
              </a:avLst>
            </a:prstGeom>
            <a:solidFill>
              <a:srgbClr val="3030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36/settings-About/text/028"/>
            <p:cNvSpPr txBox="1"/>
            <p:nvPr/>
          </p:nvSpPr>
          <p:spPr>
            <a:xfrm>
              <a:off x="941832" y="4608576"/>
              <a:ext cx="4846320" cy="16459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50" b="0" i="0">
                  <a:solidFill>
                    <a:srgbClr val="FFFFFF"/>
                  </a:solidFill>
                  <a:latin typeface="Arial"/>
                </a:rPr>
                <a:t>Source &amp; documentation</a:t>
              </a:r>
            </a:p>
          </p:txBody>
        </p:sp>
        <p:sp>
          <p:nvSpPr>
            <p:cNvPr id="40" name="N36/settings-About/text/029"/>
            <p:cNvSpPr txBox="1"/>
            <p:nvPr/>
          </p:nvSpPr>
          <p:spPr>
            <a:xfrm>
              <a:off x="941832" y="4773168"/>
              <a:ext cx="4846320" cy="12801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50" b="0" i="0">
                  <a:solidFill>
                    <a:srgbClr val="C0BFBC"/>
                  </a:solidFill>
                  <a:latin typeface="Arial"/>
                </a:rPr>
                <a:t>github.com/pavit12301611/notch</a:t>
              </a:r>
            </a:p>
          </p:txBody>
        </p:sp>
        <p:sp>
          <p:nvSpPr>
            <p:cNvPr id="41" name="N36/settings-About/rect/030"/>
            <p:cNvSpPr/>
            <p:nvPr/>
          </p:nvSpPr>
          <p:spPr>
            <a:xfrm>
              <a:off x="6766560" y="4636008"/>
              <a:ext cx="777240" cy="256032"/>
            </a:xfrm>
            <a:prstGeom prst="roundRect">
              <a:avLst>
                <a:gd name="adj" fmla="val 21428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N36/settings-About/text/031"/>
            <p:cNvSpPr txBox="1"/>
            <p:nvPr/>
          </p:nvSpPr>
          <p:spPr>
            <a:xfrm>
              <a:off x="6766560" y="4636008"/>
              <a:ext cx="777240" cy="256032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FFFFFF"/>
                  </a:solidFill>
                  <a:latin typeface="Arial"/>
                </a:rPr>
                <a:t>Open</a:t>
              </a:r>
            </a:p>
          </p:txBody>
        </p:sp>
        <p:sp>
          <p:nvSpPr>
            <p:cNvPr id="43" name="N36/settings-About/rect/032"/>
            <p:cNvSpPr/>
            <p:nvPr/>
          </p:nvSpPr>
          <p:spPr>
            <a:xfrm>
              <a:off x="8028432" y="2633472"/>
              <a:ext cx="45720" cy="3108960"/>
            </a:xfrm>
            <a:prstGeom prst="roundRect">
              <a:avLst>
                <a:gd name="adj" fmla="val 50000"/>
              </a:avLst>
            </a:prstGeom>
            <a:solidFill>
              <a:srgbClr val="3A3A3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N36/settings-About/rect/033"/>
            <p:cNvSpPr/>
            <p:nvPr/>
          </p:nvSpPr>
          <p:spPr>
            <a:xfrm>
              <a:off x="8028432" y="2724912"/>
              <a:ext cx="45720" cy="914400"/>
            </a:xfrm>
            <a:prstGeom prst="roundRect">
              <a:avLst>
                <a:gd name="adj" fmla="val 50000"/>
              </a:avLst>
            </a:prstGeom>
            <a:solidFill>
              <a:srgbClr val="77767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5" name="N36/spec-panel/01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36/text/01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7" name="N36/ellipse/01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36/text/013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Extension status via GetState</a:t>
            </a:r>
          </a:p>
        </p:txBody>
      </p:sp>
      <p:sp>
        <p:nvSpPr>
          <p:cNvPr id="49" name="N36/ellipse/014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36/text/015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Helper status via Ping</a:t>
            </a:r>
          </a:p>
        </p:txBody>
      </p:sp>
      <p:sp>
        <p:nvSpPr>
          <p:cNvPr id="51" name="N36/ellipse/016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N36/text/017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Offline errors shown inline</a:t>
            </a:r>
          </a:p>
        </p:txBody>
      </p:sp>
      <p:sp>
        <p:nvSpPr>
          <p:cNvPr id="53" name="N36/ellipse/018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36/text/019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Source link opens browser</a:t>
            </a:r>
          </a:p>
        </p:txBody>
      </p:sp>
      <p:cxnSp>
        <p:nvCxnSpPr>
          <p:cNvPr id="55" name="N36/line/02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N36/text/02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57" name="N36/edit-box/02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N36/edit-note/02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Status copy / About layout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7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7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7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COMPONENTS</a:t>
            </a:r>
          </a:p>
        </p:txBody>
      </p:sp>
      <p:sp>
        <p:nvSpPr>
          <p:cNvPr id="5" name="N37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Reusable control library</a:t>
            </a:r>
          </a:p>
        </p:txBody>
      </p:sp>
      <p:sp>
        <p:nvSpPr>
          <p:cNvPr id="6" name="N37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Edit these master components; page mockups should stay consistent</a:t>
            </a:r>
          </a:p>
        </p:txBody>
      </p:sp>
      <p:cxnSp>
        <p:nvCxnSpPr>
          <p:cNvPr id="7" name="N37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7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7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N37</a:t>
            </a:r>
          </a:p>
        </p:txBody>
      </p:sp>
      <p:sp>
        <p:nvSpPr>
          <p:cNvPr id="10" name="N37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37</a:t>
            </a:r>
          </a:p>
        </p:txBody>
      </p:sp>
      <p:sp>
        <p:nvSpPr>
          <p:cNvPr id="11" name="N37/text/010"/>
          <p:cNvSpPr txBox="1"/>
          <p:nvPr/>
        </p:nvSpPr>
        <p:spPr>
          <a:xfrm>
            <a:off x="502920" y="178308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BUTTONS</a:t>
            </a:r>
          </a:p>
        </p:txBody>
      </p:sp>
      <p:sp>
        <p:nvSpPr>
          <p:cNvPr id="12" name="N37/button-Button/011"/>
          <p:cNvSpPr/>
          <p:nvPr/>
        </p:nvSpPr>
        <p:spPr>
          <a:xfrm>
            <a:off x="502920" y="2103120"/>
            <a:ext cx="1097280" cy="347472"/>
          </a:xfrm>
          <a:prstGeom prst="roundRect">
            <a:avLst>
              <a:gd name="adj" fmla="val 27412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37/text/012"/>
          <p:cNvSpPr txBox="1"/>
          <p:nvPr/>
        </p:nvSpPr>
        <p:spPr>
          <a:xfrm>
            <a:off x="560070" y="2103120"/>
            <a:ext cx="98298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5E5EA"/>
                </a:solidFill>
                <a:latin typeface="Arial"/>
              </a:rPr>
              <a:t>Button</a:t>
            </a:r>
          </a:p>
        </p:txBody>
      </p:sp>
      <p:sp>
        <p:nvSpPr>
          <p:cNvPr id="14" name="N37/button-Active/013"/>
          <p:cNvSpPr/>
          <p:nvPr/>
        </p:nvSpPr>
        <p:spPr>
          <a:xfrm>
            <a:off x="1737360" y="2103120"/>
            <a:ext cx="1097280" cy="347472"/>
          </a:xfrm>
          <a:prstGeom prst="roundRect">
            <a:avLst>
              <a:gd name="adj" fmla="val 27412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37/text/014"/>
          <p:cNvSpPr txBox="1"/>
          <p:nvPr/>
        </p:nvSpPr>
        <p:spPr>
          <a:xfrm>
            <a:off x="1794510" y="2103120"/>
            <a:ext cx="98298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Active</a:t>
            </a:r>
          </a:p>
        </p:txBody>
      </p:sp>
      <p:sp>
        <p:nvSpPr>
          <p:cNvPr id="16" name="N37/button-Disabled/015"/>
          <p:cNvSpPr/>
          <p:nvPr/>
        </p:nvSpPr>
        <p:spPr>
          <a:xfrm>
            <a:off x="2971800" y="2103120"/>
            <a:ext cx="1097280" cy="347472"/>
          </a:xfrm>
          <a:prstGeom prst="roundRect">
            <a:avLst>
              <a:gd name="adj" fmla="val 27412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37/text/016"/>
          <p:cNvSpPr txBox="1"/>
          <p:nvPr/>
        </p:nvSpPr>
        <p:spPr>
          <a:xfrm>
            <a:off x="3028950" y="2103120"/>
            <a:ext cx="98298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36366"/>
                </a:solidFill>
                <a:latin typeface="Arial"/>
              </a:rPr>
              <a:t>Disabled</a:t>
            </a:r>
          </a:p>
        </p:txBody>
      </p:sp>
      <p:sp>
        <p:nvSpPr>
          <p:cNvPr id="18" name="N37/button-gear/017"/>
          <p:cNvSpPr/>
          <p:nvPr/>
        </p:nvSpPr>
        <p:spPr>
          <a:xfrm>
            <a:off x="4206240" y="2103120"/>
            <a:ext cx="384048" cy="347472"/>
          </a:xfrm>
          <a:prstGeom prst="roundRect">
            <a:avLst>
              <a:gd name="adj" fmla="val 27412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37/ellipse/018"/>
          <p:cNvSpPr/>
          <p:nvPr/>
        </p:nvSpPr>
        <p:spPr>
          <a:xfrm>
            <a:off x="4369689" y="2248281"/>
            <a:ext cx="57150" cy="57150"/>
          </a:xfrm>
          <a:prstGeom prst="ellipse">
            <a:avLst/>
          </a:prstGeom>
          <a:noFill/>
          <a:ln w="10160">
            <a:solidFill>
              <a:srgbClr val="A1A1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N37/line/019"/>
          <p:cNvCxnSpPr/>
          <p:nvPr/>
        </p:nvCxnSpPr>
        <p:spPr>
          <a:xfrm>
            <a:off x="4445889" y="2276856"/>
            <a:ext cx="19050" cy="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37/line/020"/>
          <p:cNvCxnSpPr/>
          <p:nvPr/>
        </p:nvCxnSpPr>
        <p:spPr>
          <a:xfrm>
            <a:off x="4431939" y="2310531"/>
            <a:ext cx="13471" cy="13471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37/line/021"/>
          <p:cNvCxnSpPr/>
          <p:nvPr/>
        </p:nvCxnSpPr>
        <p:spPr>
          <a:xfrm>
            <a:off x="4398264" y="2324480"/>
            <a:ext cx="0" cy="1905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37/line/022"/>
          <p:cNvCxnSpPr/>
          <p:nvPr/>
        </p:nvCxnSpPr>
        <p:spPr>
          <a:xfrm flipH="1">
            <a:off x="4351117" y="2310531"/>
            <a:ext cx="13471" cy="13471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37/line/023"/>
          <p:cNvCxnSpPr/>
          <p:nvPr/>
        </p:nvCxnSpPr>
        <p:spPr>
          <a:xfrm flipH="1">
            <a:off x="4331589" y="2276856"/>
            <a:ext cx="19050" cy="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37/line/024"/>
          <p:cNvCxnSpPr/>
          <p:nvPr/>
        </p:nvCxnSpPr>
        <p:spPr>
          <a:xfrm flipH="1" flipV="1">
            <a:off x="4351117" y="2229709"/>
            <a:ext cx="13471" cy="13471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37/line/025"/>
          <p:cNvCxnSpPr/>
          <p:nvPr/>
        </p:nvCxnSpPr>
        <p:spPr>
          <a:xfrm flipV="1">
            <a:off x="4398264" y="2210180"/>
            <a:ext cx="0" cy="1905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37/line/026"/>
          <p:cNvCxnSpPr/>
          <p:nvPr/>
        </p:nvCxnSpPr>
        <p:spPr>
          <a:xfrm flipV="1">
            <a:off x="4431939" y="2229709"/>
            <a:ext cx="13471" cy="13471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37/button-play/027"/>
          <p:cNvSpPr/>
          <p:nvPr/>
        </p:nvSpPr>
        <p:spPr>
          <a:xfrm>
            <a:off x="4709160" y="2103120"/>
            <a:ext cx="502920" cy="347472"/>
          </a:xfrm>
          <a:prstGeom prst="roundRect">
            <a:avLst>
              <a:gd name="adj" fmla="val 49342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N37/poly/028"/>
          <p:cNvSpPr/>
          <p:nvPr/>
        </p:nvSpPr>
        <p:spPr>
          <a:xfrm>
            <a:off x="4932045" y="222923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0"/>
                </a:moveTo>
                <a:lnTo>
                  <a:pt x="76200" y="47626"/>
                </a:lnTo>
                <a:lnTo>
                  <a:pt x="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37/button-Small/029"/>
          <p:cNvSpPr/>
          <p:nvPr/>
        </p:nvSpPr>
        <p:spPr>
          <a:xfrm>
            <a:off x="5349240" y="2103120"/>
            <a:ext cx="1097280" cy="347472"/>
          </a:xfrm>
          <a:prstGeom prst="roundRect">
            <a:avLst>
              <a:gd name="adj" fmla="val 27412"/>
            </a:avLst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N37/text/030"/>
          <p:cNvSpPr txBox="1"/>
          <p:nvPr/>
        </p:nvSpPr>
        <p:spPr>
          <a:xfrm>
            <a:off x="5406390" y="2103120"/>
            <a:ext cx="98298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4" b="0" i="0">
                <a:solidFill>
                  <a:srgbClr val="E5E5EA"/>
                </a:solidFill>
                <a:latin typeface="Arial"/>
              </a:rPr>
              <a:t>Small</a:t>
            </a:r>
          </a:p>
        </p:txBody>
      </p:sp>
      <p:sp>
        <p:nvSpPr>
          <p:cNvPr id="32" name="N37/text/031"/>
          <p:cNvSpPr txBox="1"/>
          <p:nvPr/>
        </p:nvSpPr>
        <p:spPr>
          <a:xfrm>
            <a:off x="502920" y="278892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TAB / SLIDER</a:t>
            </a:r>
          </a:p>
        </p:txBody>
      </p:sp>
      <p:sp>
        <p:nvSpPr>
          <p:cNvPr id="33" name="N37/button-Home/032"/>
          <p:cNvSpPr/>
          <p:nvPr/>
        </p:nvSpPr>
        <p:spPr>
          <a:xfrm>
            <a:off x="502920" y="3108960"/>
            <a:ext cx="1188720" cy="329184"/>
          </a:xfrm>
          <a:prstGeom prst="roundRect">
            <a:avLst>
              <a:gd name="adj" fmla="val 28935"/>
            </a:avLst>
          </a:prstGeom>
          <a:solidFill>
            <a:srgbClr val="292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37/poly/033"/>
          <p:cNvSpPr/>
          <p:nvPr/>
        </p:nvSpPr>
        <p:spPr>
          <a:xfrm>
            <a:off x="824865" y="321640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0" y="47625"/>
                </a:lnTo>
                <a:lnTo>
                  <a:pt x="19050" y="47625"/>
                </a:lnTo>
                <a:lnTo>
                  <a:pt x="19050" y="114300"/>
                </a:lnTo>
                <a:lnTo>
                  <a:pt x="47625" y="114300"/>
                </a:lnTo>
                <a:lnTo>
                  <a:pt x="47625" y="76200"/>
                </a:lnTo>
                <a:lnTo>
                  <a:pt x="66675" y="76200"/>
                </a:lnTo>
                <a:lnTo>
                  <a:pt x="66675" y="114300"/>
                </a:lnTo>
                <a:lnTo>
                  <a:pt x="95250" y="114300"/>
                </a:lnTo>
                <a:lnTo>
                  <a:pt x="95250" y="47625"/>
                </a:lnTo>
                <a:lnTo>
                  <a:pt x="114300" y="47625"/>
                </a:lnTo>
                <a:close/>
              </a:path>
            </a:pathLst>
          </a:cu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N37/text/034"/>
          <p:cNvSpPr txBox="1"/>
          <p:nvPr/>
        </p:nvSpPr>
        <p:spPr>
          <a:xfrm>
            <a:off x="1015365" y="3108960"/>
            <a:ext cx="638175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Home</a:t>
            </a:r>
          </a:p>
        </p:txBody>
      </p:sp>
      <p:sp>
        <p:nvSpPr>
          <p:cNvPr id="36" name="N37/button-Music/035"/>
          <p:cNvSpPr/>
          <p:nvPr/>
        </p:nvSpPr>
        <p:spPr>
          <a:xfrm>
            <a:off x="1783080" y="3108960"/>
            <a:ext cx="1188720" cy="329184"/>
          </a:xfrm>
          <a:prstGeom prst="roundRect">
            <a:avLst>
              <a:gd name="adj" fmla="val 2893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N37/line/036"/>
          <p:cNvCxnSpPr/>
          <p:nvPr/>
        </p:nvCxnSpPr>
        <p:spPr>
          <a:xfrm flipV="1">
            <a:off x="2096452" y="3235452"/>
            <a:ext cx="0" cy="7620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37/line/037"/>
          <p:cNvCxnSpPr/>
          <p:nvPr/>
        </p:nvCxnSpPr>
        <p:spPr>
          <a:xfrm flipV="1">
            <a:off x="2096452" y="3225927"/>
            <a:ext cx="66675" cy="9525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37/line/038"/>
          <p:cNvCxnSpPr/>
          <p:nvPr/>
        </p:nvCxnSpPr>
        <p:spPr>
          <a:xfrm>
            <a:off x="2163127" y="3225927"/>
            <a:ext cx="0" cy="76200"/>
          </a:xfrm>
          <a:prstGeom prst="line">
            <a:avLst/>
          </a:prstGeom>
          <a:ln w="10160">
            <a:solidFill>
              <a:srgbClr val="A1A1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N37/ellipse/039"/>
          <p:cNvSpPr/>
          <p:nvPr/>
        </p:nvSpPr>
        <p:spPr>
          <a:xfrm>
            <a:off x="2067877" y="3297364"/>
            <a:ext cx="33337" cy="28575"/>
          </a:xfrm>
          <a:prstGeom prst="ellipse">
            <a:avLst/>
          </a:prstGeom>
          <a:solidFill>
            <a:srgbClr val="A1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N37/ellipse/040"/>
          <p:cNvSpPr/>
          <p:nvPr/>
        </p:nvSpPr>
        <p:spPr>
          <a:xfrm>
            <a:off x="2134552" y="3287839"/>
            <a:ext cx="33337" cy="28575"/>
          </a:xfrm>
          <a:prstGeom prst="ellipse">
            <a:avLst/>
          </a:prstGeom>
          <a:solidFill>
            <a:srgbClr val="A1A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37/text/041"/>
          <p:cNvSpPr txBox="1"/>
          <p:nvPr/>
        </p:nvSpPr>
        <p:spPr>
          <a:xfrm>
            <a:off x="2248852" y="3108960"/>
            <a:ext cx="684847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1A1A6"/>
                </a:solidFill>
                <a:latin typeface="Arial"/>
              </a:rPr>
              <a:t>Music</a:t>
            </a:r>
          </a:p>
        </p:txBody>
      </p:sp>
      <p:sp>
        <p:nvSpPr>
          <p:cNvPr id="43" name="N37/rect/042"/>
          <p:cNvSpPr/>
          <p:nvPr/>
        </p:nvSpPr>
        <p:spPr>
          <a:xfrm>
            <a:off x="3291840" y="3254502"/>
            <a:ext cx="2743200" cy="38100"/>
          </a:xfrm>
          <a:prstGeom prst="roundRect">
            <a:avLst>
              <a:gd name="adj" fmla="val 50000"/>
            </a:avLst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37/rect/043"/>
          <p:cNvSpPr/>
          <p:nvPr/>
        </p:nvSpPr>
        <p:spPr>
          <a:xfrm>
            <a:off x="3291840" y="3254502"/>
            <a:ext cx="1097280" cy="3810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N37/ellipse/044"/>
          <p:cNvSpPr/>
          <p:nvPr/>
        </p:nvSpPr>
        <p:spPr>
          <a:xfrm>
            <a:off x="4331970" y="3216402"/>
            <a:ext cx="114300" cy="114300"/>
          </a:xfrm>
          <a:prstGeom prst="ellipse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37/text/045"/>
          <p:cNvSpPr txBox="1"/>
          <p:nvPr/>
        </p:nvSpPr>
        <p:spPr>
          <a:xfrm>
            <a:off x="502920" y="3794760"/>
            <a:ext cx="18288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0D158"/>
                </a:solidFill>
                <a:latin typeface="Arial"/>
              </a:rPr>
              <a:t>CARD / ROW / EMPTY</a:t>
            </a:r>
          </a:p>
        </p:txBody>
      </p:sp>
      <p:sp>
        <p:nvSpPr>
          <p:cNvPr id="47" name="N37/rect/046"/>
          <p:cNvSpPr/>
          <p:nvPr/>
        </p:nvSpPr>
        <p:spPr>
          <a:xfrm>
            <a:off x="502920" y="4114800"/>
            <a:ext cx="2103120" cy="914400"/>
          </a:xfrm>
          <a:prstGeom prst="roundRect">
            <a:avLst>
              <a:gd name="adj" fmla="val 15000"/>
            </a:avLst>
          </a:prstGeom>
          <a:solidFill>
            <a:srgbClr val="1C1C1E"/>
          </a:solidFill>
          <a:ln w="12700">
            <a:solidFill>
              <a:srgbClr val="242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37/text/047"/>
          <p:cNvSpPr txBox="1"/>
          <p:nvPr/>
        </p:nvSpPr>
        <p:spPr>
          <a:xfrm>
            <a:off x="640080" y="4206240"/>
            <a:ext cx="18288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F5F7"/>
                </a:solidFill>
                <a:latin typeface="Arial"/>
              </a:rPr>
              <a:t>Card title</a:t>
            </a:r>
          </a:p>
        </p:txBody>
      </p:sp>
      <p:sp>
        <p:nvSpPr>
          <p:cNvPr id="49" name="N37/text/048"/>
          <p:cNvSpPr txBox="1"/>
          <p:nvPr/>
        </p:nvSpPr>
        <p:spPr>
          <a:xfrm>
            <a:off x="640080" y="4434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8989D"/>
                </a:solidFill>
                <a:latin typeface="Arial"/>
              </a:rPr>
              <a:t>Body text wraps inside the card.</a:t>
            </a:r>
          </a:p>
        </p:txBody>
      </p:sp>
      <p:sp>
        <p:nvSpPr>
          <p:cNvPr id="50" name="N37/rect/049"/>
          <p:cNvSpPr/>
          <p:nvPr/>
        </p:nvSpPr>
        <p:spPr>
          <a:xfrm>
            <a:off x="2788920" y="4114800"/>
            <a:ext cx="2743200" cy="402336"/>
          </a:xfrm>
          <a:prstGeom prst="roundRect">
            <a:avLst>
              <a:gd name="adj" fmla="val 27272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37/text/050"/>
          <p:cNvSpPr txBox="1"/>
          <p:nvPr/>
        </p:nvSpPr>
        <p:spPr>
          <a:xfrm>
            <a:off x="2926080" y="4114800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Row label</a:t>
            </a:r>
          </a:p>
        </p:txBody>
      </p:sp>
      <p:sp>
        <p:nvSpPr>
          <p:cNvPr id="52" name="N37/empty-state/051"/>
          <p:cNvSpPr/>
          <p:nvPr/>
        </p:nvSpPr>
        <p:spPr>
          <a:xfrm>
            <a:off x="5715000" y="4114800"/>
            <a:ext cx="2286000" cy="914400"/>
          </a:xfrm>
          <a:prstGeom prst="roundRect">
            <a:avLst>
              <a:gd name="adj" fmla="val 10208"/>
            </a:avLst>
          </a:prstGeom>
          <a:solidFill>
            <a:srgbClr val="0A0A0B"/>
          </a:solidFill>
          <a:ln w="12700">
            <a:solidFill>
              <a:srgbClr val="242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N37/poly/052"/>
          <p:cNvSpPr/>
          <p:nvPr/>
        </p:nvSpPr>
        <p:spPr>
          <a:xfrm>
            <a:off x="6777990" y="4288155"/>
            <a:ext cx="160019" cy="106679"/>
          </a:xfrm>
          <a:custGeom>
            <a:avLst/>
            <a:gdLst/>
            <a:ahLst/>
            <a:cxnLst/>
            <a:rect l="l" t="t" r="r" b="b"/>
            <a:pathLst>
              <a:path w="160019" h="106679">
                <a:moveTo>
                  <a:pt x="0" y="0"/>
                </a:moveTo>
                <a:lnTo>
                  <a:pt x="53340" y="0"/>
                </a:lnTo>
                <a:lnTo>
                  <a:pt x="73342" y="26670"/>
                </a:lnTo>
                <a:lnTo>
                  <a:pt x="160019" y="26670"/>
                </a:lnTo>
                <a:lnTo>
                  <a:pt x="160019" y="106679"/>
                </a:lnTo>
                <a:lnTo>
                  <a:pt x="0" y="106679"/>
                </a:lnTo>
                <a:close/>
              </a:path>
            </a:pathLst>
          </a:custGeom>
          <a:noFill/>
          <a:ln w="12700"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37/text/053"/>
          <p:cNvSpPr txBox="1"/>
          <p:nvPr/>
        </p:nvSpPr>
        <p:spPr>
          <a:xfrm>
            <a:off x="5795010" y="4474845"/>
            <a:ext cx="2125980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5" b="1" i="0">
                <a:solidFill>
                  <a:srgbClr val="F5F5F7"/>
                </a:solidFill>
                <a:latin typeface="Arial"/>
              </a:rPr>
              <a:t>Empty title</a:t>
            </a:r>
          </a:p>
        </p:txBody>
      </p:sp>
      <p:sp>
        <p:nvSpPr>
          <p:cNvPr id="55" name="N37/text/054"/>
          <p:cNvSpPr txBox="1"/>
          <p:nvPr/>
        </p:nvSpPr>
        <p:spPr>
          <a:xfrm>
            <a:off x="5835015" y="4634865"/>
            <a:ext cx="2045969" cy="3409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1" b="0" i="0">
                <a:solidFill>
                  <a:srgbClr val="98989D"/>
                </a:solidFill>
                <a:latin typeface="Arial"/>
              </a:rPr>
              <a:t>Short explanation.</a:t>
            </a:r>
          </a:p>
        </p:txBody>
      </p:sp>
      <p:sp>
        <p:nvSpPr>
          <p:cNvPr id="56" name="N37/spec-panel/055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N37/text/056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58" name="N37/ellipse/057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37/text/058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Button radius 10; play 18</a:t>
            </a:r>
          </a:p>
        </p:txBody>
      </p:sp>
      <p:sp>
        <p:nvSpPr>
          <p:cNvPr id="60" name="N37/ellipse/059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37/text/060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Tab active white 16%</a:t>
            </a:r>
          </a:p>
        </p:txBody>
      </p:sp>
      <p:sp>
        <p:nvSpPr>
          <p:cNvPr id="62" name="N37/ellipse/061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N37/text/062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Card radius 14; row 12</a:t>
            </a:r>
          </a:p>
        </p:txBody>
      </p:sp>
      <p:sp>
        <p:nvSpPr>
          <p:cNvPr id="64" name="N37/ellipse/063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37/text/064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Slider bar 4 / handle 12</a:t>
            </a:r>
          </a:p>
        </p:txBody>
      </p:sp>
      <p:sp>
        <p:nvSpPr>
          <p:cNvPr id="66" name="N37/ellipse/065"/>
          <p:cNvSpPr/>
          <p:nvPr/>
        </p:nvSpPr>
        <p:spPr>
          <a:xfrm>
            <a:off x="8659368" y="3319271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N37/text/066"/>
          <p:cNvSpPr txBox="1"/>
          <p:nvPr/>
        </p:nvSpPr>
        <p:spPr>
          <a:xfrm>
            <a:off x="8805672" y="3255263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Empty radius 14 / padding 18×14</a:t>
            </a:r>
          </a:p>
        </p:txBody>
      </p:sp>
      <p:cxnSp>
        <p:nvCxnSpPr>
          <p:cNvPr id="68" name="N37/line/067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N37/text/068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70" name="N37/edit-box/069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37/edit-note/070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Component-level changes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8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8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8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SETTINGS</a:t>
            </a:r>
          </a:p>
        </p:txBody>
      </p:sp>
      <p:sp>
        <p:nvSpPr>
          <p:cNvPr id="5" name="N38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Inline prefs vs companion app</a:t>
            </a:r>
          </a:p>
        </p:txBody>
      </p:sp>
      <p:sp>
        <p:nvSpPr>
          <p:cNvPr id="6" name="N38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Keep shared rows identical; companion-only rows are explicit</a:t>
            </a:r>
          </a:p>
        </p:txBody>
      </p:sp>
      <p:cxnSp>
        <p:nvCxnSpPr>
          <p:cNvPr id="7" name="N38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8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8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N38</a:t>
            </a:r>
          </a:p>
        </p:txBody>
      </p:sp>
      <p:sp>
        <p:nvSpPr>
          <p:cNvPr id="10" name="N38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38</a:t>
            </a:r>
          </a:p>
        </p:txBody>
      </p:sp>
      <p:sp>
        <p:nvSpPr>
          <p:cNvPr id="11" name="N38/rect/010"/>
          <p:cNvSpPr/>
          <p:nvPr/>
        </p:nvSpPr>
        <p:spPr>
          <a:xfrm>
            <a:off x="502920" y="1828800"/>
            <a:ext cx="11155680" cy="411480"/>
          </a:xfrm>
          <a:prstGeom prst="roundRect">
            <a:avLst>
              <a:gd name="adj" fmla="val 13333"/>
            </a:avLst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38/text/011"/>
          <p:cNvSpPr txBox="1"/>
          <p:nvPr/>
        </p:nvSpPr>
        <p:spPr>
          <a:xfrm>
            <a:off x="640080" y="1828800"/>
            <a:ext cx="128016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D158"/>
                </a:solidFill>
                <a:latin typeface="Arial"/>
              </a:rPr>
              <a:t>Page</a:t>
            </a:r>
          </a:p>
        </p:txBody>
      </p:sp>
      <p:sp>
        <p:nvSpPr>
          <p:cNvPr id="13" name="N38/text/012"/>
          <p:cNvSpPr txBox="1"/>
          <p:nvPr/>
        </p:nvSpPr>
        <p:spPr>
          <a:xfrm>
            <a:off x="2194560" y="1828800"/>
            <a:ext cx="429768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D158"/>
                </a:solidFill>
                <a:latin typeface="Arial"/>
              </a:rPr>
              <a:t>Inline extension prefs</a:t>
            </a:r>
          </a:p>
        </p:txBody>
      </p:sp>
      <p:sp>
        <p:nvSpPr>
          <p:cNvPr id="14" name="N38/text/013"/>
          <p:cNvSpPr txBox="1"/>
          <p:nvPr/>
        </p:nvSpPr>
        <p:spPr>
          <a:xfrm>
            <a:off x="6766560" y="1828800"/>
            <a:ext cx="475488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0D158"/>
                </a:solidFill>
                <a:latin typeface="Arial"/>
              </a:rPr>
              <a:t>Companion app</a:t>
            </a:r>
          </a:p>
        </p:txBody>
      </p:sp>
      <p:sp>
        <p:nvSpPr>
          <p:cNvPr id="15" name="N38/rect/014"/>
          <p:cNvSpPr/>
          <p:nvPr/>
        </p:nvSpPr>
        <p:spPr>
          <a:xfrm>
            <a:off x="502920" y="2240280"/>
            <a:ext cx="11155680" cy="777240"/>
          </a:xfrm>
          <a:prstGeom prst="roundRect">
            <a:avLst>
              <a:gd name="adj" fmla="val 4705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38/text/015"/>
          <p:cNvSpPr txBox="1"/>
          <p:nvPr/>
        </p:nvSpPr>
        <p:spPr>
          <a:xfrm>
            <a:off x="640080" y="224028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Appearance</a:t>
            </a:r>
          </a:p>
        </p:txBody>
      </p:sp>
      <p:sp>
        <p:nvSpPr>
          <p:cNvPr id="17" name="N38/text/016"/>
          <p:cNvSpPr txBox="1"/>
          <p:nvPr/>
        </p:nvSpPr>
        <p:spPr>
          <a:xfrm>
            <a:off x="2194560" y="224028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Same geometry + finish rows</a:t>
            </a:r>
          </a:p>
        </p:txBody>
      </p:sp>
      <p:sp>
        <p:nvSpPr>
          <p:cNvPr id="18" name="N38/text/017"/>
          <p:cNvSpPr txBox="1"/>
          <p:nvPr/>
        </p:nvSpPr>
        <p:spPr>
          <a:xfrm>
            <a:off x="6766560" y="224028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Same rows</a:t>
            </a:r>
          </a:p>
        </p:txBody>
      </p:sp>
      <p:sp>
        <p:nvSpPr>
          <p:cNvPr id="19" name="N38/rect/018"/>
          <p:cNvSpPr/>
          <p:nvPr/>
        </p:nvSpPr>
        <p:spPr>
          <a:xfrm>
            <a:off x="502920" y="3017520"/>
            <a:ext cx="11155680" cy="777240"/>
          </a:xfrm>
          <a:prstGeom prst="roundRect">
            <a:avLst>
              <a:gd name="adj" fmla="val 4705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38/text/019"/>
          <p:cNvSpPr txBox="1"/>
          <p:nvPr/>
        </p:nvSpPr>
        <p:spPr>
          <a:xfrm>
            <a:off x="640080" y="301752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Behavior</a:t>
            </a:r>
          </a:p>
        </p:txBody>
      </p:sp>
      <p:sp>
        <p:nvSpPr>
          <p:cNvPr id="21" name="N38/text/020"/>
          <p:cNvSpPr txBox="1"/>
          <p:nvPr/>
        </p:nvSpPr>
        <p:spPr>
          <a:xfrm>
            <a:off x="2194560" y="301752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Same behavior rows</a:t>
            </a:r>
          </a:p>
        </p:txBody>
      </p:sp>
      <p:sp>
        <p:nvSpPr>
          <p:cNvPr id="22" name="N38/text/021"/>
          <p:cNvSpPr txBox="1"/>
          <p:nvPr/>
        </p:nvSpPr>
        <p:spPr>
          <a:xfrm>
            <a:off x="6766560" y="301752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Same rows + shortcut info row</a:t>
            </a:r>
          </a:p>
        </p:txBody>
      </p:sp>
      <p:sp>
        <p:nvSpPr>
          <p:cNvPr id="23" name="N38/rect/022"/>
          <p:cNvSpPr/>
          <p:nvPr/>
        </p:nvSpPr>
        <p:spPr>
          <a:xfrm>
            <a:off x="502920" y="3794760"/>
            <a:ext cx="11155680" cy="777240"/>
          </a:xfrm>
          <a:prstGeom prst="roundRect">
            <a:avLst>
              <a:gd name="adj" fmla="val 4705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38/text/023"/>
          <p:cNvSpPr txBox="1"/>
          <p:nvPr/>
        </p:nvSpPr>
        <p:spPr>
          <a:xfrm>
            <a:off x="640080" y="379476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Privacy</a:t>
            </a:r>
          </a:p>
        </p:txBody>
      </p:sp>
      <p:sp>
        <p:nvSpPr>
          <p:cNvPr id="25" name="N38/text/024"/>
          <p:cNvSpPr txBox="1"/>
          <p:nvPr/>
        </p:nvSpPr>
        <p:spPr>
          <a:xfrm>
            <a:off x="2194560" y="379476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Clipboard + Companion app launcher</a:t>
            </a:r>
          </a:p>
        </p:txBody>
      </p:sp>
      <p:sp>
        <p:nvSpPr>
          <p:cNvPr id="26" name="N38/text/025"/>
          <p:cNvSpPr txBox="1"/>
          <p:nvPr/>
        </p:nvSpPr>
        <p:spPr>
          <a:xfrm>
            <a:off x="6766560" y="379476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Privacy &amp; shelf: reference path + Choose files</a:t>
            </a:r>
          </a:p>
        </p:txBody>
      </p:sp>
      <p:sp>
        <p:nvSpPr>
          <p:cNvPr id="27" name="N38/rect/026"/>
          <p:cNvSpPr/>
          <p:nvPr/>
        </p:nvSpPr>
        <p:spPr>
          <a:xfrm>
            <a:off x="502920" y="4572000"/>
            <a:ext cx="11155680" cy="777240"/>
          </a:xfrm>
          <a:prstGeom prst="roundRect">
            <a:avLst>
              <a:gd name="adj" fmla="val 4705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38/text/027"/>
          <p:cNvSpPr txBox="1"/>
          <p:nvPr/>
        </p:nvSpPr>
        <p:spPr>
          <a:xfrm>
            <a:off x="640080" y="4572000"/>
            <a:ext cx="128016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About</a:t>
            </a:r>
          </a:p>
        </p:txBody>
      </p:sp>
      <p:sp>
        <p:nvSpPr>
          <p:cNvPr id="29" name="N38/text/028"/>
          <p:cNvSpPr txBox="1"/>
          <p:nvPr/>
        </p:nvSpPr>
        <p:spPr>
          <a:xfrm>
            <a:off x="2194560" y="457200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Not present</a:t>
            </a:r>
          </a:p>
        </p:txBody>
      </p:sp>
      <p:sp>
        <p:nvSpPr>
          <p:cNvPr id="30" name="N38/text/029"/>
          <p:cNvSpPr txBox="1"/>
          <p:nvPr/>
        </p:nvSpPr>
        <p:spPr>
          <a:xfrm>
            <a:off x="6766560" y="4572000"/>
            <a:ext cx="475488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Version, live status, refresh, source link</a:t>
            </a:r>
          </a:p>
        </p:txBody>
      </p:sp>
      <p:sp>
        <p:nvSpPr>
          <p:cNvPr id="31" name="N38/text/030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D60A"/>
                </a:solidFill>
                <a:latin typeface="Arial"/>
              </a:rPr>
              <a:t>Rule: a shared GSettings key must not get two different labels/defaults across surfaces. Edit both columns if a change is intentional.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39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39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39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INTERACTIONS</a:t>
            </a:r>
          </a:p>
        </p:txBody>
      </p:sp>
      <p:sp>
        <p:nvSpPr>
          <p:cNvPr id="5" name="N39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Input and navigation map</a:t>
            </a:r>
          </a:p>
        </p:txBody>
      </p:sp>
      <p:sp>
        <p:nvSpPr>
          <p:cNvPr id="6" name="N39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Every visible control has a defined action</a:t>
            </a:r>
          </a:p>
        </p:txBody>
      </p:sp>
      <p:cxnSp>
        <p:nvCxnSpPr>
          <p:cNvPr id="7" name="N39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39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39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N39</a:t>
            </a:r>
          </a:p>
        </p:txBody>
      </p:sp>
      <p:sp>
        <p:nvSpPr>
          <p:cNvPr id="10" name="N39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39</a:t>
            </a:r>
          </a:p>
        </p:txBody>
      </p:sp>
      <p:sp>
        <p:nvSpPr>
          <p:cNvPr id="11" name="N39/rect/010"/>
          <p:cNvSpPr/>
          <p:nvPr/>
        </p:nvSpPr>
        <p:spPr>
          <a:xfrm>
            <a:off x="502920" y="1737360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39/text/011"/>
          <p:cNvSpPr txBox="1"/>
          <p:nvPr/>
        </p:nvSpPr>
        <p:spPr>
          <a:xfrm>
            <a:off x="685800" y="1737360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Click closed notch</a:t>
            </a:r>
          </a:p>
        </p:txBody>
      </p:sp>
      <p:sp>
        <p:nvSpPr>
          <p:cNvPr id="13" name="N39/text/012"/>
          <p:cNvSpPr txBox="1"/>
          <p:nvPr/>
        </p:nvSpPr>
        <p:spPr>
          <a:xfrm>
            <a:off x="3200400" y="1737360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Toggle open / open Alerts from peek</a:t>
            </a:r>
          </a:p>
        </p:txBody>
      </p:sp>
      <p:sp>
        <p:nvSpPr>
          <p:cNvPr id="14" name="N39/rect/013"/>
          <p:cNvSpPr/>
          <p:nvPr/>
        </p:nvSpPr>
        <p:spPr>
          <a:xfrm>
            <a:off x="502920" y="2176272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39/text/014"/>
          <p:cNvSpPr txBox="1"/>
          <p:nvPr/>
        </p:nvSpPr>
        <p:spPr>
          <a:xfrm>
            <a:off x="685800" y="2176272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Hover 250 ms</a:t>
            </a:r>
          </a:p>
        </p:txBody>
      </p:sp>
      <p:sp>
        <p:nvSpPr>
          <p:cNvPr id="16" name="N39/text/015"/>
          <p:cNvSpPr txBox="1"/>
          <p:nvPr/>
        </p:nvSpPr>
        <p:spPr>
          <a:xfrm>
            <a:off x="3200400" y="2176272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Open if open-on-hover; leave schedules close</a:t>
            </a:r>
          </a:p>
        </p:txBody>
      </p:sp>
      <p:sp>
        <p:nvSpPr>
          <p:cNvPr id="17" name="N39/rect/016"/>
          <p:cNvSpPr/>
          <p:nvPr/>
        </p:nvSpPr>
        <p:spPr>
          <a:xfrm>
            <a:off x="502920" y="2615184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39/text/017"/>
          <p:cNvSpPr txBox="1"/>
          <p:nvPr/>
        </p:nvSpPr>
        <p:spPr>
          <a:xfrm>
            <a:off x="685800" y="2615184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Super + `</a:t>
            </a:r>
          </a:p>
        </p:txBody>
      </p:sp>
      <p:sp>
        <p:nvSpPr>
          <p:cNvPr id="19" name="N39/text/018"/>
          <p:cNvSpPr txBox="1"/>
          <p:nvPr/>
        </p:nvSpPr>
        <p:spPr>
          <a:xfrm>
            <a:off x="3200400" y="2615184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Toggle notch; configurable/disablable in schema</a:t>
            </a:r>
          </a:p>
        </p:txBody>
      </p:sp>
      <p:sp>
        <p:nvSpPr>
          <p:cNvPr id="20" name="N39/rect/019"/>
          <p:cNvSpPr/>
          <p:nvPr/>
        </p:nvSpPr>
        <p:spPr>
          <a:xfrm>
            <a:off x="502920" y="3054096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39/text/020"/>
          <p:cNvSpPr txBox="1"/>
          <p:nvPr/>
        </p:nvSpPr>
        <p:spPr>
          <a:xfrm>
            <a:off x="685800" y="3054096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Escape / outside click</a:t>
            </a:r>
          </a:p>
        </p:txBody>
      </p:sp>
      <p:sp>
        <p:nvSpPr>
          <p:cNvPr id="22" name="N39/text/021"/>
          <p:cNvSpPr txBox="1"/>
          <p:nvPr/>
        </p:nvSpPr>
        <p:spPr>
          <a:xfrm>
            <a:off x="3200400" y="3054096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Collapse open notch</a:t>
            </a:r>
          </a:p>
        </p:txBody>
      </p:sp>
      <p:sp>
        <p:nvSpPr>
          <p:cNvPr id="23" name="N39/rect/022"/>
          <p:cNvSpPr/>
          <p:nvPr/>
        </p:nvSpPr>
        <p:spPr>
          <a:xfrm>
            <a:off x="502920" y="3493008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39/text/023"/>
          <p:cNvSpPr txBox="1"/>
          <p:nvPr/>
        </p:nvSpPr>
        <p:spPr>
          <a:xfrm>
            <a:off x="685800" y="3493008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Tab click</a:t>
            </a:r>
          </a:p>
        </p:txBody>
      </p:sp>
      <p:sp>
        <p:nvSpPr>
          <p:cNvPr id="25" name="N39/text/024"/>
          <p:cNvSpPr txBox="1"/>
          <p:nvPr/>
        </p:nvSpPr>
        <p:spPr>
          <a:xfrm>
            <a:off x="3200400" y="3493008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Switch page; resize to page geometry</a:t>
            </a:r>
          </a:p>
        </p:txBody>
      </p:sp>
      <p:sp>
        <p:nvSpPr>
          <p:cNvPr id="26" name="N39/rect/025"/>
          <p:cNvSpPr/>
          <p:nvPr/>
        </p:nvSpPr>
        <p:spPr>
          <a:xfrm>
            <a:off x="502920" y="3931920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N39/text/026"/>
          <p:cNvSpPr txBox="1"/>
          <p:nvPr/>
        </p:nvSpPr>
        <p:spPr>
          <a:xfrm>
            <a:off x="685800" y="3931920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Gear / close</a:t>
            </a:r>
          </a:p>
        </p:txBody>
      </p:sp>
      <p:sp>
        <p:nvSpPr>
          <p:cNvPr id="28" name="N39/text/027"/>
          <p:cNvSpPr txBox="1"/>
          <p:nvPr/>
        </p:nvSpPr>
        <p:spPr>
          <a:xfrm>
            <a:off x="3200400" y="3931920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Open inline prefs / collapse</a:t>
            </a:r>
          </a:p>
        </p:txBody>
      </p:sp>
      <p:sp>
        <p:nvSpPr>
          <p:cNvPr id="29" name="N39/rect/028"/>
          <p:cNvSpPr/>
          <p:nvPr/>
        </p:nvSpPr>
        <p:spPr>
          <a:xfrm>
            <a:off x="502920" y="4370831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39/text/029"/>
          <p:cNvSpPr txBox="1"/>
          <p:nvPr/>
        </p:nvSpPr>
        <p:spPr>
          <a:xfrm>
            <a:off x="685800" y="4370831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Notification Open</a:t>
            </a:r>
          </a:p>
        </p:txBody>
      </p:sp>
      <p:sp>
        <p:nvSpPr>
          <p:cNvPr id="31" name="N39/text/030"/>
          <p:cNvSpPr txBox="1"/>
          <p:nvPr/>
        </p:nvSpPr>
        <p:spPr>
          <a:xfrm>
            <a:off x="3200400" y="4370831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Activate source and open Alerts</a:t>
            </a:r>
          </a:p>
        </p:txBody>
      </p:sp>
      <p:sp>
        <p:nvSpPr>
          <p:cNvPr id="32" name="N39/rect/031"/>
          <p:cNvSpPr/>
          <p:nvPr/>
        </p:nvSpPr>
        <p:spPr>
          <a:xfrm>
            <a:off x="502920" y="4809744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N39/text/032"/>
          <p:cNvSpPr txBox="1"/>
          <p:nvPr/>
        </p:nvSpPr>
        <p:spPr>
          <a:xfrm>
            <a:off x="685800" y="4809744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Shelf drag near notch</a:t>
            </a:r>
          </a:p>
        </p:txBody>
      </p:sp>
      <p:sp>
        <p:nvSpPr>
          <p:cNvPr id="34" name="N39/text/033"/>
          <p:cNvSpPr txBox="1"/>
          <p:nvPr/>
        </p:nvSpPr>
        <p:spPr>
          <a:xfrm>
            <a:off x="3200400" y="4809744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Show GTK drop target; suppress peek</a:t>
            </a:r>
          </a:p>
        </p:txBody>
      </p:sp>
      <p:sp>
        <p:nvSpPr>
          <p:cNvPr id="35" name="N39/rect/034"/>
          <p:cNvSpPr/>
          <p:nvPr/>
        </p:nvSpPr>
        <p:spPr>
          <a:xfrm>
            <a:off x="502920" y="5248656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39/text/035"/>
          <p:cNvSpPr txBox="1"/>
          <p:nvPr/>
        </p:nvSpPr>
        <p:spPr>
          <a:xfrm>
            <a:off x="685800" y="5248656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Clip row click</a:t>
            </a:r>
          </a:p>
        </p:txBody>
      </p:sp>
      <p:sp>
        <p:nvSpPr>
          <p:cNvPr id="37" name="N39/text/036"/>
          <p:cNvSpPr txBox="1"/>
          <p:nvPr/>
        </p:nvSpPr>
        <p:spPr>
          <a:xfrm>
            <a:off x="3200400" y="5248656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Restore text to system clipboard</a:t>
            </a:r>
          </a:p>
        </p:txBody>
      </p:sp>
      <p:sp>
        <p:nvSpPr>
          <p:cNvPr id="38" name="N39/rect/037"/>
          <p:cNvSpPr/>
          <p:nvPr/>
        </p:nvSpPr>
        <p:spPr>
          <a:xfrm>
            <a:off x="502920" y="5687568"/>
            <a:ext cx="7635240" cy="402336"/>
          </a:xfrm>
          <a:prstGeom prst="roundRect">
            <a:avLst>
              <a:gd name="adj" fmla="val 1363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N39/text/038"/>
          <p:cNvSpPr txBox="1"/>
          <p:nvPr/>
        </p:nvSpPr>
        <p:spPr>
          <a:xfrm>
            <a:off x="685800" y="5687568"/>
            <a:ext cx="2468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Quick action click</a:t>
            </a:r>
          </a:p>
        </p:txBody>
      </p:sp>
      <p:sp>
        <p:nvSpPr>
          <p:cNvPr id="40" name="N39/text/039"/>
          <p:cNvSpPr txBox="1"/>
          <p:nvPr/>
        </p:nvSpPr>
        <p:spPr>
          <a:xfrm>
            <a:off x="3200400" y="5687568"/>
            <a:ext cx="4754880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Toggle GSettings; show status footer</a:t>
            </a:r>
          </a:p>
        </p:txBody>
      </p:sp>
      <p:sp>
        <p:nvSpPr>
          <p:cNvPr id="41" name="N39/spec-panel/040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39/text/041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43" name="N39/ellipse/042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N39/text/043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Keyboard focus rings use hover style</a:t>
            </a:r>
          </a:p>
        </p:txBody>
      </p:sp>
      <p:sp>
        <p:nvSpPr>
          <p:cNvPr id="45" name="N39/ellipse/044"/>
          <p:cNvSpPr/>
          <p:nvPr/>
        </p:nvSpPr>
        <p:spPr>
          <a:xfrm>
            <a:off x="8659368" y="2386584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N39/text/045"/>
          <p:cNvSpPr txBox="1"/>
          <p:nvPr/>
        </p:nvSpPr>
        <p:spPr>
          <a:xfrm>
            <a:off x="8805672" y="2322576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Slider grabs postpone auto-hide</a:t>
            </a:r>
          </a:p>
        </p:txBody>
      </p:sp>
      <p:sp>
        <p:nvSpPr>
          <p:cNvPr id="47" name="N39/ellipse/046"/>
          <p:cNvSpPr/>
          <p:nvPr/>
        </p:nvSpPr>
        <p:spPr>
          <a:xfrm>
            <a:off x="8659368" y="2697479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39/text/047"/>
          <p:cNvSpPr txBox="1"/>
          <p:nvPr/>
        </p:nvSpPr>
        <p:spPr>
          <a:xfrm>
            <a:off x="8805672" y="2633472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Disabled controls stay visible</a:t>
            </a:r>
          </a:p>
        </p:txBody>
      </p:sp>
      <p:sp>
        <p:nvSpPr>
          <p:cNvPr id="49" name="N39/ellipse/048"/>
          <p:cNvSpPr/>
          <p:nvPr/>
        </p:nvSpPr>
        <p:spPr>
          <a:xfrm>
            <a:off x="8659368" y="3008375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39/text/049"/>
          <p:cNvSpPr txBox="1"/>
          <p:nvPr/>
        </p:nvSpPr>
        <p:spPr>
          <a:xfrm>
            <a:off x="8805672" y="294436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No drag-out from shelf implemented</a:t>
            </a:r>
          </a:p>
        </p:txBody>
      </p:sp>
      <p:cxnSp>
        <p:nvCxnSpPr>
          <p:cNvPr id="51" name="N39/line/050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N39/text/051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53" name="N39/edit-box/052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39/edit-note/053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Add/change an interaction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0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0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0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GUARDRAILS</a:t>
            </a:r>
          </a:p>
        </p:txBody>
      </p:sp>
      <p:sp>
        <p:nvSpPr>
          <p:cNvPr id="5" name="N40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Performance, privacy and platform rules</a:t>
            </a:r>
          </a:p>
        </p:txBody>
      </p:sp>
      <p:sp>
        <p:nvSpPr>
          <p:cNvPr id="6" name="N40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Design edits must not break these constraints</a:t>
            </a:r>
          </a:p>
        </p:txBody>
      </p:sp>
      <p:cxnSp>
        <p:nvCxnSpPr>
          <p:cNvPr id="7" name="N40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0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0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N40</a:t>
            </a:r>
          </a:p>
        </p:txBody>
      </p:sp>
      <p:sp>
        <p:nvSpPr>
          <p:cNvPr id="10" name="N40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40</a:t>
            </a:r>
          </a:p>
        </p:txBody>
      </p:sp>
      <p:sp>
        <p:nvSpPr>
          <p:cNvPr id="11" name="N40/rect/010"/>
          <p:cNvSpPr/>
          <p:nvPr/>
        </p:nvSpPr>
        <p:spPr>
          <a:xfrm>
            <a:off x="502920" y="17830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40/text/011"/>
          <p:cNvSpPr txBox="1"/>
          <p:nvPr/>
        </p:nvSpPr>
        <p:spPr>
          <a:xfrm>
            <a:off x="731520" y="1965960"/>
            <a:ext cx="49834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Performance</a:t>
            </a:r>
          </a:p>
        </p:txBody>
      </p:sp>
      <p:sp>
        <p:nvSpPr>
          <p:cNvPr id="13" name="N40/text/012"/>
          <p:cNvSpPr txBox="1"/>
          <p:nvPr/>
        </p:nvSpPr>
        <p:spPr>
          <a:xfrm>
            <a:off x="731520" y="237744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5F7"/>
                </a:solidFill>
                <a:latin typeface="Arial"/>
              </a:rPr>
              <a:t>Stats sample only on System page. Seek updates only on Music page. Visualizer only while closed/visible. Helper exits after 5 idle minutes.</a:t>
            </a:r>
          </a:p>
        </p:txBody>
      </p:sp>
      <p:sp>
        <p:nvSpPr>
          <p:cNvPr id="14" name="N40/rect/013"/>
          <p:cNvSpPr/>
          <p:nvPr/>
        </p:nvSpPr>
        <p:spPr>
          <a:xfrm>
            <a:off x="6172200" y="17830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40/text/014"/>
          <p:cNvSpPr txBox="1"/>
          <p:nvPr/>
        </p:nvSpPr>
        <p:spPr>
          <a:xfrm>
            <a:off x="6400800" y="1965960"/>
            <a:ext cx="49834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Privacy</a:t>
            </a:r>
          </a:p>
        </p:txBody>
      </p:sp>
      <p:sp>
        <p:nvSpPr>
          <p:cNvPr id="16" name="N40/text/015"/>
          <p:cNvSpPr txBox="1"/>
          <p:nvPr/>
        </p:nvSpPr>
        <p:spPr>
          <a:xfrm>
            <a:off x="6400800" y="237744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5F7"/>
                </a:solidFill>
                <a:latin typeface="Arial"/>
              </a:rPr>
              <a:t>Clipboard off by default, RAM-only, bounded, cleared on lock/logout/disable. Shelf stores references only. Remote art can be disabled.</a:t>
            </a:r>
          </a:p>
        </p:txBody>
      </p:sp>
      <p:sp>
        <p:nvSpPr>
          <p:cNvPr id="17" name="N40/rect/016"/>
          <p:cNvSpPr/>
          <p:nvPr/>
        </p:nvSpPr>
        <p:spPr>
          <a:xfrm>
            <a:off x="502920" y="38404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40/text/017"/>
          <p:cNvSpPr txBox="1"/>
          <p:nvPr/>
        </p:nvSpPr>
        <p:spPr>
          <a:xfrm>
            <a:off x="731520" y="4023360"/>
            <a:ext cx="49834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Platform</a:t>
            </a:r>
          </a:p>
        </p:txBody>
      </p:sp>
      <p:sp>
        <p:nvSpPr>
          <p:cNvPr id="19" name="N40/text/018"/>
          <p:cNvSpPr txBox="1"/>
          <p:nvPr/>
        </p:nvSpPr>
        <p:spPr>
          <a:xfrm>
            <a:off x="731520" y="443484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5F7"/>
                </a:solidFill>
                <a:latin typeface="Arial"/>
              </a:rPr>
              <a:t>GNOME Wayland Shell extension for the notch; GTK4/Adw for settings/drop helper. No X11-only positioning, no floating-island default.</a:t>
            </a:r>
          </a:p>
        </p:txBody>
      </p:sp>
      <p:sp>
        <p:nvSpPr>
          <p:cNvPr id="20" name="N40/rect/019"/>
          <p:cNvSpPr/>
          <p:nvPr/>
        </p:nvSpPr>
        <p:spPr>
          <a:xfrm>
            <a:off x="6172200" y="3840480"/>
            <a:ext cx="5440680" cy="1828800"/>
          </a:xfrm>
          <a:prstGeom prst="roundRect">
            <a:avLst>
              <a:gd name="adj" fmla="val 7000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N40/text/020"/>
          <p:cNvSpPr txBox="1"/>
          <p:nvPr/>
        </p:nvSpPr>
        <p:spPr>
          <a:xfrm>
            <a:off x="6400800" y="4023360"/>
            <a:ext cx="4983480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D158"/>
                </a:solidFill>
                <a:latin typeface="Arial"/>
              </a:rPr>
              <a:t>Accessibility</a:t>
            </a:r>
          </a:p>
        </p:txBody>
      </p:sp>
      <p:sp>
        <p:nvSpPr>
          <p:cNvPr id="22" name="N40/text/021"/>
          <p:cNvSpPr txBox="1"/>
          <p:nvPr/>
        </p:nvSpPr>
        <p:spPr>
          <a:xfrm>
            <a:off x="6400800" y="4434840"/>
            <a:ext cx="498348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5F7"/>
                </a:solidFill>
                <a:latin typeface="Arial"/>
              </a:rPr>
              <a:t>Respect GNOME text scaling and Enable Animations. Symbolic icons inherit control color. Disabled/locked states remain understandable.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1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1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1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HANDOFF</a:t>
            </a:r>
          </a:p>
        </p:txBody>
      </p:sp>
      <p:sp>
        <p:nvSpPr>
          <p:cNvPr id="5" name="N41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Decision log — fill this before returning</a:t>
            </a:r>
          </a:p>
        </p:txBody>
      </p:sp>
      <p:sp>
        <p:nvSpPr>
          <p:cNvPr id="6" name="N41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One row per change; reference slide IDs so implementation is exact</a:t>
            </a:r>
          </a:p>
        </p:txBody>
      </p:sp>
      <p:cxnSp>
        <p:nvCxnSpPr>
          <p:cNvPr id="7" name="N41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1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1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N41</a:t>
            </a:r>
          </a:p>
        </p:txBody>
      </p:sp>
      <p:sp>
        <p:nvSpPr>
          <p:cNvPr id="10" name="N41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41</a:t>
            </a:r>
          </a:p>
        </p:txBody>
      </p:sp>
      <p:sp>
        <p:nvSpPr>
          <p:cNvPr id="11" name="N41/rect/010"/>
          <p:cNvSpPr/>
          <p:nvPr/>
        </p:nvSpPr>
        <p:spPr>
          <a:xfrm>
            <a:off x="502920" y="1783080"/>
            <a:ext cx="10698480" cy="411480"/>
          </a:xfrm>
          <a:prstGeom prst="roundRect">
            <a:avLst>
              <a:gd name="adj" fmla="val 13333"/>
            </a:avLst>
          </a:prstGeom>
          <a:solidFill>
            <a:srgbClr val="1C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41/text/011"/>
          <p:cNvSpPr txBox="1"/>
          <p:nvPr/>
        </p:nvSpPr>
        <p:spPr>
          <a:xfrm>
            <a:off x="594360" y="1783080"/>
            <a:ext cx="73152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Slide ID</a:t>
            </a:r>
          </a:p>
        </p:txBody>
      </p:sp>
      <p:sp>
        <p:nvSpPr>
          <p:cNvPr id="13" name="N41/text/012"/>
          <p:cNvSpPr txBox="1"/>
          <p:nvPr/>
        </p:nvSpPr>
        <p:spPr>
          <a:xfrm>
            <a:off x="1508760" y="1783080"/>
            <a:ext cx="2011679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Element / state</a:t>
            </a:r>
          </a:p>
        </p:txBody>
      </p:sp>
      <p:sp>
        <p:nvSpPr>
          <p:cNvPr id="14" name="N41/text/013"/>
          <p:cNvSpPr txBox="1"/>
          <p:nvPr/>
        </p:nvSpPr>
        <p:spPr>
          <a:xfrm>
            <a:off x="3703320" y="1783080"/>
            <a:ext cx="4937759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Requested change</a:t>
            </a:r>
          </a:p>
        </p:txBody>
      </p:sp>
      <p:sp>
        <p:nvSpPr>
          <p:cNvPr id="15" name="N41/text/014"/>
          <p:cNvSpPr txBox="1"/>
          <p:nvPr/>
        </p:nvSpPr>
        <p:spPr>
          <a:xfrm>
            <a:off x="8823960" y="1783080"/>
            <a:ext cx="91440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Priority</a:t>
            </a:r>
          </a:p>
        </p:txBody>
      </p:sp>
      <p:sp>
        <p:nvSpPr>
          <p:cNvPr id="16" name="N41/text/015"/>
          <p:cNvSpPr txBox="1"/>
          <p:nvPr/>
        </p:nvSpPr>
        <p:spPr>
          <a:xfrm>
            <a:off x="9921240" y="1783080"/>
            <a:ext cx="1188720" cy="411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0D158"/>
                </a:solidFill>
                <a:latin typeface="Arial"/>
              </a:rPr>
              <a:t>Approved?</a:t>
            </a:r>
          </a:p>
        </p:txBody>
      </p:sp>
      <p:sp>
        <p:nvSpPr>
          <p:cNvPr id="17" name="N41/rect/016"/>
          <p:cNvSpPr/>
          <p:nvPr/>
        </p:nvSpPr>
        <p:spPr>
          <a:xfrm>
            <a:off x="502920" y="2194560"/>
            <a:ext cx="10698480" cy="530352"/>
          </a:xfrm>
          <a:prstGeom prst="roundRect">
            <a:avLst>
              <a:gd name="adj" fmla="val 5172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41/text/017"/>
          <p:cNvSpPr txBox="1"/>
          <p:nvPr/>
        </p:nvSpPr>
        <p:spPr>
          <a:xfrm>
            <a:off x="594360" y="2194560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edit ]</a:t>
            </a:r>
          </a:p>
        </p:txBody>
      </p:sp>
      <p:sp>
        <p:nvSpPr>
          <p:cNvPr id="19" name="N41/text/018"/>
          <p:cNvSpPr txBox="1"/>
          <p:nvPr/>
        </p:nvSpPr>
        <p:spPr>
          <a:xfrm>
            <a:off x="1508760" y="2194560"/>
            <a:ext cx="201167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edit ]</a:t>
            </a:r>
          </a:p>
        </p:txBody>
      </p:sp>
      <p:sp>
        <p:nvSpPr>
          <p:cNvPr id="20" name="N41/text/019"/>
          <p:cNvSpPr txBox="1"/>
          <p:nvPr/>
        </p:nvSpPr>
        <p:spPr>
          <a:xfrm>
            <a:off x="3703320" y="2194560"/>
            <a:ext cx="49377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edit ]</a:t>
            </a:r>
          </a:p>
        </p:txBody>
      </p:sp>
      <p:sp>
        <p:nvSpPr>
          <p:cNvPr id="21" name="N41/text/020"/>
          <p:cNvSpPr txBox="1"/>
          <p:nvPr/>
        </p:nvSpPr>
        <p:spPr>
          <a:xfrm>
            <a:off x="8823960" y="2194560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edit ]</a:t>
            </a:r>
          </a:p>
        </p:txBody>
      </p:sp>
      <p:sp>
        <p:nvSpPr>
          <p:cNvPr id="22" name="N41/text/021"/>
          <p:cNvSpPr txBox="1"/>
          <p:nvPr/>
        </p:nvSpPr>
        <p:spPr>
          <a:xfrm>
            <a:off x="9921240" y="2194560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>[ edit ]</a:t>
            </a:r>
          </a:p>
        </p:txBody>
      </p:sp>
      <p:sp>
        <p:nvSpPr>
          <p:cNvPr id="23" name="N41/rect/022"/>
          <p:cNvSpPr/>
          <p:nvPr/>
        </p:nvSpPr>
        <p:spPr>
          <a:xfrm>
            <a:off x="502920" y="2724912"/>
            <a:ext cx="10698480" cy="530352"/>
          </a:xfrm>
          <a:prstGeom prst="roundRect">
            <a:avLst>
              <a:gd name="adj" fmla="val 5172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41/text/023"/>
          <p:cNvSpPr txBox="1"/>
          <p:nvPr/>
        </p:nvSpPr>
        <p:spPr>
          <a:xfrm>
            <a:off x="594360" y="2724912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25" name="N41/text/024"/>
          <p:cNvSpPr txBox="1"/>
          <p:nvPr/>
        </p:nvSpPr>
        <p:spPr>
          <a:xfrm>
            <a:off x="1508760" y="2724912"/>
            <a:ext cx="201167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26" name="N41/text/025"/>
          <p:cNvSpPr txBox="1"/>
          <p:nvPr/>
        </p:nvSpPr>
        <p:spPr>
          <a:xfrm>
            <a:off x="3703320" y="2724912"/>
            <a:ext cx="49377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27" name="N41/text/026"/>
          <p:cNvSpPr txBox="1"/>
          <p:nvPr/>
        </p:nvSpPr>
        <p:spPr>
          <a:xfrm>
            <a:off x="8823960" y="2724912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28" name="N41/text/027"/>
          <p:cNvSpPr txBox="1"/>
          <p:nvPr/>
        </p:nvSpPr>
        <p:spPr>
          <a:xfrm>
            <a:off x="9921240" y="2724912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29" name="N41/rect/028"/>
          <p:cNvSpPr/>
          <p:nvPr/>
        </p:nvSpPr>
        <p:spPr>
          <a:xfrm>
            <a:off x="502920" y="3255264"/>
            <a:ext cx="10698480" cy="530352"/>
          </a:xfrm>
          <a:prstGeom prst="roundRect">
            <a:avLst>
              <a:gd name="adj" fmla="val 5172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41/text/029"/>
          <p:cNvSpPr txBox="1"/>
          <p:nvPr/>
        </p:nvSpPr>
        <p:spPr>
          <a:xfrm>
            <a:off x="594360" y="3255264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31" name="N41/text/030"/>
          <p:cNvSpPr txBox="1"/>
          <p:nvPr/>
        </p:nvSpPr>
        <p:spPr>
          <a:xfrm>
            <a:off x="1508760" y="3255264"/>
            <a:ext cx="201167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32" name="N41/text/031"/>
          <p:cNvSpPr txBox="1"/>
          <p:nvPr/>
        </p:nvSpPr>
        <p:spPr>
          <a:xfrm>
            <a:off x="3703320" y="3255264"/>
            <a:ext cx="49377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33" name="N41/text/032"/>
          <p:cNvSpPr txBox="1"/>
          <p:nvPr/>
        </p:nvSpPr>
        <p:spPr>
          <a:xfrm>
            <a:off x="8823960" y="3255264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34" name="N41/text/033"/>
          <p:cNvSpPr txBox="1"/>
          <p:nvPr/>
        </p:nvSpPr>
        <p:spPr>
          <a:xfrm>
            <a:off x="9921240" y="3255264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35" name="N41/rect/034"/>
          <p:cNvSpPr/>
          <p:nvPr/>
        </p:nvSpPr>
        <p:spPr>
          <a:xfrm>
            <a:off x="502920" y="3785615"/>
            <a:ext cx="10698480" cy="530352"/>
          </a:xfrm>
          <a:prstGeom prst="roundRect">
            <a:avLst>
              <a:gd name="adj" fmla="val 5172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41/text/035"/>
          <p:cNvSpPr txBox="1"/>
          <p:nvPr/>
        </p:nvSpPr>
        <p:spPr>
          <a:xfrm>
            <a:off x="594360" y="3785615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37" name="N41/text/036"/>
          <p:cNvSpPr txBox="1"/>
          <p:nvPr/>
        </p:nvSpPr>
        <p:spPr>
          <a:xfrm>
            <a:off x="1508760" y="3785615"/>
            <a:ext cx="201167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38" name="N41/text/037"/>
          <p:cNvSpPr txBox="1"/>
          <p:nvPr/>
        </p:nvSpPr>
        <p:spPr>
          <a:xfrm>
            <a:off x="3703320" y="3785615"/>
            <a:ext cx="49377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39" name="N41/text/038"/>
          <p:cNvSpPr txBox="1"/>
          <p:nvPr/>
        </p:nvSpPr>
        <p:spPr>
          <a:xfrm>
            <a:off x="8823960" y="3785615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40" name="N41/text/039"/>
          <p:cNvSpPr txBox="1"/>
          <p:nvPr/>
        </p:nvSpPr>
        <p:spPr>
          <a:xfrm>
            <a:off x="9921240" y="3785615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41" name="N41/rect/040"/>
          <p:cNvSpPr/>
          <p:nvPr/>
        </p:nvSpPr>
        <p:spPr>
          <a:xfrm>
            <a:off x="502920" y="4315968"/>
            <a:ext cx="10698480" cy="530352"/>
          </a:xfrm>
          <a:prstGeom prst="roundRect">
            <a:avLst>
              <a:gd name="adj" fmla="val 5172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N41/text/041"/>
          <p:cNvSpPr txBox="1"/>
          <p:nvPr/>
        </p:nvSpPr>
        <p:spPr>
          <a:xfrm>
            <a:off x="594360" y="4315968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43" name="N41/text/042"/>
          <p:cNvSpPr txBox="1"/>
          <p:nvPr/>
        </p:nvSpPr>
        <p:spPr>
          <a:xfrm>
            <a:off x="1508760" y="4315968"/>
            <a:ext cx="201167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44" name="N41/text/043"/>
          <p:cNvSpPr txBox="1"/>
          <p:nvPr/>
        </p:nvSpPr>
        <p:spPr>
          <a:xfrm>
            <a:off x="3703320" y="4315968"/>
            <a:ext cx="49377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45" name="N41/text/044"/>
          <p:cNvSpPr txBox="1"/>
          <p:nvPr/>
        </p:nvSpPr>
        <p:spPr>
          <a:xfrm>
            <a:off x="8823960" y="4315968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46" name="N41/text/045"/>
          <p:cNvSpPr txBox="1"/>
          <p:nvPr/>
        </p:nvSpPr>
        <p:spPr>
          <a:xfrm>
            <a:off x="9921240" y="4315968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47" name="N41/rect/046"/>
          <p:cNvSpPr/>
          <p:nvPr/>
        </p:nvSpPr>
        <p:spPr>
          <a:xfrm>
            <a:off x="502920" y="4846320"/>
            <a:ext cx="10698480" cy="530352"/>
          </a:xfrm>
          <a:prstGeom prst="roundRect">
            <a:avLst>
              <a:gd name="adj" fmla="val 5172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41/text/047"/>
          <p:cNvSpPr txBox="1"/>
          <p:nvPr/>
        </p:nvSpPr>
        <p:spPr>
          <a:xfrm>
            <a:off x="594360" y="4846320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49" name="N41/text/048"/>
          <p:cNvSpPr txBox="1"/>
          <p:nvPr/>
        </p:nvSpPr>
        <p:spPr>
          <a:xfrm>
            <a:off x="1508760" y="4846320"/>
            <a:ext cx="201167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50" name="N41/text/049"/>
          <p:cNvSpPr txBox="1"/>
          <p:nvPr/>
        </p:nvSpPr>
        <p:spPr>
          <a:xfrm>
            <a:off x="3703320" y="4846320"/>
            <a:ext cx="49377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51" name="N41/text/050"/>
          <p:cNvSpPr txBox="1"/>
          <p:nvPr/>
        </p:nvSpPr>
        <p:spPr>
          <a:xfrm>
            <a:off x="8823960" y="4846320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52" name="N41/text/051"/>
          <p:cNvSpPr txBox="1"/>
          <p:nvPr/>
        </p:nvSpPr>
        <p:spPr>
          <a:xfrm>
            <a:off x="9921240" y="4846320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53" name="N41/rect/052"/>
          <p:cNvSpPr/>
          <p:nvPr/>
        </p:nvSpPr>
        <p:spPr>
          <a:xfrm>
            <a:off x="502920" y="5376672"/>
            <a:ext cx="10698480" cy="530352"/>
          </a:xfrm>
          <a:prstGeom prst="roundRect">
            <a:avLst>
              <a:gd name="adj" fmla="val 5172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41/text/053"/>
          <p:cNvSpPr txBox="1"/>
          <p:nvPr/>
        </p:nvSpPr>
        <p:spPr>
          <a:xfrm>
            <a:off x="594360" y="5376672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55" name="N41/text/054"/>
          <p:cNvSpPr txBox="1"/>
          <p:nvPr/>
        </p:nvSpPr>
        <p:spPr>
          <a:xfrm>
            <a:off x="1508760" y="5376672"/>
            <a:ext cx="201167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56" name="N41/text/055"/>
          <p:cNvSpPr txBox="1"/>
          <p:nvPr/>
        </p:nvSpPr>
        <p:spPr>
          <a:xfrm>
            <a:off x="3703320" y="5376672"/>
            <a:ext cx="4937759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57" name="N41/text/056"/>
          <p:cNvSpPr txBox="1"/>
          <p:nvPr/>
        </p:nvSpPr>
        <p:spPr>
          <a:xfrm>
            <a:off x="8823960" y="5376672"/>
            <a:ext cx="91440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58" name="N41/text/057"/>
          <p:cNvSpPr txBox="1"/>
          <p:nvPr/>
        </p:nvSpPr>
        <p:spPr>
          <a:xfrm>
            <a:off x="9921240" y="5376672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77782"/>
                </a:solidFill>
                <a:latin typeface="Arial"/>
              </a:rPr>
              <a:t/>
            </a:r>
          </a:p>
        </p:txBody>
      </p:sp>
      <p:sp>
        <p:nvSpPr>
          <p:cNvPr id="59" name="N41/text/058"/>
          <p:cNvSpPr txBox="1"/>
          <p:nvPr/>
        </p:nvSpPr>
        <p:spPr>
          <a:xfrm>
            <a:off x="502920" y="6080760"/>
            <a:ext cx="1115568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6"/>
                </a:solidFill>
                <a:latin typeface="Arial"/>
              </a:rPr>
              <a:t>Priority: P0 must-fix · P1 should-fix · P2 nice-to-have. Duplicate this slide if you need more rows.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2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2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2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HANDOFF</a:t>
            </a:r>
          </a:p>
        </p:txBody>
      </p:sp>
      <p:sp>
        <p:nvSpPr>
          <p:cNvPr id="5" name="N42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Slide → source mapping</a:t>
            </a:r>
          </a:p>
        </p:txBody>
      </p:sp>
      <p:sp>
        <p:nvSpPr>
          <p:cNvPr id="6" name="N42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After approval, edits are applied to these files</a:t>
            </a:r>
          </a:p>
        </p:txBody>
      </p:sp>
      <p:cxnSp>
        <p:nvCxnSpPr>
          <p:cNvPr id="7" name="N42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2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2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N42</a:t>
            </a:r>
          </a:p>
        </p:txBody>
      </p:sp>
      <p:sp>
        <p:nvSpPr>
          <p:cNvPr id="10" name="N42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42</a:t>
            </a:r>
          </a:p>
        </p:txBody>
      </p:sp>
      <p:sp>
        <p:nvSpPr>
          <p:cNvPr id="11" name="N42/rect/010"/>
          <p:cNvSpPr/>
          <p:nvPr/>
        </p:nvSpPr>
        <p:spPr>
          <a:xfrm>
            <a:off x="502920" y="173736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42/text/011"/>
          <p:cNvSpPr txBox="1"/>
          <p:nvPr/>
        </p:nvSpPr>
        <p:spPr>
          <a:xfrm>
            <a:off x="685800" y="1737360"/>
            <a:ext cx="19202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N04, N37</a:t>
            </a:r>
          </a:p>
        </p:txBody>
      </p:sp>
      <p:sp>
        <p:nvSpPr>
          <p:cNvPr id="13" name="N42/text/012"/>
          <p:cNvSpPr txBox="1"/>
          <p:nvPr/>
        </p:nvSpPr>
        <p:spPr>
          <a:xfrm>
            <a:off x="2651760" y="1737360"/>
            <a:ext cx="52120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extension/stylesheet.css</a:t>
            </a:r>
          </a:p>
        </p:txBody>
      </p:sp>
      <p:sp>
        <p:nvSpPr>
          <p:cNvPr id="14" name="N42/text/013"/>
          <p:cNvSpPr txBox="1"/>
          <p:nvPr/>
        </p:nvSpPr>
        <p:spPr>
          <a:xfrm>
            <a:off x="8001000" y="173736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Colors, type, radii, spacing, control states</a:t>
            </a:r>
          </a:p>
        </p:txBody>
      </p:sp>
      <p:sp>
        <p:nvSpPr>
          <p:cNvPr id="15" name="N42/rect/014"/>
          <p:cNvSpPr/>
          <p:nvPr/>
        </p:nvSpPr>
        <p:spPr>
          <a:xfrm>
            <a:off x="502920" y="228600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42/text/015"/>
          <p:cNvSpPr txBox="1"/>
          <p:nvPr/>
        </p:nvSpPr>
        <p:spPr>
          <a:xfrm>
            <a:off x="685800" y="2286000"/>
            <a:ext cx="19202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N05–N08, N26–N28</a:t>
            </a:r>
          </a:p>
        </p:txBody>
      </p:sp>
      <p:sp>
        <p:nvSpPr>
          <p:cNvPr id="17" name="N42/text/016"/>
          <p:cNvSpPr txBox="1"/>
          <p:nvPr/>
        </p:nvSpPr>
        <p:spPr>
          <a:xfrm>
            <a:off x="2651760" y="2286000"/>
            <a:ext cx="52120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extension/lib/geometry.js · layout.js · surface.js · spring.js</a:t>
            </a:r>
          </a:p>
        </p:txBody>
      </p:sp>
      <p:sp>
        <p:nvSpPr>
          <p:cNvPr id="18" name="N42/text/017"/>
          <p:cNvSpPr txBox="1"/>
          <p:nvPr/>
        </p:nvSpPr>
        <p:spPr>
          <a:xfrm>
            <a:off x="8001000" y="228600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Dimensions, placement, adaptive rules, motion</a:t>
            </a:r>
          </a:p>
        </p:txBody>
      </p:sp>
      <p:sp>
        <p:nvSpPr>
          <p:cNvPr id="19" name="N42/rect/018"/>
          <p:cNvSpPr/>
          <p:nvPr/>
        </p:nvSpPr>
        <p:spPr>
          <a:xfrm>
            <a:off x="502920" y="283464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42/text/019"/>
          <p:cNvSpPr txBox="1"/>
          <p:nvPr/>
        </p:nvSpPr>
        <p:spPr>
          <a:xfrm>
            <a:off x="685800" y="2834640"/>
            <a:ext cx="19202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N09–N25, N39</a:t>
            </a:r>
          </a:p>
        </p:txBody>
      </p:sp>
      <p:sp>
        <p:nvSpPr>
          <p:cNvPr id="21" name="N42/text/020"/>
          <p:cNvSpPr txBox="1"/>
          <p:nvPr/>
        </p:nvSpPr>
        <p:spPr>
          <a:xfrm>
            <a:off x="2651760" y="2834640"/>
            <a:ext cx="52120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extension/lib/view.js · widgets.js</a:t>
            </a:r>
          </a:p>
        </p:txBody>
      </p:sp>
      <p:sp>
        <p:nvSpPr>
          <p:cNvPr id="22" name="N42/text/021"/>
          <p:cNvSpPr txBox="1"/>
          <p:nvPr/>
        </p:nvSpPr>
        <p:spPr>
          <a:xfrm>
            <a:off x="8001000" y="283464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Page structure, copy, controls, status footer</a:t>
            </a:r>
          </a:p>
        </p:txBody>
      </p:sp>
      <p:sp>
        <p:nvSpPr>
          <p:cNvPr id="23" name="N42/rect/022"/>
          <p:cNvSpPr/>
          <p:nvPr/>
        </p:nvSpPr>
        <p:spPr>
          <a:xfrm>
            <a:off x="502920" y="338328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42/text/023"/>
          <p:cNvSpPr txBox="1"/>
          <p:nvPr/>
        </p:nvSpPr>
        <p:spPr>
          <a:xfrm>
            <a:off x="685800" y="3383280"/>
            <a:ext cx="19202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N18</a:t>
            </a:r>
          </a:p>
        </p:txBody>
      </p:sp>
      <p:sp>
        <p:nvSpPr>
          <p:cNvPr id="25" name="N42/text/024"/>
          <p:cNvSpPr txBox="1"/>
          <p:nvPr/>
        </p:nvSpPr>
        <p:spPr>
          <a:xfrm>
            <a:off x="2651760" y="3383280"/>
            <a:ext cx="52120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extension/lib/actions.js</a:t>
            </a:r>
          </a:p>
        </p:txBody>
      </p:sp>
      <p:sp>
        <p:nvSpPr>
          <p:cNvPr id="26" name="N42/text/025"/>
          <p:cNvSpPr txBox="1"/>
          <p:nvPr/>
        </p:nvSpPr>
        <p:spPr>
          <a:xfrm>
            <a:off x="8001000" y="338328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Quick-action definitions and locked behavior</a:t>
            </a:r>
          </a:p>
        </p:txBody>
      </p:sp>
      <p:sp>
        <p:nvSpPr>
          <p:cNvPr id="27" name="N42/rect/026"/>
          <p:cNvSpPr/>
          <p:nvPr/>
        </p:nvSpPr>
        <p:spPr>
          <a:xfrm>
            <a:off x="502920" y="3931920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42/text/027"/>
          <p:cNvSpPr txBox="1"/>
          <p:nvPr/>
        </p:nvSpPr>
        <p:spPr>
          <a:xfrm>
            <a:off x="685800" y="3931920"/>
            <a:ext cx="19202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N19–N22</a:t>
            </a:r>
          </a:p>
        </p:txBody>
      </p:sp>
      <p:sp>
        <p:nvSpPr>
          <p:cNvPr id="29" name="N42/text/028"/>
          <p:cNvSpPr txBox="1"/>
          <p:nvPr/>
        </p:nvSpPr>
        <p:spPr>
          <a:xfrm>
            <a:off x="2651760" y="3931920"/>
            <a:ext cx="52120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extension/lib/shelf.js · app/notch_app/helper.py</a:t>
            </a:r>
          </a:p>
        </p:txBody>
      </p:sp>
      <p:sp>
        <p:nvSpPr>
          <p:cNvPr id="30" name="N42/text/029"/>
          <p:cNvSpPr txBox="1"/>
          <p:nvPr/>
        </p:nvSpPr>
        <p:spPr>
          <a:xfrm>
            <a:off x="8001000" y="3931920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Shelf rows, drop target, file chooser</a:t>
            </a:r>
          </a:p>
        </p:txBody>
      </p:sp>
      <p:sp>
        <p:nvSpPr>
          <p:cNvPr id="31" name="N42/rect/030"/>
          <p:cNvSpPr/>
          <p:nvPr/>
        </p:nvSpPr>
        <p:spPr>
          <a:xfrm>
            <a:off x="502920" y="4480559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42/text/031"/>
          <p:cNvSpPr txBox="1"/>
          <p:nvPr/>
        </p:nvSpPr>
        <p:spPr>
          <a:xfrm>
            <a:off x="685800" y="4480559"/>
            <a:ext cx="19202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N23–N24</a:t>
            </a:r>
          </a:p>
        </p:txBody>
      </p:sp>
      <p:sp>
        <p:nvSpPr>
          <p:cNvPr id="33" name="N42/text/032"/>
          <p:cNvSpPr txBox="1"/>
          <p:nvPr/>
        </p:nvSpPr>
        <p:spPr>
          <a:xfrm>
            <a:off x="2651760" y="4480559"/>
            <a:ext cx="52120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extension/lib/clipboard.js</a:t>
            </a:r>
          </a:p>
        </p:txBody>
      </p:sp>
      <p:sp>
        <p:nvSpPr>
          <p:cNvPr id="34" name="N42/text/033"/>
          <p:cNvSpPr txBox="1"/>
          <p:nvPr/>
        </p:nvSpPr>
        <p:spPr>
          <a:xfrm>
            <a:off x="8001000" y="4480559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History rules and restore</a:t>
            </a:r>
          </a:p>
        </p:txBody>
      </p:sp>
      <p:sp>
        <p:nvSpPr>
          <p:cNvPr id="35" name="N42/rect/034"/>
          <p:cNvSpPr/>
          <p:nvPr/>
        </p:nvSpPr>
        <p:spPr>
          <a:xfrm>
            <a:off x="502920" y="5029199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42/text/035"/>
          <p:cNvSpPr txBox="1"/>
          <p:nvPr/>
        </p:nvSpPr>
        <p:spPr>
          <a:xfrm>
            <a:off x="685800" y="5029199"/>
            <a:ext cx="19202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N30–N36, N38</a:t>
            </a:r>
          </a:p>
        </p:txBody>
      </p:sp>
      <p:sp>
        <p:nvSpPr>
          <p:cNvPr id="37" name="N42/text/036"/>
          <p:cNvSpPr txBox="1"/>
          <p:nvPr/>
        </p:nvSpPr>
        <p:spPr>
          <a:xfrm>
            <a:off x="2651760" y="5029199"/>
            <a:ext cx="52120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extension/prefs.js · app/notch_app/settings.py</a:t>
            </a:r>
          </a:p>
        </p:txBody>
      </p:sp>
      <p:sp>
        <p:nvSpPr>
          <p:cNvPr id="38" name="N42/text/037"/>
          <p:cNvSpPr txBox="1"/>
          <p:nvPr/>
        </p:nvSpPr>
        <p:spPr>
          <a:xfrm>
            <a:off x="8001000" y="5029199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Settings pages and rows</a:t>
            </a:r>
          </a:p>
        </p:txBody>
      </p:sp>
      <p:sp>
        <p:nvSpPr>
          <p:cNvPr id="39" name="N42/rect/038"/>
          <p:cNvSpPr/>
          <p:nvPr/>
        </p:nvSpPr>
        <p:spPr>
          <a:xfrm>
            <a:off x="502920" y="5577839"/>
            <a:ext cx="11183112" cy="512064"/>
          </a:xfrm>
          <a:prstGeom prst="roundRect">
            <a:avLst>
              <a:gd name="adj" fmla="val 10714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N42/text/039"/>
          <p:cNvSpPr txBox="1"/>
          <p:nvPr/>
        </p:nvSpPr>
        <p:spPr>
          <a:xfrm>
            <a:off x="685800" y="5577839"/>
            <a:ext cx="19202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0D158"/>
                </a:solidFill>
                <a:latin typeface="Arial"/>
              </a:rPr>
              <a:t>N05, N31–N34</a:t>
            </a:r>
          </a:p>
        </p:txBody>
      </p:sp>
      <p:sp>
        <p:nvSpPr>
          <p:cNvPr id="41" name="N42/text/040"/>
          <p:cNvSpPr txBox="1"/>
          <p:nvPr/>
        </p:nvSpPr>
        <p:spPr>
          <a:xfrm>
            <a:off x="2651760" y="5577839"/>
            <a:ext cx="521208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5F5F7"/>
                </a:solidFill>
                <a:latin typeface="Consolas"/>
              </a:rPr>
              <a:t>extension/schemas/*.gschema.xml</a:t>
            </a:r>
          </a:p>
        </p:txBody>
      </p:sp>
      <p:sp>
        <p:nvSpPr>
          <p:cNvPr id="42" name="N42/text/041"/>
          <p:cNvSpPr txBox="1"/>
          <p:nvPr/>
        </p:nvSpPr>
        <p:spPr>
          <a:xfrm>
            <a:off x="8001000" y="5577839"/>
            <a:ext cx="3520440" cy="5120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1A1A6"/>
                </a:solidFill>
                <a:latin typeface="Arial"/>
              </a:rPr>
              <a:t>Defaults, ranges, enums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3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3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3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HANDOFF</a:t>
            </a:r>
          </a:p>
        </p:txBody>
      </p:sp>
      <p:sp>
        <p:nvSpPr>
          <p:cNvPr id="5" name="N43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Implementation acceptance checklist</a:t>
            </a:r>
          </a:p>
        </p:txBody>
      </p:sp>
      <p:sp>
        <p:nvSpPr>
          <p:cNvPr id="6" name="N43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Run after applying the edited deck</a:t>
            </a:r>
          </a:p>
        </p:txBody>
      </p:sp>
      <p:cxnSp>
        <p:nvCxnSpPr>
          <p:cNvPr id="7" name="N43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3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3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N43</a:t>
            </a:r>
          </a:p>
        </p:txBody>
      </p:sp>
      <p:sp>
        <p:nvSpPr>
          <p:cNvPr id="10" name="N43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43</a:t>
            </a:r>
          </a:p>
        </p:txBody>
      </p:sp>
      <p:sp>
        <p:nvSpPr>
          <p:cNvPr id="11" name="N43/rect/010"/>
          <p:cNvSpPr/>
          <p:nvPr/>
        </p:nvSpPr>
        <p:spPr>
          <a:xfrm>
            <a:off x="594360" y="1828800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43/text/011"/>
          <p:cNvSpPr txBox="1"/>
          <p:nvPr/>
        </p:nvSpPr>
        <p:spPr>
          <a:xfrm>
            <a:off x="960120" y="17830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Every approved slide ID is implemented or explicitly marked deferred.</a:t>
            </a:r>
          </a:p>
        </p:txBody>
      </p:sp>
      <p:sp>
        <p:nvSpPr>
          <p:cNvPr id="13" name="N43/rect/012"/>
          <p:cNvSpPr/>
          <p:nvPr/>
        </p:nvSpPr>
        <p:spPr>
          <a:xfrm>
            <a:off x="594360" y="2359151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43/text/013"/>
          <p:cNvSpPr txBox="1"/>
          <p:nvPr/>
        </p:nvSpPr>
        <p:spPr>
          <a:xfrm>
            <a:off x="960120" y="2313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No text is clipped at 100%, 125% and 150% text scaling.</a:t>
            </a:r>
          </a:p>
        </p:txBody>
      </p:sp>
      <p:sp>
        <p:nvSpPr>
          <p:cNvPr id="15" name="N43/rect/014"/>
          <p:cNvSpPr/>
          <p:nvPr/>
        </p:nvSpPr>
        <p:spPr>
          <a:xfrm>
            <a:off x="594360" y="2889503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43/text/015"/>
          <p:cNvSpPr txBox="1"/>
          <p:nvPr/>
        </p:nvSpPr>
        <p:spPr>
          <a:xfrm>
            <a:off x="960120" y="284378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Closed / peek / open and all six pages match the edited mockups.</a:t>
            </a:r>
          </a:p>
        </p:txBody>
      </p:sp>
      <p:sp>
        <p:nvSpPr>
          <p:cNvPr id="17" name="N43/rect/016"/>
          <p:cNvSpPr/>
          <p:nvPr/>
        </p:nvSpPr>
        <p:spPr>
          <a:xfrm>
            <a:off x="594360" y="3419856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43/text/017"/>
          <p:cNvSpPr txBox="1"/>
          <p:nvPr/>
        </p:nvSpPr>
        <p:spPr>
          <a:xfrm>
            <a:off x="960120" y="337413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Empty, loading, disabled, locked, offline and error states are present.</a:t>
            </a:r>
          </a:p>
        </p:txBody>
      </p:sp>
      <p:sp>
        <p:nvSpPr>
          <p:cNvPr id="19" name="N43/rect/018"/>
          <p:cNvSpPr/>
          <p:nvPr/>
        </p:nvSpPr>
        <p:spPr>
          <a:xfrm>
            <a:off x="594360" y="3950207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43/text/019"/>
          <p:cNvSpPr txBox="1"/>
          <p:nvPr/>
        </p:nvSpPr>
        <p:spPr>
          <a:xfrm>
            <a:off x="960120" y="3904487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Settings labels/defaults stay consistent across inline prefs and companion app.</a:t>
            </a:r>
          </a:p>
        </p:txBody>
      </p:sp>
      <p:sp>
        <p:nvSpPr>
          <p:cNvPr id="21" name="N43/rect/020"/>
          <p:cNvSpPr/>
          <p:nvPr/>
        </p:nvSpPr>
        <p:spPr>
          <a:xfrm>
            <a:off x="594360" y="4480559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43/text/021"/>
          <p:cNvSpPr txBox="1"/>
          <p:nvPr/>
        </p:nvSpPr>
        <p:spPr>
          <a:xfrm>
            <a:off x="96012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Quick actions, media controls, shelf actions and clipboard restore still work.</a:t>
            </a:r>
          </a:p>
        </p:txBody>
      </p:sp>
      <p:sp>
        <p:nvSpPr>
          <p:cNvPr id="23" name="N43/rect/022"/>
          <p:cNvSpPr/>
          <p:nvPr/>
        </p:nvSpPr>
        <p:spPr>
          <a:xfrm>
            <a:off x="594360" y="5010912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43/text/023"/>
          <p:cNvSpPr txBox="1"/>
          <p:nvPr/>
        </p:nvSpPr>
        <p:spPr>
          <a:xfrm>
            <a:off x="960120" y="496519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Reduced motion, fullscreen/overview hide and lock privacy behavior still work.</a:t>
            </a:r>
          </a:p>
        </p:txBody>
      </p:sp>
      <p:sp>
        <p:nvSpPr>
          <p:cNvPr id="25" name="N43/rect/024"/>
          <p:cNvSpPr/>
          <p:nvPr/>
        </p:nvSpPr>
        <p:spPr>
          <a:xfrm>
            <a:off x="594360" y="5541264"/>
            <a:ext cx="219456" cy="219456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N43/text/025"/>
          <p:cNvSpPr txBox="1"/>
          <p:nvPr/>
        </p:nvSpPr>
        <p:spPr>
          <a:xfrm>
            <a:off x="960120" y="5495544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5F5F7"/>
                </a:solidFill>
                <a:latin typeface="Arial"/>
              </a:rPr>
              <a:t>npm run check, Python tests, ruff, staged install/uninstall and notch-doctor pass.</a:t>
            </a:r>
          </a:p>
        </p:txBody>
      </p:sp>
      <p:sp>
        <p:nvSpPr>
          <p:cNvPr id="27" name="N43/spec-panel/026"/>
          <p:cNvSpPr/>
          <p:nvPr/>
        </p:nvSpPr>
        <p:spPr>
          <a:xfrm>
            <a:off x="8458200" y="1572768"/>
            <a:ext cx="3227832" cy="4526280"/>
          </a:xfrm>
          <a:prstGeom prst="roundRect">
            <a:avLst>
              <a:gd name="adj" fmla="val 3966"/>
            </a:avLst>
          </a:prstGeom>
          <a:solidFill>
            <a:srgbClr val="15151B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43/text/027"/>
          <p:cNvSpPr txBox="1"/>
          <p:nvPr/>
        </p:nvSpPr>
        <p:spPr>
          <a:xfrm>
            <a:off x="8641080" y="1719072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CURRENT BASELINE</a:t>
            </a:r>
          </a:p>
        </p:txBody>
      </p:sp>
      <p:sp>
        <p:nvSpPr>
          <p:cNvPr id="29" name="N43/ellipse/028"/>
          <p:cNvSpPr/>
          <p:nvPr/>
        </p:nvSpPr>
        <p:spPr>
          <a:xfrm>
            <a:off x="8659368" y="2075688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43/text/029"/>
          <p:cNvSpPr txBox="1"/>
          <p:nvPr/>
        </p:nvSpPr>
        <p:spPr>
          <a:xfrm>
            <a:off x="8805672" y="2011680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Live GNOME validation happens on Fedora</a:t>
            </a:r>
          </a:p>
        </p:txBody>
      </p:sp>
      <p:sp>
        <p:nvSpPr>
          <p:cNvPr id="31" name="N43/ellipse/030"/>
          <p:cNvSpPr/>
          <p:nvPr/>
        </p:nvSpPr>
        <p:spPr>
          <a:xfrm>
            <a:off x="8659368" y="2587752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N43/text/031"/>
          <p:cNvSpPr txBox="1"/>
          <p:nvPr/>
        </p:nvSpPr>
        <p:spPr>
          <a:xfrm>
            <a:off x="8805672" y="2523744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Deck is design truth, not a runtime screenshot</a:t>
            </a:r>
          </a:p>
        </p:txBody>
      </p:sp>
      <p:sp>
        <p:nvSpPr>
          <p:cNvPr id="33" name="N43/ellipse/032"/>
          <p:cNvSpPr/>
          <p:nvPr/>
        </p:nvSpPr>
        <p:spPr>
          <a:xfrm>
            <a:off x="8659368" y="3099816"/>
            <a:ext cx="54864" cy="54864"/>
          </a:xfrm>
          <a:prstGeom prst="ellipse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N43/text/033"/>
          <p:cNvSpPr txBox="1"/>
          <p:nvPr/>
        </p:nvSpPr>
        <p:spPr>
          <a:xfrm>
            <a:off x="8805672" y="3035808"/>
            <a:ext cx="267919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5F5F7"/>
                </a:solidFill>
                <a:latin typeface="Arial"/>
              </a:rPr>
              <a:t>Return .pptx with decision log filled</a:t>
            </a:r>
          </a:p>
        </p:txBody>
      </p:sp>
      <p:cxnSp>
        <p:nvCxnSpPr>
          <p:cNvPr id="35" name="N43/line/034"/>
          <p:cNvCxnSpPr/>
          <p:nvPr/>
        </p:nvCxnSpPr>
        <p:spPr>
          <a:xfrm>
            <a:off x="8641080" y="4526280"/>
            <a:ext cx="2862072" cy="0"/>
          </a:xfrm>
          <a:prstGeom prst="line">
            <a:avLst/>
          </a:prstGeom>
          <a:ln w="12700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N43/text/035"/>
          <p:cNvSpPr txBox="1"/>
          <p:nvPr/>
        </p:nvSpPr>
        <p:spPr>
          <a:xfrm>
            <a:off x="8641080" y="4617720"/>
            <a:ext cx="286207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D60A"/>
                </a:solidFill>
                <a:latin typeface="Arial"/>
              </a:rPr>
              <a:t>EDIT HERE</a:t>
            </a:r>
          </a:p>
        </p:txBody>
      </p:sp>
      <p:sp>
        <p:nvSpPr>
          <p:cNvPr id="37" name="N43/edit-box/036"/>
          <p:cNvSpPr/>
          <p:nvPr/>
        </p:nvSpPr>
        <p:spPr>
          <a:xfrm>
            <a:off x="8641080" y="4892040"/>
            <a:ext cx="2862072" cy="987552"/>
          </a:xfrm>
          <a:prstGeom prst="roundRect">
            <a:avLst>
              <a:gd name="adj" fmla="val 7407"/>
            </a:avLst>
          </a:prstGeom>
          <a:solidFill>
            <a:srgbClr val="0B0B0F"/>
          </a:solidFill>
          <a:ln w="12700">
            <a:solidFill>
              <a:srgbClr val="2B2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43/edit-note/037"/>
          <p:cNvSpPr txBox="1"/>
          <p:nvPr/>
        </p:nvSpPr>
        <p:spPr>
          <a:xfrm>
            <a:off x="8750808" y="4983480"/>
            <a:ext cx="2642615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Add project-specific acceptance 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77782"/>
                </a:solidFill>
                <a:latin typeface="Arial"/>
              </a:rPr>
              <a:t>[ type your change 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44/slide-bg/00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B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44/top-accent/002"/>
          <p:cNvSpPr/>
          <p:nvPr/>
        </p:nvSpPr>
        <p:spPr>
          <a:xfrm>
            <a:off x="0" y="0"/>
            <a:ext cx="12191999" cy="54864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44/section/003"/>
          <p:cNvSpPr txBox="1"/>
          <p:nvPr/>
        </p:nvSpPr>
        <p:spPr>
          <a:xfrm>
            <a:off x="502920" y="256032"/>
            <a:ext cx="73152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0D158"/>
                </a:solidFill>
                <a:latin typeface="Arial"/>
              </a:rPr>
              <a:t>HANDOFF</a:t>
            </a:r>
          </a:p>
        </p:txBody>
      </p:sp>
      <p:sp>
        <p:nvSpPr>
          <p:cNvPr id="5" name="N44/title/004"/>
          <p:cNvSpPr txBox="1"/>
          <p:nvPr/>
        </p:nvSpPr>
        <p:spPr>
          <a:xfrm>
            <a:off x="502920" y="502920"/>
            <a:ext cx="10789920" cy="5029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5F5F7"/>
                </a:solidFill>
                <a:latin typeface="Arial"/>
              </a:rPr>
              <a:t>Return the edited deck</a:t>
            </a:r>
          </a:p>
        </p:txBody>
      </p:sp>
      <p:sp>
        <p:nvSpPr>
          <p:cNvPr id="6" name="N44/subtitle/005"/>
          <p:cNvSpPr txBox="1"/>
          <p:nvPr/>
        </p:nvSpPr>
        <p:spPr>
          <a:xfrm>
            <a:off x="502920" y="1024128"/>
            <a:ext cx="1115568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1A1A6"/>
                </a:solidFill>
                <a:latin typeface="Arial"/>
              </a:rPr>
              <a:t>Next pass will follow the deck instead of guessing</a:t>
            </a:r>
          </a:p>
        </p:txBody>
      </p:sp>
      <p:cxnSp>
        <p:nvCxnSpPr>
          <p:cNvPr id="7" name="N44/footer-rule/00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9525">
            <a:solidFill>
              <a:srgbClr val="2B2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N44/footer-left/007"/>
          <p:cNvSpPr txBox="1"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782"/>
                </a:solidFill>
                <a:latin typeface="Arial"/>
              </a:rPr>
              <a:t>NOTCH  /  DESIGN REVIEW  /  v8 BASELINE</a:t>
            </a:r>
          </a:p>
        </p:txBody>
      </p:sp>
      <p:sp>
        <p:nvSpPr>
          <p:cNvPr id="9" name="N44/slide-id/008"/>
          <p:cNvSpPr txBox="1"/>
          <p:nvPr/>
        </p:nvSpPr>
        <p:spPr>
          <a:xfrm>
            <a:off x="9509760" y="6473952"/>
            <a:ext cx="13716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N44</a:t>
            </a:r>
          </a:p>
        </p:txBody>
      </p:sp>
      <p:sp>
        <p:nvSpPr>
          <p:cNvPr id="10" name="N44/slide-no/009"/>
          <p:cNvSpPr txBox="1"/>
          <p:nvPr/>
        </p:nvSpPr>
        <p:spPr>
          <a:xfrm>
            <a:off x="10972800" y="6473952"/>
            <a:ext cx="71323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1A1A6"/>
                </a:solidFill>
                <a:latin typeface="Arial"/>
              </a:rPr>
              <a:t>44</a:t>
            </a:r>
          </a:p>
        </p:txBody>
      </p:sp>
      <p:sp>
        <p:nvSpPr>
          <p:cNvPr id="11" name="N44/text/010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7"/>
                </a:solidFill>
                <a:latin typeface="Arial"/>
              </a:rPr>
              <a:t>1. Edit shapes/text/colors directly on the page slides.</a:t>
            </a:r>
          </a:p>
        </p:txBody>
      </p:sp>
      <p:sp>
        <p:nvSpPr>
          <p:cNvPr id="12" name="N44/text/011"/>
          <p:cNvSpPr txBox="1"/>
          <p:nvPr/>
        </p:nvSpPr>
        <p:spPr>
          <a:xfrm>
            <a:off x="502920" y="251460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7"/>
                </a:solidFill>
                <a:latin typeface="Arial"/>
              </a:rPr>
              <a:t>2. Fill EDIT HERE boxes and the N41 decision log.</a:t>
            </a:r>
          </a:p>
        </p:txBody>
      </p:sp>
      <p:sp>
        <p:nvSpPr>
          <p:cNvPr id="13" name="N44/text/012"/>
          <p:cNvSpPr txBox="1"/>
          <p:nvPr/>
        </p:nvSpPr>
        <p:spPr>
          <a:xfrm>
            <a:off x="502920" y="3108960"/>
            <a:ext cx="111556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F5F7"/>
                </a:solidFill>
                <a:latin typeface="Arial"/>
              </a:rPr>
              <a:t>3. Save as .pptx and send it back.</a:t>
            </a:r>
          </a:p>
        </p:txBody>
      </p:sp>
      <p:sp>
        <p:nvSpPr>
          <p:cNvPr id="14" name="N44/text/013"/>
          <p:cNvSpPr txBox="1"/>
          <p:nvPr/>
        </p:nvSpPr>
        <p:spPr>
          <a:xfrm>
            <a:off x="502920" y="38862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Arial"/>
              </a:rPr>
              <a:t>Implementation will diff the edited deck against this v8 baseline,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1A1A6"/>
                </a:solidFill>
                <a:latin typeface="Arial"/>
              </a:rPr>
              <a:t>map changes through N42, and ask only where a deck edit is ambiguous.</a:t>
            </a:r>
          </a:p>
        </p:txBody>
      </p:sp>
      <p:sp>
        <p:nvSpPr>
          <p:cNvPr id="15" name="N44/rect/014"/>
          <p:cNvSpPr/>
          <p:nvPr/>
        </p:nvSpPr>
        <p:spPr>
          <a:xfrm>
            <a:off x="502920" y="5029200"/>
            <a:ext cx="4023360" cy="256032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2700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44/text/015"/>
          <p:cNvSpPr txBox="1"/>
          <p:nvPr/>
        </p:nvSpPr>
        <p:spPr>
          <a:xfrm>
            <a:off x="502920" y="5029200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0D158"/>
                </a:solidFill>
                <a:latin typeface="Arial"/>
              </a:rPr>
              <a:t>BASELINE BRANCH: arena/71fe92f9-notch</a:t>
            </a:r>
          </a:p>
        </p:txBody>
      </p:sp>
      <p:sp>
        <p:nvSpPr>
          <p:cNvPr id="17" name="N44/rect/016"/>
          <p:cNvSpPr/>
          <p:nvPr/>
        </p:nvSpPr>
        <p:spPr>
          <a:xfrm>
            <a:off x="4709160" y="5029200"/>
            <a:ext cx="3931920" cy="256032"/>
          </a:xfrm>
          <a:prstGeom prst="roundRect">
            <a:avLst>
              <a:gd name="adj" fmla="val 50000"/>
            </a:avLst>
          </a:prstGeom>
          <a:solidFill>
            <a:srgbClr val="0B0B0F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44/text/017"/>
          <p:cNvSpPr txBox="1"/>
          <p:nvPr/>
        </p:nvSpPr>
        <p:spPr>
          <a:xfrm>
            <a:off x="4709160" y="5029200"/>
            <a:ext cx="3931920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4D2FF"/>
                </a:solidFill>
                <a:latin typeface="Arial"/>
              </a:rPr>
              <a:t>FILE: design/Notch-Design-Review.pptx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Notch — Editable Design Review</dc:title>
  <dc:subject>v8 baseline design handoff for Fedora GNOME notch</dc:subject>
  <dc:creator>Notch project</dc:creator>
  <cp:keywords>notch, GNOME, GTK4, Libadwaita, design review, editable</cp:keywords>
  <dc:description>Native editable shapes and text; no screenshots. Slide IDs N01–N44 are handoff keys.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