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Canonical review workbook. Uploaded main-branch PPT was merged into this branch before regeneration. User edits are tracked on N45 and applied to N09/N10/N12/N14/N15; the uploaded curl command is preserved on N61.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protocol. Blue marks imported user edits. Yellow boxes are editable decision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upload: main commit 4719de7, root Notch-Design-Review.pptx. Meaningful shape moves and the added curl textbox were detected by comparing against the generated v8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geometry.js PAGE_SIZES/notchGeometry; view.js mode/page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extension/stylesheet.css; layout.js LAYOUT_LIMITS.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geometry.js; surface.js. Open radii 19/24, closed 6/14. Max open 640×320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view.js build/updateClock/updateSummary/syncPanelClock; geometry.js.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view.js build/updateSummary/syncVisualizer; stylesheet.css notch-live-*.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view.js showPeek/schedulePeek; notifications.js. Uploaded curl command moved to N61 to avoid covering this mockup.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geometry.js notchGeometry; view.js readOptions/syncPanelClock.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notifications.js NotificationBridge; view.js showPeek/notificationActive/dragPosition.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layout.js contentLayout; view.js build/layoutPages/applyGeometry. User moved idle clock/date left;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view.js buildHome/updateClock/updateActions. Uploaded edit preserved: clock/date left alignment.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view.js buildHome/updateHome/adaptPages.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view.js adaptPages; layout.js compact/narrow thresholds.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view.js buildMedia/updateMedia/updateAudio. Uploaded edit preserved: player switcher right aligned.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view.js buildMedia/updateMedia; stylesheet.css :insensitive.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view.js updateMedia/updateAudio; media.js canSeek/length; audio.js muted.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view.js adaptPages mediaRow/playerVolumeRow/outputVolumeRow vertical.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view.js buildNotifications/updateNotifications; widgets.js emptyState. Uploaded header indent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view.js updateNotifications; notifications.js. Uploaded header indent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view.js updateNotifications wrapLabel; pageScrolls vscrollbar AUTOMATIC.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view.js buildSystem/updateSystem; diagnostics.js; layout.js statColumns.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view.js updateSystem; diagnostics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layout.js statColumns; view.js layoutSystemCards/adaptPages.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actions.js DEFINITIONS/toggle/writable; view.js syncActions/toggleAction.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view.js buildShelf/updateShelf; shelf.js; helper.py choose_files.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view.js updateShelf; shelf.js command; helper.py Open/Reveal/CopyUri/Remove.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view.js retryShelf/updateShelf/showError; shelf.js start/state; helper.py idle exit.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helper.py _load_gtk/_make_window/show_drop_target; view.js dragPosition/dropRectangle/placeHelper.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helper.py _on_drop/choose_files; storage.py; view.js endDrag.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view.js buildClipboard/updateClipboard; clipboard.js; schema clipboard-enabled=false.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view.js updateClipboard; clipboard.js history; settings.py privacy 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view.js updateClipboard; clipboard.js configure/capture; layout.js narrow.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layout.js statusHeight; view.js showStatus/showError/clearStatus.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layout.js headerMode; view.js adaptPages; stylesheet.css notch-tab*.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layout.js contentLayout/statColumns; view.js adaptPages.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view.js readOptions; layout.js contentLayout/availableOpenSize; geometry.js notchGeometry.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spring.js SPRING_PROFILES; view.js animateTo/motionDuration/scheduleClose/syncVisualizer.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view.js setExpanded/selectTab/showPeek/dragPosition; spring.js.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view.js syncVisibility/connectEnvironment; notifications.js configure; helper.py idle exit.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extension/prefs.js; app/notch_app/settings.py; shared schema.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prefs.js appearance_page; settings.py appearance_page.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prefs.js/settings.py Finish group. Notch scale slider midpoint shown schematically; actual default 1.00.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prefs.js/settings.py behavior_page MacBook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prefs.js/settings.py Opening &amp; hiding, Quick actions, Media groups; schema toggle-notch.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extension/prefs.js Privacy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settings.py privacy_page; helper/storage; schema defaults.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settings.py about_page/refresh_status.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settings.py appearance_page/behavior_page; shared schema.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stylesheet.css; widgets.js. Editable master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extension/prefs.js vs app/notch_app/settings.py.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view.js connectEnvironment/build; extension.js shortcut; shelf.js.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view.js setActive/syncVisualizer; helper.py idle; clipboard.js; docs/DESIGN_STUDY.md;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worksheet. Native PowerPoint table cells can be typed into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worksheet for cross-cutting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decision log. Implementation should treat approved rows as the source of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Implementation map. No code changes are made by this deck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Checklist mirrors existing CI and v3 standing requirement: no clipped text, working controls, adaptive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Verbatim user-added textbox from uploaded N08. Moved to appendix to preserve content without overlapping the peek mockup.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of deck. Keep slide IDs stable. New states may be added as Nxx-A.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01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01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01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DESIGN HANDOFF</a:t>
            </a:r>
          </a:p>
        </p:txBody>
      </p:sp>
      <p:sp>
        <p:nvSpPr>
          <p:cNvPr id="5" name="N01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Notch — design review workbook</a:t>
            </a:r>
          </a:p>
        </p:txBody>
      </p:sp>
      <p:sp>
        <p:nvSpPr>
          <p:cNvPr id="6" name="N01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v8 baseline + your uploaded edits · Fedora 44 / GNOME Wayland · editable native shapes</a:t>
            </a:r>
          </a:p>
        </p:txBody>
      </p:sp>
      <p:cxnSp>
        <p:nvCxnSpPr>
          <p:cNvPr id="7" name="N01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01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01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N01</a:t>
            </a:r>
          </a:p>
        </p:txBody>
      </p:sp>
      <p:sp>
        <p:nvSpPr>
          <p:cNvPr id="10" name="N01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01</a:t>
            </a:r>
          </a:p>
        </p:txBody>
      </p:sp>
      <p:sp>
        <p:nvSpPr>
          <p:cNvPr id="11" name="N01/text/010"/>
          <p:cNvSpPr txBox="1"/>
          <p:nvPr/>
        </p:nvSpPr>
        <p:spPr>
          <a:xfrm>
            <a:off x="502920" y="1783080"/>
            <a:ext cx="6949440" cy="411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5F5F7"/>
                </a:solidFill>
                <a:latin typeface="Arial"/>
              </a:rPr>
              <a:t>MacBook-style top-edge notch</a:t>
            </a:r>
          </a:p>
        </p:txBody>
      </p:sp>
      <p:sp>
        <p:nvSpPr>
          <p:cNvPr id="12" name="N01/text/011"/>
          <p:cNvSpPr txBox="1"/>
          <p:nvPr/>
        </p:nvSpPr>
        <p:spPr>
          <a:xfrm>
            <a:off x="502920" y="2286000"/>
            <a:ext cx="704088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1A1A6"/>
                </a:solidFill>
                <a:latin typeface="Arial"/>
              </a:rPr>
              <a:t>Is deck mein har mode, page aur important state ka editable mockup hai.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1A1A6"/>
                </a:solidFill>
                <a:latin typeface="Arial"/>
              </a:rPr>
              <a:t>Tum direct shapes/text edit karo ya REVIEW boxes mein exact instruction likho.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1A1A6"/>
                </a:solidFill>
                <a:latin typeface="Arial"/>
              </a:rPr>
              <a:t>Next UI pass isi workbook ko source of truth maane ga.</a:t>
            </a:r>
          </a:p>
        </p:txBody>
      </p:sp>
      <p:sp>
        <p:nvSpPr>
          <p:cNvPr id="13" name="N01/rect/012"/>
          <p:cNvSpPr/>
          <p:nvPr/>
        </p:nvSpPr>
        <p:spPr>
          <a:xfrm>
            <a:off x="502920" y="3611880"/>
            <a:ext cx="2148840" cy="237744"/>
          </a:xfrm>
          <a:prstGeom prst="roundRect">
            <a:avLst>
              <a:gd name="adj" fmla="val 50000"/>
            </a:avLst>
          </a:prstGeom>
          <a:solidFill>
            <a:srgbClr val="0B0B0F"/>
          </a:solidFill>
          <a:ln w="1143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01/text/013"/>
          <p:cNvSpPr txBox="1"/>
          <p:nvPr/>
        </p:nvSpPr>
        <p:spPr>
          <a:xfrm>
            <a:off x="502920" y="3611880"/>
            <a:ext cx="214884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0D158"/>
                </a:solidFill>
                <a:latin typeface="Arial"/>
              </a:rPr>
              <a:t>NOT A DYNAMIC ISLAND</a:t>
            </a:r>
          </a:p>
        </p:txBody>
      </p:sp>
      <p:sp>
        <p:nvSpPr>
          <p:cNvPr id="15" name="N01/rect/014"/>
          <p:cNvSpPr/>
          <p:nvPr/>
        </p:nvSpPr>
        <p:spPr>
          <a:xfrm>
            <a:off x="2788920" y="3611880"/>
            <a:ext cx="2331720" cy="237744"/>
          </a:xfrm>
          <a:prstGeom prst="roundRect">
            <a:avLst>
              <a:gd name="adj" fmla="val 50000"/>
            </a:avLst>
          </a:prstGeom>
          <a:solidFill>
            <a:srgbClr val="0B0B0F"/>
          </a:solidFill>
          <a:ln w="11430">
            <a:solidFill>
              <a:srgbClr val="6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01/text/015"/>
          <p:cNvSpPr txBox="1"/>
          <p:nvPr/>
        </p:nvSpPr>
        <p:spPr>
          <a:xfrm>
            <a:off x="2788920" y="3611880"/>
            <a:ext cx="233172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4D2FF"/>
                </a:solidFill>
                <a:latin typeface="Arial"/>
              </a:rPr>
              <a:t>NATIVE EDITABLE SHAPES</a:t>
            </a:r>
          </a:p>
        </p:txBody>
      </p:sp>
      <p:sp>
        <p:nvSpPr>
          <p:cNvPr id="17" name="N01/rect/016"/>
          <p:cNvSpPr/>
          <p:nvPr/>
        </p:nvSpPr>
        <p:spPr>
          <a:xfrm>
            <a:off x="5257800" y="3611880"/>
            <a:ext cx="2240280" cy="237744"/>
          </a:xfrm>
          <a:prstGeom prst="roundRect">
            <a:avLst>
              <a:gd name="adj" fmla="val 50000"/>
            </a:avLst>
          </a:prstGeom>
          <a:solidFill>
            <a:srgbClr val="0B0B0F"/>
          </a:solidFill>
          <a:ln w="1143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01/text/017"/>
          <p:cNvSpPr txBox="1"/>
          <p:nvPr/>
        </p:nvSpPr>
        <p:spPr>
          <a:xfrm>
            <a:off x="5257800" y="3611880"/>
            <a:ext cx="224028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D60A"/>
                </a:solidFill>
                <a:latin typeface="Arial"/>
              </a:rPr>
              <a:t>YOUR EDITS PRESERVED</a:t>
            </a:r>
          </a:p>
        </p:txBody>
      </p:sp>
      <p:sp>
        <p:nvSpPr>
          <p:cNvPr id="19" name="N01/text/018"/>
          <p:cNvSpPr txBox="1"/>
          <p:nvPr/>
        </p:nvSpPr>
        <p:spPr>
          <a:xfrm>
            <a:off x="502920" y="4160520"/>
            <a:ext cx="694944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Canonical file: Notch-Design-Review.pptx · Branch: arena/71fe92f9-notch</a:t>
            </a:r>
          </a:p>
        </p:txBody>
      </p:sp>
      <p:grpSp>
        <p:nvGrpSpPr>
          <p:cNvPr id="20" name="N01/cover-notch"/>
          <p:cNvGrpSpPr/>
          <p:nvPr/>
        </p:nvGrpSpPr>
        <p:grpSpPr>
          <a:xfrm>
            <a:off x="7818120" y="1828800"/>
            <a:ext cx="3840480" cy="2286000"/>
            <a:chOff x="7818120" y="1828800"/>
            <a:chExt cx="3840480" cy="2286000"/>
          </a:xfrm>
        </p:grpSpPr>
        <p:sp>
          <p:nvSpPr>
            <p:cNvPr id="21" name="N01/cover-notch/notch-surface-open/001"/>
            <p:cNvSpPr/>
            <p:nvPr/>
          </p:nvSpPr>
          <p:spPr>
            <a:xfrm>
              <a:off x="7818120" y="1828800"/>
              <a:ext cx="3840480" cy="2286000"/>
            </a:xfrm>
            <a:custGeom>
              <a:avLst/>
              <a:gdLst/>
              <a:ahLst/>
              <a:cxnLst/>
              <a:rect l="l" t="t" r="r" b="b"/>
              <a:pathLst>
                <a:path w="3840480" h="2286000">
                  <a:moveTo>
                    <a:pt x="0" y="0"/>
                  </a:moveTo>
                  <a:lnTo>
                    <a:pt x="3840480" y="0"/>
                  </a:lnTo>
                  <a:lnTo>
                    <a:pt x="3815383" y="2827"/>
                  </a:lnTo>
                  <a:lnTo>
                    <a:pt x="3786753" y="11310"/>
                  </a:lnTo>
                  <a:lnTo>
                    <a:pt x="3756708" y="25449"/>
                  </a:lnTo>
                  <a:lnTo>
                    <a:pt x="3727370" y="45243"/>
                  </a:lnTo>
                  <a:lnTo>
                    <a:pt x="3700860" y="70693"/>
                  </a:lnTo>
                  <a:lnTo>
                    <a:pt x="3679299" y="101798"/>
                  </a:lnTo>
                  <a:lnTo>
                    <a:pt x="3664807" y="138558"/>
                  </a:lnTo>
                  <a:lnTo>
                    <a:pt x="3659505" y="180974"/>
                  </a:lnTo>
                  <a:lnTo>
                    <a:pt x="3655112" y="2101997"/>
                  </a:lnTo>
                  <a:lnTo>
                    <a:pt x="3642103" y="2144881"/>
                  </a:lnTo>
                  <a:lnTo>
                    <a:pt x="3620978" y="2184403"/>
                  </a:lnTo>
                  <a:lnTo>
                    <a:pt x="3592549" y="2219044"/>
                  </a:lnTo>
                  <a:lnTo>
                    <a:pt x="3557908" y="2247473"/>
                  </a:lnTo>
                  <a:lnTo>
                    <a:pt x="3518386" y="2268598"/>
                  </a:lnTo>
                  <a:lnTo>
                    <a:pt x="3475502" y="2281607"/>
                  </a:lnTo>
                  <a:lnTo>
                    <a:pt x="3430905" y="2286000"/>
                  </a:lnTo>
                  <a:lnTo>
                    <a:pt x="409575" y="2286000"/>
                  </a:lnTo>
                  <a:lnTo>
                    <a:pt x="364977" y="2281607"/>
                  </a:lnTo>
                  <a:lnTo>
                    <a:pt x="322093" y="2268598"/>
                  </a:lnTo>
                  <a:lnTo>
                    <a:pt x="282571" y="2247473"/>
                  </a:lnTo>
                  <a:lnTo>
                    <a:pt x="247930" y="2219044"/>
                  </a:lnTo>
                  <a:lnTo>
                    <a:pt x="219501" y="2184403"/>
                  </a:lnTo>
                  <a:lnTo>
                    <a:pt x="198376" y="2144881"/>
                  </a:lnTo>
                  <a:lnTo>
                    <a:pt x="185367" y="2101997"/>
                  </a:lnTo>
                  <a:lnTo>
                    <a:pt x="180975" y="2057400"/>
                  </a:lnTo>
                  <a:lnTo>
                    <a:pt x="180975" y="180974"/>
                  </a:lnTo>
                  <a:lnTo>
                    <a:pt x="175672" y="138558"/>
                  </a:lnTo>
                  <a:lnTo>
                    <a:pt x="161180" y="101798"/>
                  </a:lnTo>
                  <a:lnTo>
                    <a:pt x="139619" y="70693"/>
                  </a:lnTo>
                  <a:lnTo>
                    <a:pt x="113109" y="45243"/>
                  </a:lnTo>
                  <a:lnTo>
                    <a:pt x="83771" y="25449"/>
                  </a:lnTo>
                  <a:lnTo>
                    <a:pt x="53726" y="11310"/>
                  </a:lnTo>
                  <a:lnTo>
                    <a:pt x="25096" y="28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01/cover-notch/button-home/002"/>
            <p:cNvSpPr/>
            <p:nvPr/>
          </p:nvSpPr>
          <p:spPr>
            <a:xfrm>
              <a:off x="8046720" y="2272855"/>
              <a:ext cx="274320" cy="257175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N01/cover-notch/poly/003"/>
            <p:cNvSpPr/>
            <p:nvPr/>
          </p:nvSpPr>
          <p:spPr>
            <a:xfrm>
              <a:off x="8132445" y="2350007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51434" y="0"/>
                  </a:moveTo>
                  <a:lnTo>
                    <a:pt x="0" y="42863"/>
                  </a:lnTo>
                  <a:lnTo>
                    <a:pt x="17145" y="42863"/>
                  </a:lnTo>
                  <a:lnTo>
                    <a:pt x="17145" y="102870"/>
                  </a:lnTo>
                  <a:lnTo>
                    <a:pt x="42862" y="102870"/>
                  </a:lnTo>
                  <a:lnTo>
                    <a:pt x="42862" y="68580"/>
                  </a:lnTo>
                  <a:lnTo>
                    <a:pt x="60007" y="68580"/>
                  </a:lnTo>
                  <a:lnTo>
                    <a:pt x="60007" y="102870"/>
                  </a:lnTo>
                  <a:lnTo>
                    <a:pt x="85725" y="102870"/>
                  </a:lnTo>
                  <a:lnTo>
                    <a:pt x="85725" y="42863"/>
                  </a:lnTo>
                  <a:lnTo>
                    <a:pt x="102870" y="42863"/>
                  </a:lnTo>
                  <a:close/>
                </a:path>
              </a:pathLst>
            </a:custGeom>
            <a:noFill/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N01/cover-notch/button-music/004"/>
            <p:cNvSpPr/>
            <p:nvPr/>
          </p:nvSpPr>
          <p:spPr>
            <a:xfrm>
              <a:off x="8355330" y="2272855"/>
              <a:ext cx="274320" cy="25717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N01/cover-notch/line/005"/>
            <p:cNvCxnSpPr/>
            <p:nvPr/>
          </p:nvCxnSpPr>
          <p:spPr>
            <a:xfrm flipV="1">
              <a:off x="8475345" y="2367152"/>
              <a:ext cx="0" cy="6858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N01/cover-notch/line/006"/>
            <p:cNvCxnSpPr/>
            <p:nvPr/>
          </p:nvCxnSpPr>
          <p:spPr>
            <a:xfrm flipV="1">
              <a:off x="8475345" y="2358580"/>
              <a:ext cx="60007" cy="857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N01/cover-notch/line/007"/>
            <p:cNvCxnSpPr/>
            <p:nvPr/>
          </p:nvCxnSpPr>
          <p:spPr>
            <a:xfrm>
              <a:off x="8535352" y="2358580"/>
              <a:ext cx="0" cy="6858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N01/cover-notch/ellipse/008"/>
            <p:cNvSpPr/>
            <p:nvPr/>
          </p:nvSpPr>
          <p:spPr>
            <a:xfrm>
              <a:off x="8449627" y="2422874"/>
              <a:ext cx="30003" cy="25717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N01/cover-notch/ellipse/009"/>
            <p:cNvSpPr/>
            <p:nvPr/>
          </p:nvSpPr>
          <p:spPr>
            <a:xfrm>
              <a:off x="8509635" y="2414301"/>
              <a:ext cx="30003" cy="25717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N01/cover-notch/button-bell/010"/>
            <p:cNvSpPr/>
            <p:nvPr/>
          </p:nvSpPr>
          <p:spPr>
            <a:xfrm>
              <a:off x="8663940" y="2272855"/>
              <a:ext cx="274320" cy="25717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N01/cover-notch/poly/011"/>
            <p:cNvSpPr/>
            <p:nvPr/>
          </p:nvSpPr>
          <p:spPr>
            <a:xfrm>
              <a:off x="8758237" y="2350007"/>
              <a:ext cx="85725" cy="77153"/>
            </a:xfrm>
            <a:custGeom>
              <a:avLst/>
              <a:gdLst/>
              <a:ahLst/>
              <a:cxnLst/>
              <a:rect l="l" t="t" r="r" b="b"/>
              <a:pathLst>
                <a:path w="85725" h="77153">
                  <a:moveTo>
                    <a:pt x="42863" y="0"/>
                  </a:moveTo>
                  <a:lnTo>
                    <a:pt x="17145" y="17145"/>
                  </a:lnTo>
                  <a:lnTo>
                    <a:pt x="8573" y="51436"/>
                  </a:lnTo>
                  <a:lnTo>
                    <a:pt x="0" y="77153"/>
                  </a:lnTo>
                  <a:lnTo>
                    <a:pt x="85725" y="77153"/>
                  </a:lnTo>
                  <a:lnTo>
                    <a:pt x="77153" y="51436"/>
                  </a:lnTo>
                  <a:lnTo>
                    <a:pt x="68580" y="17145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N01/cover-notch/line/012"/>
            <p:cNvCxnSpPr/>
            <p:nvPr/>
          </p:nvCxnSpPr>
          <p:spPr>
            <a:xfrm>
              <a:off x="8783955" y="2444305"/>
              <a:ext cx="34290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N01/cover-notch/ellipse/013"/>
            <p:cNvSpPr/>
            <p:nvPr/>
          </p:nvSpPr>
          <p:spPr>
            <a:xfrm>
              <a:off x="8792527" y="2341435"/>
              <a:ext cx="17145" cy="17145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01/cover-notch/button-chart/014"/>
            <p:cNvSpPr/>
            <p:nvPr/>
          </p:nvSpPr>
          <p:spPr>
            <a:xfrm>
              <a:off x="8972550" y="2272855"/>
              <a:ext cx="274320" cy="25717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5" name="N01/cover-notch/line/015"/>
            <p:cNvCxnSpPr/>
            <p:nvPr/>
          </p:nvCxnSpPr>
          <p:spPr>
            <a:xfrm>
              <a:off x="9058275" y="2452877"/>
              <a:ext cx="102870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N01/cover-notch/line/016"/>
            <p:cNvCxnSpPr/>
            <p:nvPr/>
          </p:nvCxnSpPr>
          <p:spPr>
            <a:xfrm flipV="1">
              <a:off x="9066847" y="2392870"/>
              <a:ext cx="25718" cy="342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N01/cover-notch/line/017"/>
            <p:cNvCxnSpPr/>
            <p:nvPr/>
          </p:nvCxnSpPr>
          <p:spPr>
            <a:xfrm>
              <a:off x="9092565" y="2392870"/>
              <a:ext cx="25717" cy="1714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N01/cover-notch/line/018"/>
            <p:cNvCxnSpPr/>
            <p:nvPr/>
          </p:nvCxnSpPr>
          <p:spPr>
            <a:xfrm flipV="1">
              <a:off x="9118282" y="2358580"/>
              <a:ext cx="34290" cy="5143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N01/cover-notch/button-folder/019"/>
            <p:cNvSpPr/>
            <p:nvPr/>
          </p:nvSpPr>
          <p:spPr>
            <a:xfrm>
              <a:off x="9281160" y="2272855"/>
              <a:ext cx="274320" cy="25717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N01/cover-notch/poly/020"/>
            <p:cNvSpPr/>
            <p:nvPr/>
          </p:nvSpPr>
          <p:spPr>
            <a:xfrm>
              <a:off x="9366885" y="2375725"/>
              <a:ext cx="102870" cy="68580"/>
            </a:xfrm>
            <a:custGeom>
              <a:avLst/>
              <a:gdLst/>
              <a:ahLst/>
              <a:cxnLst/>
              <a:rect l="l" t="t" r="r" b="b"/>
              <a:pathLst>
                <a:path w="102870" h="68580">
                  <a:moveTo>
                    <a:pt x="0" y="0"/>
                  </a:moveTo>
                  <a:lnTo>
                    <a:pt x="34290" y="0"/>
                  </a:lnTo>
                  <a:lnTo>
                    <a:pt x="47148" y="17145"/>
                  </a:lnTo>
                  <a:lnTo>
                    <a:pt x="102870" y="17145"/>
                  </a:lnTo>
                  <a:lnTo>
                    <a:pt x="102870" y="68580"/>
                  </a:lnTo>
                  <a:lnTo>
                    <a:pt x="0" y="68580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N01/cover-notch/button-clipboard/021"/>
            <p:cNvSpPr/>
            <p:nvPr/>
          </p:nvSpPr>
          <p:spPr>
            <a:xfrm>
              <a:off x="9589770" y="2272855"/>
              <a:ext cx="274320" cy="25717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N01/cover-notch/rect/022"/>
            <p:cNvSpPr/>
            <p:nvPr/>
          </p:nvSpPr>
          <p:spPr>
            <a:xfrm>
              <a:off x="9692640" y="2358580"/>
              <a:ext cx="68580" cy="94297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N01/cover-notch/rect/023"/>
            <p:cNvSpPr/>
            <p:nvPr/>
          </p:nvSpPr>
          <p:spPr>
            <a:xfrm>
              <a:off x="9709785" y="2345721"/>
              <a:ext cx="34290" cy="21431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" name="N01/cover-notch/line/024"/>
            <p:cNvCxnSpPr/>
            <p:nvPr/>
          </p:nvCxnSpPr>
          <p:spPr>
            <a:xfrm>
              <a:off x="9709785" y="2392870"/>
              <a:ext cx="34290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01/cover-notch/line/025"/>
            <p:cNvCxnSpPr/>
            <p:nvPr/>
          </p:nvCxnSpPr>
          <p:spPr>
            <a:xfrm>
              <a:off x="9709785" y="2414301"/>
              <a:ext cx="34290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N01/cover-notch/button-gear/026"/>
            <p:cNvSpPr/>
            <p:nvPr/>
          </p:nvSpPr>
          <p:spPr>
            <a:xfrm>
              <a:off x="10829925" y="2264283"/>
              <a:ext cx="274320" cy="27432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N01/cover-notch/ellipse/027"/>
            <p:cNvSpPr/>
            <p:nvPr/>
          </p:nvSpPr>
          <p:spPr>
            <a:xfrm>
              <a:off x="10941367" y="2375725"/>
              <a:ext cx="51434" cy="51434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8" name="N01/cover-notch/line/028"/>
            <p:cNvCxnSpPr/>
            <p:nvPr/>
          </p:nvCxnSpPr>
          <p:spPr>
            <a:xfrm>
              <a:off x="11009947" y="2401443"/>
              <a:ext cx="1714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N01/cover-notch/line/029"/>
            <p:cNvCxnSpPr/>
            <p:nvPr/>
          </p:nvCxnSpPr>
          <p:spPr>
            <a:xfrm>
              <a:off x="10997393" y="2431751"/>
              <a:ext cx="12123" cy="1212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01/cover-notch/line/030"/>
            <p:cNvCxnSpPr/>
            <p:nvPr/>
          </p:nvCxnSpPr>
          <p:spPr>
            <a:xfrm>
              <a:off x="10967084" y="2444305"/>
              <a:ext cx="0" cy="1714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N01/cover-notch/line/031"/>
            <p:cNvCxnSpPr/>
            <p:nvPr/>
          </p:nvCxnSpPr>
          <p:spPr>
            <a:xfrm flipH="1">
              <a:off x="10924653" y="2431751"/>
              <a:ext cx="12123" cy="1212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N01/cover-notch/line/032"/>
            <p:cNvCxnSpPr/>
            <p:nvPr/>
          </p:nvCxnSpPr>
          <p:spPr>
            <a:xfrm flipH="1">
              <a:off x="10907077" y="2401443"/>
              <a:ext cx="1714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N01/cover-notch/line/033"/>
            <p:cNvCxnSpPr/>
            <p:nvPr/>
          </p:nvCxnSpPr>
          <p:spPr>
            <a:xfrm flipH="1" flipV="1">
              <a:off x="10924653" y="2359011"/>
              <a:ext cx="12123" cy="1212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N01/cover-notch/line/034"/>
            <p:cNvCxnSpPr/>
            <p:nvPr/>
          </p:nvCxnSpPr>
          <p:spPr>
            <a:xfrm flipV="1">
              <a:off x="10967084" y="2341435"/>
              <a:ext cx="0" cy="1714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N01/cover-notch/line/035"/>
            <p:cNvCxnSpPr/>
            <p:nvPr/>
          </p:nvCxnSpPr>
          <p:spPr>
            <a:xfrm flipV="1">
              <a:off x="10997393" y="2359011"/>
              <a:ext cx="12123" cy="1212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N01/cover-notch/button-close/036"/>
            <p:cNvSpPr/>
            <p:nvPr/>
          </p:nvSpPr>
          <p:spPr>
            <a:xfrm>
              <a:off x="11155680" y="2264283"/>
              <a:ext cx="274320" cy="27432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7" name="N01/cover-notch/line/037"/>
            <p:cNvCxnSpPr/>
            <p:nvPr/>
          </p:nvCxnSpPr>
          <p:spPr>
            <a:xfrm>
              <a:off x="11258549" y="2367153"/>
              <a:ext cx="68581" cy="6858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N01/cover-notch/line/038"/>
            <p:cNvCxnSpPr/>
            <p:nvPr/>
          </p:nvCxnSpPr>
          <p:spPr>
            <a:xfrm flipH="1">
              <a:off x="11258549" y="2367153"/>
              <a:ext cx="68581" cy="6858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N01/cover-notch/text/039"/>
            <p:cNvSpPr txBox="1"/>
            <p:nvPr/>
          </p:nvSpPr>
          <p:spPr>
            <a:xfrm>
              <a:off x="8046720" y="2846070"/>
              <a:ext cx="1691640" cy="3143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12" b="1" i="0">
                  <a:solidFill>
                    <a:srgbClr val="F5F5F7"/>
                  </a:solidFill>
                  <a:latin typeface="Arial"/>
                </a:rPr>
                <a:t>14:32</a:t>
              </a:r>
            </a:p>
          </p:txBody>
        </p:sp>
        <p:sp>
          <p:nvSpPr>
            <p:cNvPr id="60" name="N01/cover-notch/text/040"/>
            <p:cNvSpPr txBox="1"/>
            <p:nvPr/>
          </p:nvSpPr>
          <p:spPr>
            <a:xfrm>
              <a:off x="8046720" y="3174682"/>
              <a:ext cx="1691640" cy="14287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7" b="0" i="0">
                  <a:solidFill>
                    <a:srgbClr val="98989D"/>
                  </a:solidFill>
                  <a:latin typeface="Arial"/>
                </a:rPr>
                <a:t>Friday, October 30</a:t>
              </a:r>
            </a:p>
          </p:txBody>
        </p:sp>
        <p:sp>
          <p:nvSpPr>
            <p:cNvPr id="61" name="N01/cover-notch/button-Focus/041"/>
            <p:cNvSpPr/>
            <p:nvPr/>
          </p:nvSpPr>
          <p:spPr>
            <a:xfrm>
              <a:off x="9644062" y="3177539"/>
              <a:ext cx="557212" cy="228600"/>
            </a:xfrm>
            <a:prstGeom prst="roundRect">
              <a:avLst>
                <a:gd name="adj" fmla="val 31250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N01/cover-notch/ellipse/042"/>
            <p:cNvSpPr/>
            <p:nvPr/>
          </p:nvSpPr>
          <p:spPr>
            <a:xfrm>
              <a:off x="9715500" y="3256121"/>
              <a:ext cx="71437" cy="71437"/>
            </a:xfrm>
            <a:prstGeom prst="ellipse">
              <a:avLst/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3" name="N01/cover-notch/line/043"/>
            <p:cNvCxnSpPr/>
            <p:nvPr/>
          </p:nvCxnSpPr>
          <p:spPr>
            <a:xfrm flipV="1">
              <a:off x="9722643" y="3263264"/>
              <a:ext cx="57150" cy="5715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N01/cover-notch/text/044"/>
            <p:cNvSpPr txBox="1"/>
            <p:nvPr/>
          </p:nvSpPr>
          <p:spPr>
            <a:xfrm>
              <a:off x="9851231" y="3177539"/>
              <a:ext cx="335756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7" b="1" i="0">
                  <a:solidFill>
                    <a:srgbClr val="E5E5EA"/>
                  </a:solidFill>
                  <a:latin typeface="Arial"/>
                </a:rPr>
                <a:t>Focus</a:t>
              </a:r>
            </a:p>
          </p:txBody>
        </p:sp>
        <p:sp>
          <p:nvSpPr>
            <p:cNvPr id="65" name="N01/cover-notch/button-Night/045"/>
            <p:cNvSpPr/>
            <p:nvPr/>
          </p:nvSpPr>
          <p:spPr>
            <a:xfrm>
              <a:off x="10258425" y="3177539"/>
              <a:ext cx="557212" cy="228600"/>
            </a:xfrm>
            <a:prstGeom prst="roundRect">
              <a:avLst>
                <a:gd name="adj" fmla="val 31250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N01/cover-notch/poly/046"/>
            <p:cNvSpPr/>
            <p:nvPr/>
          </p:nvSpPr>
          <p:spPr>
            <a:xfrm>
              <a:off x="10337006" y="3248977"/>
              <a:ext cx="57150" cy="85725"/>
            </a:xfrm>
            <a:custGeom>
              <a:avLst/>
              <a:gdLst/>
              <a:ahLst/>
              <a:cxnLst/>
              <a:rect l="l" t="t" r="r" b="b"/>
              <a:pathLst>
                <a:path w="57150" h="85725">
                  <a:moveTo>
                    <a:pt x="42862" y="0"/>
                  </a:moveTo>
                  <a:lnTo>
                    <a:pt x="14287" y="7144"/>
                  </a:lnTo>
                  <a:lnTo>
                    <a:pt x="0" y="28575"/>
                  </a:lnTo>
                  <a:lnTo>
                    <a:pt x="0" y="57150"/>
                  </a:lnTo>
                  <a:lnTo>
                    <a:pt x="14287" y="78581"/>
                  </a:lnTo>
                  <a:lnTo>
                    <a:pt x="42862" y="85725"/>
                  </a:lnTo>
                  <a:lnTo>
                    <a:pt x="57150" y="71437"/>
                  </a:lnTo>
                  <a:lnTo>
                    <a:pt x="35719" y="64294"/>
                  </a:lnTo>
                  <a:lnTo>
                    <a:pt x="21431" y="42862"/>
                  </a:lnTo>
                  <a:lnTo>
                    <a:pt x="28575" y="21431"/>
                  </a:lnTo>
                  <a:close/>
                </a:path>
              </a:pathLst>
            </a:cu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N01/cover-notch/text/047"/>
            <p:cNvSpPr txBox="1"/>
            <p:nvPr/>
          </p:nvSpPr>
          <p:spPr>
            <a:xfrm>
              <a:off x="10465593" y="3177539"/>
              <a:ext cx="335756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7" b="1" i="0">
                  <a:solidFill>
                    <a:srgbClr val="E5E5EA"/>
                  </a:solidFill>
                  <a:latin typeface="Arial"/>
                </a:rPr>
                <a:t>Night</a:t>
              </a:r>
            </a:p>
          </p:txBody>
        </p:sp>
        <p:sp>
          <p:nvSpPr>
            <p:cNvPr id="68" name="N01/cover-notch/button-Dark/048"/>
            <p:cNvSpPr/>
            <p:nvPr/>
          </p:nvSpPr>
          <p:spPr>
            <a:xfrm>
              <a:off x="10872787" y="3177539"/>
              <a:ext cx="557212" cy="228600"/>
            </a:xfrm>
            <a:prstGeom prst="roundRect">
              <a:avLst>
                <a:gd name="adj" fmla="val 31250"/>
              </a:avLst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N01/cover-notch/ellipse/049"/>
            <p:cNvSpPr/>
            <p:nvPr/>
          </p:nvSpPr>
          <p:spPr>
            <a:xfrm>
              <a:off x="10974228" y="3256121"/>
              <a:ext cx="71437" cy="71437"/>
            </a:xfrm>
            <a:prstGeom prst="ellipse">
              <a:avLst/>
            </a:prstGeom>
            <a:noFill/>
            <a:ln w="1016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N01/cover-notch/poly/050"/>
            <p:cNvSpPr/>
            <p:nvPr/>
          </p:nvSpPr>
          <p:spPr>
            <a:xfrm>
              <a:off x="11009947" y="3256121"/>
              <a:ext cx="35719" cy="71437"/>
            </a:xfrm>
            <a:custGeom>
              <a:avLst/>
              <a:gdLst/>
              <a:ahLst/>
              <a:cxnLst/>
              <a:rect l="l" t="t" r="r" b="b"/>
              <a:pathLst>
                <a:path w="35719" h="71437">
                  <a:moveTo>
                    <a:pt x="0" y="0"/>
                  </a:moveTo>
                  <a:lnTo>
                    <a:pt x="0" y="71437"/>
                  </a:lnTo>
                  <a:lnTo>
                    <a:pt x="21431" y="64293"/>
                  </a:lnTo>
                  <a:lnTo>
                    <a:pt x="35719" y="35718"/>
                  </a:lnTo>
                  <a:lnTo>
                    <a:pt x="21431" y="71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N01/cover-notch/text/051"/>
            <p:cNvSpPr txBox="1"/>
            <p:nvPr/>
          </p:nvSpPr>
          <p:spPr>
            <a:xfrm>
              <a:off x="11109960" y="3177539"/>
              <a:ext cx="305752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7" b="1" i="0">
                  <a:solidFill>
                    <a:srgbClr val="000000"/>
                  </a:solidFill>
                  <a:latin typeface="Arial"/>
                </a:rPr>
                <a:t>Dark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02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02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02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HOW TO REVIEW</a:t>
            </a:r>
          </a:p>
        </p:txBody>
      </p:sp>
      <p:sp>
        <p:nvSpPr>
          <p:cNvPr id="5" name="N02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Edit the deck, not the code</a:t>
            </a:r>
          </a:p>
        </p:txBody>
      </p:sp>
      <p:sp>
        <p:nvSpPr>
          <p:cNvPr id="6" name="N02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PowerPoint / LibreOffice Impress / Google Slides · keep slide IDs stable</a:t>
            </a:r>
          </a:p>
        </p:txBody>
      </p:sp>
      <p:cxnSp>
        <p:nvCxnSpPr>
          <p:cNvPr id="7" name="N02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02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02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N02</a:t>
            </a:r>
          </a:p>
        </p:txBody>
      </p:sp>
      <p:sp>
        <p:nvSpPr>
          <p:cNvPr id="10" name="N02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02</a:t>
            </a:r>
          </a:p>
        </p:txBody>
      </p:sp>
      <p:sp>
        <p:nvSpPr>
          <p:cNvPr id="11" name="N02/ellipse/010"/>
          <p:cNvSpPr/>
          <p:nvPr/>
        </p:nvSpPr>
        <p:spPr>
          <a:xfrm>
            <a:off x="594360" y="1691640"/>
            <a:ext cx="384048" cy="384048"/>
          </a:xfrm>
          <a:prstGeom prst="ellipse">
            <a:avLst/>
          </a:prstGeom>
          <a:solidFill>
            <a:srgbClr val="17351F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02/text/011"/>
          <p:cNvSpPr txBox="1"/>
          <p:nvPr/>
        </p:nvSpPr>
        <p:spPr>
          <a:xfrm>
            <a:off x="594360" y="169164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0D158"/>
                </a:solidFill>
                <a:latin typeface="Arial"/>
              </a:rPr>
              <a:t>1</a:t>
            </a:r>
          </a:p>
        </p:txBody>
      </p:sp>
      <p:sp>
        <p:nvSpPr>
          <p:cNvPr id="13" name="N02/text/012"/>
          <p:cNvSpPr txBox="1"/>
          <p:nvPr/>
        </p:nvSpPr>
        <p:spPr>
          <a:xfrm>
            <a:off x="1143000" y="1673352"/>
            <a:ext cx="365760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7"/>
                </a:solidFill>
                <a:latin typeface="Arial"/>
              </a:rPr>
              <a:t>Pick the slide ID</a:t>
            </a:r>
          </a:p>
        </p:txBody>
      </p:sp>
      <p:sp>
        <p:nvSpPr>
          <p:cNvPr id="14" name="N02/text/013"/>
          <p:cNvSpPr txBox="1"/>
          <p:nvPr/>
        </p:nvSpPr>
        <p:spPr>
          <a:xfrm>
            <a:off x="1143000" y="1947672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Arial"/>
              </a:rPr>
              <a:t>Footer mein Nxx ID hai. Usi ID se change request likho.</a:t>
            </a:r>
          </a:p>
        </p:txBody>
      </p:sp>
      <p:sp>
        <p:nvSpPr>
          <p:cNvPr id="15" name="N02/ellipse/014"/>
          <p:cNvSpPr/>
          <p:nvPr/>
        </p:nvSpPr>
        <p:spPr>
          <a:xfrm>
            <a:off x="594360" y="2532888"/>
            <a:ext cx="384048" cy="384048"/>
          </a:xfrm>
          <a:prstGeom prst="ellipse">
            <a:avLst/>
          </a:prstGeom>
          <a:solidFill>
            <a:srgbClr val="17351F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02/text/015"/>
          <p:cNvSpPr txBox="1"/>
          <p:nvPr/>
        </p:nvSpPr>
        <p:spPr>
          <a:xfrm>
            <a:off x="594360" y="2532888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0D158"/>
                </a:solidFill>
                <a:latin typeface="Arial"/>
              </a:rPr>
              <a:t>2</a:t>
            </a:r>
          </a:p>
        </p:txBody>
      </p:sp>
      <p:sp>
        <p:nvSpPr>
          <p:cNvPr id="17" name="N02/text/016"/>
          <p:cNvSpPr txBox="1"/>
          <p:nvPr/>
        </p:nvSpPr>
        <p:spPr>
          <a:xfrm>
            <a:off x="1143000" y="2514600"/>
            <a:ext cx="365760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7"/>
                </a:solidFill>
                <a:latin typeface="Arial"/>
              </a:rPr>
              <a:t>Edit mockup directly</a:t>
            </a:r>
          </a:p>
        </p:txBody>
      </p:sp>
      <p:sp>
        <p:nvSpPr>
          <p:cNvPr id="18" name="N02/text/017"/>
          <p:cNvSpPr txBox="1"/>
          <p:nvPr/>
        </p:nvSpPr>
        <p:spPr>
          <a:xfrm>
            <a:off x="1143000" y="278892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Arial"/>
              </a:rPr>
              <a:t>Group select/ungroup karke shape, text, color, size ya spacing change karo.</a:t>
            </a:r>
          </a:p>
        </p:txBody>
      </p:sp>
      <p:sp>
        <p:nvSpPr>
          <p:cNvPr id="19" name="N02/ellipse/018"/>
          <p:cNvSpPr/>
          <p:nvPr/>
        </p:nvSpPr>
        <p:spPr>
          <a:xfrm>
            <a:off x="594360" y="3374136"/>
            <a:ext cx="384048" cy="384048"/>
          </a:xfrm>
          <a:prstGeom prst="ellipse">
            <a:avLst/>
          </a:prstGeom>
          <a:solidFill>
            <a:srgbClr val="17351F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02/text/019"/>
          <p:cNvSpPr txBox="1"/>
          <p:nvPr/>
        </p:nvSpPr>
        <p:spPr>
          <a:xfrm>
            <a:off x="594360" y="3374136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0D158"/>
                </a:solidFill>
                <a:latin typeface="Arial"/>
              </a:rPr>
              <a:t>3</a:t>
            </a:r>
          </a:p>
        </p:txBody>
      </p:sp>
      <p:sp>
        <p:nvSpPr>
          <p:cNvPr id="21" name="N02/text/020"/>
          <p:cNvSpPr txBox="1"/>
          <p:nvPr/>
        </p:nvSpPr>
        <p:spPr>
          <a:xfrm>
            <a:off x="1143000" y="3355848"/>
            <a:ext cx="365760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7"/>
                </a:solidFill>
                <a:latin typeface="Arial"/>
              </a:rPr>
              <a:t>Use REVIEW box</a:t>
            </a:r>
          </a:p>
        </p:txBody>
      </p:sp>
      <p:sp>
        <p:nvSpPr>
          <p:cNvPr id="22" name="N02/text/021"/>
          <p:cNvSpPr txBox="1"/>
          <p:nvPr/>
        </p:nvSpPr>
        <p:spPr>
          <a:xfrm>
            <a:off x="1143000" y="3630168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Arial"/>
              </a:rPr>
              <a:t>Exact value likho: 72→80 px, radius 14→16, color #30D158, 2 lines max.</a:t>
            </a:r>
          </a:p>
        </p:txBody>
      </p:sp>
      <p:sp>
        <p:nvSpPr>
          <p:cNvPr id="23" name="N02/ellipse/022"/>
          <p:cNvSpPr/>
          <p:nvPr/>
        </p:nvSpPr>
        <p:spPr>
          <a:xfrm>
            <a:off x="594360" y="4215384"/>
            <a:ext cx="384048" cy="384048"/>
          </a:xfrm>
          <a:prstGeom prst="ellipse">
            <a:avLst/>
          </a:prstGeom>
          <a:solidFill>
            <a:srgbClr val="17351F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02/text/023"/>
          <p:cNvSpPr txBox="1"/>
          <p:nvPr/>
        </p:nvSpPr>
        <p:spPr>
          <a:xfrm>
            <a:off x="594360" y="4215384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0D158"/>
                </a:solidFill>
                <a:latin typeface="Arial"/>
              </a:rPr>
              <a:t>4</a:t>
            </a:r>
          </a:p>
        </p:txBody>
      </p:sp>
      <p:sp>
        <p:nvSpPr>
          <p:cNvPr id="25" name="N02/text/024"/>
          <p:cNvSpPr txBox="1"/>
          <p:nvPr/>
        </p:nvSpPr>
        <p:spPr>
          <a:xfrm>
            <a:off x="1143000" y="4197096"/>
            <a:ext cx="365760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7"/>
                </a:solidFill>
                <a:latin typeface="Arial"/>
              </a:rPr>
              <a:t>Mark decision</a:t>
            </a:r>
          </a:p>
        </p:txBody>
      </p:sp>
      <p:sp>
        <p:nvSpPr>
          <p:cNvPr id="26" name="N02/text/025"/>
          <p:cNvSpPr txBox="1"/>
          <p:nvPr/>
        </p:nvSpPr>
        <p:spPr>
          <a:xfrm>
            <a:off x="1143000" y="4471416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Arial"/>
              </a:rPr>
              <a:t>KEEP / CHANGE / DISCUSS likho. New state ho to closest slide duplicate karke Nxx-A naam do.</a:t>
            </a:r>
          </a:p>
        </p:txBody>
      </p:sp>
      <p:sp>
        <p:nvSpPr>
          <p:cNvPr id="27" name="N02/ellipse/026"/>
          <p:cNvSpPr/>
          <p:nvPr/>
        </p:nvSpPr>
        <p:spPr>
          <a:xfrm>
            <a:off x="594360" y="5056632"/>
            <a:ext cx="384048" cy="384048"/>
          </a:xfrm>
          <a:prstGeom prst="ellipse">
            <a:avLst/>
          </a:prstGeom>
          <a:solidFill>
            <a:srgbClr val="17351F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02/text/027"/>
          <p:cNvSpPr txBox="1"/>
          <p:nvPr/>
        </p:nvSpPr>
        <p:spPr>
          <a:xfrm>
            <a:off x="594360" y="5056632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0D158"/>
                </a:solidFill>
                <a:latin typeface="Arial"/>
              </a:rPr>
              <a:t>5</a:t>
            </a:r>
          </a:p>
        </p:txBody>
      </p:sp>
      <p:sp>
        <p:nvSpPr>
          <p:cNvPr id="29" name="N02/text/028"/>
          <p:cNvSpPr txBox="1"/>
          <p:nvPr/>
        </p:nvSpPr>
        <p:spPr>
          <a:xfrm>
            <a:off x="1143000" y="5038344"/>
            <a:ext cx="365760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7"/>
                </a:solidFill>
                <a:latin typeface="Arial"/>
              </a:rPr>
              <a:t>Return .pptx</a:t>
            </a:r>
          </a:p>
        </p:txBody>
      </p:sp>
      <p:sp>
        <p:nvSpPr>
          <p:cNvPr id="30" name="N02/text/029"/>
          <p:cNvSpPr txBox="1"/>
          <p:nvPr/>
        </p:nvSpPr>
        <p:spPr>
          <a:xfrm>
            <a:off x="1143000" y="5312664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Arial"/>
              </a:rPr>
              <a:t>N41 decision log fill karo. Implementation N42 mapping se approved edits apply karega.</a:t>
            </a:r>
          </a:p>
        </p:txBody>
      </p:sp>
      <p:sp>
        <p:nvSpPr>
          <p:cNvPr id="31" name="N02/rect/030"/>
          <p:cNvSpPr/>
          <p:nvPr/>
        </p:nvSpPr>
        <p:spPr>
          <a:xfrm>
            <a:off x="8229600" y="1691640"/>
            <a:ext cx="3456432" cy="4343400"/>
          </a:xfrm>
          <a:prstGeom prst="roundRect">
            <a:avLst>
              <a:gd name="adj" fmla="val 3703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02/text/031"/>
          <p:cNvSpPr txBox="1"/>
          <p:nvPr/>
        </p:nvSpPr>
        <p:spPr>
          <a:xfrm>
            <a:off x="8458200" y="1874519"/>
            <a:ext cx="301752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0D158"/>
                </a:solidFill>
                <a:latin typeface="Arial"/>
              </a:rPr>
              <a:t>LEGEND</a:t>
            </a:r>
          </a:p>
        </p:txBody>
      </p:sp>
      <p:sp>
        <p:nvSpPr>
          <p:cNvPr id="33" name="N02/rect/032"/>
          <p:cNvSpPr/>
          <p:nvPr/>
        </p:nvSpPr>
        <p:spPr>
          <a:xfrm>
            <a:off x="8458200" y="2240280"/>
            <a:ext cx="201168" cy="201168"/>
          </a:xfrm>
          <a:prstGeom prst="roundRect">
            <a:avLst>
              <a:gd name="adj" fmla="val 18181"/>
            </a:avLst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N02/text/033"/>
          <p:cNvSpPr txBox="1"/>
          <p:nvPr/>
        </p:nvSpPr>
        <p:spPr>
          <a:xfrm>
            <a:off x="8778240" y="2221992"/>
            <a:ext cx="274320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5F7"/>
                </a:solidFill>
                <a:latin typeface="Arial"/>
              </a:rPr>
              <a:t>Current v8 baseline</a:t>
            </a:r>
          </a:p>
        </p:txBody>
      </p:sp>
      <p:sp>
        <p:nvSpPr>
          <p:cNvPr id="35" name="N02/rect/034"/>
          <p:cNvSpPr/>
          <p:nvPr/>
        </p:nvSpPr>
        <p:spPr>
          <a:xfrm>
            <a:off x="8458200" y="2624328"/>
            <a:ext cx="201168" cy="201168"/>
          </a:xfrm>
          <a:prstGeom prst="roundRect">
            <a:avLst>
              <a:gd name="adj" fmla="val 18181"/>
            </a:avLst>
          </a:prstGeom>
          <a:solidFill>
            <a:srgbClr val="64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N02/text/035"/>
          <p:cNvSpPr txBox="1"/>
          <p:nvPr/>
        </p:nvSpPr>
        <p:spPr>
          <a:xfrm>
            <a:off x="8778240" y="2606040"/>
            <a:ext cx="274320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5F7"/>
                </a:solidFill>
                <a:latin typeface="Arial"/>
              </a:rPr>
              <a:t>Your uploaded edit</a:t>
            </a:r>
          </a:p>
        </p:txBody>
      </p:sp>
      <p:sp>
        <p:nvSpPr>
          <p:cNvPr id="37" name="N02/rect/036"/>
          <p:cNvSpPr/>
          <p:nvPr/>
        </p:nvSpPr>
        <p:spPr>
          <a:xfrm>
            <a:off x="8458200" y="3008376"/>
            <a:ext cx="201168" cy="201168"/>
          </a:xfrm>
          <a:prstGeom prst="roundRect">
            <a:avLst>
              <a:gd name="adj" fmla="val 18181"/>
            </a:avLst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02/text/037"/>
          <p:cNvSpPr txBox="1"/>
          <p:nvPr/>
        </p:nvSpPr>
        <p:spPr>
          <a:xfrm>
            <a:off x="8778240" y="2990088"/>
            <a:ext cx="274320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5F7"/>
                </a:solidFill>
                <a:latin typeface="Arial"/>
              </a:rPr>
              <a:t>Review / decision field</a:t>
            </a:r>
          </a:p>
        </p:txBody>
      </p:sp>
      <p:sp>
        <p:nvSpPr>
          <p:cNvPr id="39" name="N02/rect/038"/>
          <p:cNvSpPr/>
          <p:nvPr/>
        </p:nvSpPr>
        <p:spPr>
          <a:xfrm>
            <a:off x="8458200" y="3392424"/>
            <a:ext cx="201168" cy="201168"/>
          </a:xfrm>
          <a:prstGeom prst="roundRect">
            <a:avLst>
              <a:gd name="adj" fmla="val 18181"/>
            </a:avLst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N02/text/039"/>
          <p:cNvSpPr txBox="1"/>
          <p:nvPr/>
        </p:nvSpPr>
        <p:spPr>
          <a:xfrm>
            <a:off x="8778240" y="3374136"/>
            <a:ext cx="274320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5F7"/>
                </a:solidFill>
                <a:latin typeface="Arial"/>
              </a:rPr>
              <a:t>Error / warning state</a:t>
            </a:r>
          </a:p>
        </p:txBody>
      </p:sp>
      <p:sp>
        <p:nvSpPr>
          <p:cNvPr id="41" name="N02/rect/040"/>
          <p:cNvSpPr/>
          <p:nvPr/>
        </p:nvSpPr>
        <p:spPr>
          <a:xfrm>
            <a:off x="8458200" y="3776472"/>
            <a:ext cx="201168" cy="201168"/>
          </a:xfrm>
          <a:prstGeom prst="roundRect">
            <a:avLst>
              <a:gd name="adj" fmla="val 18181"/>
            </a:avLst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02/text/041"/>
          <p:cNvSpPr txBox="1"/>
          <p:nvPr/>
        </p:nvSpPr>
        <p:spPr>
          <a:xfrm>
            <a:off x="8778240" y="3758184"/>
            <a:ext cx="274320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5F7"/>
                </a:solidFill>
                <a:latin typeface="Arial"/>
              </a:rPr>
              <a:t>Optional / experimental</a:t>
            </a:r>
          </a:p>
        </p:txBody>
      </p:sp>
      <p:sp>
        <p:nvSpPr>
          <p:cNvPr id="43" name="N02/text/042"/>
          <p:cNvSpPr txBox="1"/>
          <p:nvPr/>
        </p:nvSpPr>
        <p:spPr>
          <a:xfrm>
            <a:off x="8458200" y="434340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Arial"/>
              </a:rPr>
              <a:t>Mockups schematic hain, screenshots nahi.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Arial"/>
              </a:rPr>
              <a:t>Dimensions logical px hain jab tak scale note na ho.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Arial"/>
              </a:rPr>
              <a:t>Green accent sirf review chrome hai; app accent nahi.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45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45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45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IMPORTED EDITS</a:t>
            </a:r>
          </a:p>
        </p:txBody>
      </p:sp>
      <p:sp>
        <p:nvSpPr>
          <p:cNvPr id="5" name="N45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Your main-branch upload is preserved</a:t>
            </a:r>
          </a:p>
        </p:txBody>
      </p:sp>
      <p:sp>
        <p:nvSpPr>
          <p:cNvPr id="6" name="N45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Detected meaningful edits from Notch-Design-Review.pptx on main</a:t>
            </a:r>
          </a:p>
        </p:txBody>
      </p:sp>
      <p:cxnSp>
        <p:nvCxnSpPr>
          <p:cNvPr id="7" name="N45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45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45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N45</a:t>
            </a:r>
          </a:p>
        </p:txBody>
      </p:sp>
      <p:sp>
        <p:nvSpPr>
          <p:cNvPr id="10" name="N45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03</a:t>
            </a:r>
          </a:p>
        </p:txBody>
      </p:sp>
      <p:graphicFrame>
        <p:nvGraphicFramePr>
          <p:cNvPr id="11" name="N45/review-table"/>
          <p:cNvGraphicFramePr>
            <a:graphicFrameLocks noGrp="1"/>
          </p:cNvGraphicFramePr>
          <p:nvPr/>
        </p:nvGraphicFramePr>
        <p:xfrm>
          <a:off x="502920" y="1783080"/>
          <a:ext cx="11183111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5635"/>
                <a:gridCol w="2907609"/>
                <a:gridCol w="6709867"/>
              </a:tblGrid>
              <a:tr h="603504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30D158"/>
                          </a:solidFill>
                          <a:latin typeface="Arial"/>
                        </a:defRPr>
                      </a:pPr>
                      <a:r>
                        <a:t>Slide</a:t>
                      </a:r>
                    </a:p>
                  </a:txBody>
                  <a:tcPr marL="73152" marR="73152" marT="27432" marB="27432" anchor="ctr">
                    <a:solidFill>
                      <a:srgbClr val="1C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30D158"/>
                          </a:solidFill>
                          <a:latin typeface="Arial"/>
                        </a:defRPr>
                      </a:pPr>
                      <a:r>
                        <a:t>Element</a:t>
                      </a:r>
                    </a:p>
                  </a:txBody>
                  <a:tcPr marL="73152" marR="73152" marT="27432" marB="27432" anchor="ctr">
                    <a:solidFill>
                      <a:srgbClr val="1C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30D158"/>
                          </a:solidFill>
                          <a:latin typeface="Arial"/>
                        </a:defRPr>
                      </a:pPr>
                      <a:r>
                        <a:t>Preserved intent</a:t>
                      </a:r>
                    </a:p>
                  </a:txBody>
                  <a:tcPr marL="73152" marR="73152" marT="27432" marB="27432" anchor="ctr">
                    <a:solidFill>
                      <a:srgbClr val="1C1C24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N09 / N10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Home idle clock + date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Moved left toward the content gutter; applied to idle Home mockups.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N12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Music player switcher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Moved to the right side of the metadata block; applied to full Music mockup.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N14 / N15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Alerts count + date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Indented to align with notification-card padding; applied to Alerts mockups.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N08 → N61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curl install command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Pasted command preserved verbatim on a dedicated appendix slide so it does not cover the peek mockup.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</a:tr>
            </a:tbl>
          </a:graphicData>
        </a:graphic>
      </p:graphicFrame>
      <p:sp>
        <p:nvSpPr>
          <p:cNvPr id="12" name="N45/text/010"/>
          <p:cNvSpPr txBox="1"/>
          <p:nvPr/>
        </p:nvSpPr>
        <p:spPr>
          <a:xfrm>
            <a:off x="502920" y="5074920"/>
            <a:ext cx="1118311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Arial"/>
              </a:rPr>
              <a:t>Minor font-rounding differences from PowerPoint export were normalized back to the deck token scale. No application UI/behavior code was changed by this workbook.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03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03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03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NAVIGATION</a:t>
            </a:r>
          </a:p>
        </p:txBody>
      </p:sp>
      <p:sp>
        <p:nvSpPr>
          <p:cNvPr id="5" name="N03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Mode map and review index</a:t>
            </a:r>
          </a:p>
        </p:txBody>
      </p:sp>
      <p:sp>
        <p:nvSpPr>
          <p:cNvPr id="6" name="N03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Teen surface modes × six pages · settings, adaptive rules and handoff</a:t>
            </a:r>
          </a:p>
        </p:txBody>
      </p:sp>
      <p:cxnSp>
        <p:nvCxnSpPr>
          <p:cNvPr id="7" name="N03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03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03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N03</a:t>
            </a:r>
          </a:p>
        </p:txBody>
      </p:sp>
      <p:sp>
        <p:nvSpPr>
          <p:cNvPr id="10" name="N03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04</a:t>
            </a:r>
          </a:p>
        </p:txBody>
      </p:sp>
      <p:sp>
        <p:nvSpPr>
          <p:cNvPr id="11" name="N03/rect/010"/>
          <p:cNvSpPr/>
          <p:nvPr/>
        </p:nvSpPr>
        <p:spPr>
          <a:xfrm>
            <a:off x="502920" y="1737360"/>
            <a:ext cx="3611880" cy="1645920"/>
          </a:xfrm>
          <a:prstGeom prst="roundRect">
            <a:avLst>
              <a:gd name="adj" fmla="val 7777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03/text/011"/>
          <p:cNvSpPr txBox="1"/>
          <p:nvPr/>
        </p:nvSpPr>
        <p:spPr>
          <a:xfrm>
            <a:off x="704088" y="1901952"/>
            <a:ext cx="320040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0D158"/>
                </a:solidFill>
                <a:latin typeface="Arial"/>
              </a:rPr>
              <a:t>CLOSED</a:t>
            </a:r>
          </a:p>
        </p:txBody>
      </p:sp>
      <p:sp>
        <p:nvSpPr>
          <p:cNvPr id="13" name="N03/text/012"/>
          <p:cNvSpPr txBox="1"/>
          <p:nvPr/>
        </p:nvSpPr>
        <p:spPr>
          <a:xfrm>
            <a:off x="704088" y="2240280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5F7"/>
                </a:solidFill>
                <a:latin typeface="Arial"/>
              </a:rPr>
              <a:t>185×32 default</a:t>
            </a:r>
          </a:p>
        </p:txBody>
      </p:sp>
      <p:sp>
        <p:nvSpPr>
          <p:cNvPr id="14" name="N03/text/013"/>
          <p:cNvSpPr txBox="1"/>
          <p:nvPr/>
        </p:nvSpPr>
        <p:spPr>
          <a:xfrm>
            <a:off x="704088" y="254203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Arial"/>
              </a:rPr>
              <a:t>Clock · unread · media wings</a:t>
            </a:r>
          </a:p>
        </p:txBody>
      </p:sp>
      <p:sp>
        <p:nvSpPr>
          <p:cNvPr id="15" name="N03/text/014"/>
          <p:cNvSpPr txBox="1"/>
          <p:nvPr/>
        </p:nvSpPr>
        <p:spPr>
          <a:xfrm>
            <a:off x="704088" y="3017520"/>
            <a:ext cx="32004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77782"/>
                </a:solidFill>
                <a:latin typeface="Arial"/>
              </a:rPr>
              <a:t>N06–N07, N46</a:t>
            </a:r>
          </a:p>
        </p:txBody>
      </p:sp>
      <p:sp>
        <p:nvSpPr>
          <p:cNvPr id="16" name="N03/rect/015"/>
          <p:cNvSpPr/>
          <p:nvPr/>
        </p:nvSpPr>
        <p:spPr>
          <a:xfrm>
            <a:off x="4297680" y="1737360"/>
            <a:ext cx="3611880" cy="1645920"/>
          </a:xfrm>
          <a:prstGeom prst="roundRect">
            <a:avLst>
              <a:gd name="adj" fmla="val 7777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03/text/016"/>
          <p:cNvSpPr txBox="1"/>
          <p:nvPr/>
        </p:nvSpPr>
        <p:spPr>
          <a:xfrm>
            <a:off x="4498848" y="1901952"/>
            <a:ext cx="320040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0D158"/>
                </a:solidFill>
                <a:latin typeface="Arial"/>
              </a:rPr>
              <a:t>PEEK</a:t>
            </a:r>
          </a:p>
        </p:txBody>
      </p:sp>
      <p:sp>
        <p:nvSpPr>
          <p:cNvPr id="18" name="N03/text/017"/>
          <p:cNvSpPr txBox="1"/>
          <p:nvPr/>
        </p:nvSpPr>
        <p:spPr>
          <a:xfrm>
            <a:off x="4498848" y="2240280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5F7"/>
                </a:solidFill>
                <a:latin typeface="Arial"/>
              </a:rPr>
              <a:t>440×144 default</a:t>
            </a:r>
          </a:p>
        </p:txBody>
      </p:sp>
      <p:sp>
        <p:nvSpPr>
          <p:cNvPr id="19" name="N03/text/018"/>
          <p:cNvSpPr txBox="1"/>
          <p:nvPr/>
        </p:nvSpPr>
        <p:spPr>
          <a:xfrm>
            <a:off x="4498848" y="254203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Arial"/>
              </a:rPr>
              <a:t>Notification preview · actions</a:t>
            </a:r>
          </a:p>
        </p:txBody>
      </p:sp>
      <p:sp>
        <p:nvSpPr>
          <p:cNvPr id="20" name="N03/text/019"/>
          <p:cNvSpPr txBox="1"/>
          <p:nvPr/>
        </p:nvSpPr>
        <p:spPr>
          <a:xfrm>
            <a:off x="4498848" y="3017520"/>
            <a:ext cx="32004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77782"/>
                </a:solidFill>
                <a:latin typeface="Arial"/>
              </a:rPr>
              <a:t>N08, N47</a:t>
            </a:r>
          </a:p>
        </p:txBody>
      </p:sp>
      <p:sp>
        <p:nvSpPr>
          <p:cNvPr id="21" name="N03/rect/020"/>
          <p:cNvSpPr/>
          <p:nvPr/>
        </p:nvSpPr>
        <p:spPr>
          <a:xfrm>
            <a:off x="8092440" y="1737360"/>
            <a:ext cx="3611880" cy="1645920"/>
          </a:xfrm>
          <a:prstGeom prst="roundRect">
            <a:avLst>
              <a:gd name="adj" fmla="val 7777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03/text/021"/>
          <p:cNvSpPr txBox="1"/>
          <p:nvPr/>
        </p:nvSpPr>
        <p:spPr>
          <a:xfrm>
            <a:off x="8293608" y="1901952"/>
            <a:ext cx="320040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0D158"/>
                </a:solidFill>
                <a:latin typeface="Arial"/>
              </a:rPr>
              <a:t>OPEN</a:t>
            </a:r>
          </a:p>
        </p:txBody>
      </p:sp>
      <p:sp>
        <p:nvSpPr>
          <p:cNvPr id="23" name="N03/text/022"/>
          <p:cNvSpPr txBox="1"/>
          <p:nvPr/>
        </p:nvSpPr>
        <p:spPr>
          <a:xfrm>
            <a:off x="8293608" y="2240280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5F7"/>
                </a:solidFill>
                <a:latin typeface="Arial"/>
              </a:rPr>
              <a:t>page-sized, max 640×320</a:t>
            </a:r>
          </a:p>
        </p:txBody>
      </p:sp>
      <p:sp>
        <p:nvSpPr>
          <p:cNvPr id="24" name="N03/text/023"/>
          <p:cNvSpPr txBox="1"/>
          <p:nvPr/>
        </p:nvSpPr>
        <p:spPr>
          <a:xfrm>
            <a:off x="8293608" y="254203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Arial"/>
              </a:rPr>
              <a:t>Header + page + status footer</a:t>
            </a:r>
          </a:p>
        </p:txBody>
      </p:sp>
      <p:sp>
        <p:nvSpPr>
          <p:cNvPr id="25" name="N03/text/024"/>
          <p:cNvSpPr txBox="1"/>
          <p:nvPr/>
        </p:nvSpPr>
        <p:spPr>
          <a:xfrm>
            <a:off x="8293608" y="3017520"/>
            <a:ext cx="32004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77782"/>
                </a:solidFill>
                <a:latin typeface="Arial"/>
              </a:rPr>
              <a:t>N09–N25, N48–N54</a:t>
            </a:r>
          </a:p>
        </p:txBody>
      </p:sp>
      <p:sp>
        <p:nvSpPr>
          <p:cNvPr id="26" name="N03/rect/025"/>
          <p:cNvSpPr/>
          <p:nvPr/>
        </p:nvSpPr>
        <p:spPr>
          <a:xfrm>
            <a:off x="502920" y="3657600"/>
            <a:ext cx="1783080" cy="822960"/>
          </a:xfrm>
          <a:prstGeom prst="roundRect">
            <a:avLst>
              <a:gd name="adj" fmla="val 13333"/>
            </a:avLst>
          </a:prstGeom>
          <a:solidFill>
            <a:srgbClr val="1C1C24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03/text/026"/>
          <p:cNvSpPr txBox="1"/>
          <p:nvPr/>
        </p:nvSpPr>
        <p:spPr>
          <a:xfrm>
            <a:off x="502920" y="3767328"/>
            <a:ext cx="178308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F5F7"/>
                </a:solidFill>
                <a:latin typeface="Arial"/>
              </a:rPr>
              <a:t>Home</a:t>
            </a:r>
          </a:p>
        </p:txBody>
      </p:sp>
      <p:sp>
        <p:nvSpPr>
          <p:cNvPr id="28" name="N03/text/027"/>
          <p:cNvSpPr txBox="1"/>
          <p:nvPr/>
        </p:nvSpPr>
        <p:spPr>
          <a:xfrm>
            <a:off x="502920" y="4096512"/>
            <a:ext cx="17830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1A1A6"/>
                </a:solidFill>
                <a:latin typeface="Arial"/>
              </a:rPr>
              <a:t>N10–N11, N48</a:t>
            </a:r>
          </a:p>
        </p:txBody>
      </p:sp>
      <p:sp>
        <p:nvSpPr>
          <p:cNvPr id="29" name="N03/rect/028"/>
          <p:cNvSpPr/>
          <p:nvPr/>
        </p:nvSpPr>
        <p:spPr>
          <a:xfrm>
            <a:off x="2395728" y="3657600"/>
            <a:ext cx="1783080" cy="822960"/>
          </a:xfrm>
          <a:prstGeom prst="roundRect">
            <a:avLst>
              <a:gd name="adj" fmla="val 13333"/>
            </a:avLst>
          </a:prstGeom>
          <a:solidFill>
            <a:srgbClr val="1C1C24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03/text/029"/>
          <p:cNvSpPr txBox="1"/>
          <p:nvPr/>
        </p:nvSpPr>
        <p:spPr>
          <a:xfrm>
            <a:off x="2395728" y="3767328"/>
            <a:ext cx="178308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F5F7"/>
                </a:solidFill>
                <a:latin typeface="Arial"/>
              </a:rPr>
              <a:t>Music</a:t>
            </a:r>
          </a:p>
        </p:txBody>
      </p:sp>
      <p:sp>
        <p:nvSpPr>
          <p:cNvPr id="31" name="N03/text/030"/>
          <p:cNvSpPr txBox="1"/>
          <p:nvPr/>
        </p:nvSpPr>
        <p:spPr>
          <a:xfrm>
            <a:off x="2395728" y="4096512"/>
            <a:ext cx="17830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1A1A6"/>
                </a:solidFill>
                <a:latin typeface="Arial"/>
              </a:rPr>
              <a:t>N12–N13, N49–N50</a:t>
            </a:r>
          </a:p>
        </p:txBody>
      </p:sp>
      <p:sp>
        <p:nvSpPr>
          <p:cNvPr id="32" name="N03/rect/031"/>
          <p:cNvSpPr/>
          <p:nvPr/>
        </p:nvSpPr>
        <p:spPr>
          <a:xfrm>
            <a:off x="4288536" y="3657600"/>
            <a:ext cx="1783080" cy="822960"/>
          </a:xfrm>
          <a:prstGeom prst="roundRect">
            <a:avLst>
              <a:gd name="adj" fmla="val 13333"/>
            </a:avLst>
          </a:prstGeom>
          <a:solidFill>
            <a:srgbClr val="1C1C24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N03/text/032"/>
          <p:cNvSpPr txBox="1"/>
          <p:nvPr/>
        </p:nvSpPr>
        <p:spPr>
          <a:xfrm>
            <a:off x="4288536" y="3767328"/>
            <a:ext cx="178308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F5F7"/>
                </a:solidFill>
                <a:latin typeface="Arial"/>
              </a:rPr>
              <a:t>Alerts</a:t>
            </a:r>
          </a:p>
        </p:txBody>
      </p:sp>
      <p:sp>
        <p:nvSpPr>
          <p:cNvPr id="34" name="N03/text/033"/>
          <p:cNvSpPr txBox="1"/>
          <p:nvPr/>
        </p:nvSpPr>
        <p:spPr>
          <a:xfrm>
            <a:off x="4288536" y="4096512"/>
            <a:ext cx="17830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1A1A6"/>
                </a:solidFill>
                <a:latin typeface="Arial"/>
              </a:rPr>
              <a:t>N14–N15, N51</a:t>
            </a:r>
          </a:p>
        </p:txBody>
      </p:sp>
      <p:sp>
        <p:nvSpPr>
          <p:cNvPr id="35" name="N03/rect/034"/>
          <p:cNvSpPr/>
          <p:nvPr/>
        </p:nvSpPr>
        <p:spPr>
          <a:xfrm>
            <a:off x="6181344" y="3657600"/>
            <a:ext cx="1783080" cy="822960"/>
          </a:xfrm>
          <a:prstGeom prst="roundRect">
            <a:avLst>
              <a:gd name="adj" fmla="val 13333"/>
            </a:avLst>
          </a:prstGeom>
          <a:solidFill>
            <a:srgbClr val="1C1C24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N03/text/035"/>
          <p:cNvSpPr txBox="1"/>
          <p:nvPr/>
        </p:nvSpPr>
        <p:spPr>
          <a:xfrm>
            <a:off x="6181344" y="3767328"/>
            <a:ext cx="178308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F5F7"/>
                </a:solidFill>
                <a:latin typeface="Arial"/>
              </a:rPr>
              <a:t>System</a:t>
            </a:r>
          </a:p>
        </p:txBody>
      </p:sp>
      <p:sp>
        <p:nvSpPr>
          <p:cNvPr id="37" name="N03/text/036"/>
          <p:cNvSpPr txBox="1"/>
          <p:nvPr/>
        </p:nvSpPr>
        <p:spPr>
          <a:xfrm>
            <a:off x="6181344" y="4096512"/>
            <a:ext cx="17830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1A1A6"/>
                </a:solidFill>
                <a:latin typeface="Arial"/>
              </a:rPr>
              <a:t>N16–N18, N52</a:t>
            </a:r>
          </a:p>
        </p:txBody>
      </p:sp>
      <p:sp>
        <p:nvSpPr>
          <p:cNvPr id="38" name="N03/rect/037"/>
          <p:cNvSpPr/>
          <p:nvPr/>
        </p:nvSpPr>
        <p:spPr>
          <a:xfrm>
            <a:off x="8074152" y="3657600"/>
            <a:ext cx="1783080" cy="822960"/>
          </a:xfrm>
          <a:prstGeom prst="roundRect">
            <a:avLst>
              <a:gd name="adj" fmla="val 13333"/>
            </a:avLst>
          </a:prstGeom>
          <a:solidFill>
            <a:srgbClr val="1C1C24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03/text/038"/>
          <p:cNvSpPr txBox="1"/>
          <p:nvPr/>
        </p:nvSpPr>
        <p:spPr>
          <a:xfrm>
            <a:off x="8074152" y="3767328"/>
            <a:ext cx="178308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F5F7"/>
                </a:solidFill>
                <a:latin typeface="Arial"/>
              </a:rPr>
              <a:t>Shelf</a:t>
            </a:r>
          </a:p>
        </p:txBody>
      </p:sp>
      <p:sp>
        <p:nvSpPr>
          <p:cNvPr id="40" name="N03/text/039"/>
          <p:cNvSpPr txBox="1"/>
          <p:nvPr/>
        </p:nvSpPr>
        <p:spPr>
          <a:xfrm>
            <a:off x="8074152" y="4096512"/>
            <a:ext cx="17830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1A1A6"/>
                </a:solidFill>
                <a:latin typeface="Arial"/>
              </a:rPr>
              <a:t>N19–N22, N53</a:t>
            </a:r>
          </a:p>
        </p:txBody>
      </p:sp>
      <p:sp>
        <p:nvSpPr>
          <p:cNvPr id="41" name="N03/rect/040"/>
          <p:cNvSpPr/>
          <p:nvPr/>
        </p:nvSpPr>
        <p:spPr>
          <a:xfrm>
            <a:off x="9966960" y="3657600"/>
            <a:ext cx="1783080" cy="822960"/>
          </a:xfrm>
          <a:prstGeom prst="roundRect">
            <a:avLst>
              <a:gd name="adj" fmla="val 13333"/>
            </a:avLst>
          </a:prstGeom>
          <a:solidFill>
            <a:srgbClr val="1C1C24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03/text/041"/>
          <p:cNvSpPr txBox="1"/>
          <p:nvPr/>
        </p:nvSpPr>
        <p:spPr>
          <a:xfrm>
            <a:off x="9966960" y="3767328"/>
            <a:ext cx="178308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F5F7"/>
                </a:solidFill>
                <a:latin typeface="Arial"/>
              </a:rPr>
              <a:t>Clips</a:t>
            </a:r>
          </a:p>
        </p:txBody>
      </p:sp>
      <p:sp>
        <p:nvSpPr>
          <p:cNvPr id="43" name="N03/text/042"/>
          <p:cNvSpPr txBox="1"/>
          <p:nvPr/>
        </p:nvSpPr>
        <p:spPr>
          <a:xfrm>
            <a:off x="9966960" y="4096512"/>
            <a:ext cx="17830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1A1A6"/>
                </a:solidFill>
                <a:latin typeface="Arial"/>
              </a:rPr>
              <a:t>N23–N24, N54</a:t>
            </a:r>
          </a:p>
        </p:txBody>
      </p:sp>
      <p:sp>
        <p:nvSpPr>
          <p:cNvPr id="44" name="N03/rect/043"/>
          <p:cNvSpPr/>
          <p:nvPr/>
        </p:nvSpPr>
        <p:spPr>
          <a:xfrm>
            <a:off x="502920" y="1627632"/>
            <a:ext cx="11183112" cy="457200"/>
          </a:xfrm>
          <a:prstGeom prst="roundRect">
            <a:avLst>
              <a:gd name="adj" fmla="val 16000"/>
            </a:avLst>
          </a:prstGeom>
          <a:solidFill>
            <a:srgbClr val="1C1C24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N03/text/044"/>
          <p:cNvSpPr txBox="1"/>
          <p:nvPr/>
        </p:nvSpPr>
        <p:spPr>
          <a:xfrm>
            <a:off x="685800" y="1627632"/>
            <a:ext cx="20116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0D158"/>
                </a:solidFill>
                <a:latin typeface="Arial"/>
              </a:rPr>
              <a:t>ALSO REVIEW</a:t>
            </a:r>
          </a:p>
        </p:txBody>
      </p:sp>
      <p:sp>
        <p:nvSpPr>
          <p:cNvPr id="46" name="N03/text/045"/>
          <p:cNvSpPr txBox="1"/>
          <p:nvPr/>
        </p:nvSpPr>
        <p:spPr>
          <a:xfrm>
            <a:off x="2743200" y="1627632"/>
            <a:ext cx="868680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Arial"/>
              </a:rPr>
              <a:t>Tokens N04 · Geometry N05 · Adaptive N26–N27, N55 · Motion N28, N56 · Settings N30–N36, N57–N58 · Handoff N41–N44</a:t>
            </a:r>
          </a:p>
        </p:txBody>
      </p:sp>
      <p:sp>
        <p:nvSpPr>
          <p:cNvPr id="47" name="N03/text/046"/>
          <p:cNvSpPr txBox="1"/>
          <p:nvPr/>
        </p:nvSpPr>
        <p:spPr>
          <a:xfrm>
            <a:off x="502920" y="5806440"/>
            <a:ext cx="11183112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Arial"/>
              </a:rPr>
              <a:t>Review worksheets: N59–N60 · Uploaded install command: N61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04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04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04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DESIGN TOKENS</a:t>
            </a:r>
          </a:p>
        </p:txBody>
      </p:sp>
      <p:sp>
        <p:nvSpPr>
          <p:cNvPr id="5" name="N04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Current v8 visual language</a:t>
            </a:r>
          </a:p>
        </p:txBody>
      </p:sp>
      <p:sp>
        <p:nvSpPr>
          <p:cNvPr id="6" name="N04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Yahan token edit karo; page mockups isi language ko follow karte hain</a:t>
            </a:r>
          </a:p>
        </p:txBody>
      </p:sp>
      <p:cxnSp>
        <p:nvCxnSpPr>
          <p:cNvPr id="7" name="N04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04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04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N04</a:t>
            </a:r>
          </a:p>
        </p:txBody>
      </p:sp>
      <p:sp>
        <p:nvSpPr>
          <p:cNvPr id="10" name="N04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05</a:t>
            </a:r>
          </a:p>
        </p:txBody>
      </p:sp>
      <p:sp>
        <p:nvSpPr>
          <p:cNvPr id="11" name="N04/rect/010"/>
          <p:cNvSpPr/>
          <p:nvPr/>
        </p:nvSpPr>
        <p:spPr>
          <a:xfrm>
            <a:off x="502920" y="17373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00000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04/text/011"/>
          <p:cNvSpPr txBox="1"/>
          <p:nvPr/>
        </p:nvSpPr>
        <p:spPr>
          <a:xfrm>
            <a:off x="502920" y="2304288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Surface</a:t>
            </a:r>
          </a:p>
        </p:txBody>
      </p:sp>
      <p:sp>
        <p:nvSpPr>
          <p:cNvPr id="13" name="N04/text/012"/>
          <p:cNvSpPr txBox="1"/>
          <p:nvPr/>
        </p:nvSpPr>
        <p:spPr>
          <a:xfrm>
            <a:off x="502920" y="2505456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Consolas"/>
              </a:rPr>
              <a:t>#000000</a:t>
            </a:r>
          </a:p>
        </p:txBody>
      </p:sp>
      <p:sp>
        <p:nvSpPr>
          <p:cNvPr id="14" name="N04/rect/013"/>
          <p:cNvSpPr/>
          <p:nvPr/>
        </p:nvSpPr>
        <p:spPr>
          <a:xfrm>
            <a:off x="2395728" y="17373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C1C1E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04/text/014"/>
          <p:cNvSpPr txBox="1"/>
          <p:nvPr/>
        </p:nvSpPr>
        <p:spPr>
          <a:xfrm>
            <a:off x="2395728" y="2304288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Card</a:t>
            </a:r>
          </a:p>
        </p:txBody>
      </p:sp>
      <p:sp>
        <p:nvSpPr>
          <p:cNvPr id="16" name="N04/text/015"/>
          <p:cNvSpPr txBox="1"/>
          <p:nvPr/>
        </p:nvSpPr>
        <p:spPr>
          <a:xfrm>
            <a:off x="2395728" y="2505456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Consolas"/>
              </a:rPr>
              <a:t>#1C1C1E</a:t>
            </a:r>
          </a:p>
        </p:txBody>
      </p:sp>
      <p:sp>
        <p:nvSpPr>
          <p:cNvPr id="17" name="N04/rect/016"/>
          <p:cNvSpPr/>
          <p:nvPr/>
        </p:nvSpPr>
        <p:spPr>
          <a:xfrm>
            <a:off x="4288536" y="17373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2C2C2E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04/text/017"/>
          <p:cNvSpPr txBox="1"/>
          <p:nvPr/>
        </p:nvSpPr>
        <p:spPr>
          <a:xfrm>
            <a:off x="4288536" y="2304288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Control</a:t>
            </a:r>
          </a:p>
        </p:txBody>
      </p:sp>
      <p:sp>
        <p:nvSpPr>
          <p:cNvPr id="19" name="N04/text/018"/>
          <p:cNvSpPr txBox="1"/>
          <p:nvPr/>
        </p:nvSpPr>
        <p:spPr>
          <a:xfrm>
            <a:off x="4288536" y="2505456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Consolas"/>
              </a:rPr>
              <a:t>#2C2C2E</a:t>
            </a:r>
          </a:p>
        </p:txBody>
      </p:sp>
      <p:sp>
        <p:nvSpPr>
          <p:cNvPr id="20" name="N04/rect/019"/>
          <p:cNvSpPr/>
          <p:nvPr/>
        </p:nvSpPr>
        <p:spPr>
          <a:xfrm>
            <a:off x="6181343" y="17373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3A3A3C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04/text/020"/>
          <p:cNvSpPr txBox="1"/>
          <p:nvPr/>
        </p:nvSpPr>
        <p:spPr>
          <a:xfrm>
            <a:off x="6181343" y="2304288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Hover</a:t>
            </a:r>
          </a:p>
        </p:txBody>
      </p:sp>
      <p:sp>
        <p:nvSpPr>
          <p:cNvPr id="22" name="N04/text/021"/>
          <p:cNvSpPr txBox="1"/>
          <p:nvPr/>
        </p:nvSpPr>
        <p:spPr>
          <a:xfrm>
            <a:off x="6181343" y="2505456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Consolas"/>
              </a:rPr>
              <a:t>#3A3A3C</a:t>
            </a:r>
          </a:p>
        </p:txBody>
      </p:sp>
      <p:sp>
        <p:nvSpPr>
          <p:cNvPr id="23" name="N04/rect/022"/>
          <p:cNvSpPr/>
          <p:nvPr/>
        </p:nvSpPr>
        <p:spPr>
          <a:xfrm>
            <a:off x="8074152" y="17373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48484A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04/text/023"/>
          <p:cNvSpPr txBox="1"/>
          <p:nvPr/>
        </p:nvSpPr>
        <p:spPr>
          <a:xfrm>
            <a:off x="8074152" y="2304288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Pressed</a:t>
            </a:r>
          </a:p>
        </p:txBody>
      </p:sp>
      <p:sp>
        <p:nvSpPr>
          <p:cNvPr id="25" name="N04/text/024"/>
          <p:cNvSpPr txBox="1"/>
          <p:nvPr/>
        </p:nvSpPr>
        <p:spPr>
          <a:xfrm>
            <a:off x="8074152" y="2505456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Consolas"/>
              </a:rPr>
              <a:t>#48484A</a:t>
            </a:r>
          </a:p>
        </p:txBody>
      </p:sp>
      <p:sp>
        <p:nvSpPr>
          <p:cNvPr id="26" name="N04/rect/025"/>
          <p:cNvSpPr/>
          <p:nvPr/>
        </p:nvSpPr>
        <p:spPr>
          <a:xfrm>
            <a:off x="9966960" y="17373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5F5F7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04/text/026"/>
          <p:cNvSpPr txBox="1"/>
          <p:nvPr/>
        </p:nvSpPr>
        <p:spPr>
          <a:xfrm>
            <a:off x="9966960" y="2304288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Text</a:t>
            </a:r>
          </a:p>
        </p:txBody>
      </p:sp>
      <p:sp>
        <p:nvSpPr>
          <p:cNvPr id="28" name="N04/text/027"/>
          <p:cNvSpPr txBox="1"/>
          <p:nvPr/>
        </p:nvSpPr>
        <p:spPr>
          <a:xfrm>
            <a:off x="9966960" y="2505456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Consolas"/>
              </a:rPr>
              <a:t>#F5F5F7</a:t>
            </a:r>
          </a:p>
        </p:txBody>
      </p:sp>
      <p:sp>
        <p:nvSpPr>
          <p:cNvPr id="29" name="N04/rect/028"/>
          <p:cNvSpPr/>
          <p:nvPr/>
        </p:nvSpPr>
        <p:spPr>
          <a:xfrm>
            <a:off x="502920" y="278892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98989D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04/text/029"/>
          <p:cNvSpPr txBox="1"/>
          <p:nvPr/>
        </p:nvSpPr>
        <p:spPr>
          <a:xfrm>
            <a:off x="502920" y="3355848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Muted</a:t>
            </a:r>
          </a:p>
        </p:txBody>
      </p:sp>
      <p:sp>
        <p:nvSpPr>
          <p:cNvPr id="31" name="N04/text/030"/>
          <p:cNvSpPr txBox="1"/>
          <p:nvPr/>
        </p:nvSpPr>
        <p:spPr>
          <a:xfrm>
            <a:off x="502920" y="3557015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Consolas"/>
              </a:rPr>
              <a:t>#98989D</a:t>
            </a:r>
          </a:p>
        </p:txBody>
      </p:sp>
      <p:sp>
        <p:nvSpPr>
          <p:cNvPr id="32" name="N04/rect/031"/>
          <p:cNvSpPr/>
          <p:nvPr/>
        </p:nvSpPr>
        <p:spPr>
          <a:xfrm>
            <a:off x="2395728" y="278892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636366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N04/text/032"/>
          <p:cNvSpPr txBox="1"/>
          <p:nvPr/>
        </p:nvSpPr>
        <p:spPr>
          <a:xfrm>
            <a:off x="2395728" y="3355848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Disabled</a:t>
            </a:r>
          </a:p>
        </p:txBody>
      </p:sp>
      <p:sp>
        <p:nvSpPr>
          <p:cNvPr id="34" name="N04/text/033"/>
          <p:cNvSpPr txBox="1"/>
          <p:nvPr/>
        </p:nvSpPr>
        <p:spPr>
          <a:xfrm>
            <a:off x="2395728" y="3557015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Consolas"/>
              </a:rPr>
              <a:t>#636366</a:t>
            </a:r>
          </a:p>
        </p:txBody>
      </p:sp>
      <p:sp>
        <p:nvSpPr>
          <p:cNvPr id="35" name="N04/rect/034"/>
          <p:cNvSpPr/>
          <p:nvPr/>
        </p:nvSpPr>
        <p:spPr>
          <a:xfrm>
            <a:off x="4288536" y="278892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30D158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N04/text/035"/>
          <p:cNvSpPr txBox="1"/>
          <p:nvPr/>
        </p:nvSpPr>
        <p:spPr>
          <a:xfrm>
            <a:off x="4288536" y="3355848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Accent bars</a:t>
            </a:r>
          </a:p>
        </p:txBody>
      </p:sp>
      <p:sp>
        <p:nvSpPr>
          <p:cNvPr id="37" name="N04/text/036"/>
          <p:cNvSpPr txBox="1"/>
          <p:nvPr/>
        </p:nvSpPr>
        <p:spPr>
          <a:xfrm>
            <a:off x="4288536" y="3557015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Consolas"/>
              </a:rPr>
              <a:t>#30D158</a:t>
            </a:r>
          </a:p>
        </p:txBody>
      </p:sp>
      <p:sp>
        <p:nvSpPr>
          <p:cNvPr id="38" name="N04/rect/037"/>
          <p:cNvSpPr/>
          <p:nvPr/>
        </p:nvSpPr>
        <p:spPr>
          <a:xfrm>
            <a:off x="6181343" y="278892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FD60A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04/text/038"/>
          <p:cNvSpPr txBox="1"/>
          <p:nvPr/>
        </p:nvSpPr>
        <p:spPr>
          <a:xfrm>
            <a:off x="6181343" y="3355848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Status</a:t>
            </a:r>
          </a:p>
        </p:txBody>
      </p:sp>
      <p:sp>
        <p:nvSpPr>
          <p:cNvPr id="40" name="N04/text/039"/>
          <p:cNvSpPr txBox="1"/>
          <p:nvPr/>
        </p:nvSpPr>
        <p:spPr>
          <a:xfrm>
            <a:off x="6181343" y="3557015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Consolas"/>
              </a:rPr>
              <a:t>#FFD60A</a:t>
            </a:r>
          </a:p>
        </p:txBody>
      </p:sp>
      <p:sp>
        <p:nvSpPr>
          <p:cNvPr id="41" name="N04/rect/040"/>
          <p:cNvSpPr/>
          <p:nvPr/>
        </p:nvSpPr>
        <p:spPr>
          <a:xfrm>
            <a:off x="8074152" y="278892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F9F0A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04/text/041"/>
          <p:cNvSpPr txBox="1"/>
          <p:nvPr/>
        </p:nvSpPr>
        <p:spPr>
          <a:xfrm>
            <a:off x="8074152" y="3355848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Error</a:t>
            </a:r>
          </a:p>
        </p:txBody>
      </p:sp>
      <p:sp>
        <p:nvSpPr>
          <p:cNvPr id="43" name="N04/text/042"/>
          <p:cNvSpPr txBox="1"/>
          <p:nvPr/>
        </p:nvSpPr>
        <p:spPr>
          <a:xfrm>
            <a:off x="8074152" y="3557015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Consolas"/>
              </a:rPr>
              <a:t>#FF9F0A</a:t>
            </a:r>
          </a:p>
        </p:txBody>
      </p:sp>
      <p:sp>
        <p:nvSpPr>
          <p:cNvPr id="44" name="N04/text/043"/>
          <p:cNvSpPr txBox="1"/>
          <p:nvPr/>
        </p:nvSpPr>
        <p:spPr>
          <a:xfrm>
            <a:off x="502920" y="4069080"/>
            <a:ext cx="539496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0D158"/>
                </a:solidFill>
                <a:latin typeface="Arial"/>
              </a:rPr>
              <a:t>SPACING &amp; RADII</a:t>
            </a:r>
          </a:p>
        </p:txBody>
      </p:sp>
      <p:sp>
        <p:nvSpPr>
          <p:cNvPr id="45" name="N04/text/044"/>
          <p:cNvSpPr txBox="1"/>
          <p:nvPr/>
        </p:nvSpPr>
        <p:spPr>
          <a:xfrm>
            <a:off x="502920" y="4389120"/>
            <a:ext cx="548640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5F7"/>
                </a:solidFill>
                <a:latin typeface="Arial"/>
              </a:rPr>
              <a:t>Gutters 20 px · header 44 px · page spacing 10 px</a:t>
            </a:r>
          </a:p>
        </p:txBody>
      </p:sp>
      <p:sp>
        <p:nvSpPr>
          <p:cNvPr id="46" name="N04/text/045"/>
          <p:cNvSpPr txBox="1"/>
          <p:nvPr/>
        </p:nvSpPr>
        <p:spPr>
          <a:xfrm>
            <a:off x="502920" y="4681728"/>
            <a:ext cx="548640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5F7"/>
                </a:solidFill>
                <a:latin typeface="Arial"/>
              </a:rPr>
              <a:t>List spacing 8 px · card radius 14 / padding 12</a:t>
            </a:r>
          </a:p>
        </p:txBody>
      </p:sp>
      <p:sp>
        <p:nvSpPr>
          <p:cNvPr id="47" name="N04/text/046"/>
          <p:cNvSpPr txBox="1"/>
          <p:nvPr/>
        </p:nvSpPr>
        <p:spPr>
          <a:xfrm>
            <a:off x="502920" y="4974336"/>
            <a:ext cx="548640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5F7"/>
                </a:solidFill>
                <a:latin typeface="Arial"/>
              </a:rPr>
              <a:t>Row radius 12 / padding 8×10 · button radius 10</a:t>
            </a:r>
          </a:p>
        </p:txBody>
      </p:sp>
      <p:sp>
        <p:nvSpPr>
          <p:cNvPr id="48" name="N04/text/047"/>
          <p:cNvSpPr txBox="1"/>
          <p:nvPr/>
        </p:nvSpPr>
        <p:spPr>
          <a:xfrm>
            <a:off x="502920" y="5266944"/>
            <a:ext cx="548640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5F7"/>
                </a:solidFill>
                <a:latin typeface="Arial"/>
              </a:rPr>
              <a:t>Play radius 18 · slider bar 4 / handle 12</a:t>
            </a:r>
          </a:p>
        </p:txBody>
      </p:sp>
      <p:sp>
        <p:nvSpPr>
          <p:cNvPr id="49" name="N04/text/048"/>
          <p:cNvSpPr txBox="1"/>
          <p:nvPr/>
        </p:nvSpPr>
        <p:spPr>
          <a:xfrm>
            <a:off x="6400800" y="4069080"/>
            <a:ext cx="521208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0D158"/>
                </a:solidFill>
                <a:latin typeface="Arial"/>
              </a:rPr>
              <a:t>TYPE SCALE (base 10.5 pt)</a:t>
            </a:r>
          </a:p>
        </p:txBody>
      </p:sp>
      <p:sp>
        <p:nvSpPr>
          <p:cNvPr id="50" name="N04/text/049"/>
          <p:cNvSpPr txBox="1"/>
          <p:nvPr/>
        </p:nvSpPr>
        <p:spPr>
          <a:xfrm>
            <a:off x="6400800" y="4389120"/>
            <a:ext cx="237744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Home clock</a:t>
            </a:r>
          </a:p>
        </p:txBody>
      </p:sp>
      <p:sp>
        <p:nvSpPr>
          <p:cNvPr id="51" name="N04/text/050"/>
          <p:cNvSpPr txBox="1"/>
          <p:nvPr/>
        </p:nvSpPr>
        <p:spPr>
          <a:xfrm>
            <a:off x="8869680" y="4389120"/>
            <a:ext cx="274320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Consolas"/>
              </a:rPr>
              <a:t>2.4 em / 700</a:t>
            </a:r>
          </a:p>
        </p:txBody>
      </p:sp>
      <p:sp>
        <p:nvSpPr>
          <p:cNvPr id="52" name="N04/text/051"/>
          <p:cNvSpPr txBox="1"/>
          <p:nvPr/>
        </p:nvSpPr>
        <p:spPr>
          <a:xfrm>
            <a:off x="6400800" y="4663440"/>
            <a:ext cx="237744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Home title</a:t>
            </a:r>
          </a:p>
        </p:txBody>
      </p:sp>
      <p:sp>
        <p:nvSpPr>
          <p:cNvPr id="53" name="N04/text/052"/>
          <p:cNvSpPr txBox="1"/>
          <p:nvPr/>
        </p:nvSpPr>
        <p:spPr>
          <a:xfrm>
            <a:off x="8869680" y="4663440"/>
            <a:ext cx="274320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Consolas"/>
              </a:rPr>
              <a:t>1.2 em / 700</a:t>
            </a:r>
          </a:p>
        </p:txBody>
      </p:sp>
      <p:sp>
        <p:nvSpPr>
          <p:cNvPr id="54" name="N04/text/053"/>
          <p:cNvSpPr txBox="1"/>
          <p:nvPr/>
        </p:nvSpPr>
        <p:spPr>
          <a:xfrm>
            <a:off x="6400800" y="4937759"/>
            <a:ext cx="237744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Page title</a:t>
            </a:r>
          </a:p>
        </p:txBody>
      </p:sp>
      <p:sp>
        <p:nvSpPr>
          <p:cNvPr id="55" name="N04/text/054"/>
          <p:cNvSpPr txBox="1"/>
          <p:nvPr/>
        </p:nvSpPr>
        <p:spPr>
          <a:xfrm>
            <a:off x="8869680" y="4937759"/>
            <a:ext cx="274320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Consolas"/>
              </a:rPr>
              <a:t>1.05 em / 700</a:t>
            </a:r>
          </a:p>
        </p:txBody>
      </p:sp>
      <p:sp>
        <p:nvSpPr>
          <p:cNvPr id="56" name="N04/text/055"/>
          <p:cNvSpPr txBox="1"/>
          <p:nvPr/>
        </p:nvSpPr>
        <p:spPr>
          <a:xfrm>
            <a:off x="6400800" y="5212079"/>
            <a:ext cx="237744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Stat value</a:t>
            </a:r>
          </a:p>
        </p:txBody>
      </p:sp>
      <p:sp>
        <p:nvSpPr>
          <p:cNvPr id="57" name="N04/text/056"/>
          <p:cNvSpPr txBox="1"/>
          <p:nvPr/>
        </p:nvSpPr>
        <p:spPr>
          <a:xfrm>
            <a:off x="8869680" y="5212079"/>
            <a:ext cx="274320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Consolas"/>
              </a:rPr>
              <a:t>1.45 em / 700</a:t>
            </a:r>
          </a:p>
        </p:txBody>
      </p:sp>
      <p:sp>
        <p:nvSpPr>
          <p:cNvPr id="58" name="N04/text/057"/>
          <p:cNvSpPr txBox="1"/>
          <p:nvPr/>
        </p:nvSpPr>
        <p:spPr>
          <a:xfrm>
            <a:off x="6400800" y="5486400"/>
            <a:ext cx="237744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Body / muted</a:t>
            </a:r>
          </a:p>
        </p:txBody>
      </p:sp>
      <p:sp>
        <p:nvSpPr>
          <p:cNvPr id="59" name="N04/text/058"/>
          <p:cNvSpPr txBox="1"/>
          <p:nvPr/>
        </p:nvSpPr>
        <p:spPr>
          <a:xfrm>
            <a:off x="8869680" y="5486400"/>
            <a:ext cx="274320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Consolas"/>
              </a:rPr>
              <a:t>1.0 / 0.9 em</a:t>
            </a:r>
          </a:p>
        </p:txBody>
      </p:sp>
      <p:sp>
        <p:nvSpPr>
          <p:cNvPr id="60" name="N04/text/059"/>
          <p:cNvSpPr txBox="1"/>
          <p:nvPr/>
        </p:nvSpPr>
        <p:spPr>
          <a:xfrm>
            <a:off x="6400800" y="5760720"/>
            <a:ext cx="237744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Section label</a:t>
            </a:r>
          </a:p>
        </p:txBody>
      </p:sp>
      <p:sp>
        <p:nvSpPr>
          <p:cNvPr id="61" name="N04/text/060"/>
          <p:cNvSpPr txBox="1"/>
          <p:nvPr/>
        </p:nvSpPr>
        <p:spPr>
          <a:xfrm>
            <a:off x="8869680" y="5760720"/>
            <a:ext cx="274320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Consolas"/>
              </a:rPr>
              <a:t>0.8 em / 700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05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05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05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GEOMETRY</a:t>
            </a:r>
          </a:p>
        </p:txBody>
      </p:sp>
      <p:sp>
        <p:nvSpPr>
          <p:cNvPr id="5" name="N05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Shape, size and placement</a:t>
            </a:r>
          </a:p>
        </p:txBody>
      </p:sp>
      <p:sp>
        <p:nvSpPr>
          <p:cNvPr id="6" name="N05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Logical pixels at scale 1.0 · monitor-clamped · top flares + rounded bottom</a:t>
            </a:r>
          </a:p>
        </p:txBody>
      </p:sp>
      <p:cxnSp>
        <p:nvCxnSpPr>
          <p:cNvPr id="7" name="N05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05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05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N05</a:t>
            </a:r>
          </a:p>
        </p:txBody>
      </p:sp>
      <p:sp>
        <p:nvSpPr>
          <p:cNvPr id="10" name="N05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06</a:t>
            </a:r>
          </a:p>
        </p:txBody>
      </p:sp>
      <p:sp>
        <p:nvSpPr>
          <p:cNvPr id="11" name="N05/rect/010"/>
          <p:cNvSpPr/>
          <p:nvPr/>
        </p:nvSpPr>
        <p:spPr>
          <a:xfrm>
            <a:off x="502920" y="1691640"/>
            <a:ext cx="3611880" cy="2286000"/>
          </a:xfrm>
          <a:prstGeom prst="roundRect">
            <a:avLst>
              <a:gd name="adj" fmla="val 5600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05/gnome-panel/011"/>
          <p:cNvSpPr/>
          <p:nvPr/>
        </p:nvSpPr>
        <p:spPr>
          <a:xfrm>
            <a:off x="685800" y="1874519"/>
            <a:ext cx="3246120" cy="27432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05/text/012"/>
          <p:cNvSpPr txBox="1"/>
          <p:nvPr/>
        </p:nvSpPr>
        <p:spPr>
          <a:xfrm>
            <a:off x="832104" y="1874519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7"/>
                </a:solidFill>
                <a:latin typeface="Arial"/>
              </a:rPr>
              <a:t>Activities</a:t>
            </a:r>
          </a:p>
        </p:txBody>
      </p:sp>
      <p:cxnSp>
        <p:nvCxnSpPr>
          <p:cNvPr id="14" name="N05/line/013"/>
          <p:cNvCxnSpPr/>
          <p:nvPr/>
        </p:nvCxnSpPr>
        <p:spPr>
          <a:xfrm>
            <a:off x="2944368" y="1971675"/>
            <a:ext cx="0" cy="80010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N05/poly/014"/>
          <p:cNvSpPr/>
          <p:nvPr/>
        </p:nvSpPr>
        <p:spPr>
          <a:xfrm>
            <a:off x="2920365" y="1971675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24003"/>
                </a:moveTo>
                <a:lnTo>
                  <a:pt x="24003" y="0"/>
                </a:lnTo>
                <a:lnTo>
                  <a:pt x="48006" y="24003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05/poly/015"/>
          <p:cNvSpPr/>
          <p:nvPr/>
        </p:nvSpPr>
        <p:spPr>
          <a:xfrm>
            <a:off x="2920365" y="2027681"/>
            <a:ext cx="48006" cy="24004"/>
          </a:xfrm>
          <a:custGeom>
            <a:avLst/>
            <a:gdLst/>
            <a:ahLst/>
            <a:cxnLst/>
            <a:rect l="l" t="t" r="r" b="b"/>
            <a:pathLst>
              <a:path w="48006" h="24004">
                <a:moveTo>
                  <a:pt x="0" y="0"/>
                </a:moveTo>
                <a:lnTo>
                  <a:pt x="24003" y="24004"/>
                </a:lnTo>
                <a:lnTo>
                  <a:pt x="48006" y="0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05/poly/016"/>
          <p:cNvSpPr/>
          <p:nvPr/>
        </p:nvSpPr>
        <p:spPr>
          <a:xfrm>
            <a:off x="3132963" y="1971675"/>
            <a:ext cx="48006" cy="80010"/>
          </a:xfrm>
          <a:custGeom>
            <a:avLst/>
            <a:gdLst/>
            <a:ahLst/>
            <a:cxnLst/>
            <a:rect l="l" t="t" r="r" b="b"/>
            <a:pathLst>
              <a:path w="48006" h="80010">
                <a:moveTo>
                  <a:pt x="0" y="24003"/>
                </a:moveTo>
                <a:lnTo>
                  <a:pt x="24003" y="24003"/>
                </a:lnTo>
                <a:lnTo>
                  <a:pt x="48006" y="0"/>
                </a:lnTo>
                <a:lnTo>
                  <a:pt x="48006" y="80010"/>
                </a:lnTo>
                <a:lnTo>
                  <a:pt x="24003" y="56006"/>
                </a:lnTo>
                <a:lnTo>
                  <a:pt x="0" y="56006"/>
                </a:lnTo>
                <a:close/>
              </a:path>
            </a:pathLst>
          </a:cu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N05/line/017"/>
          <p:cNvCxnSpPr/>
          <p:nvPr/>
        </p:nvCxnSpPr>
        <p:spPr>
          <a:xfrm>
            <a:off x="3196971" y="1987677"/>
            <a:ext cx="16002" cy="24002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N05/line/018"/>
          <p:cNvCxnSpPr/>
          <p:nvPr/>
        </p:nvCxnSpPr>
        <p:spPr>
          <a:xfrm flipH="1">
            <a:off x="3196971" y="2011679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N05/rect/019"/>
          <p:cNvSpPr/>
          <p:nvPr/>
        </p:nvSpPr>
        <p:spPr>
          <a:xfrm>
            <a:off x="3353562" y="1987677"/>
            <a:ext cx="88011" cy="48006"/>
          </a:xfrm>
          <a:prstGeom prst="roundRect">
            <a:avLst>
              <a:gd name="adj" fmla="val 16666"/>
            </a:avLst>
          </a:prstGeom>
          <a:noFill/>
          <a:ln w="1016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05/rect/020"/>
          <p:cNvSpPr/>
          <p:nvPr/>
        </p:nvSpPr>
        <p:spPr>
          <a:xfrm>
            <a:off x="3441573" y="2003678"/>
            <a:ext cx="12001" cy="1600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05/rect/021"/>
          <p:cNvSpPr/>
          <p:nvPr/>
        </p:nvSpPr>
        <p:spPr>
          <a:xfrm>
            <a:off x="3365563" y="1999678"/>
            <a:ext cx="48006" cy="24003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05/text/022"/>
          <p:cNvSpPr txBox="1"/>
          <p:nvPr/>
        </p:nvSpPr>
        <p:spPr>
          <a:xfrm>
            <a:off x="3547872" y="1874519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F5F7"/>
                </a:solidFill>
                <a:latin typeface="Arial"/>
              </a:rPr>
              <a:t>⏻</a:t>
            </a:r>
          </a:p>
        </p:txBody>
      </p:sp>
      <p:sp>
        <p:nvSpPr>
          <p:cNvPr id="24" name="N05/notch-surface-closed/023"/>
          <p:cNvSpPr/>
          <p:nvPr/>
        </p:nvSpPr>
        <p:spPr>
          <a:xfrm>
            <a:off x="1531620" y="1874519"/>
            <a:ext cx="1554480" cy="292608"/>
          </a:xfrm>
          <a:custGeom>
            <a:avLst/>
            <a:gdLst/>
            <a:ahLst/>
            <a:cxnLst/>
            <a:rect l="l" t="t" r="r" b="b"/>
            <a:pathLst>
              <a:path w="1554480" h="292608">
                <a:moveTo>
                  <a:pt x="0" y="0"/>
                </a:moveTo>
                <a:lnTo>
                  <a:pt x="1554480" y="0"/>
                </a:lnTo>
                <a:lnTo>
                  <a:pt x="1548139" y="715"/>
                </a:lnTo>
                <a:lnTo>
                  <a:pt x="1540906" y="2858"/>
                </a:lnTo>
                <a:lnTo>
                  <a:pt x="1533316" y="6430"/>
                </a:lnTo>
                <a:lnTo>
                  <a:pt x="1525905" y="11431"/>
                </a:lnTo>
                <a:lnTo>
                  <a:pt x="1519207" y="17860"/>
                </a:lnTo>
                <a:lnTo>
                  <a:pt x="1513760" y="25718"/>
                </a:lnTo>
                <a:lnTo>
                  <a:pt x="1510099" y="35005"/>
                </a:lnTo>
                <a:lnTo>
                  <a:pt x="1508760" y="45720"/>
                </a:lnTo>
                <a:lnTo>
                  <a:pt x="1506710" y="206741"/>
                </a:lnTo>
                <a:lnTo>
                  <a:pt x="1500639" y="226753"/>
                </a:lnTo>
                <a:lnTo>
                  <a:pt x="1490781" y="245197"/>
                </a:lnTo>
                <a:lnTo>
                  <a:pt x="1477514" y="261363"/>
                </a:lnTo>
                <a:lnTo>
                  <a:pt x="1461348" y="274630"/>
                </a:lnTo>
                <a:lnTo>
                  <a:pt x="1442904" y="284488"/>
                </a:lnTo>
                <a:lnTo>
                  <a:pt x="1422892" y="290559"/>
                </a:lnTo>
                <a:lnTo>
                  <a:pt x="1402080" y="292608"/>
                </a:lnTo>
                <a:lnTo>
                  <a:pt x="152400" y="292608"/>
                </a:lnTo>
                <a:lnTo>
                  <a:pt x="131587" y="290559"/>
                </a:lnTo>
                <a:lnTo>
                  <a:pt x="111575" y="284488"/>
                </a:lnTo>
                <a:lnTo>
                  <a:pt x="93131" y="274630"/>
                </a:lnTo>
                <a:lnTo>
                  <a:pt x="76965" y="261363"/>
                </a:lnTo>
                <a:lnTo>
                  <a:pt x="63698" y="245197"/>
                </a:lnTo>
                <a:lnTo>
                  <a:pt x="53840" y="226753"/>
                </a:lnTo>
                <a:lnTo>
                  <a:pt x="47769" y="206741"/>
                </a:lnTo>
                <a:lnTo>
                  <a:pt x="45720" y="185928"/>
                </a:lnTo>
                <a:lnTo>
                  <a:pt x="45720" y="45720"/>
                </a:lnTo>
                <a:lnTo>
                  <a:pt x="44380" y="35005"/>
                </a:lnTo>
                <a:lnTo>
                  <a:pt x="40719" y="25718"/>
                </a:lnTo>
                <a:lnTo>
                  <a:pt x="35272" y="17860"/>
                </a:lnTo>
                <a:lnTo>
                  <a:pt x="28575" y="11431"/>
                </a:lnTo>
                <a:lnTo>
                  <a:pt x="21163" y="6430"/>
                </a:lnTo>
                <a:lnTo>
                  <a:pt x="13573" y="2858"/>
                </a:lnTo>
                <a:lnTo>
                  <a:pt x="6340" y="7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05/text/024"/>
          <p:cNvSpPr txBox="1"/>
          <p:nvPr/>
        </p:nvSpPr>
        <p:spPr>
          <a:xfrm>
            <a:off x="1531620" y="1874519"/>
            <a:ext cx="155448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5F7"/>
                </a:solidFill>
                <a:latin typeface="Arial"/>
              </a:rPr>
              <a:t>14:32</a:t>
            </a:r>
          </a:p>
        </p:txBody>
      </p:sp>
      <p:sp>
        <p:nvSpPr>
          <p:cNvPr id="26" name="N05/text/025"/>
          <p:cNvSpPr txBox="1"/>
          <p:nvPr/>
        </p:nvSpPr>
        <p:spPr>
          <a:xfrm>
            <a:off x="685800" y="3063240"/>
            <a:ext cx="324612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0D158"/>
                </a:solidFill>
                <a:latin typeface="Arial"/>
              </a:rPr>
              <a:t>panel</a:t>
            </a:r>
          </a:p>
        </p:txBody>
      </p:sp>
      <p:sp>
        <p:nvSpPr>
          <p:cNvPr id="27" name="N05/text/026"/>
          <p:cNvSpPr txBox="1"/>
          <p:nvPr/>
        </p:nvSpPr>
        <p:spPr>
          <a:xfrm>
            <a:off x="685800" y="336499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Arial"/>
              </a:rPr>
              <a:t>Default · replaces centered clock</a:t>
            </a:r>
          </a:p>
        </p:txBody>
      </p:sp>
      <p:sp>
        <p:nvSpPr>
          <p:cNvPr id="28" name="N05/rect/027"/>
          <p:cNvSpPr/>
          <p:nvPr/>
        </p:nvSpPr>
        <p:spPr>
          <a:xfrm>
            <a:off x="4297680" y="1691640"/>
            <a:ext cx="3611880" cy="2286000"/>
          </a:xfrm>
          <a:prstGeom prst="roundRect">
            <a:avLst>
              <a:gd name="adj" fmla="val 5600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05/gnome-panel/028"/>
          <p:cNvSpPr/>
          <p:nvPr/>
        </p:nvSpPr>
        <p:spPr>
          <a:xfrm>
            <a:off x="4480560" y="1874519"/>
            <a:ext cx="3246120" cy="27432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05/text/029"/>
          <p:cNvSpPr txBox="1"/>
          <p:nvPr/>
        </p:nvSpPr>
        <p:spPr>
          <a:xfrm>
            <a:off x="4626864" y="1874519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7"/>
                </a:solidFill>
                <a:latin typeface="Arial"/>
              </a:rPr>
              <a:t>Activities</a:t>
            </a:r>
          </a:p>
        </p:txBody>
      </p:sp>
      <p:sp>
        <p:nvSpPr>
          <p:cNvPr id="31" name="N05/text/030"/>
          <p:cNvSpPr txBox="1"/>
          <p:nvPr/>
        </p:nvSpPr>
        <p:spPr>
          <a:xfrm>
            <a:off x="5189220" y="1874519"/>
            <a:ext cx="182880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Fri Oct 30  14:32</a:t>
            </a:r>
          </a:p>
        </p:txBody>
      </p:sp>
      <p:cxnSp>
        <p:nvCxnSpPr>
          <p:cNvPr id="32" name="N05/line/031"/>
          <p:cNvCxnSpPr/>
          <p:nvPr/>
        </p:nvCxnSpPr>
        <p:spPr>
          <a:xfrm>
            <a:off x="6739127" y="1971675"/>
            <a:ext cx="0" cy="80010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N05/poly/032"/>
          <p:cNvSpPr/>
          <p:nvPr/>
        </p:nvSpPr>
        <p:spPr>
          <a:xfrm>
            <a:off x="6715124" y="1971675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24003"/>
                </a:moveTo>
                <a:lnTo>
                  <a:pt x="24003" y="0"/>
                </a:lnTo>
                <a:lnTo>
                  <a:pt x="48006" y="24003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N05/poly/033"/>
          <p:cNvSpPr/>
          <p:nvPr/>
        </p:nvSpPr>
        <p:spPr>
          <a:xfrm>
            <a:off x="6715124" y="2027681"/>
            <a:ext cx="48006" cy="24004"/>
          </a:xfrm>
          <a:custGeom>
            <a:avLst/>
            <a:gdLst/>
            <a:ahLst/>
            <a:cxnLst/>
            <a:rect l="l" t="t" r="r" b="b"/>
            <a:pathLst>
              <a:path w="48006" h="24004">
                <a:moveTo>
                  <a:pt x="0" y="0"/>
                </a:moveTo>
                <a:lnTo>
                  <a:pt x="24003" y="24004"/>
                </a:lnTo>
                <a:lnTo>
                  <a:pt x="48006" y="0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N05/poly/034"/>
          <p:cNvSpPr/>
          <p:nvPr/>
        </p:nvSpPr>
        <p:spPr>
          <a:xfrm>
            <a:off x="6927722" y="1971675"/>
            <a:ext cx="48006" cy="80010"/>
          </a:xfrm>
          <a:custGeom>
            <a:avLst/>
            <a:gdLst/>
            <a:ahLst/>
            <a:cxnLst/>
            <a:rect l="l" t="t" r="r" b="b"/>
            <a:pathLst>
              <a:path w="48006" h="80010">
                <a:moveTo>
                  <a:pt x="0" y="24003"/>
                </a:moveTo>
                <a:lnTo>
                  <a:pt x="24003" y="24003"/>
                </a:lnTo>
                <a:lnTo>
                  <a:pt x="48006" y="0"/>
                </a:lnTo>
                <a:lnTo>
                  <a:pt x="48006" y="80010"/>
                </a:lnTo>
                <a:lnTo>
                  <a:pt x="24003" y="56006"/>
                </a:lnTo>
                <a:lnTo>
                  <a:pt x="0" y="56006"/>
                </a:lnTo>
                <a:close/>
              </a:path>
            </a:pathLst>
          </a:cu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N05/line/035"/>
          <p:cNvCxnSpPr/>
          <p:nvPr/>
        </p:nvCxnSpPr>
        <p:spPr>
          <a:xfrm>
            <a:off x="6991730" y="1987677"/>
            <a:ext cx="16002" cy="24002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N05/line/036"/>
          <p:cNvCxnSpPr/>
          <p:nvPr/>
        </p:nvCxnSpPr>
        <p:spPr>
          <a:xfrm flipH="1">
            <a:off x="6991730" y="2011679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N05/rect/037"/>
          <p:cNvSpPr/>
          <p:nvPr/>
        </p:nvSpPr>
        <p:spPr>
          <a:xfrm>
            <a:off x="7148321" y="1987677"/>
            <a:ext cx="88011" cy="48006"/>
          </a:xfrm>
          <a:prstGeom prst="roundRect">
            <a:avLst>
              <a:gd name="adj" fmla="val 16666"/>
            </a:avLst>
          </a:prstGeom>
          <a:noFill/>
          <a:ln w="1016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05/rect/038"/>
          <p:cNvSpPr/>
          <p:nvPr/>
        </p:nvSpPr>
        <p:spPr>
          <a:xfrm>
            <a:off x="7236332" y="2003678"/>
            <a:ext cx="12001" cy="1600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N05/rect/039"/>
          <p:cNvSpPr/>
          <p:nvPr/>
        </p:nvSpPr>
        <p:spPr>
          <a:xfrm>
            <a:off x="7160323" y="1999678"/>
            <a:ext cx="48006" cy="24003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N05/text/040"/>
          <p:cNvSpPr txBox="1"/>
          <p:nvPr/>
        </p:nvSpPr>
        <p:spPr>
          <a:xfrm>
            <a:off x="7342631" y="1874519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F5F7"/>
                </a:solidFill>
                <a:latin typeface="Arial"/>
              </a:rPr>
              <a:t>⏻</a:t>
            </a:r>
          </a:p>
        </p:txBody>
      </p:sp>
      <p:sp>
        <p:nvSpPr>
          <p:cNvPr id="42" name="N05/notch-surface-closed/041"/>
          <p:cNvSpPr/>
          <p:nvPr/>
        </p:nvSpPr>
        <p:spPr>
          <a:xfrm>
            <a:off x="5326380" y="2203703"/>
            <a:ext cx="1554480" cy="292608"/>
          </a:xfrm>
          <a:custGeom>
            <a:avLst/>
            <a:gdLst/>
            <a:ahLst/>
            <a:cxnLst/>
            <a:rect l="l" t="t" r="r" b="b"/>
            <a:pathLst>
              <a:path w="1554480" h="292608">
                <a:moveTo>
                  <a:pt x="0" y="0"/>
                </a:moveTo>
                <a:lnTo>
                  <a:pt x="1554480" y="0"/>
                </a:lnTo>
                <a:lnTo>
                  <a:pt x="1548139" y="715"/>
                </a:lnTo>
                <a:lnTo>
                  <a:pt x="1540906" y="2858"/>
                </a:lnTo>
                <a:lnTo>
                  <a:pt x="1533316" y="6430"/>
                </a:lnTo>
                <a:lnTo>
                  <a:pt x="1525905" y="11431"/>
                </a:lnTo>
                <a:lnTo>
                  <a:pt x="1519207" y="17860"/>
                </a:lnTo>
                <a:lnTo>
                  <a:pt x="1513760" y="25718"/>
                </a:lnTo>
                <a:lnTo>
                  <a:pt x="1510099" y="35005"/>
                </a:lnTo>
                <a:lnTo>
                  <a:pt x="1508760" y="45720"/>
                </a:lnTo>
                <a:lnTo>
                  <a:pt x="1506710" y="206741"/>
                </a:lnTo>
                <a:lnTo>
                  <a:pt x="1500639" y="226753"/>
                </a:lnTo>
                <a:lnTo>
                  <a:pt x="1490781" y="245197"/>
                </a:lnTo>
                <a:lnTo>
                  <a:pt x="1477514" y="261363"/>
                </a:lnTo>
                <a:lnTo>
                  <a:pt x="1461348" y="274630"/>
                </a:lnTo>
                <a:lnTo>
                  <a:pt x="1442904" y="284488"/>
                </a:lnTo>
                <a:lnTo>
                  <a:pt x="1422892" y="290559"/>
                </a:lnTo>
                <a:lnTo>
                  <a:pt x="1402080" y="292608"/>
                </a:lnTo>
                <a:lnTo>
                  <a:pt x="152400" y="292608"/>
                </a:lnTo>
                <a:lnTo>
                  <a:pt x="131587" y="290559"/>
                </a:lnTo>
                <a:lnTo>
                  <a:pt x="111575" y="284488"/>
                </a:lnTo>
                <a:lnTo>
                  <a:pt x="93131" y="274630"/>
                </a:lnTo>
                <a:lnTo>
                  <a:pt x="76965" y="261363"/>
                </a:lnTo>
                <a:lnTo>
                  <a:pt x="63698" y="245197"/>
                </a:lnTo>
                <a:lnTo>
                  <a:pt x="53840" y="226753"/>
                </a:lnTo>
                <a:lnTo>
                  <a:pt x="47769" y="206741"/>
                </a:lnTo>
                <a:lnTo>
                  <a:pt x="45720" y="185928"/>
                </a:lnTo>
                <a:lnTo>
                  <a:pt x="45720" y="45720"/>
                </a:lnTo>
                <a:lnTo>
                  <a:pt x="44380" y="35005"/>
                </a:lnTo>
                <a:lnTo>
                  <a:pt x="40719" y="25718"/>
                </a:lnTo>
                <a:lnTo>
                  <a:pt x="35272" y="17860"/>
                </a:lnTo>
                <a:lnTo>
                  <a:pt x="28575" y="11431"/>
                </a:lnTo>
                <a:lnTo>
                  <a:pt x="21163" y="6430"/>
                </a:lnTo>
                <a:lnTo>
                  <a:pt x="13573" y="2858"/>
                </a:lnTo>
                <a:lnTo>
                  <a:pt x="6340" y="7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N05/text/042"/>
          <p:cNvSpPr txBox="1"/>
          <p:nvPr/>
        </p:nvSpPr>
        <p:spPr>
          <a:xfrm>
            <a:off x="5326380" y="2203703"/>
            <a:ext cx="155448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5F7"/>
                </a:solidFill>
                <a:latin typeface="Arial"/>
              </a:rPr>
              <a:t>14:32</a:t>
            </a:r>
          </a:p>
        </p:txBody>
      </p:sp>
      <p:sp>
        <p:nvSpPr>
          <p:cNvPr id="44" name="N05/text/043"/>
          <p:cNvSpPr txBox="1"/>
          <p:nvPr/>
        </p:nvSpPr>
        <p:spPr>
          <a:xfrm>
            <a:off x="4480560" y="3063240"/>
            <a:ext cx="324612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0D158"/>
                </a:solidFill>
                <a:latin typeface="Arial"/>
              </a:rPr>
              <a:t>top-center</a:t>
            </a:r>
          </a:p>
        </p:txBody>
      </p:sp>
      <p:sp>
        <p:nvSpPr>
          <p:cNvPr id="45" name="N05/text/044"/>
          <p:cNvSpPr txBox="1"/>
          <p:nvPr/>
        </p:nvSpPr>
        <p:spPr>
          <a:xfrm>
            <a:off x="4480560" y="336499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Arial"/>
              </a:rPr>
              <a:t>Below panel + 6 px</a:t>
            </a:r>
          </a:p>
        </p:txBody>
      </p:sp>
      <p:sp>
        <p:nvSpPr>
          <p:cNvPr id="46" name="N05/rect/045"/>
          <p:cNvSpPr/>
          <p:nvPr/>
        </p:nvSpPr>
        <p:spPr>
          <a:xfrm>
            <a:off x="8092440" y="1691640"/>
            <a:ext cx="3611880" cy="2286000"/>
          </a:xfrm>
          <a:prstGeom prst="roundRect">
            <a:avLst>
              <a:gd name="adj" fmla="val 5600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N05/gnome-panel/046"/>
          <p:cNvSpPr/>
          <p:nvPr/>
        </p:nvSpPr>
        <p:spPr>
          <a:xfrm>
            <a:off x="8275320" y="1874519"/>
            <a:ext cx="3246120" cy="27432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05/text/047"/>
          <p:cNvSpPr txBox="1"/>
          <p:nvPr/>
        </p:nvSpPr>
        <p:spPr>
          <a:xfrm>
            <a:off x="8421624" y="1874519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7"/>
                </a:solidFill>
                <a:latin typeface="Arial"/>
              </a:rPr>
              <a:t>Activities</a:t>
            </a:r>
          </a:p>
        </p:txBody>
      </p:sp>
      <p:sp>
        <p:nvSpPr>
          <p:cNvPr id="49" name="N05/text/048"/>
          <p:cNvSpPr txBox="1"/>
          <p:nvPr/>
        </p:nvSpPr>
        <p:spPr>
          <a:xfrm>
            <a:off x="8983980" y="1874519"/>
            <a:ext cx="182880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Fri Oct 30  14:32</a:t>
            </a:r>
          </a:p>
        </p:txBody>
      </p:sp>
      <p:cxnSp>
        <p:nvCxnSpPr>
          <p:cNvPr id="50" name="N05/line/049"/>
          <p:cNvCxnSpPr/>
          <p:nvPr/>
        </p:nvCxnSpPr>
        <p:spPr>
          <a:xfrm>
            <a:off x="10533888" y="1971675"/>
            <a:ext cx="0" cy="80010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N05/poly/050"/>
          <p:cNvSpPr/>
          <p:nvPr/>
        </p:nvSpPr>
        <p:spPr>
          <a:xfrm>
            <a:off x="10509885" y="1971675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24003"/>
                </a:moveTo>
                <a:lnTo>
                  <a:pt x="24003" y="0"/>
                </a:lnTo>
                <a:lnTo>
                  <a:pt x="48006" y="24003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N05/poly/051"/>
          <p:cNvSpPr/>
          <p:nvPr/>
        </p:nvSpPr>
        <p:spPr>
          <a:xfrm>
            <a:off x="10509885" y="2027681"/>
            <a:ext cx="48006" cy="24004"/>
          </a:xfrm>
          <a:custGeom>
            <a:avLst/>
            <a:gdLst/>
            <a:ahLst/>
            <a:cxnLst/>
            <a:rect l="l" t="t" r="r" b="b"/>
            <a:pathLst>
              <a:path w="48006" h="24004">
                <a:moveTo>
                  <a:pt x="0" y="0"/>
                </a:moveTo>
                <a:lnTo>
                  <a:pt x="24003" y="24004"/>
                </a:lnTo>
                <a:lnTo>
                  <a:pt x="48006" y="0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N05/poly/052"/>
          <p:cNvSpPr/>
          <p:nvPr/>
        </p:nvSpPr>
        <p:spPr>
          <a:xfrm>
            <a:off x="10722483" y="1971675"/>
            <a:ext cx="48006" cy="80010"/>
          </a:xfrm>
          <a:custGeom>
            <a:avLst/>
            <a:gdLst/>
            <a:ahLst/>
            <a:cxnLst/>
            <a:rect l="l" t="t" r="r" b="b"/>
            <a:pathLst>
              <a:path w="48006" h="80010">
                <a:moveTo>
                  <a:pt x="0" y="24003"/>
                </a:moveTo>
                <a:lnTo>
                  <a:pt x="24003" y="24003"/>
                </a:lnTo>
                <a:lnTo>
                  <a:pt x="48006" y="0"/>
                </a:lnTo>
                <a:lnTo>
                  <a:pt x="48006" y="80010"/>
                </a:lnTo>
                <a:lnTo>
                  <a:pt x="24003" y="56006"/>
                </a:lnTo>
                <a:lnTo>
                  <a:pt x="0" y="56006"/>
                </a:lnTo>
                <a:close/>
              </a:path>
            </a:pathLst>
          </a:cu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N05/line/053"/>
          <p:cNvCxnSpPr/>
          <p:nvPr/>
        </p:nvCxnSpPr>
        <p:spPr>
          <a:xfrm>
            <a:off x="10786491" y="1987677"/>
            <a:ext cx="16002" cy="24002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N05/line/054"/>
          <p:cNvCxnSpPr/>
          <p:nvPr/>
        </p:nvCxnSpPr>
        <p:spPr>
          <a:xfrm flipH="1">
            <a:off x="10786491" y="2011679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N05/rect/055"/>
          <p:cNvSpPr/>
          <p:nvPr/>
        </p:nvSpPr>
        <p:spPr>
          <a:xfrm>
            <a:off x="10943082" y="1987677"/>
            <a:ext cx="88011" cy="48006"/>
          </a:xfrm>
          <a:prstGeom prst="roundRect">
            <a:avLst>
              <a:gd name="adj" fmla="val 16666"/>
            </a:avLst>
          </a:prstGeom>
          <a:noFill/>
          <a:ln w="1016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N05/rect/056"/>
          <p:cNvSpPr/>
          <p:nvPr/>
        </p:nvSpPr>
        <p:spPr>
          <a:xfrm>
            <a:off x="11031093" y="2003678"/>
            <a:ext cx="12001" cy="1600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N05/rect/057"/>
          <p:cNvSpPr/>
          <p:nvPr/>
        </p:nvSpPr>
        <p:spPr>
          <a:xfrm>
            <a:off x="10955083" y="1999678"/>
            <a:ext cx="48006" cy="24003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N05/text/058"/>
          <p:cNvSpPr txBox="1"/>
          <p:nvPr/>
        </p:nvSpPr>
        <p:spPr>
          <a:xfrm>
            <a:off x="11137392" y="1874519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F5F7"/>
                </a:solidFill>
                <a:latin typeface="Arial"/>
              </a:rPr>
              <a:t>⏻</a:t>
            </a:r>
          </a:p>
        </p:txBody>
      </p:sp>
      <p:sp>
        <p:nvSpPr>
          <p:cNvPr id="60" name="N05/notch-surface-closed/059"/>
          <p:cNvSpPr/>
          <p:nvPr/>
        </p:nvSpPr>
        <p:spPr>
          <a:xfrm>
            <a:off x="9121140" y="2313432"/>
            <a:ext cx="1554480" cy="292607"/>
          </a:xfrm>
          <a:custGeom>
            <a:avLst/>
            <a:gdLst/>
            <a:ahLst/>
            <a:cxnLst/>
            <a:rect l="l" t="t" r="r" b="b"/>
            <a:pathLst>
              <a:path w="1554480" h="292607">
                <a:moveTo>
                  <a:pt x="0" y="0"/>
                </a:moveTo>
                <a:lnTo>
                  <a:pt x="1554480" y="0"/>
                </a:lnTo>
                <a:lnTo>
                  <a:pt x="1548139" y="714"/>
                </a:lnTo>
                <a:lnTo>
                  <a:pt x="1540906" y="2857"/>
                </a:lnTo>
                <a:lnTo>
                  <a:pt x="1533316" y="6429"/>
                </a:lnTo>
                <a:lnTo>
                  <a:pt x="1525905" y="11429"/>
                </a:lnTo>
                <a:lnTo>
                  <a:pt x="1519207" y="17859"/>
                </a:lnTo>
                <a:lnTo>
                  <a:pt x="1513760" y="25717"/>
                </a:lnTo>
                <a:lnTo>
                  <a:pt x="1510099" y="35004"/>
                </a:lnTo>
                <a:lnTo>
                  <a:pt x="1508760" y="45719"/>
                </a:lnTo>
                <a:lnTo>
                  <a:pt x="1506710" y="206740"/>
                </a:lnTo>
                <a:lnTo>
                  <a:pt x="1500639" y="226752"/>
                </a:lnTo>
                <a:lnTo>
                  <a:pt x="1490781" y="245196"/>
                </a:lnTo>
                <a:lnTo>
                  <a:pt x="1477514" y="261362"/>
                </a:lnTo>
                <a:lnTo>
                  <a:pt x="1461348" y="274629"/>
                </a:lnTo>
                <a:lnTo>
                  <a:pt x="1442904" y="284487"/>
                </a:lnTo>
                <a:lnTo>
                  <a:pt x="1422892" y="290558"/>
                </a:lnTo>
                <a:lnTo>
                  <a:pt x="1402080" y="292607"/>
                </a:lnTo>
                <a:lnTo>
                  <a:pt x="152400" y="292607"/>
                </a:lnTo>
                <a:lnTo>
                  <a:pt x="131587" y="290558"/>
                </a:lnTo>
                <a:lnTo>
                  <a:pt x="111575" y="284487"/>
                </a:lnTo>
                <a:lnTo>
                  <a:pt x="93131" y="274629"/>
                </a:lnTo>
                <a:lnTo>
                  <a:pt x="76965" y="261362"/>
                </a:lnTo>
                <a:lnTo>
                  <a:pt x="63698" y="245196"/>
                </a:lnTo>
                <a:lnTo>
                  <a:pt x="53840" y="226752"/>
                </a:lnTo>
                <a:lnTo>
                  <a:pt x="47769" y="206740"/>
                </a:lnTo>
                <a:lnTo>
                  <a:pt x="45720" y="185927"/>
                </a:lnTo>
                <a:lnTo>
                  <a:pt x="45720" y="45719"/>
                </a:lnTo>
                <a:lnTo>
                  <a:pt x="44380" y="35004"/>
                </a:lnTo>
                <a:lnTo>
                  <a:pt x="40719" y="25717"/>
                </a:lnTo>
                <a:lnTo>
                  <a:pt x="35272" y="17859"/>
                </a:lnTo>
                <a:lnTo>
                  <a:pt x="28575" y="11430"/>
                </a:lnTo>
                <a:lnTo>
                  <a:pt x="21163" y="6429"/>
                </a:lnTo>
                <a:lnTo>
                  <a:pt x="13573" y="2857"/>
                </a:lnTo>
                <a:lnTo>
                  <a:pt x="6340" y="7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N05/text/060"/>
          <p:cNvSpPr txBox="1"/>
          <p:nvPr/>
        </p:nvSpPr>
        <p:spPr>
          <a:xfrm>
            <a:off x="9121140" y="2313432"/>
            <a:ext cx="155448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5F7"/>
                </a:solidFill>
                <a:latin typeface="Arial"/>
              </a:rPr>
              <a:t>14:32</a:t>
            </a:r>
          </a:p>
        </p:txBody>
      </p:sp>
      <p:sp>
        <p:nvSpPr>
          <p:cNvPr id="62" name="N05/text/061"/>
          <p:cNvSpPr txBox="1"/>
          <p:nvPr/>
        </p:nvSpPr>
        <p:spPr>
          <a:xfrm>
            <a:off x="8275320" y="3063240"/>
            <a:ext cx="324612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0D158"/>
                </a:solidFill>
                <a:latin typeface="Arial"/>
              </a:rPr>
              <a:t>floating</a:t>
            </a:r>
          </a:p>
        </p:txBody>
      </p:sp>
      <p:sp>
        <p:nvSpPr>
          <p:cNvPr id="63" name="N05/text/062"/>
          <p:cNvSpPr txBox="1"/>
          <p:nvPr/>
        </p:nvSpPr>
        <p:spPr>
          <a:xfrm>
            <a:off x="8275320" y="336499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Arial"/>
              </a:rPr>
              <a:t>Top margin 12 px</a:t>
            </a:r>
          </a:p>
        </p:txBody>
      </p:sp>
      <p:sp>
        <p:nvSpPr>
          <p:cNvPr id="64" name="N05/text/063"/>
          <p:cNvSpPr txBox="1"/>
          <p:nvPr/>
        </p:nvSpPr>
        <p:spPr>
          <a:xfrm>
            <a:off x="502920" y="4251960"/>
            <a:ext cx="1115568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0D158"/>
                </a:solidFill>
                <a:latin typeface="Arial"/>
              </a:rPr>
              <a:t>DEFAULT DIMENSIONS</a:t>
            </a:r>
          </a:p>
        </p:txBody>
      </p:sp>
      <p:sp>
        <p:nvSpPr>
          <p:cNvPr id="65" name="N05/rect/064"/>
          <p:cNvSpPr/>
          <p:nvPr/>
        </p:nvSpPr>
        <p:spPr>
          <a:xfrm>
            <a:off x="502920" y="4572000"/>
            <a:ext cx="2697480" cy="603504"/>
          </a:xfrm>
          <a:prstGeom prst="roundRect">
            <a:avLst>
              <a:gd name="adj" fmla="val 12121"/>
            </a:avLst>
          </a:prstGeom>
          <a:solidFill>
            <a:srgbClr val="1C1C24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N05/text/065"/>
          <p:cNvSpPr txBox="1"/>
          <p:nvPr/>
        </p:nvSpPr>
        <p:spPr>
          <a:xfrm>
            <a:off x="612648" y="4626864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Closed</a:t>
            </a:r>
          </a:p>
        </p:txBody>
      </p:sp>
      <p:sp>
        <p:nvSpPr>
          <p:cNvPr id="67" name="N05/text/066"/>
          <p:cNvSpPr txBox="1"/>
          <p:nvPr/>
        </p:nvSpPr>
        <p:spPr>
          <a:xfrm>
            <a:off x="1508760" y="4626864"/>
            <a:ext cx="155448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0D158"/>
                </a:solidFill>
                <a:latin typeface="Consolas"/>
              </a:rPr>
              <a:t>185×32</a:t>
            </a:r>
          </a:p>
        </p:txBody>
      </p:sp>
      <p:sp>
        <p:nvSpPr>
          <p:cNvPr id="68" name="N05/text/067"/>
          <p:cNvSpPr txBox="1"/>
          <p:nvPr/>
        </p:nvSpPr>
        <p:spPr>
          <a:xfrm>
            <a:off x="612648" y="4882896"/>
            <a:ext cx="24688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1A1A6"/>
                </a:solidFill>
                <a:latin typeface="Arial"/>
              </a:rPr>
              <a:t>+64 wings · +12×4 hover</a:t>
            </a:r>
          </a:p>
        </p:txBody>
      </p:sp>
      <p:sp>
        <p:nvSpPr>
          <p:cNvPr id="69" name="N05/rect/068"/>
          <p:cNvSpPr/>
          <p:nvPr/>
        </p:nvSpPr>
        <p:spPr>
          <a:xfrm>
            <a:off x="3355848" y="4572000"/>
            <a:ext cx="2697480" cy="603504"/>
          </a:xfrm>
          <a:prstGeom prst="roundRect">
            <a:avLst>
              <a:gd name="adj" fmla="val 12121"/>
            </a:avLst>
          </a:prstGeom>
          <a:solidFill>
            <a:srgbClr val="1C1C24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N05/text/069"/>
          <p:cNvSpPr txBox="1"/>
          <p:nvPr/>
        </p:nvSpPr>
        <p:spPr>
          <a:xfrm>
            <a:off x="3465576" y="4626864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Peek</a:t>
            </a:r>
          </a:p>
        </p:txBody>
      </p:sp>
      <p:sp>
        <p:nvSpPr>
          <p:cNvPr id="71" name="N05/text/070"/>
          <p:cNvSpPr txBox="1"/>
          <p:nvPr/>
        </p:nvSpPr>
        <p:spPr>
          <a:xfrm>
            <a:off x="4361688" y="4626864"/>
            <a:ext cx="155448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0D158"/>
                </a:solidFill>
                <a:latin typeface="Consolas"/>
              </a:rPr>
              <a:t>440×144</a:t>
            </a:r>
          </a:p>
        </p:txBody>
      </p:sp>
      <p:sp>
        <p:nvSpPr>
          <p:cNvPr id="72" name="N05/text/071"/>
          <p:cNvSpPr txBox="1"/>
          <p:nvPr/>
        </p:nvSpPr>
        <p:spPr>
          <a:xfrm>
            <a:off x="3465576" y="4882896"/>
            <a:ext cx="24688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1A1A6"/>
                </a:solidFill>
                <a:latin typeface="Arial"/>
              </a:rPr>
              <a:t>panel 32 + 112</a:t>
            </a:r>
          </a:p>
        </p:txBody>
      </p:sp>
      <p:sp>
        <p:nvSpPr>
          <p:cNvPr id="73" name="N05/rect/072"/>
          <p:cNvSpPr/>
          <p:nvPr/>
        </p:nvSpPr>
        <p:spPr>
          <a:xfrm>
            <a:off x="6208776" y="4572000"/>
            <a:ext cx="2697480" cy="603504"/>
          </a:xfrm>
          <a:prstGeom prst="roundRect">
            <a:avLst>
              <a:gd name="adj" fmla="val 12121"/>
            </a:avLst>
          </a:prstGeom>
          <a:solidFill>
            <a:srgbClr val="1C1C24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N05/text/073"/>
          <p:cNvSpPr txBox="1"/>
          <p:nvPr/>
        </p:nvSpPr>
        <p:spPr>
          <a:xfrm>
            <a:off x="6318504" y="4626864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Home</a:t>
            </a:r>
          </a:p>
        </p:txBody>
      </p:sp>
      <p:sp>
        <p:nvSpPr>
          <p:cNvPr id="75" name="N05/text/074"/>
          <p:cNvSpPr txBox="1"/>
          <p:nvPr/>
        </p:nvSpPr>
        <p:spPr>
          <a:xfrm>
            <a:off x="7214616" y="4626864"/>
            <a:ext cx="155448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0D158"/>
                </a:solidFill>
                <a:latin typeface="Consolas"/>
              </a:rPr>
              <a:t>640×210</a:t>
            </a:r>
          </a:p>
        </p:txBody>
      </p:sp>
      <p:sp>
        <p:nvSpPr>
          <p:cNvPr id="76" name="N05/text/075"/>
          <p:cNvSpPr txBox="1"/>
          <p:nvPr/>
        </p:nvSpPr>
        <p:spPr>
          <a:xfrm>
            <a:off x="6318504" y="4882896"/>
            <a:ext cx="24688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1A1A6"/>
                </a:solidFill>
                <a:latin typeface="Arial"/>
              </a:rPr>
              <a:t>idle / media</a:t>
            </a:r>
          </a:p>
        </p:txBody>
      </p:sp>
      <p:sp>
        <p:nvSpPr>
          <p:cNvPr id="77" name="N05/rect/076"/>
          <p:cNvSpPr/>
          <p:nvPr/>
        </p:nvSpPr>
        <p:spPr>
          <a:xfrm>
            <a:off x="9061704" y="4572000"/>
            <a:ext cx="2697480" cy="603504"/>
          </a:xfrm>
          <a:prstGeom prst="roundRect">
            <a:avLst>
              <a:gd name="adj" fmla="val 12121"/>
            </a:avLst>
          </a:prstGeom>
          <a:solidFill>
            <a:srgbClr val="1C1C24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N05/text/077"/>
          <p:cNvSpPr txBox="1"/>
          <p:nvPr/>
        </p:nvSpPr>
        <p:spPr>
          <a:xfrm>
            <a:off x="9171432" y="4626864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Music</a:t>
            </a:r>
          </a:p>
        </p:txBody>
      </p:sp>
      <p:sp>
        <p:nvSpPr>
          <p:cNvPr id="79" name="N05/text/078"/>
          <p:cNvSpPr txBox="1"/>
          <p:nvPr/>
        </p:nvSpPr>
        <p:spPr>
          <a:xfrm>
            <a:off x="10067544" y="4626864"/>
            <a:ext cx="155448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0D158"/>
                </a:solidFill>
                <a:latin typeface="Consolas"/>
              </a:rPr>
              <a:t>640×300</a:t>
            </a:r>
          </a:p>
        </p:txBody>
      </p:sp>
      <p:sp>
        <p:nvSpPr>
          <p:cNvPr id="80" name="N05/text/079"/>
          <p:cNvSpPr txBox="1"/>
          <p:nvPr/>
        </p:nvSpPr>
        <p:spPr>
          <a:xfrm>
            <a:off x="9171432" y="4882896"/>
            <a:ext cx="24688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1A1A6"/>
                </a:solidFill>
                <a:latin typeface="Arial"/>
              </a:rPr>
              <a:t>full player</a:t>
            </a:r>
          </a:p>
        </p:txBody>
      </p:sp>
      <p:sp>
        <p:nvSpPr>
          <p:cNvPr id="81" name="N05/rect/080"/>
          <p:cNvSpPr/>
          <p:nvPr/>
        </p:nvSpPr>
        <p:spPr>
          <a:xfrm>
            <a:off x="502920" y="5285232"/>
            <a:ext cx="2697480" cy="603504"/>
          </a:xfrm>
          <a:prstGeom prst="roundRect">
            <a:avLst>
              <a:gd name="adj" fmla="val 12121"/>
            </a:avLst>
          </a:prstGeom>
          <a:solidFill>
            <a:srgbClr val="1C1C24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N05/text/081"/>
          <p:cNvSpPr txBox="1"/>
          <p:nvPr/>
        </p:nvSpPr>
        <p:spPr>
          <a:xfrm>
            <a:off x="612648" y="5340096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Alerts</a:t>
            </a:r>
          </a:p>
        </p:txBody>
      </p:sp>
      <p:sp>
        <p:nvSpPr>
          <p:cNvPr id="83" name="N05/text/082"/>
          <p:cNvSpPr txBox="1"/>
          <p:nvPr/>
        </p:nvSpPr>
        <p:spPr>
          <a:xfrm>
            <a:off x="1508760" y="5340096"/>
            <a:ext cx="155448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0D158"/>
                </a:solidFill>
                <a:latin typeface="Consolas"/>
              </a:rPr>
              <a:t>560×320</a:t>
            </a:r>
          </a:p>
        </p:txBody>
      </p:sp>
      <p:sp>
        <p:nvSpPr>
          <p:cNvPr id="84" name="N05/text/083"/>
          <p:cNvSpPr txBox="1"/>
          <p:nvPr/>
        </p:nvSpPr>
        <p:spPr>
          <a:xfrm>
            <a:off x="612648" y="5596128"/>
            <a:ext cx="24688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1A1A6"/>
                </a:solidFill>
                <a:latin typeface="Arial"/>
              </a:rPr>
              <a:t>list</a:t>
            </a:r>
          </a:p>
        </p:txBody>
      </p:sp>
      <p:sp>
        <p:nvSpPr>
          <p:cNvPr id="85" name="N05/rect/084"/>
          <p:cNvSpPr/>
          <p:nvPr/>
        </p:nvSpPr>
        <p:spPr>
          <a:xfrm>
            <a:off x="3355848" y="5285232"/>
            <a:ext cx="2697480" cy="603504"/>
          </a:xfrm>
          <a:prstGeom prst="roundRect">
            <a:avLst>
              <a:gd name="adj" fmla="val 12121"/>
            </a:avLst>
          </a:prstGeom>
          <a:solidFill>
            <a:srgbClr val="1C1C24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N05/text/085"/>
          <p:cNvSpPr txBox="1"/>
          <p:nvPr/>
        </p:nvSpPr>
        <p:spPr>
          <a:xfrm>
            <a:off x="3465576" y="5340096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System</a:t>
            </a:r>
          </a:p>
        </p:txBody>
      </p:sp>
      <p:sp>
        <p:nvSpPr>
          <p:cNvPr id="87" name="N05/text/086"/>
          <p:cNvSpPr txBox="1"/>
          <p:nvPr/>
        </p:nvSpPr>
        <p:spPr>
          <a:xfrm>
            <a:off x="4361688" y="5340096"/>
            <a:ext cx="155448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0D158"/>
                </a:solidFill>
                <a:latin typeface="Consolas"/>
              </a:rPr>
              <a:t>640×260</a:t>
            </a:r>
          </a:p>
        </p:txBody>
      </p:sp>
      <p:sp>
        <p:nvSpPr>
          <p:cNvPr id="88" name="N05/text/087"/>
          <p:cNvSpPr txBox="1"/>
          <p:nvPr/>
        </p:nvSpPr>
        <p:spPr>
          <a:xfrm>
            <a:off x="3465576" y="5596128"/>
            <a:ext cx="24688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1A1A6"/>
                </a:solidFill>
                <a:latin typeface="Arial"/>
              </a:rPr>
              <a:t>stats + actions</a:t>
            </a:r>
          </a:p>
        </p:txBody>
      </p:sp>
      <p:sp>
        <p:nvSpPr>
          <p:cNvPr id="89" name="N05/rect/088"/>
          <p:cNvSpPr/>
          <p:nvPr/>
        </p:nvSpPr>
        <p:spPr>
          <a:xfrm>
            <a:off x="6208776" y="5285232"/>
            <a:ext cx="2697480" cy="603504"/>
          </a:xfrm>
          <a:prstGeom prst="roundRect">
            <a:avLst>
              <a:gd name="adj" fmla="val 12121"/>
            </a:avLst>
          </a:prstGeom>
          <a:solidFill>
            <a:srgbClr val="1C1C24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N05/text/089"/>
          <p:cNvSpPr txBox="1"/>
          <p:nvPr/>
        </p:nvSpPr>
        <p:spPr>
          <a:xfrm>
            <a:off x="6318504" y="5340096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Shelf</a:t>
            </a:r>
          </a:p>
        </p:txBody>
      </p:sp>
      <p:sp>
        <p:nvSpPr>
          <p:cNvPr id="91" name="N05/text/090"/>
          <p:cNvSpPr txBox="1"/>
          <p:nvPr/>
        </p:nvSpPr>
        <p:spPr>
          <a:xfrm>
            <a:off x="7214616" y="5340096"/>
            <a:ext cx="155448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0D158"/>
                </a:solidFill>
                <a:latin typeface="Consolas"/>
              </a:rPr>
              <a:t>640×260</a:t>
            </a:r>
          </a:p>
        </p:txBody>
      </p:sp>
      <p:sp>
        <p:nvSpPr>
          <p:cNvPr id="92" name="N05/text/091"/>
          <p:cNvSpPr txBox="1"/>
          <p:nvPr/>
        </p:nvSpPr>
        <p:spPr>
          <a:xfrm>
            <a:off x="6318504" y="5596128"/>
            <a:ext cx="24688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1A1A6"/>
                </a:solidFill>
                <a:latin typeface="Arial"/>
              </a:rPr>
              <a:t>files</a:t>
            </a:r>
          </a:p>
        </p:txBody>
      </p:sp>
      <p:sp>
        <p:nvSpPr>
          <p:cNvPr id="93" name="N05/rect/092"/>
          <p:cNvSpPr/>
          <p:nvPr/>
        </p:nvSpPr>
        <p:spPr>
          <a:xfrm>
            <a:off x="9061704" y="5285232"/>
            <a:ext cx="2697480" cy="603504"/>
          </a:xfrm>
          <a:prstGeom prst="roundRect">
            <a:avLst>
              <a:gd name="adj" fmla="val 12121"/>
            </a:avLst>
          </a:prstGeom>
          <a:solidFill>
            <a:srgbClr val="1C1C24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N05/text/093"/>
          <p:cNvSpPr txBox="1"/>
          <p:nvPr/>
        </p:nvSpPr>
        <p:spPr>
          <a:xfrm>
            <a:off x="9171432" y="5340096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Clips</a:t>
            </a:r>
          </a:p>
        </p:txBody>
      </p:sp>
      <p:sp>
        <p:nvSpPr>
          <p:cNvPr id="95" name="N05/text/094"/>
          <p:cNvSpPr txBox="1"/>
          <p:nvPr/>
        </p:nvSpPr>
        <p:spPr>
          <a:xfrm>
            <a:off x="10067544" y="5340096"/>
            <a:ext cx="155448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0D158"/>
                </a:solidFill>
                <a:latin typeface="Consolas"/>
              </a:rPr>
              <a:t>580×300</a:t>
            </a:r>
          </a:p>
        </p:txBody>
      </p:sp>
      <p:sp>
        <p:nvSpPr>
          <p:cNvPr id="96" name="N05/text/095"/>
          <p:cNvSpPr txBox="1"/>
          <p:nvPr/>
        </p:nvSpPr>
        <p:spPr>
          <a:xfrm>
            <a:off x="9171432" y="5596128"/>
            <a:ext cx="24688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1A1A6"/>
                </a:solidFill>
                <a:latin typeface="Arial"/>
              </a:rPr>
              <a:t>history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06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06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06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CLOSED MODE</a:t>
            </a:r>
          </a:p>
        </p:txBody>
      </p:sp>
      <p:sp>
        <p:nvSpPr>
          <p:cNvPr id="5" name="N06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Idle clock in the top bar</a:t>
            </a:r>
          </a:p>
        </p:txBody>
      </p:sp>
      <p:sp>
        <p:nvSpPr>
          <p:cNvPr id="6" name="N06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placement=panel · replace-panel-clock=true · idle-clock=true</a:t>
            </a:r>
          </a:p>
        </p:txBody>
      </p:sp>
      <p:cxnSp>
        <p:nvCxnSpPr>
          <p:cNvPr id="7" name="N06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06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06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N06</a:t>
            </a:r>
          </a:p>
        </p:txBody>
      </p:sp>
      <p:sp>
        <p:nvSpPr>
          <p:cNvPr id="10" name="N06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07</a:t>
            </a:r>
          </a:p>
        </p:txBody>
      </p:sp>
      <p:sp>
        <p:nvSpPr>
          <p:cNvPr id="11" name="N06/gnome-panel/010"/>
          <p:cNvSpPr/>
          <p:nvPr/>
        </p:nvSpPr>
        <p:spPr>
          <a:xfrm>
            <a:off x="502920" y="1920240"/>
            <a:ext cx="7635240" cy="384048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06/text/011"/>
          <p:cNvSpPr txBox="1"/>
          <p:nvPr/>
        </p:nvSpPr>
        <p:spPr>
          <a:xfrm>
            <a:off x="649224" y="1920240"/>
            <a:ext cx="109728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7"/>
                </a:solidFill>
                <a:latin typeface="Arial"/>
              </a:rPr>
              <a:t>Activities</a:t>
            </a:r>
          </a:p>
        </p:txBody>
      </p:sp>
      <p:cxnSp>
        <p:nvCxnSpPr>
          <p:cNvPr id="13" name="N06/line/012"/>
          <p:cNvCxnSpPr/>
          <p:nvPr/>
        </p:nvCxnSpPr>
        <p:spPr>
          <a:xfrm>
            <a:off x="7150608" y="2072259"/>
            <a:ext cx="0" cy="80010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06/poly/013"/>
          <p:cNvSpPr/>
          <p:nvPr/>
        </p:nvSpPr>
        <p:spPr>
          <a:xfrm>
            <a:off x="7126605" y="2072259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24003"/>
                </a:moveTo>
                <a:lnTo>
                  <a:pt x="24003" y="0"/>
                </a:lnTo>
                <a:lnTo>
                  <a:pt x="48006" y="24003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06/poly/014"/>
          <p:cNvSpPr/>
          <p:nvPr/>
        </p:nvSpPr>
        <p:spPr>
          <a:xfrm>
            <a:off x="7126605" y="2128266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0"/>
                </a:moveTo>
                <a:lnTo>
                  <a:pt x="24003" y="24003"/>
                </a:lnTo>
                <a:lnTo>
                  <a:pt x="48006" y="0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06/poly/015"/>
          <p:cNvSpPr/>
          <p:nvPr/>
        </p:nvSpPr>
        <p:spPr>
          <a:xfrm>
            <a:off x="7339202" y="2072259"/>
            <a:ext cx="48006" cy="80010"/>
          </a:xfrm>
          <a:custGeom>
            <a:avLst/>
            <a:gdLst/>
            <a:ahLst/>
            <a:cxnLst/>
            <a:rect l="l" t="t" r="r" b="b"/>
            <a:pathLst>
              <a:path w="48006" h="80010">
                <a:moveTo>
                  <a:pt x="0" y="24003"/>
                </a:moveTo>
                <a:lnTo>
                  <a:pt x="24004" y="24003"/>
                </a:lnTo>
                <a:lnTo>
                  <a:pt x="48006" y="0"/>
                </a:lnTo>
                <a:lnTo>
                  <a:pt x="48006" y="80010"/>
                </a:lnTo>
                <a:lnTo>
                  <a:pt x="24004" y="56007"/>
                </a:lnTo>
                <a:lnTo>
                  <a:pt x="0" y="56007"/>
                </a:lnTo>
                <a:close/>
              </a:path>
            </a:pathLst>
          </a:cu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N06/line/016"/>
          <p:cNvCxnSpPr/>
          <p:nvPr/>
        </p:nvCxnSpPr>
        <p:spPr>
          <a:xfrm>
            <a:off x="7403211" y="2088261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N06/line/017"/>
          <p:cNvCxnSpPr/>
          <p:nvPr/>
        </p:nvCxnSpPr>
        <p:spPr>
          <a:xfrm flipH="1">
            <a:off x="7403211" y="2112264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N06/rect/018"/>
          <p:cNvSpPr/>
          <p:nvPr/>
        </p:nvSpPr>
        <p:spPr>
          <a:xfrm>
            <a:off x="7559802" y="2088261"/>
            <a:ext cx="88011" cy="48006"/>
          </a:xfrm>
          <a:prstGeom prst="roundRect">
            <a:avLst>
              <a:gd name="adj" fmla="val 16666"/>
            </a:avLst>
          </a:prstGeom>
          <a:noFill/>
          <a:ln w="1016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06/rect/019"/>
          <p:cNvSpPr/>
          <p:nvPr/>
        </p:nvSpPr>
        <p:spPr>
          <a:xfrm>
            <a:off x="7647813" y="2104263"/>
            <a:ext cx="12001" cy="1600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06/rect/020"/>
          <p:cNvSpPr/>
          <p:nvPr/>
        </p:nvSpPr>
        <p:spPr>
          <a:xfrm>
            <a:off x="7571803" y="2100262"/>
            <a:ext cx="48006" cy="24003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06/text/021"/>
          <p:cNvSpPr txBox="1"/>
          <p:nvPr/>
        </p:nvSpPr>
        <p:spPr>
          <a:xfrm>
            <a:off x="7754112" y="1920240"/>
            <a:ext cx="27432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F5F7"/>
                </a:solidFill>
                <a:latin typeface="Arial"/>
              </a:rPr>
              <a:t>⏻</a:t>
            </a:r>
          </a:p>
        </p:txBody>
      </p:sp>
      <p:grpSp>
        <p:nvGrpSpPr>
          <p:cNvPr id="23" name="N06/closed-idle"/>
          <p:cNvGrpSpPr/>
          <p:nvPr/>
        </p:nvGrpSpPr>
        <p:grpSpPr>
          <a:xfrm>
            <a:off x="3337560" y="1920240"/>
            <a:ext cx="1965960" cy="384048"/>
            <a:chOff x="3337560" y="1920240"/>
            <a:chExt cx="1965960" cy="384048"/>
          </a:xfrm>
        </p:grpSpPr>
        <p:sp>
          <p:nvSpPr>
            <p:cNvPr id="24" name="N06/closed-idle/notch-surface-closed/001"/>
            <p:cNvSpPr/>
            <p:nvPr/>
          </p:nvSpPr>
          <p:spPr>
            <a:xfrm>
              <a:off x="3337560" y="1920240"/>
              <a:ext cx="1965960" cy="384048"/>
            </a:xfrm>
            <a:custGeom>
              <a:avLst/>
              <a:gdLst/>
              <a:ahLst/>
              <a:cxnLst/>
              <a:rect l="l" t="t" r="r" b="b"/>
              <a:pathLst>
                <a:path w="1965960" h="384048">
                  <a:moveTo>
                    <a:pt x="0" y="0"/>
                  </a:moveTo>
                  <a:lnTo>
                    <a:pt x="1965960" y="0"/>
                  </a:lnTo>
                  <a:lnTo>
                    <a:pt x="1958034" y="892"/>
                  </a:lnTo>
                  <a:lnTo>
                    <a:pt x="1948993" y="3571"/>
                  </a:lnTo>
                  <a:lnTo>
                    <a:pt x="1939505" y="8036"/>
                  </a:lnTo>
                  <a:lnTo>
                    <a:pt x="1930241" y="14287"/>
                  </a:lnTo>
                  <a:lnTo>
                    <a:pt x="1921869" y="22324"/>
                  </a:lnTo>
                  <a:lnTo>
                    <a:pt x="1915060" y="32146"/>
                  </a:lnTo>
                  <a:lnTo>
                    <a:pt x="1910484" y="43755"/>
                  </a:lnTo>
                  <a:lnTo>
                    <a:pt x="1908810" y="57150"/>
                  </a:lnTo>
                  <a:lnTo>
                    <a:pt x="1906247" y="276713"/>
                  </a:lnTo>
                  <a:lnTo>
                    <a:pt x="1898659" y="301728"/>
                  </a:lnTo>
                  <a:lnTo>
                    <a:pt x="1886336" y="324783"/>
                  </a:lnTo>
                  <a:lnTo>
                    <a:pt x="1869752" y="344990"/>
                  </a:lnTo>
                  <a:lnTo>
                    <a:pt x="1849545" y="361574"/>
                  </a:lnTo>
                  <a:lnTo>
                    <a:pt x="1826490" y="373897"/>
                  </a:lnTo>
                  <a:lnTo>
                    <a:pt x="1801475" y="381485"/>
                  </a:lnTo>
                  <a:lnTo>
                    <a:pt x="1775460" y="384048"/>
                  </a:lnTo>
                  <a:lnTo>
                    <a:pt x="190500" y="384048"/>
                  </a:lnTo>
                  <a:lnTo>
                    <a:pt x="164484" y="381485"/>
                  </a:lnTo>
                  <a:lnTo>
                    <a:pt x="139469" y="373897"/>
                  </a:lnTo>
                  <a:lnTo>
                    <a:pt x="116414" y="361574"/>
                  </a:lnTo>
                  <a:lnTo>
                    <a:pt x="96207" y="344990"/>
                  </a:lnTo>
                  <a:lnTo>
                    <a:pt x="79623" y="324783"/>
                  </a:lnTo>
                  <a:lnTo>
                    <a:pt x="67300" y="301728"/>
                  </a:lnTo>
                  <a:lnTo>
                    <a:pt x="59712" y="276713"/>
                  </a:lnTo>
                  <a:lnTo>
                    <a:pt x="57150" y="250698"/>
                  </a:lnTo>
                  <a:lnTo>
                    <a:pt x="57150" y="57150"/>
                  </a:lnTo>
                  <a:lnTo>
                    <a:pt x="55475" y="43755"/>
                  </a:lnTo>
                  <a:lnTo>
                    <a:pt x="50899" y="32146"/>
                  </a:lnTo>
                  <a:lnTo>
                    <a:pt x="44090" y="22324"/>
                  </a:lnTo>
                  <a:lnTo>
                    <a:pt x="35718" y="14287"/>
                  </a:lnTo>
                  <a:lnTo>
                    <a:pt x="26454" y="8036"/>
                  </a:lnTo>
                  <a:lnTo>
                    <a:pt x="16966" y="3571"/>
                  </a:lnTo>
                  <a:lnTo>
                    <a:pt x="7925" y="8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06/closed-idle/text/002"/>
            <p:cNvSpPr txBox="1"/>
            <p:nvPr/>
          </p:nvSpPr>
          <p:spPr>
            <a:xfrm>
              <a:off x="3337560" y="1920240"/>
              <a:ext cx="1965960" cy="38404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 i="0">
                  <a:solidFill>
                    <a:srgbClr val="F5F5F7"/>
                  </a:solidFill>
                  <a:latin typeface="Arial"/>
                </a:rPr>
                <a:t>14:32</a:t>
              </a:r>
            </a:p>
          </p:txBody>
        </p:sp>
      </p:grpSp>
      <p:sp>
        <p:nvSpPr>
          <p:cNvPr id="26" name="N06/text/022"/>
          <p:cNvSpPr txBox="1"/>
          <p:nvPr/>
        </p:nvSpPr>
        <p:spPr>
          <a:xfrm>
            <a:off x="502920" y="2514600"/>
            <a:ext cx="763524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GNOME center clock hidden only while notch is visible on the primary monitor.</a:t>
            </a:r>
          </a:p>
        </p:txBody>
      </p:sp>
      <p:sp>
        <p:nvSpPr>
          <p:cNvPr id="27" name="N06/gnome-panel/023"/>
          <p:cNvSpPr/>
          <p:nvPr/>
        </p:nvSpPr>
        <p:spPr>
          <a:xfrm>
            <a:off x="502920" y="3246120"/>
            <a:ext cx="7635240" cy="384048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06/text/024"/>
          <p:cNvSpPr txBox="1"/>
          <p:nvPr/>
        </p:nvSpPr>
        <p:spPr>
          <a:xfrm>
            <a:off x="649224" y="3246120"/>
            <a:ext cx="109728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7"/>
                </a:solidFill>
                <a:latin typeface="Arial"/>
              </a:rPr>
              <a:t>Activities</a:t>
            </a:r>
          </a:p>
        </p:txBody>
      </p:sp>
      <p:cxnSp>
        <p:nvCxnSpPr>
          <p:cNvPr id="29" name="N06/line/025"/>
          <p:cNvCxnSpPr/>
          <p:nvPr/>
        </p:nvCxnSpPr>
        <p:spPr>
          <a:xfrm>
            <a:off x="7150608" y="3398139"/>
            <a:ext cx="0" cy="80010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N06/poly/026"/>
          <p:cNvSpPr/>
          <p:nvPr/>
        </p:nvSpPr>
        <p:spPr>
          <a:xfrm>
            <a:off x="7126605" y="3398139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24003"/>
                </a:moveTo>
                <a:lnTo>
                  <a:pt x="24003" y="0"/>
                </a:lnTo>
                <a:lnTo>
                  <a:pt x="48006" y="24003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N06/poly/027"/>
          <p:cNvSpPr/>
          <p:nvPr/>
        </p:nvSpPr>
        <p:spPr>
          <a:xfrm>
            <a:off x="7126605" y="3454146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0"/>
                </a:moveTo>
                <a:lnTo>
                  <a:pt x="24003" y="24003"/>
                </a:lnTo>
                <a:lnTo>
                  <a:pt x="48006" y="0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06/poly/028"/>
          <p:cNvSpPr/>
          <p:nvPr/>
        </p:nvSpPr>
        <p:spPr>
          <a:xfrm>
            <a:off x="7339202" y="3398139"/>
            <a:ext cx="48006" cy="80010"/>
          </a:xfrm>
          <a:custGeom>
            <a:avLst/>
            <a:gdLst/>
            <a:ahLst/>
            <a:cxnLst/>
            <a:rect l="l" t="t" r="r" b="b"/>
            <a:pathLst>
              <a:path w="48006" h="80010">
                <a:moveTo>
                  <a:pt x="0" y="24003"/>
                </a:moveTo>
                <a:lnTo>
                  <a:pt x="24004" y="24003"/>
                </a:lnTo>
                <a:lnTo>
                  <a:pt x="48006" y="0"/>
                </a:lnTo>
                <a:lnTo>
                  <a:pt x="48006" y="80010"/>
                </a:lnTo>
                <a:lnTo>
                  <a:pt x="24004" y="56007"/>
                </a:lnTo>
                <a:lnTo>
                  <a:pt x="0" y="56007"/>
                </a:lnTo>
                <a:close/>
              </a:path>
            </a:pathLst>
          </a:cu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N06/line/029"/>
          <p:cNvCxnSpPr/>
          <p:nvPr/>
        </p:nvCxnSpPr>
        <p:spPr>
          <a:xfrm>
            <a:off x="7403211" y="3414141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N06/line/030"/>
          <p:cNvCxnSpPr/>
          <p:nvPr/>
        </p:nvCxnSpPr>
        <p:spPr>
          <a:xfrm flipH="1">
            <a:off x="7403211" y="3438144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N06/rect/031"/>
          <p:cNvSpPr/>
          <p:nvPr/>
        </p:nvSpPr>
        <p:spPr>
          <a:xfrm>
            <a:off x="7559802" y="3414141"/>
            <a:ext cx="88011" cy="48006"/>
          </a:xfrm>
          <a:prstGeom prst="roundRect">
            <a:avLst>
              <a:gd name="adj" fmla="val 16666"/>
            </a:avLst>
          </a:prstGeom>
          <a:noFill/>
          <a:ln w="1016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N06/rect/032"/>
          <p:cNvSpPr/>
          <p:nvPr/>
        </p:nvSpPr>
        <p:spPr>
          <a:xfrm>
            <a:off x="7647813" y="3430143"/>
            <a:ext cx="12001" cy="1600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N06/rect/033"/>
          <p:cNvSpPr/>
          <p:nvPr/>
        </p:nvSpPr>
        <p:spPr>
          <a:xfrm>
            <a:off x="7571803" y="3426142"/>
            <a:ext cx="48006" cy="24003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06/text/034"/>
          <p:cNvSpPr txBox="1"/>
          <p:nvPr/>
        </p:nvSpPr>
        <p:spPr>
          <a:xfrm>
            <a:off x="7754112" y="3246120"/>
            <a:ext cx="27432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F5F7"/>
                </a:solidFill>
                <a:latin typeface="Arial"/>
              </a:rPr>
              <a:t>⏻</a:t>
            </a:r>
          </a:p>
        </p:txBody>
      </p:sp>
      <p:grpSp>
        <p:nvGrpSpPr>
          <p:cNvPr id="39" name="N06/closed-unread"/>
          <p:cNvGrpSpPr/>
          <p:nvPr/>
        </p:nvGrpSpPr>
        <p:grpSpPr>
          <a:xfrm>
            <a:off x="3337560" y="3246120"/>
            <a:ext cx="1965960" cy="384048"/>
            <a:chOff x="3337560" y="3246120"/>
            <a:chExt cx="1965960" cy="384048"/>
          </a:xfrm>
        </p:grpSpPr>
        <p:sp>
          <p:nvSpPr>
            <p:cNvPr id="40" name="N06/closed-unread/notch-surface-closed/001"/>
            <p:cNvSpPr/>
            <p:nvPr/>
          </p:nvSpPr>
          <p:spPr>
            <a:xfrm>
              <a:off x="3337560" y="3246120"/>
              <a:ext cx="1965960" cy="384048"/>
            </a:xfrm>
            <a:custGeom>
              <a:avLst/>
              <a:gdLst/>
              <a:ahLst/>
              <a:cxnLst/>
              <a:rect l="l" t="t" r="r" b="b"/>
              <a:pathLst>
                <a:path w="1965960" h="384048">
                  <a:moveTo>
                    <a:pt x="0" y="0"/>
                  </a:moveTo>
                  <a:lnTo>
                    <a:pt x="1965960" y="0"/>
                  </a:lnTo>
                  <a:lnTo>
                    <a:pt x="1958034" y="892"/>
                  </a:lnTo>
                  <a:lnTo>
                    <a:pt x="1948993" y="3571"/>
                  </a:lnTo>
                  <a:lnTo>
                    <a:pt x="1939505" y="8036"/>
                  </a:lnTo>
                  <a:lnTo>
                    <a:pt x="1930241" y="14287"/>
                  </a:lnTo>
                  <a:lnTo>
                    <a:pt x="1921869" y="22324"/>
                  </a:lnTo>
                  <a:lnTo>
                    <a:pt x="1915060" y="32146"/>
                  </a:lnTo>
                  <a:lnTo>
                    <a:pt x="1910484" y="43755"/>
                  </a:lnTo>
                  <a:lnTo>
                    <a:pt x="1908810" y="57150"/>
                  </a:lnTo>
                  <a:lnTo>
                    <a:pt x="1906247" y="276713"/>
                  </a:lnTo>
                  <a:lnTo>
                    <a:pt x="1898659" y="301728"/>
                  </a:lnTo>
                  <a:lnTo>
                    <a:pt x="1886336" y="324783"/>
                  </a:lnTo>
                  <a:lnTo>
                    <a:pt x="1869752" y="344990"/>
                  </a:lnTo>
                  <a:lnTo>
                    <a:pt x="1849545" y="361574"/>
                  </a:lnTo>
                  <a:lnTo>
                    <a:pt x="1826490" y="373897"/>
                  </a:lnTo>
                  <a:lnTo>
                    <a:pt x="1801475" y="381485"/>
                  </a:lnTo>
                  <a:lnTo>
                    <a:pt x="1775460" y="384048"/>
                  </a:lnTo>
                  <a:lnTo>
                    <a:pt x="190500" y="384048"/>
                  </a:lnTo>
                  <a:lnTo>
                    <a:pt x="164484" y="381485"/>
                  </a:lnTo>
                  <a:lnTo>
                    <a:pt x="139469" y="373897"/>
                  </a:lnTo>
                  <a:lnTo>
                    <a:pt x="116414" y="361574"/>
                  </a:lnTo>
                  <a:lnTo>
                    <a:pt x="96207" y="344990"/>
                  </a:lnTo>
                  <a:lnTo>
                    <a:pt x="79623" y="324783"/>
                  </a:lnTo>
                  <a:lnTo>
                    <a:pt x="67300" y="301728"/>
                  </a:lnTo>
                  <a:lnTo>
                    <a:pt x="59712" y="276713"/>
                  </a:lnTo>
                  <a:lnTo>
                    <a:pt x="57150" y="250697"/>
                  </a:lnTo>
                  <a:lnTo>
                    <a:pt x="57150" y="57150"/>
                  </a:lnTo>
                  <a:lnTo>
                    <a:pt x="55475" y="43755"/>
                  </a:lnTo>
                  <a:lnTo>
                    <a:pt x="50899" y="32146"/>
                  </a:lnTo>
                  <a:lnTo>
                    <a:pt x="44090" y="22324"/>
                  </a:lnTo>
                  <a:lnTo>
                    <a:pt x="35718" y="14287"/>
                  </a:lnTo>
                  <a:lnTo>
                    <a:pt x="26454" y="8036"/>
                  </a:lnTo>
                  <a:lnTo>
                    <a:pt x="16966" y="3571"/>
                  </a:lnTo>
                  <a:lnTo>
                    <a:pt x="7925" y="8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N06/closed-unread/text/002"/>
            <p:cNvSpPr txBox="1"/>
            <p:nvPr/>
          </p:nvSpPr>
          <p:spPr>
            <a:xfrm>
              <a:off x="3337560" y="3246120"/>
              <a:ext cx="1783080" cy="38404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 i="0">
                  <a:solidFill>
                    <a:srgbClr val="F5F5F7"/>
                  </a:solidFill>
                  <a:latin typeface="Arial"/>
                </a:rPr>
                <a:t>14:32</a:t>
              </a:r>
            </a:p>
          </p:txBody>
        </p:sp>
        <p:sp>
          <p:nvSpPr>
            <p:cNvPr id="42" name="N06/closed-unread/ellipse/003"/>
            <p:cNvSpPr/>
            <p:nvPr/>
          </p:nvSpPr>
          <p:spPr>
            <a:xfrm>
              <a:off x="5010912" y="3401568"/>
              <a:ext cx="64008" cy="64008"/>
            </a:xfrm>
            <a:prstGeom prst="ellipse">
              <a:avLst/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3" name="N06/text/035"/>
          <p:cNvSpPr txBox="1"/>
          <p:nvPr/>
        </p:nvSpPr>
        <p:spPr>
          <a:xfrm>
            <a:off x="502920" y="3840480"/>
            <a:ext cx="763524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Unread dot: notification count &gt; 0 and idle clock enabled.</a:t>
            </a:r>
          </a:p>
        </p:txBody>
      </p:sp>
      <p:sp>
        <p:nvSpPr>
          <p:cNvPr id="44" name="N06/gnome-panel/036"/>
          <p:cNvSpPr/>
          <p:nvPr/>
        </p:nvSpPr>
        <p:spPr>
          <a:xfrm>
            <a:off x="502920" y="4572000"/>
            <a:ext cx="7635240" cy="384048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N06/text/037"/>
          <p:cNvSpPr txBox="1"/>
          <p:nvPr/>
        </p:nvSpPr>
        <p:spPr>
          <a:xfrm>
            <a:off x="649224" y="4572000"/>
            <a:ext cx="109728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7"/>
                </a:solidFill>
                <a:latin typeface="Arial"/>
              </a:rPr>
              <a:t>Activities</a:t>
            </a:r>
          </a:p>
        </p:txBody>
      </p:sp>
      <p:cxnSp>
        <p:nvCxnSpPr>
          <p:cNvPr id="46" name="N06/line/038"/>
          <p:cNvCxnSpPr/>
          <p:nvPr/>
        </p:nvCxnSpPr>
        <p:spPr>
          <a:xfrm>
            <a:off x="7150608" y="4724019"/>
            <a:ext cx="0" cy="80010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N06/poly/039"/>
          <p:cNvSpPr/>
          <p:nvPr/>
        </p:nvSpPr>
        <p:spPr>
          <a:xfrm>
            <a:off x="7126605" y="4724019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24003"/>
                </a:moveTo>
                <a:lnTo>
                  <a:pt x="24003" y="0"/>
                </a:lnTo>
                <a:lnTo>
                  <a:pt x="48006" y="24003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06/poly/040"/>
          <p:cNvSpPr/>
          <p:nvPr/>
        </p:nvSpPr>
        <p:spPr>
          <a:xfrm>
            <a:off x="7126605" y="4780026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0"/>
                </a:moveTo>
                <a:lnTo>
                  <a:pt x="24003" y="24003"/>
                </a:lnTo>
                <a:lnTo>
                  <a:pt x="48006" y="0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N06/poly/041"/>
          <p:cNvSpPr/>
          <p:nvPr/>
        </p:nvSpPr>
        <p:spPr>
          <a:xfrm>
            <a:off x="7339202" y="4724019"/>
            <a:ext cx="48006" cy="80010"/>
          </a:xfrm>
          <a:custGeom>
            <a:avLst/>
            <a:gdLst/>
            <a:ahLst/>
            <a:cxnLst/>
            <a:rect l="l" t="t" r="r" b="b"/>
            <a:pathLst>
              <a:path w="48006" h="80010">
                <a:moveTo>
                  <a:pt x="0" y="24003"/>
                </a:moveTo>
                <a:lnTo>
                  <a:pt x="24004" y="24003"/>
                </a:lnTo>
                <a:lnTo>
                  <a:pt x="48006" y="0"/>
                </a:lnTo>
                <a:lnTo>
                  <a:pt x="48006" y="80010"/>
                </a:lnTo>
                <a:lnTo>
                  <a:pt x="24004" y="56007"/>
                </a:lnTo>
                <a:lnTo>
                  <a:pt x="0" y="56007"/>
                </a:lnTo>
                <a:close/>
              </a:path>
            </a:pathLst>
          </a:cu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N06/line/042"/>
          <p:cNvCxnSpPr/>
          <p:nvPr/>
        </p:nvCxnSpPr>
        <p:spPr>
          <a:xfrm>
            <a:off x="7403211" y="4740021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N06/line/043"/>
          <p:cNvCxnSpPr/>
          <p:nvPr/>
        </p:nvCxnSpPr>
        <p:spPr>
          <a:xfrm flipH="1">
            <a:off x="7403211" y="4764024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N06/rect/044"/>
          <p:cNvSpPr/>
          <p:nvPr/>
        </p:nvSpPr>
        <p:spPr>
          <a:xfrm>
            <a:off x="7559802" y="4740021"/>
            <a:ext cx="88011" cy="48006"/>
          </a:xfrm>
          <a:prstGeom prst="roundRect">
            <a:avLst>
              <a:gd name="adj" fmla="val 16666"/>
            </a:avLst>
          </a:prstGeom>
          <a:noFill/>
          <a:ln w="1016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N06/rect/045"/>
          <p:cNvSpPr/>
          <p:nvPr/>
        </p:nvSpPr>
        <p:spPr>
          <a:xfrm>
            <a:off x="7647813" y="4756023"/>
            <a:ext cx="12001" cy="1600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N06/rect/046"/>
          <p:cNvSpPr/>
          <p:nvPr/>
        </p:nvSpPr>
        <p:spPr>
          <a:xfrm>
            <a:off x="7571803" y="4752022"/>
            <a:ext cx="48006" cy="24003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N06/text/047"/>
          <p:cNvSpPr txBox="1"/>
          <p:nvPr/>
        </p:nvSpPr>
        <p:spPr>
          <a:xfrm>
            <a:off x="7754112" y="4572000"/>
            <a:ext cx="27432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F5F7"/>
                </a:solidFill>
                <a:latin typeface="Arial"/>
              </a:rPr>
              <a:t>⏻</a:t>
            </a:r>
          </a:p>
        </p:txBody>
      </p:sp>
      <p:grpSp>
        <p:nvGrpSpPr>
          <p:cNvPr id="56" name="N06/closed-hover"/>
          <p:cNvGrpSpPr/>
          <p:nvPr/>
        </p:nvGrpSpPr>
        <p:grpSpPr>
          <a:xfrm>
            <a:off x="3282696" y="4572000"/>
            <a:ext cx="2075688" cy="420624"/>
            <a:chOff x="3282696" y="4572000"/>
            <a:chExt cx="2075688" cy="420624"/>
          </a:xfrm>
        </p:grpSpPr>
        <p:sp>
          <p:nvSpPr>
            <p:cNvPr id="57" name="N06/closed-hover/notch-surface-closed/001"/>
            <p:cNvSpPr/>
            <p:nvPr/>
          </p:nvSpPr>
          <p:spPr>
            <a:xfrm>
              <a:off x="3282696" y="4572000"/>
              <a:ext cx="2075687" cy="420624"/>
            </a:xfrm>
            <a:custGeom>
              <a:avLst/>
              <a:gdLst/>
              <a:ahLst/>
              <a:cxnLst/>
              <a:rect l="l" t="t" r="r" b="b"/>
              <a:pathLst>
                <a:path w="2075687" h="420624">
                  <a:moveTo>
                    <a:pt x="0" y="0"/>
                  </a:moveTo>
                  <a:lnTo>
                    <a:pt x="2075687" y="0"/>
                  </a:lnTo>
                  <a:lnTo>
                    <a:pt x="2067762" y="892"/>
                  </a:lnTo>
                  <a:lnTo>
                    <a:pt x="2058721" y="3571"/>
                  </a:lnTo>
                  <a:lnTo>
                    <a:pt x="2049233" y="8036"/>
                  </a:lnTo>
                  <a:lnTo>
                    <a:pt x="2039969" y="14287"/>
                  </a:lnTo>
                  <a:lnTo>
                    <a:pt x="2031597" y="22324"/>
                  </a:lnTo>
                  <a:lnTo>
                    <a:pt x="2024788" y="32146"/>
                  </a:lnTo>
                  <a:lnTo>
                    <a:pt x="2020212" y="43755"/>
                  </a:lnTo>
                  <a:lnTo>
                    <a:pt x="2018537" y="57150"/>
                  </a:lnTo>
                  <a:lnTo>
                    <a:pt x="2015975" y="313289"/>
                  </a:lnTo>
                  <a:lnTo>
                    <a:pt x="2008387" y="338304"/>
                  </a:lnTo>
                  <a:lnTo>
                    <a:pt x="1996064" y="361359"/>
                  </a:lnTo>
                  <a:lnTo>
                    <a:pt x="1979480" y="381566"/>
                  </a:lnTo>
                  <a:lnTo>
                    <a:pt x="1959273" y="398150"/>
                  </a:lnTo>
                  <a:lnTo>
                    <a:pt x="1936218" y="410473"/>
                  </a:lnTo>
                  <a:lnTo>
                    <a:pt x="1911203" y="418061"/>
                  </a:lnTo>
                  <a:lnTo>
                    <a:pt x="1885188" y="420624"/>
                  </a:lnTo>
                  <a:lnTo>
                    <a:pt x="190500" y="420624"/>
                  </a:lnTo>
                  <a:lnTo>
                    <a:pt x="164484" y="418061"/>
                  </a:lnTo>
                  <a:lnTo>
                    <a:pt x="139469" y="410473"/>
                  </a:lnTo>
                  <a:lnTo>
                    <a:pt x="116414" y="398150"/>
                  </a:lnTo>
                  <a:lnTo>
                    <a:pt x="96207" y="381566"/>
                  </a:lnTo>
                  <a:lnTo>
                    <a:pt x="79623" y="361359"/>
                  </a:lnTo>
                  <a:lnTo>
                    <a:pt x="67300" y="338304"/>
                  </a:lnTo>
                  <a:lnTo>
                    <a:pt x="59712" y="313289"/>
                  </a:lnTo>
                  <a:lnTo>
                    <a:pt x="57150" y="287274"/>
                  </a:lnTo>
                  <a:lnTo>
                    <a:pt x="57150" y="57150"/>
                  </a:lnTo>
                  <a:lnTo>
                    <a:pt x="55475" y="43755"/>
                  </a:lnTo>
                  <a:lnTo>
                    <a:pt x="50899" y="32146"/>
                  </a:lnTo>
                  <a:lnTo>
                    <a:pt x="44090" y="22324"/>
                  </a:lnTo>
                  <a:lnTo>
                    <a:pt x="35718" y="14287"/>
                  </a:lnTo>
                  <a:lnTo>
                    <a:pt x="26454" y="8036"/>
                  </a:lnTo>
                  <a:lnTo>
                    <a:pt x="16966" y="3571"/>
                  </a:lnTo>
                  <a:lnTo>
                    <a:pt x="7925" y="8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N06/closed-hover/text/002"/>
            <p:cNvSpPr txBox="1"/>
            <p:nvPr/>
          </p:nvSpPr>
          <p:spPr>
            <a:xfrm>
              <a:off x="3282696" y="4572000"/>
              <a:ext cx="2075688" cy="4206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 i="0">
                  <a:solidFill>
                    <a:srgbClr val="F5F5F7"/>
                  </a:solidFill>
                  <a:latin typeface="Arial"/>
                </a:rPr>
                <a:t>14:32</a:t>
              </a:r>
            </a:p>
          </p:txBody>
        </p:sp>
      </p:grpSp>
      <p:sp>
        <p:nvSpPr>
          <p:cNvPr id="59" name="N06/text/048"/>
          <p:cNvSpPr txBox="1"/>
          <p:nvPr/>
        </p:nvSpPr>
        <p:spPr>
          <a:xfrm>
            <a:off x="502920" y="5166360"/>
            <a:ext cx="763524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Hover: +12 px width, +4 px height in panel placement; opens after 250 ms if enabled.</a:t>
            </a:r>
          </a:p>
        </p:txBody>
      </p:sp>
      <p:sp>
        <p:nvSpPr>
          <p:cNvPr id="60" name="N06/spec-panel/049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N06/text/050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62" name="N06/ellipse/051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N06/text/052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Base 185×32; min width 150</a:t>
            </a:r>
          </a:p>
        </p:txBody>
      </p:sp>
      <p:sp>
        <p:nvSpPr>
          <p:cNvPr id="64" name="N06/ellipse/053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N06/text/054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Match panel height by default</a:t>
            </a:r>
          </a:p>
        </p:txBody>
      </p:sp>
      <p:sp>
        <p:nvSpPr>
          <p:cNvPr id="66" name="N06/ellipse/055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N06/text/056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Click / Super+` toggles open</a:t>
            </a:r>
          </a:p>
        </p:txBody>
      </p:sp>
      <p:sp>
        <p:nvSpPr>
          <p:cNvPr id="68" name="N06/ellipse/057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N06/text/058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Clock off → blank closed notch</a:t>
            </a:r>
          </a:p>
        </p:txBody>
      </p:sp>
      <p:cxnSp>
        <p:nvCxnSpPr>
          <p:cNvPr id="70" name="N06/line/059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N06/text/060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72" name="N06/edit-box/061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N06/edit-note/062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Clock size / dot / hover growth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07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07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07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CLOSED MODE</a:t>
            </a:r>
          </a:p>
        </p:txBody>
      </p:sp>
      <p:sp>
        <p:nvSpPr>
          <p:cNvPr id="5" name="N07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Media wings</a:t>
            </a:r>
          </a:p>
        </p:txBody>
      </p:sp>
      <p:sp>
        <p:nvSpPr>
          <p:cNvPr id="6" name="N07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closed-media=true · wings add 64 px · album art stays full-color</a:t>
            </a:r>
          </a:p>
        </p:txBody>
      </p:sp>
      <p:cxnSp>
        <p:nvCxnSpPr>
          <p:cNvPr id="7" name="N07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07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07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N07</a:t>
            </a:r>
          </a:p>
        </p:txBody>
      </p:sp>
      <p:sp>
        <p:nvSpPr>
          <p:cNvPr id="10" name="N07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08</a:t>
            </a:r>
          </a:p>
        </p:txBody>
      </p:sp>
      <p:sp>
        <p:nvSpPr>
          <p:cNvPr id="11" name="N07/gnome-panel/010"/>
          <p:cNvSpPr/>
          <p:nvPr/>
        </p:nvSpPr>
        <p:spPr>
          <a:xfrm>
            <a:off x="502920" y="1965960"/>
            <a:ext cx="7635240" cy="384048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07/text/011"/>
          <p:cNvSpPr txBox="1"/>
          <p:nvPr/>
        </p:nvSpPr>
        <p:spPr>
          <a:xfrm>
            <a:off x="649224" y="1965960"/>
            <a:ext cx="109728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7"/>
                </a:solidFill>
                <a:latin typeface="Arial"/>
              </a:rPr>
              <a:t>Activities</a:t>
            </a:r>
          </a:p>
        </p:txBody>
      </p:sp>
      <p:cxnSp>
        <p:nvCxnSpPr>
          <p:cNvPr id="13" name="N07/line/012"/>
          <p:cNvCxnSpPr/>
          <p:nvPr/>
        </p:nvCxnSpPr>
        <p:spPr>
          <a:xfrm>
            <a:off x="7150608" y="2117979"/>
            <a:ext cx="0" cy="80010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07/poly/013"/>
          <p:cNvSpPr/>
          <p:nvPr/>
        </p:nvSpPr>
        <p:spPr>
          <a:xfrm>
            <a:off x="7126605" y="2117979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24003"/>
                </a:moveTo>
                <a:lnTo>
                  <a:pt x="24003" y="0"/>
                </a:lnTo>
                <a:lnTo>
                  <a:pt x="48006" y="24003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07/poly/014"/>
          <p:cNvSpPr/>
          <p:nvPr/>
        </p:nvSpPr>
        <p:spPr>
          <a:xfrm>
            <a:off x="7126605" y="2173986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0"/>
                </a:moveTo>
                <a:lnTo>
                  <a:pt x="24003" y="24003"/>
                </a:lnTo>
                <a:lnTo>
                  <a:pt x="48006" y="0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07/poly/015"/>
          <p:cNvSpPr/>
          <p:nvPr/>
        </p:nvSpPr>
        <p:spPr>
          <a:xfrm>
            <a:off x="7339202" y="2117979"/>
            <a:ext cx="48006" cy="80010"/>
          </a:xfrm>
          <a:custGeom>
            <a:avLst/>
            <a:gdLst/>
            <a:ahLst/>
            <a:cxnLst/>
            <a:rect l="l" t="t" r="r" b="b"/>
            <a:pathLst>
              <a:path w="48006" h="80010">
                <a:moveTo>
                  <a:pt x="0" y="24003"/>
                </a:moveTo>
                <a:lnTo>
                  <a:pt x="24004" y="24003"/>
                </a:lnTo>
                <a:lnTo>
                  <a:pt x="48006" y="0"/>
                </a:lnTo>
                <a:lnTo>
                  <a:pt x="48006" y="80010"/>
                </a:lnTo>
                <a:lnTo>
                  <a:pt x="24004" y="56007"/>
                </a:lnTo>
                <a:lnTo>
                  <a:pt x="0" y="56007"/>
                </a:lnTo>
                <a:close/>
              </a:path>
            </a:pathLst>
          </a:cu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N07/line/016"/>
          <p:cNvCxnSpPr/>
          <p:nvPr/>
        </p:nvCxnSpPr>
        <p:spPr>
          <a:xfrm>
            <a:off x="7403211" y="2133981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N07/line/017"/>
          <p:cNvCxnSpPr/>
          <p:nvPr/>
        </p:nvCxnSpPr>
        <p:spPr>
          <a:xfrm flipH="1">
            <a:off x="7403211" y="2157984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N07/rect/018"/>
          <p:cNvSpPr/>
          <p:nvPr/>
        </p:nvSpPr>
        <p:spPr>
          <a:xfrm>
            <a:off x="7559802" y="2133981"/>
            <a:ext cx="88011" cy="48006"/>
          </a:xfrm>
          <a:prstGeom prst="roundRect">
            <a:avLst>
              <a:gd name="adj" fmla="val 16666"/>
            </a:avLst>
          </a:prstGeom>
          <a:noFill/>
          <a:ln w="1016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07/rect/019"/>
          <p:cNvSpPr/>
          <p:nvPr/>
        </p:nvSpPr>
        <p:spPr>
          <a:xfrm>
            <a:off x="7647813" y="2149983"/>
            <a:ext cx="12001" cy="1600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07/rect/020"/>
          <p:cNvSpPr/>
          <p:nvPr/>
        </p:nvSpPr>
        <p:spPr>
          <a:xfrm>
            <a:off x="7571803" y="2145982"/>
            <a:ext cx="48006" cy="24003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07/text/021"/>
          <p:cNvSpPr txBox="1"/>
          <p:nvPr/>
        </p:nvSpPr>
        <p:spPr>
          <a:xfrm>
            <a:off x="7754112" y="1965960"/>
            <a:ext cx="27432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F5F7"/>
                </a:solidFill>
                <a:latin typeface="Arial"/>
              </a:rPr>
              <a:t>⏻</a:t>
            </a:r>
          </a:p>
        </p:txBody>
      </p:sp>
      <p:grpSp>
        <p:nvGrpSpPr>
          <p:cNvPr id="23" name="N07/closed-media-playing"/>
          <p:cNvGrpSpPr/>
          <p:nvPr/>
        </p:nvGrpSpPr>
        <p:grpSpPr>
          <a:xfrm>
            <a:off x="2994659" y="1965960"/>
            <a:ext cx="2651760" cy="384048"/>
            <a:chOff x="2994659" y="1965960"/>
            <a:chExt cx="2651760" cy="384048"/>
          </a:xfrm>
        </p:grpSpPr>
        <p:sp>
          <p:nvSpPr>
            <p:cNvPr id="24" name="N07/closed-media-playing/notch-surface-closed/001"/>
            <p:cNvSpPr/>
            <p:nvPr/>
          </p:nvSpPr>
          <p:spPr>
            <a:xfrm>
              <a:off x="2994659" y="1965960"/>
              <a:ext cx="2651760" cy="384048"/>
            </a:xfrm>
            <a:custGeom>
              <a:avLst/>
              <a:gdLst/>
              <a:ahLst/>
              <a:cxnLst/>
              <a:rect l="l" t="t" r="r" b="b"/>
              <a:pathLst>
                <a:path w="2651760" h="384048">
                  <a:moveTo>
                    <a:pt x="0" y="0"/>
                  </a:moveTo>
                  <a:lnTo>
                    <a:pt x="2651760" y="0"/>
                  </a:lnTo>
                  <a:lnTo>
                    <a:pt x="2643835" y="892"/>
                  </a:lnTo>
                  <a:lnTo>
                    <a:pt x="2634794" y="3571"/>
                  </a:lnTo>
                  <a:lnTo>
                    <a:pt x="2625306" y="8036"/>
                  </a:lnTo>
                  <a:lnTo>
                    <a:pt x="2616042" y="14287"/>
                  </a:lnTo>
                  <a:lnTo>
                    <a:pt x="2607670" y="22324"/>
                  </a:lnTo>
                  <a:lnTo>
                    <a:pt x="2600861" y="32146"/>
                  </a:lnTo>
                  <a:lnTo>
                    <a:pt x="2596285" y="43755"/>
                  </a:lnTo>
                  <a:lnTo>
                    <a:pt x="2594610" y="57150"/>
                  </a:lnTo>
                  <a:lnTo>
                    <a:pt x="2592048" y="276713"/>
                  </a:lnTo>
                  <a:lnTo>
                    <a:pt x="2584460" y="301728"/>
                  </a:lnTo>
                  <a:lnTo>
                    <a:pt x="2572137" y="324783"/>
                  </a:lnTo>
                  <a:lnTo>
                    <a:pt x="2555553" y="344990"/>
                  </a:lnTo>
                  <a:lnTo>
                    <a:pt x="2535346" y="361574"/>
                  </a:lnTo>
                  <a:lnTo>
                    <a:pt x="2512291" y="373897"/>
                  </a:lnTo>
                  <a:lnTo>
                    <a:pt x="2487276" y="381485"/>
                  </a:lnTo>
                  <a:lnTo>
                    <a:pt x="2461260" y="384048"/>
                  </a:lnTo>
                  <a:lnTo>
                    <a:pt x="190500" y="384048"/>
                  </a:lnTo>
                  <a:lnTo>
                    <a:pt x="164485" y="381485"/>
                  </a:lnTo>
                  <a:lnTo>
                    <a:pt x="139470" y="373897"/>
                  </a:lnTo>
                  <a:lnTo>
                    <a:pt x="116415" y="361574"/>
                  </a:lnTo>
                  <a:lnTo>
                    <a:pt x="96208" y="344990"/>
                  </a:lnTo>
                  <a:lnTo>
                    <a:pt x="79624" y="324783"/>
                  </a:lnTo>
                  <a:lnTo>
                    <a:pt x="67301" y="301728"/>
                  </a:lnTo>
                  <a:lnTo>
                    <a:pt x="59713" y="276713"/>
                  </a:lnTo>
                  <a:lnTo>
                    <a:pt x="57150" y="250697"/>
                  </a:lnTo>
                  <a:lnTo>
                    <a:pt x="57150" y="57150"/>
                  </a:lnTo>
                  <a:lnTo>
                    <a:pt x="55476" y="43755"/>
                  </a:lnTo>
                  <a:lnTo>
                    <a:pt x="50900" y="32146"/>
                  </a:lnTo>
                  <a:lnTo>
                    <a:pt x="44091" y="22324"/>
                  </a:lnTo>
                  <a:lnTo>
                    <a:pt x="35719" y="14287"/>
                  </a:lnTo>
                  <a:lnTo>
                    <a:pt x="26455" y="8036"/>
                  </a:lnTo>
                  <a:lnTo>
                    <a:pt x="16967" y="3571"/>
                  </a:lnTo>
                  <a:lnTo>
                    <a:pt x="7926" y="8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07/closed-media-playing/album-art/002"/>
            <p:cNvSpPr/>
            <p:nvPr/>
          </p:nvSpPr>
          <p:spPr>
            <a:xfrm>
              <a:off x="3122675" y="2020824"/>
              <a:ext cx="274320" cy="274320"/>
            </a:xfrm>
            <a:prstGeom prst="roundRect">
              <a:avLst>
                <a:gd name="adj" fmla="val 29166"/>
              </a:avLst>
            </a:prstGeom>
            <a:solidFill>
              <a:srgbClr val="2A1B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N07/closed-media-playing/ellipse/003"/>
            <p:cNvSpPr/>
            <p:nvPr/>
          </p:nvSpPr>
          <p:spPr>
            <a:xfrm>
              <a:off x="3150107" y="2053742"/>
              <a:ext cx="150876" cy="150876"/>
            </a:xfrm>
            <a:prstGeom prst="ellipse">
              <a:avLst/>
            </a:prstGeom>
            <a:solidFill>
              <a:srgbClr val="BF5AF2">
                <a:alpha val="8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N07/closed-media-playing/ellipse/004"/>
            <p:cNvSpPr/>
            <p:nvPr/>
          </p:nvSpPr>
          <p:spPr>
            <a:xfrm>
              <a:off x="3237890" y="2125065"/>
              <a:ext cx="137160" cy="137160"/>
            </a:xfrm>
            <a:prstGeom prst="ellipse">
              <a:avLst/>
            </a:prstGeom>
            <a:solidFill>
              <a:srgbClr val="64D2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N07/closed-media-playing/rect/005"/>
            <p:cNvSpPr/>
            <p:nvPr/>
          </p:nvSpPr>
          <p:spPr>
            <a:xfrm>
              <a:off x="3172053" y="2190902"/>
              <a:ext cx="175564" cy="43891"/>
            </a:xfrm>
            <a:prstGeom prst="roundRect">
              <a:avLst>
                <a:gd name="adj" fmla="val 50000"/>
              </a:avLst>
            </a:prstGeom>
            <a:solidFill>
              <a:srgbClr val="30D158">
                <a:alpha val="9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N07/closed-media-playing/text/006"/>
            <p:cNvSpPr txBox="1"/>
            <p:nvPr/>
          </p:nvSpPr>
          <p:spPr>
            <a:xfrm>
              <a:off x="3122675" y="2020824"/>
              <a:ext cx="274320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40" b="1" i="0">
                  <a:solidFill>
                    <a:srgbClr val="FFFFFF"/>
                  </a:solidFill>
                  <a:latin typeface="Arial"/>
                </a:rPr>
                <a:t/>
              </a:r>
            </a:p>
          </p:txBody>
        </p:sp>
        <p:sp>
          <p:nvSpPr>
            <p:cNvPr id="30" name="N07/closed-media-playing/text/007"/>
            <p:cNvSpPr txBox="1"/>
            <p:nvPr/>
          </p:nvSpPr>
          <p:spPr>
            <a:xfrm>
              <a:off x="3470147" y="1965960"/>
              <a:ext cx="1700784" cy="38404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 i="0">
                  <a:solidFill>
                    <a:srgbClr val="F5F5F7"/>
                  </a:solidFill>
                  <a:latin typeface="Arial"/>
                </a:rPr>
                <a:t>14:32</a:t>
              </a:r>
            </a:p>
          </p:txBody>
        </p:sp>
        <p:sp>
          <p:nvSpPr>
            <p:cNvPr id="31" name="N07/closed-media-playing/rect/008"/>
            <p:cNvSpPr/>
            <p:nvPr/>
          </p:nvSpPr>
          <p:spPr>
            <a:xfrm>
              <a:off x="5225795" y="2112264"/>
              <a:ext cx="36576" cy="91440"/>
            </a:xfrm>
            <a:prstGeom prst="roundRect">
              <a:avLst>
                <a:gd name="adj" fmla="val 50000"/>
              </a:avLst>
            </a:prstGeom>
            <a:solidFill>
              <a:srgbClr val="30D1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07/closed-media-playing/rect/009"/>
            <p:cNvSpPr/>
            <p:nvPr/>
          </p:nvSpPr>
          <p:spPr>
            <a:xfrm>
              <a:off x="5289803" y="2066543"/>
              <a:ext cx="36576" cy="182880"/>
            </a:xfrm>
            <a:prstGeom prst="roundRect">
              <a:avLst>
                <a:gd name="adj" fmla="val 50000"/>
              </a:avLst>
            </a:prstGeom>
            <a:solidFill>
              <a:srgbClr val="30D1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07/closed-media-playing/rect/010"/>
            <p:cNvSpPr/>
            <p:nvPr/>
          </p:nvSpPr>
          <p:spPr>
            <a:xfrm>
              <a:off x="5353811" y="2098548"/>
              <a:ext cx="36576" cy="118872"/>
            </a:xfrm>
            <a:prstGeom prst="roundRect">
              <a:avLst>
                <a:gd name="adj" fmla="val 50000"/>
              </a:avLst>
            </a:prstGeom>
            <a:solidFill>
              <a:srgbClr val="30D1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4" name="N07/text/022"/>
          <p:cNvSpPr txBox="1"/>
          <p:nvPr/>
        </p:nvSpPr>
        <p:spPr>
          <a:xfrm>
            <a:off x="502920" y="2560320"/>
            <a:ext cx="763524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20 px art left · clock center · animated 3-bar visualizer right.</a:t>
            </a:r>
          </a:p>
        </p:txBody>
      </p:sp>
      <p:sp>
        <p:nvSpPr>
          <p:cNvPr id="35" name="N07/gnome-panel/023"/>
          <p:cNvSpPr/>
          <p:nvPr/>
        </p:nvSpPr>
        <p:spPr>
          <a:xfrm>
            <a:off x="502920" y="3337560"/>
            <a:ext cx="7635240" cy="384048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N07/text/024"/>
          <p:cNvSpPr txBox="1"/>
          <p:nvPr/>
        </p:nvSpPr>
        <p:spPr>
          <a:xfrm>
            <a:off x="649224" y="3337560"/>
            <a:ext cx="109728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7"/>
                </a:solidFill>
                <a:latin typeface="Arial"/>
              </a:rPr>
              <a:t>Activities</a:t>
            </a:r>
          </a:p>
        </p:txBody>
      </p:sp>
      <p:cxnSp>
        <p:nvCxnSpPr>
          <p:cNvPr id="37" name="N07/line/025"/>
          <p:cNvCxnSpPr/>
          <p:nvPr/>
        </p:nvCxnSpPr>
        <p:spPr>
          <a:xfrm>
            <a:off x="7150608" y="3489579"/>
            <a:ext cx="0" cy="80010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N07/poly/026"/>
          <p:cNvSpPr/>
          <p:nvPr/>
        </p:nvSpPr>
        <p:spPr>
          <a:xfrm>
            <a:off x="7126605" y="3489579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24003"/>
                </a:moveTo>
                <a:lnTo>
                  <a:pt x="24003" y="0"/>
                </a:lnTo>
                <a:lnTo>
                  <a:pt x="48006" y="24003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07/poly/027"/>
          <p:cNvSpPr/>
          <p:nvPr/>
        </p:nvSpPr>
        <p:spPr>
          <a:xfrm>
            <a:off x="7126605" y="3545586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0"/>
                </a:moveTo>
                <a:lnTo>
                  <a:pt x="24003" y="24003"/>
                </a:lnTo>
                <a:lnTo>
                  <a:pt x="48006" y="0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N07/poly/028"/>
          <p:cNvSpPr/>
          <p:nvPr/>
        </p:nvSpPr>
        <p:spPr>
          <a:xfrm>
            <a:off x="7339202" y="3489579"/>
            <a:ext cx="48006" cy="80010"/>
          </a:xfrm>
          <a:custGeom>
            <a:avLst/>
            <a:gdLst/>
            <a:ahLst/>
            <a:cxnLst/>
            <a:rect l="l" t="t" r="r" b="b"/>
            <a:pathLst>
              <a:path w="48006" h="80010">
                <a:moveTo>
                  <a:pt x="0" y="24003"/>
                </a:moveTo>
                <a:lnTo>
                  <a:pt x="24004" y="24003"/>
                </a:lnTo>
                <a:lnTo>
                  <a:pt x="48006" y="0"/>
                </a:lnTo>
                <a:lnTo>
                  <a:pt x="48006" y="80010"/>
                </a:lnTo>
                <a:lnTo>
                  <a:pt x="24004" y="56007"/>
                </a:lnTo>
                <a:lnTo>
                  <a:pt x="0" y="56007"/>
                </a:lnTo>
                <a:close/>
              </a:path>
            </a:pathLst>
          </a:cu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N07/line/029"/>
          <p:cNvCxnSpPr/>
          <p:nvPr/>
        </p:nvCxnSpPr>
        <p:spPr>
          <a:xfrm>
            <a:off x="7403211" y="3505581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N07/line/030"/>
          <p:cNvCxnSpPr/>
          <p:nvPr/>
        </p:nvCxnSpPr>
        <p:spPr>
          <a:xfrm flipH="1">
            <a:off x="7403211" y="3529584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N07/rect/031"/>
          <p:cNvSpPr/>
          <p:nvPr/>
        </p:nvSpPr>
        <p:spPr>
          <a:xfrm>
            <a:off x="7559802" y="3505581"/>
            <a:ext cx="88011" cy="48006"/>
          </a:xfrm>
          <a:prstGeom prst="roundRect">
            <a:avLst>
              <a:gd name="adj" fmla="val 16666"/>
            </a:avLst>
          </a:prstGeom>
          <a:noFill/>
          <a:ln w="1016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07/rect/032"/>
          <p:cNvSpPr/>
          <p:nvPr/>
        </p:nvSpPr>
        <p:spPr>
          <a:xfrm>
            <a:off x="7647813" y="3521583"/>
            <a:ext cx="12001" cy="1600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N07/rect/033"/>
          <p:cNvSpPr/>
          <p:nvPr/>
        </p:nvSpPr>
        <p:spPr>
          <a:xfrm>
            <a:off x="7571803" y="3517582"/>
            <a:ext cx="48006" cy="24003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N07/text/034"/>
          <p:cNvSpPr txBox="1"/>
          <p:nvPr/>
        </p:nvSpPr>
        <p:spPr>
          <a:xfrm>
            <a:off x="7754112" y="3337560"/>
            <a:ext cx="27432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F5F7"/>
                </a:solidFill>
                <a:latin typeface="Arial"/>
              </a:rPr>
              <a:t>⏻</a:t>
            </a:r>
          </a:p>
        </p:txBody>
      </p:sp>
      <p:grpSp>
        <p:nvGrpSpPr>
          <p:cNvPr id="47" name="N07/closed-media-paused"/>
          <p:cNvGrpSpPr/>
          <p:nvPr/>
        </p:nvGrpSpPr>
        <p:grpSpPr>
          <a:xfrm>
            <a:off x="2994659" y="3337560"/>
            <a:ext cx="2651760" cy="384048"/>
            <a:chOff x="2994659" y="3337560"/>
            <a:chExt cx="2651760" cy="384048"/>
          </a:xfrm>
        </p:grpSpPr>
        <p:sp>
          <p:nvSpPr>
            <p:cNvPr id="48" name="N07/closed-media-paused/notch-surface-closed/001"/>
            <p:cNvSpPr/>
            <p:nvPr/>
          </p:nvSpPr>
          <p:spPr>
            <a:xfrm>
              <a:off x="2994659" y="3337560"/>
              <a:ext cx="2651760" cy="384048"/>
            </a:xfrm>
            <a:custGeom>
              <a:avLst/>
              <a:gdLst/>
              <a:ahLst/>
              <a:cxnLst/>
              <a:rect l="l" t="t" r="r" b="b"/>
              <a:pathLst>
                <a:path w="2651760" h="384048">
                  <a:moveTo>
                    <a:pt x="0" y="0"/>
                  </a:moveTo>
                  <a:lnTo>
                    <a:pt x="2651760" y="0"/>
                  </a:lnTo>
                  <a:lnTo>
                    <a:pt x="2643835" y="892"/>
                  </a:lnTo>
                  <a:lnTo>
                    <a:pt x="2634794" y="3571"/>
                  </a:lnTo>
                  <a:lnTo>
                    <a:pt x="2625306" y="8036"/>
                  </a:lnTo>
                  <a:lnTo>
                    <a:pt x="2616042" y="14287"/>
                  </a:lnTo>
                  <a:lnTo>
                    <a:pt x="2607670" y="22324"/>
                  </a:lnTo>
                  <a:lnTo>
                    <a:pt x="2600861" y="32146"/>
                  </a:lnTo>
                  <a:lnTo>
                    <a:pt x="2596285" y="43755"/>
                  </a:lnTo>
                  <a:lnTo>
                    <a:pt x="2594610" y="57150"/>
                  </a:lnTo>
                  <a:lnTo>
                    <a:pt x="2592048" y="276713"/>
                  </a:lnTo>
                  <a:lnTo>
                    <a:pt x="2584460" y="301728"/>
                  </a:lnTo>
                  <a:lnTo>
                    <a:pt x="2572137" y="324783"/>
                  </a:lnTo>
                  <a:lnTo>
                    <a:pt x="2555553" y="344990"/>
                  </a:lnTo>
                  <a:lnTo>
                    <a:pt x="2535346" y="361574"/>
                  </a:lnTo>
                  <a:lnTo>
                    <a:pt x="2512291" y="373897"/>
                  </a:lnTo>
                  <a:lnTo>
                    <a:pt x="2487276" y="381485"/>
                  </a:lnTo>
                  <a:lnTo>
                    <a:pt x="2461260" y="384048"/>
                  </a:lnTo>
                  <a:lnTo>
                    <a:pt x="190500" y="384048"/>
                  </a:lnTo>
                  <a:lnTo>
                    <a:pt x="164485" y="381485"/>
                  </a:lnTo>
                  <a:lnTo>
                    <a:pt x="139470" y="373897"/>
                  </a:lnTo>
                  <a:lnTo>
                    <a:pt x="116415" y="361574"/>
                  </a:lnTo>
                  <a:lnTo>
                    <a:pt x="96208" y="344990"/>
                  </a:lnTo>
                  <a:lnTo>
                    <a:pt x="79624" y="324783"/>
                  </a:lnTo>
                  <a:lnTo>
                    <a:pt x="67301" y="301728"/>
                  </a:lnTo>
                  <a:lnTo>
                    <a:pt x="59713" y="276713"/>
                  </a:lnTo>
                  <a:lnTo>
                    <a:pt x="57150" y="250698"/>
                  </a:lnTo>
                  <a:lnTo>
                    <a:pt x="57150" y="57150"/>
                  </a:lnTo>
                  <a:lnTo>
                    <a:pt x="55476" y="43755"/>
                  </a:lnTo>
                  <a:lnTo>
                    <a:pt x="50900" y="32146"/>
                  </a:lnTo>
                  <a:lnTo>
                    <a:pt x="44091" y="22324"/>
                  </a:lnTo>
                  <a:lnTo>
                    <a:pt x="35719" y="14287"/>
                  </a:lnTo>
                  <a:lnTo>
                    <a:pt x="26455" y="8036"/>
                  </a:lnTo>
                  <a:lnTo>
                    <a:pt x="16967" y="3571"/>
                  </a:lnTo>
                  <a:lnTo>
                    <a:pt x="7926" y="8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N07/closed-media-paused/album-art/002"/>
            <p:cNvSpPr/>
            <p:nvPr/>
          </p:nvSpPr>
          <p:spPr>
            <a:xfrm>
              <a:off x="3122675" y="3392424"/>
              <a:ext cx="274320" cy="274320"/>
            </a:xfrm>
            <a:prstGeom prst="roundRect">
              <a:avLst>
                <a:gd name="adj" fmla="val 29166"/>
              </a:avLst>
            </a:prstGeom>
            <a:solidFill>
              <a:srgbClr val="2A1B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N07/closed-media-paused/ellipse/003"/>
            <p:cNvSpPr/>
            <p:nvPr/>
          </p:nvSpPr>
          <p:spPr>
            <a:xfrm>
              <a:off x="3150107" y="3425342"/>
              <a:ext cx="150876" cy="150876"/>
            </a:xfrm>
            <a:prstGeom prst="ellipse">
              <a:avLst/>
            </a:prstGeom>
            <a:solidFill>
              <a:srgbClr val="BF5AF2">
                <a:alpha val="8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N07/closed-media-paused/ellipse/004"/>
            <p:cNvSpPr/>
            <p:nvPr/>
          </p:nvSpPr>
          <p:spPr>
            <a:xfrm>
              <a:off x="3237890" y="3496665"/>
              <a:ext cx="137160" cy="137160"/>
            </a:xfrm>
            <a:prstGeom prst="ellipse">
              <a:avLst/>
            </a:prstGeom>
            <a:solidFill>
              <a:srgbClr val="64D2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N07/closed-media-paused/rect/005"/>
            <p:cNvSpPr/>
            <p:nvPr/>
          </p:nvSpPr>
          <p:spPr>
            <a:xfrm>
              <a:off x="3172053" y="3562502"/>
              <a:ext cx="175564" cy="43891"/>
            </a:xfrm>
            <a:prstGeom prst="roundRect">
              <a:avLst>
                <a:gd name="adj" fmla="val 50000"/>
              </a:avLst>
            </a:prstGeom>
            <a:solidFill>
              <a:srgbClr val="30D158">
                <a:alpha val="9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N07/closed-media-paused/text/006"/>
            <p:cNvSpPr txBox="1"/>
            <p:nvPr/>
          </p:nvSpPr>
          <p:spPr>
            <a:xfrm>
              <a:off x="3122675" y="3392424"/>
              <a:ext cx="274320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40" b="1" i="0">
                  <a:solidFill>
                    <a:srgbClr val="FFFFFF"/>
                  </a:solidFill>
                  <a:latin typeface="Arial"/>
                </a:rPr>
                <a:t/>
              </a:r>
            </a:p>
          </p:txBody>
        </p:sp>
        <p:sp>
          <p:nvSpPr>
            <p:cNvPr id="54" name="N07/closed-media-paused/text/007"/>
            <p:cNvSpPr txBox="1"/>
            <p:nvPr/>
          </p:nvSpPr>
          <p:spPr>
            <a:xfrm>
              <a:off x="3470147" y="3337560"/>
              <a:ext cx="1700784" cy="38404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 i="0">
                  <a:solidFill>
                    <a:srgbClr val="F5F5F7"/>
                  </a:solidFill>
                  <a:latin typeface="Arial"/>
                </a:rPr>
                <a:t>14:32</a:t>
              </a:r>
            </a:p>
          </p:txBody>
        </p:sp>
        <p:sp>
          <p:nvSpPr>
            <p:cNvPr id="55" name="N07/closed-media-paused/rect/008"/>
            <p:cNvSpPr/>
            <p:nvPr/>
          </p:nvSpPr>
          <p:spPr>
            <a:xfrm>
              <a:off x="5303519" y="3488436"/>
              <a:ext cx="22860" cy="82296"/>
            </a:xfrm>
            <a:prstGeom prst="roundRect">
              <a:avLst>
                <a:gd name="adj" fmla="val 20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N07/closed-media-paused/rect/009"/>
            <p:cNvSpPr/>
            <p:nvPr/>
          </p:nvSpPr>
          <p:spPr>
            <a:xfrm>
              <a:off x="5344667" y="3488436"/>
              <a:ext cx="22860" cy="82296"/>
            </a:xfrm>
            <a:prstGeom prst="roundRect">
              <a:avLst>
                <a:gd name="adj" fmla="val 20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7" name="N07/text/035"/>
          <p:cNvSpPr txBox="1"/>
          <p:nvPr/>
        </p:nvSpPr>
        <p:spPr>
          <a:xfrm>
            <a:off x="502920" y="3931920"/>
            <a:ext cx="763524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Art remains; visualizer hidden. Stopped/no player returns to idle width.</a:t>
            </a:r>
          </a:p>
        </p:txBody>
      </p:sp>
      <p:sp>
        <p:nvSpPr>
          <p:cNvPr id="58" name="N07/gnome-panel/036"/>
          <p:cNvSpPr/>
          <p:nvPr/>
        </p:nvSpPr>
        <p:spPr>
          <a:xfrm>
            <a:off x="502920" y="4709160"/>
            <a:ext cx="7635240" cy="384048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N07/text/037"/>
          <p:cNvSpPr txBox="1"/>
          <p:nvPr/>
        </p:nvSpPr>
        <p:spPr>
          <a:xfrm>
            <a:off x="649224" y="4709160"/>
            <a:ext cx="109728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7"/>
                </a:solidFill>
                <a:latin typeface="Arial"/>
              </a:rPr>
              <a:t>Activities</a:t>
            </a:r>
          </a:p>
        </p:txBody>
      </p:sp>
      <p:cxnSp>
        <p:nvCxnSpPr>
          <p:cNvPr id="60" name="N07/line/038"/>
          <p:cNvCxnSpPr/>
          <p:nvPr/>
        </p:nvCxnSpPr>
        <p:spPr>
          <a:xfrm>
            <a:off x="7150608" y="4861179"/>
            <a:ext cx="0" cy="80010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N07/poly/039"/>
          <p:cNvSpPr/>
          <p:nvPr/>
        </p:nvSpPr>
        <p:spPr>
          <a:xfrm>
            <a:off x="7126605" y="4861179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24003"/>
                </a:moveTo>
                <a:lnTo>
                  <a:pt x="24003" y="0"/>
                </a:lnTo>
                <a:lnTo>
                  <a:pt x="48006" y="24003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N07/poly/040"/>
          <p:cNvSpPr/>
          <p:nvPr/>
        </p:nvSpPr>
        <p:spPr>
          <a:xfrm>
            <a:off x="7126605" y="4917186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0"/>
                </a:moveTo>
                <a:lnTo>
                  <a:pt x="24003" y="24003"/>
                </a:lnTo>
                <a:lnTo>
                  <a:pt x="48006" y="0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N07/poly/041"/>
          <p:cNvSpPr/>
          <p:nvPr/>
        </p:nvSpPr>
        <p:spPr>
          <a:xfrm>
            <a:off x="7339202" y="4861179"/>
            <a:ext cx="48006" cy="80010"/>
          </a:xfrm>
          <a:custGeom>
            <a:avLst/>
            <a:gdLst/>
            <a:ahLst/>
            <a:cxnLst/>
            <a:rect l="l" t="t" r="r" b="b"/>
            <a:pathLst>
              <a:path w="48006" h="80010">
                <a:moveTo>
                  <a:pt x="0" y="24003"/>
                </a:moveTo>
                <a:lnTo>
                  <a:pt x="24004" y="24003"/>
                </a:lnTo>
                <a:lnTo>
                  <a:pt x="48006" y="0"/>
                </a:lnTo>
                <a:lnTo>
                  <a:pt x="48006" y="80010"/>
                </a:lnTo>
                <a:lnTo>
                  <a:pt x="24004" y="56007"/>
                </a:lnTo>
                <a:lnTo>
                  <a:pt x="0" y="56007"/>
                </a:lnTo>
                <a:close/>
              </a:path>
            </a:pathLst>
          </a:cu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N07/line/042"/>
          <p:cNvCxnSpPr/>
          <p:nvPr/>
        </p:nvCxnSpPr>
        <p:spPr>
          <a:xfrm>
            <a:off x="7403211" y="4877181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N07/line/043"/>
          <p:cNvCxnSpPr/>
          <p:nvPr/>
        </p:nvCxnSpPr>
        <p:spPr>
          <a:xfrm flipH="1">
            <a:off x="7403211" y="4901184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N07/rect/044"/>
          <p:cNvSpPr/>
          <p:nvPr/>
        </p:nvSpPr>
        <p:spPr>
          <a:xfrm>
            <a:off x="7559802" y="4877181"/>
            <a:ext cx="88011" cy="48006"/>
          </a:xfrm>
          <a:prstGeom prst="roundRect">
            <a:avLst>
              <a:gd name="adj" fmla="val 16666"/>
            </a:avLst>
          </a:prstGeom>
          <a:noFill/>
          <a:ln w="1016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N07/rect/045"/>
          <p:cNvSpPr/>
          <p:nvPr/>
        </p:nvSpPr>
        <p:spPr>
          <a:xfrm>
            <a:off x="7647813" y="4893183"/>
            <a:ext cx="12001" cy="1600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N07/rect/046"/>
          <p:cNvSpPr/>
          <p:nvPr/>
        </p:nvSpPr>
        <p:spPr>
          <a:xfrm>
            <a:off x="7571803" y="4889182"/>
            <a:ext cx="48006" cy="24003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N07/text/047"/>
          <p:cNvSpPr txBox="1"/>
          <p:nvPr/>
        </p:nvSpPr>
        <p:spPr>
          <a:xfrm>
            <a:off x="7754112" y="4709160"/>
            <a:ext cx="27432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F5F7"/>
                </a:solidFill>
                <a:latin typeface="Arial"/>
              </a:rPr>
              <a:t>⏻</a:t>
            </a:r>
          </a:p>
        </p:txBody>
      </p:sp>
      <p:grpSp>
        <p:nvGrpSpPr>
          <p:cNvPr id="70" name="N07/closed-media-wings-disabled"/>
          <p:cNvGrpSpPr/>
          <p:nvPr/>
        </p:nvGrpSpPr>
        <p:grpSpPr>
          <a:xfrm>
            <a:off x="3337559" y="4709160"/>
            <a:ext cx="1965960" cy="384048"/>
            <a:chOff x="3337559" y="4709160"/>
            <a:chExt cx="1965960" cy="384048"/>
          </a:xfrm>
        </p:grpSpPr>
        <p:sp>
          <p:nvSpPr>
            <p:cNvPr id="71" name="N07/closed-media-wings-disabled/notch-surface-closed/001"/>
            <p:cNvSpPr/>
            <p:nvPr/>
          </p:nvSpPr>
          <p:spPr>
            <a:xfrm>
              <a:off x="3337559" y="4709160"/>
              <a:ext cx="1965960" cy="384048"/>
            </a:xfrm>
            <a:custGeom>
              <a:avLst/>
              <a:gdLst/>
              <a:ahLst/>
              <a:cxnLst/>
              <a:rect l="l" t="t" r="r" b="b"/>
              <a:pathLst>
                <a:path w="1965960" h="384048">
                  <a:moveTo>
                    <a:pt x="0" y="0"/>
                  </a:moveTo>
                  <a:lnTo>
                    <a:pt x="1965960" y="0"/>
                  </a:lnTo>
                  <a:lnTo>
                    <a:pt x="1958035" y="892"/>
                  </a:lnTo>
                  <a:lnTo>
                    <a:pt x="1948994" y="3571"/>
                  </a:lnTo>
                  <a:lnTo>
                    <a:pt x="1939506" y="8036"/>
                  </a:lnTo>
                  <a:lnTo>
                    <a:pt x="1930242" y="14287"/>
                  </a:lnTo>
                  <a:lnTo>
                    <a:pt x="1921870" y="22324"/>
                  </a:lnTo>
                  <a:lnTo>
                    <a:pt x="1915061" y="32146"/>
                  </a:lnTo>
                  <a:lnTo>
                    <a:pt x="1910485" y="43755"/>
                  </a:lnTo>
                  <a:lnTo>
                    <a:pt x="1908810" y="57150"/>
                  </a:lnTo>
                  <a:lnTo>
                    <a:pt x="1906248" y="276713"/>
                  </a:lnTo>
                  <a:lnTo>
                    <a:pt x="1898660" y="301728"/>
                  </a:lnTo>
                  <a:lnTo>
                    <a:pt x="1886337" y="324783"/>
                  </a:lnTo>
                  <a:lnTo>
                    <a:pt x="1869753" y="344990"/>
                  </a:lnTo>
                  <a:lnTo>
                    <a:pt x="1849546" y="361574"/>
                  </a:lnTo>
                  <a:lnTo>
                    <a:pt x="1826491" y="373897"/>
                  </a:lnTo>
                  <a:lnTo>
                    <a:pt x="1801476" y="381485"/>
                  </a:lnTo>
                  <a:lnTo>
                    <a:pt x="1775460" y="384048"/>
                  </a:lnTo>
                  <a:lnTo>
                    <a:pt x="190500" y="384048"/>
                  </a:lnTo>
                  <a:lnTo>
                    <a:pt x="164485" y="381485"/>
                  </a:lnTo>
                  <a:lnTo>
                    <a:pt x="139470" y="373897"/>
                  </a:lnTo>
                  <a:lnTo>
                    <a:pt x="116415" y="361574"/>
                  </a:lnTo>
                  <a:lnTo>
                    <a:pt x="96208" y="344990"/>
                  </a:lnTo>
                  <a:lnTo>
                    <a:pt x="79624" y="324783"/>
                  </a:lnTo>
                  <a:lnTo>
                    <a:pt x="67301" y="301728"/>
                  </a:lnTo>
                  <a:lnTo>
                    <a:pt x="59713" y="276713"/>
                  </a:lnTo>
                  <a:lnTo>
                    <a:pt x="57150" y="250698"/>
                  </a:lnTo>
                  <a:lnTo>
                    <a:pt x="57150" y="57150"/>
                  </a:lnTo>
                  <a:lnTo>
                    <a:pt x="55476" y="43755"/>
                  </a:lnTo>
                  <a:lnTo>
                    <a:pt x="50900" y="32146"/>
                  </a:lnTo>
                  <a:lnTo>
                    <a:pt x="44091" y="22324"/>
                  </a:lnTo>
                  <a:lnTo>
                    <a:pt x="35719" y="14287"/>
                  </a:lnTo>
                  <a:lnTo>
                    <a:pt x="26455" y="8036"/>
                  </a:lnTo>
                  <a:lnTo>
                    <a:pt x="16967" y="3571"/>
                  </a:lnTo>
                  <a:lnTo>
                    <a:pt x="7926" y="8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N07/closed-media-wings-disabled/text/002"/>
            <p:cNvSpPr txBox="1"/>
            <p:nvPr/>
          </p:nvSpPr>
          <p:spPr>
            <a:xfrm>
              <a:off x="3337559" y="4709160"/>
              <a:ext cx="1965960" cy="38404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 i="0">
                  <a:solidFill>
                    <a:srgbClr val="F5F5F7"/>
                  </a:solidFill>
                  <a:latin typeface="Arial"/>
                </a:rPr>
                <a:t>14:32</a:t>
              </a:r>
            </a:p>
          </p:txBody>
        </p:sp>
      </p:grpSp>
      <p:sp>
        <p:nvSpPr>
          <p:cNvPr id="73" name="N07/text/048"/>
          <p:cNvSpPr txBox="1"/>
          <p:nvPr/>
        </p:nvSpPr>
        <p:spPr>
          <a:xfrm>
            <a:off x="502920" y="5303520"/>
            <a:ext cx="763524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Settings off → no art/visualizer even while playing.</a:t>
            </a:r>
          </a:p>
        </p:txBody>
      </p:sp>
      <p:sp>
        <p:nvSpPr>
          <p:cNvPr id="74" name="N07/spec-panel/049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N07/text/050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76" name="N07/ellipse/051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N07/text/052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249×32 with wings</a:t>
            </a:r>
          </a:p>
        </p:txBody>
      </p:sp>
      <p:sp>
        <p:nvSpPr>
          <p:cNvPr id="78" name="N07/ellipse/053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N07/text/054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Art 20 px, radius 4</a:t>
            </a:r>
          </a:p>
        </p:txBody>
      </p:sp>
      <p:sp>
        <p:nvSpPr>
          <p:cNvPr id="80" name="N07/ellipse/055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N07/text/056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Bars 3×3 px, spacing 2</a:t>
            </a:r>
          </a:p>
        </p:txBody>
      </p:sp>
      <p:sp>
        <p:nvSpPr>
          <p:cNvPr id="82" name="N07/ellipse/057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N07/text/058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Visualizer only while closed + visible</a:t>
            </a:r>
          </a:p>
        </p:txBody>
      </p:sp>
      <p:cxnSp>
        <p:nvCxnSpPr>
          <p:cNvPr id="84" name="N07/line/059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N07/text/060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86" name="N07/edit-box/061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N07/edit-note/062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Wing width / art size / bar color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08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08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08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PEEK MODE</a:t>
            </a:r>
          </a:p>
        </p:txBody>
      </p:sp>
      <p:sp>
        <p:nvSpPr>
          <p:cNvPr id="5" name="N08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Notification peek</a:t>
            </a:r>
          </a:p>
        </p:txBody>
      </p:sp>
      <p:sp>
        <p:nvSpPr>
          <p:cNvPr id="6" name="N08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auto-open-notifications=true · 5000 ms default · critical urgency falls back to native banner</a:t>
            </a:r>
          </a:p>
        </p:txBody>
      </p:sp>
      <p:cxnSp>
        <p:nvCxnSpPr>
          <p:cNvPr id="7" name="N08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08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08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N08</a:t>
            </a:r>
          </a:p>
        </p:txBody>
      </p:sp>
      <p:sp>
        <p:nvSpPr>
          <p:cNvPr id="10" name="N08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09</a:t>
            </a:r>
          </a:p>
        </p:txBody>
      </p:sp>
      <p:grpSp>
        <p:nvGrpSpPr>
          <p:cNvPr id="11" name="N08/download-complete"/>
          <p:cNvGrpSpPr/>
          <p:nvPr/>
        </p:nvGrpSpPr>
        <p:grpSpPr>
          <a:xfrm>
            <a:off x="777240" y="1828800"/>
            <a:ext cx="5029200" cy="1645920"/>
            <a:chOff x="777240" y="1828800"/>
            <a:chExt cx="5029200" cy="1645920"/>
          </a:xfrm>
        </p:grpSpPr>
        <p:sp>
          <p:nvSpPr>
            <p:cNvPr id="12" name="N08/download-complete/notch-surface-peek/001"/>
            <p:cNvSpPr/>
            <p:nvPr/>
          </p:nvSpPr>
          <p:spPr>
            <a:xfrm>
              <a:off x="777240" y="1828800"/>
              <a:ext cx="5029200" cy="1645920"/>
            </a:xfrm>
            <a:custGeom>
              <a:avLst/>
              <a:gdLst/>
              <a:ahLst/>
              <a:cxnLst/>
              <a:rect l="l" t="t" r="r" b="b"/>
              <a:pathLst>
                <a:path w="5029200" h="1645920">
                  <a:moveTo>
                    <a:pt x="0" y="0"/>
                  </a:moveTo>
                  <a:lnTo>
                    <a:pt x="5029200" y="0"/>
                  </a:lnTo>
                  <a:lnTo>
                    <a:pt x="5021671" y="848"/>
                  </a:lnTo>
                  <a:lnTo>
                    <a:pt x="5013081" y="3393"/>
                  </a:lnTo>
                  <a:lnTo>
                    <a:pt x="5004068" y="7634"/>
                  </a:lnTo>
                  <a:lnTo>
                    <a:pt x="4995267" y="13573"/>
                  </a:lnTo>
                  <a:lnTo>
                    <a:pt x="4987314" y="21208"/>
                  </a:lnTo>
                  <a:lnTo>
                    <a:pt x="4980845" y="30539"/>
                  </a:lnTo>
                  <a:lnTo>
                    <a:pt x="4976498" y="41567"/>
                  </a:lnTo>
                  <a:lnTo>
                    <a:pt x="4974907" y="54292"/>
                  </a:lnTo>
                  <a:lnTo>
                    <a:pt x="4972473" y="1543952"/>
                  </a:lnTo>
                  <a:lnTo>
                    <a:pt x="4965264" y="1567716"/>
                  </a:lnTo>
                  <a:lnTo>
                    <a:pt x="4953557" y="1589618"/>
                  </a:lnTo>
                  <a:lnTo>
                    <a:pt x="4937803" y="1608815"/>
                  </a:lnTo>
                  <a:lnTo>
                    <a:pt x="4918606" y="1624570"/>
                  </a:lnTo>
                  <a:lnTo>
                    <a:pt x="4896704" y="1636276"/>
                  </a:lnTo>
                  <a:lnTo>
                    <a:pt x="4872939" y="1643485"/>
                  </a:lnTo>
                  <a:lnTo>
                    <a:pt x="4848224" y="1645920"/>
                  </a:lnTo>
                  <a:lnTo>
                    <a:pt x="180975" y="1645920"/>
                  </a:lnTo>
                  <a:lnTo>
                    <a:pt x="156260" y="1643485"/>
                  </a:lnTo>
                  <a:lnTo>
                    <a:pt x="132495" y="1636276"/>
                  </a:lnTo>
                  <a:lnTo>
                    <a:pt x="110593" y="1624570"/>
                  </a:lnTo>
                  <a:lnTo>
                    <a:pt x="91396" y="1608815"/>
                  </a:lnTo>
                  <a:lnTo>
                    <a:pt x="75642" y="1589618"/>
                  </a:lnTo>
                  <a:lnTo>
                    <a:pt x="63935" y="1567716"/>
                  </a:lnTo>
                  <a:lnTo>
                    <a:pt x="56726" y="1543952"/>
                  </a:lnTo>
                  <a:lnTo>
                    <a:pt x="54292" y="1519237"/>
                  </a:lnTo>
                  <a:lnTo>
                    <a:pt x="54292" y="54292"/>
                  </a:lnTo>
                  <a:lnTo>
                    <a:pt x="52701" y="41567"/>
                  </a:lnTo>
                  <a:lnTo>
                    <a:pt x="48354" y="30539"/>
                  </a:lnTo>
                  <a:lnTo>
                    <a:pt x="41885" y="21208"/>
                  </a:lnTo>
                  <a:lnTo>
                    <a:pt x="33932" y="13573"/>
                  </a:lnTo>
                  <a:lnTo>
                    <a:pt x="25131" y="7634"/>
                  </a:lnTo>
                  <a:lnTo>
                    <a:pt x="16118" y="3393"/>
                  </a:lnTo>
                  <a:lnTo>
                    <a:pt x="7528" y="8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08/download-complete/poly/002"/>
            <p:cNvSpPr/>
            <p:nvPr/>
          </p:nvSpPr>
          <p:spPr>
            <a:xfrm>
              <a:off x="1057275" y="2302002"/>
              <a:ext cx="171450" cy="154305"/>
            </a:xfrm>
            <a:custGeom>
              <a:avLst/>
              <a:gdLst/>
              <a:ahLst/>
              <a:cxnLst/>
              <a:rect l="l" t="t" r="r" b="b"/>
              <a:pathLst>
                <a:path w="171450" h="154305">
                  <a:moveTo>
                    <a:pt x="85725" y="0"/>
                  </a:moveTo>
                  <a:lnTo>
                    <a:pt x="34290" y="34290"/>
                  </a:lnTo>
                  <a:lnTo>
                    <a:pt x="17145" y="102870"/>
                  </a:lnTo>
                  <a:lnTo>
                    <a:pt x="0" y="154305"/>
                  </a:lnTo>
                  <a:lnTo>
                    <a:pt x="171450" y="154305"/>
                  </a:lnTo>
                  <a:lnTo>
                    <a:pt x="154305" y="102870"/>
                  </a:lnTo>
                  <a:lnTo>
                    <a:pt x="137160" y="34290"/>
                  </a:lnTo>
                  <a:close/>
                </a:path>
              </a:pathLst>
            </a:custGeom>
            <a:noFill/>
            <a:ln w="1270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N08/download-complete/line/003"/>
            <p:cNvCxnSpPr/>
            <p:nvPr/>
          </p:nvCxnSpPr>
          <p:spPr>
            <a:xfrm>
              <a:off x="1108710" y="2490597"/>
              <a:ext cx="68580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N08/download-complete/ellipse/004"/>
            <p:cNvSpPr/>
            <p:nvPr/>
          </p:nvSpPr>
          <p:spPr>
            <a:xfrm>
              <a:off x="1125855" y="2284857"/>
              <a:ext cx="34290" cy="34290"/>
            </a:xfrm>
            <a:prstGeom prst="ellipse">
              <a:avLst/>
            </a:pr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N08/download-complete/text/005"/>
            <p:cNvSpPr txBox="1"/>
            <p:nvPr/>
          </p:nvSpPr>
          <p:spPr>
            <a:xfrm>
              <a:off x="1435607" y="2221992"/>
              <a:ext cx="38862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5F5F7"/>
                  </a:solidFill>
                  <a:latin typeface="Arial"/>
                </a:rPr>
                <a:t>Download complete</a:t>
              </a:r>
            </a:p>
          </p:txBody>
        </p:sp>
        <p:sp>
          <p:nvSpPr>
            <p:cNvPr id="17" name="N08/download-complete/text/006"/>
            <p:cNvSpPr txBox="1"/>
            <p:nvPr/>
          </p:nvSpPr>
          <p:spPr>
            <a:xfrm>
              <a:off x="1435607" y="2487168"/>
              <a:ext cx="3886200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7C7CC"/>
                  </a:solidFill>
                  <a:latin typeface="Arial"/>
                </a:rPr>
                <a:t>Fedora-Workstation-44.iso is ready.</a:t>
              </a:r>
            </a:p>
          </p:txBody>
        </p:sp>
        <p:sp>
          <p:nvSpPr>
            <p:cNvPr id="18" name="N08/download-complete/button-close/007"/>
            <p:cNvSpPr/>
            <p:nvPr/>
          </p:nvSpPr>
          <p:spPr>
            <a:xfrm>
              <a:off x="5367527" y="2221992"/>
              <a:ext cx="256032" cy="256032"/>
            </a:xfrm>
            <a:prstGeom prst="roundRect">
              <a:avLst>
                <a:gd name="adj" fmla="val 27901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N08/download-complete/line/008"/>
            <p:cNvCxnSpPr/>
            <p:nvPr/>
          </p:nvCxnSpPr>
          <p:spPr>
            <a:xfrm>
              <a:off x="5466968" y="2321433"/>
              <a:ext cx="57150" cy="5715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N08/download-complete/line/009"/>
            <p:cNvCxnSpPr/>
            <p:nvPr/>
          </p:nvCxnSpPr>
          <p:spPr>
            <a:xfrm flipH="1">
              <a:off x="5466968" y="2321433"/>
              <a:ext cx="57150" cy="5715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N08/download-complete/button-Open/010"/>
            <p:cNvSpPr/>
            <p:nvPr/>
          </p:nvSpPr>
          <p:spPr>
            <a:xfrm>
              <a:off x="1435607" y="3035808"/>
              <a:ext cx="438912" cy="256032"/>
            </a:xfrm>
            <a:prstGeom prst="roundRect">
              <a:avLst>
                <a:gd name="adj" fmla="val 27901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08/download-complete/text/011"/>
            <p:cNvSpPr txBox="1"/>
            <p:nvPr/>
          </p:nvSpPr>
          <p:spPr>
            <a:xfrm>
              <a:off x="1478470" y="3035808"/>
              <a:ext cx="353187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8" b="0" i="0">
                  <a:solidFill>
                    <a:srgbClr val="E5E5EA"/>
                  </a:solidFill>
                  <a:latin typeface="Arial"/>
                </a:rPr>
                <a:t>Open</a:t>
              </a:r>
            </a:p>
          </p:txBody>
        </p:sp>
      </p:grpSp>
      <p:sp>
        <p:nvSpPr>
          <p:cNvPr id="23" name="N08/text/010"/>
          <p:cNvSpPr txBox="1"/>
          <p:nvPr/>
        </p:nvSpPr>
        <p:spPr>
          <a:xfrm>
            <a:off x="777240" y="3657600"/>
            <a:ext cx="502920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Basic peek: source icon 32 px · title/body · dismiss · Open.</a:t>
            </a:r>
          </a:p>
        </p:txBody>
      </p:sp>
      <p:grpSp>
        <p:nvGrpSpPr>
          <p:cNvPr id="24" name="N08/design-review-in-15-min"/>
          <p:cNvGrpSpPr/>
          <p:nvPr/>
        </p:nvGrpSpPr>
        <p:grpSpPr>
          <a:xfrm>
            <a:off x="777240" y="4160520"/>
            <a:ext cx="5029200" cy="1645920"/>
            <a:chOff x="777240" y="4160520"/>
            <a:chExt cx="5029200" cy="1645920"/>
          </a:xfrm>
        </p:grpSpPr>
        <p:sp>
          <p:nvSpPr>
            <p:cNvPr id="25" name="N08/design-review-in-15-min/notch-surface-peek/001"/>
            <p:cNvSpPr/>
            <p:nvPr/>
          </p:nvSpPr>
          <p:spPr>
            <a:xfrm>
              <a:off x="777240" y="4160520"/>
              <a:ext cx="5029200" cy="1645920"/>
            </a:xfrm>
            <a:custGeom>
              <a:avLst/>
              <a:gdLst/>
              <a:ahLst/>
              <a:cxnLst/>
              <a:rect l="l" t="t" r="r" b="b"/>
              <a:pathLst>
                <a:path w="5029200" h="1645920">
                  <a:moveTo>
                    <a:pt x="0" y="0"/>
                  </a:moveTo>
                  <a:lnTo>
                    <a:pt x="5029200" y="0"/>
                  </a:lnTo>
                  <a:lnTo>
                    <a:pt x="5021671" y="848"/>
                  </a:lnTo>
                  <a:lnTo>
                    <a:pt x="5013081" y="3393"/>
                  </a:lnTo>
                  <a:lnTo>
                    <a:pt x="5004068" y="7634"/>
                  </a:lnTo>
                  <a:lnTo>
                    <a:pt x="4995267" y="13573"/>
                  </a:lnTo>
                  <a:lnTo>
                    <a:pt x="4987314" y="21208"/>
                  </a:lnTo>
                  <a:lnTo>
                    <a:pt x="4980845" y="30539"/>
                  </a:lnTo>
                  <a:lnTo>
                    <a:pt x="4976498" y="41567"/>
                  </a:lnTo>
                  <a:lnTo>
                    <a:pt x="4974907" y="54292"/>
                  </a:lnTo>
                  <a:lnTo>
                    <a:pt x="4972473" y="1543952"/>
                  </a:lnTo>
                  <a:lnTo>
                    <a:pt x="4965264" y="1567716"/>
                  </a:lnTo>
                  <a:lnTo>
                    <a:pt x="4953557" y="1589618"/>
                  </a:lnTo>
                  <a:lnTo>
                    <a:pt x="4937803" y="1608815"/>
                  </a:lnTo>
                  <a:lnTo>
                    <a:pt x="4918606" y="1624570"/>
                  </a:lnTo>
                  <a:lnTo>
                    <a:pt x="4896704" y="1636276"/>
                  </a:lnTo>
                  <a:lnTo>
                    <a:pt x="4872939" y="1643485"/>
                  </a:lnTo>
                  <a:lnTo>
                    <a:pt x="4848224" y="1645920"/>
                  </a:lnTo>
                  <a:lnTo>
                    <a:pt x="180975" y="1645920"/>
                  </a:lnTo>
                  <a:lnTo>
                    <a:pt x="156260" y="1643485"/>
                  </a:lnTo>
                  <a:lnTo>
                    <a:pt x="132495" y="1636276"/>
                  </a:lnTo>
                  <a:lnTo>
                    <a:pt x="110593" y="1624570"/>
                  </a:lnTo>
                  <a:lnTo>
                    <a:pt x="91396" y="1608815"/>
                  </a:lnTo>
                  <a:lnTo>
                    <a:pt x="75642" y="1589618"/>
                  </a:lnTo>
                  <a:lnTo>
                    <a:pt x="63935" y="1567716"/>
                  </a:lnTo>
                  <a:lnTo>
                    <a:pt x="56726" y="1543952"/>
                  </a:lnTo>
                  <a:lnTo>
                    <a:pt x="54292" y="1519237"/>
                  </a:lnTo>
                  <a:lnTo>
                    <a:pt x="54292" y="54292"/>
                  </a:lnTo>
                  <a:lnTo>
                    <a:pt x="52701" y="41567"/>
                  </a:lnTo>
                  <a:lnTo>
                    <a:pt x="48354" y="30539"/>
                  </a:lnTo>
                  <a:lnTo>
                    <a:pt x="41885" y="21208"/>
                  </a:lnTo>
                  <a:lnTo>
                    <a:pt x="33932" y="13573"/>
                  </a:lnTo>
                  <a:lnTo>
                    <a:pt x="25131" y="7634"/>
                  </a:lnTo>
                  <a:lnTo>
                    <a:pt x="16118" y="3393"/>
                  </a:lnTo>
                  <a:lnTo>
                    <a:pt x="7528" y="8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N08/design-review-in-15-min/poly/002"/>
            <p:cNvSpPr/>
            <p:nvPr/>
          </p:nvSpPr>
          <p:spPr>
            <a:xfrm>
              <a:off x="1057275" y="4633721"/>
              <a:ext cx="171450" cy="154305"/>
            </a:xfrm>
            <a:custGeom>
              <a:avLst/>
              <a:gdLst/>
              <a:ahLst/>
              <a:cxnLst/>
              <a:rect l="l" t="t" r="r" b="b"/>
              <a:pathLst>
                <a:path w="171450" h="154305">
                  <a:moveTo>
                    <a:pt x="85725" y="0"/>
                  </a:moveTo>
                  <a:lnTo>
                    <a:pt x="34290" y="34291"/>
                  </a:lnTo>
                  <a:lnTo>
                    <a:pt x="17145" y="102871"/>
                  </a:lnTo>
                  <a:lnTo>
                    <a:pt x="0" y="154305"/>
                  </a:lnTo>
                  <a:lnTo>
                    <a:pt x="171450" y="154305"/>
                  </a:lnTo>
                  <a:lnTo>
                    <a:pt x="154305" y="102871"/>
                  </a:lnTo>
                  <a:lnTo>
                    <a:pt x="137160" y="34291"/>
                  </a:lnTo>
                  <a:close/>
                </a:path>
              </a:pathLst>
            </a:custGeom>
            <a:noFill/>
            <a:ln w="1270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N08/design-review-in-15-min/line/003"/>
            <p:cNvCxnSpPr/>
            <p:nvPr/>
          </p:nvCxnSpPr>
          <p:spPr>
            <a:xfrm>
              <a:off x="1108710" y="4822317"/>
              <a:ext cx="68580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N08/design-review-in-15-min/ellipse/004"/>
            <p:cNvSpPr/>
            <p:nvPr/>
          </p:nvSpPr>
          <p:spPr>
            <a:xfrm>
              <a:off x="1125855" y="4616576"/>
              <a:ext cx="34290" cy="34290"/>
            </a:xfrm>
            <a:prstGeom prst="ellipse">
              <a:avLst/>
            </a:pr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N08/design-review-in-15-min/text/005"/>
            <p:cNvSpPr txBox="1"/>
            <p:nvPr/>
          </p:nvSpPr>
          <p:spPr>
            <a:xfrm>
              <a:off x="1435607" y="4553712"/>
              <a:ext cx="38862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5F5F7"/>
                  </a:solidFill>
                  <a:latin typeface="Arial"/>
                </a:rPr>
                <a:t>Design review in 15 min</a:t>
              </a:r>
            </a:p>
          </p:txBody>
        </p:sp>
        <p:sp>
          <p:nvSpPr>
            <p:cNvPr id="30" name="N08/design-review-in-15-min/text/006"/>
            <p:cNvSpPr txBox="1"/>
            <p:nvPr/>
          </p:nvSpPr>
          <p:spPr>
            <a:xfrm>
              <a:off x="1435607" y="4818888"/>
              <a:ext cx="3886200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7C7CC"/>
                  </a:solidFill>
                  <a:latin typeface="Arial"/>
                </a:rPr>
                <a:t>Notch UI pass · Meeting room 2</a:t>
              </a:r>
            </a:p>
          </p:txBody>
        </p:sp>
        <p:sp>
          <p:nvSpPr>
            <p:cNvPr id="31" name="N08/design-review-in-15-min/button-close/007"/>
            <p:cNvSpPr/>
            <p:nvPr/>
          </p:nvSpPr>
          <p:spPr>
            <a:xfrm>
              <a:off x="5367527" y="4553712"/>
              <a:ext cx="256032" cy="256032"/>
            </a:xfrm>
            <a:prstGeom prst="roundRect">
              <a:avLst>
                <a:gd name="adj" fmla="val 27901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N08/design-review-in-15-min/line/008"/>
            <p:cNvCxnSpPr/>
            <p:nvPr/>
          </p:nvCxnSpPr>
          <p:spPr>
            <a:xfrm>
              <a:off x="5466968" y="4653152"/>
              <a:ext cx="57150" cy="5715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N08/design-review-in-15-min/line/009"/>
            <p:cNvCxnSpPr/>
            <p:nvPr/>
          </p:nvCxnSpPr>
          <p:spPr>
            <a:xfrm flipH="1">
              <a:off x="5466968" y="4653152"/>
              <a:ext cx="57150" cy="5715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N08/design-review-in-15-min/button-Join/010"/>
            <p:cNvSpPr/>
            <p:nvPr/>
          </p:nvSpPr>
          <p:spPr>
            <a:xfrm>
              <a:off x="1435607" y="5367527"/>
              <a:ext cx="438912" cy="256032"/>
            </a:xfrm>
            <a:prstGeom prst="roundRect">
              <a:avLst>
                <a:gd name="adj" fmla="val 27901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08/design-review-in-15-min/text/011"/>
            <p:cNvSpPr txBox="1"/>
            <p:nvPr/>
          </p:nvSpPr>
          <p:spPr>
            <a:xfrm>
              <a:off x="1478470" y="5367527"/>
              <a:ext cx="353187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8" b="0" i="0">
                  <a:solidFill>
                    <a:srgbClr val="E5E5EA"/>
                  </a:solidFill>
                  <a:latin typeface="Arial"/>
                </a:rPr>
                <a:t>Join</a:t>
              </a:r>
            </a:p>
          </p:txBody>
        </p:sp>
        <p:sp>
          <p:nvSpPr>
            <p:cNvPr id="36" name="N08/design-review-in-15-min/button-Dismiss/012"/>
            <p:cNvSpPr/>
            <p:nvPr/>
          </p:nvSpPr>
          <p:spPr>
            <a:xfrm>
              <a:off x="1965960" y="5367527"/>
              <a:ext cx="644652" cy="256032"/>
            </a:xfrm>
            <a:prstGeom prst="roundRect">
              <a:avLst>
                <a:gd name="adj" fmla="val 27901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N08/design-review-in-15-min/text/013"/>
            <p:cNvSpPr txBox="1"/>
            <p:nvPr/>
          </p:nvSpPr>
          <p:spPr>
            <a:xfrm>
              <a:off x="2008822" y="5367527"/>
              <a:ext cx="558927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8" b="0" i="0">
                  <a:solidFill>
                    <a:srgbClr val="E5E5EA"/>
                  </a:solidFill>
                  <a:latin typeface="Arial"/>
                </a:rPr>
                <a:t>Dismiss</a:t>
              </a:r>
            </a:p>
          </p:txBody>
        </p:sp>
        <p:sp>
          <p:nvSpPr>
            <p:cNvPr id="38" name="N08/design-review-in-15-min/button-Open/014"/>
            <p:cNvSpPr/>
            <p:nvPr/>
          </p:nvSpPr>
          <p:spPr>
            <a:xfrm>
              <a:off x="2702052" y="5367527"/>
              <a:ext cx="438912" cy="256032"/>
            </a:xfrm>
            <a:prstGeom prst="roundRect">
              <a:avLst>
                <a:gd name="adj" fmla="val 27901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08/design-review-in-15-min/text/015"/>
            <p:cNvSpPr txBox="1"/>
            <p:nvPr/>
          </p:nvSpPr>
          <p:spPr>
            <a:xfrm>
              <a:off x="2744914" y="5367527"/>
              <a:ext cx="353187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8" b="0" i="0">
                  <a:solidFill>
                    <a:srgbClr val="E5E5EA"/>
                  </a:solidFill>
                  <a:latin typeface="Arial"/>
                </a:rPr>
                <a:t>Open</a:t>
              </a:r>
            </a:p>
          </p:txBody>
        </p:sp>
      </p:grpSp>
      <p:sp>
        <p:nvSpPr>
          <p:cNvPr id="40" name="N08/text/011"/>
          <p:cNvSpPr txBox="1"/>
          <p:nvPr/>
        </p:nvSpPr>
        <p:spPr>
          <a:xfrm>
            <a:off x="777240" y="5989320"/>
            <a:ext cx="502920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Up to 2 native actions + Open. Clicking the notch opens Alerts.</a:t>
            </a:r>
          </a:p>
        </p:txBody>
      </p:sp>
      <p:sp>
        <p:nvSpPr>
          <p:cNvPr id="41" name="N08/spec-panel/012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08/text/013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43" name="N08/ellipse/014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08/text/015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440×144 at panel 32</a:t>
            </a:r>
          </a:p>
        </p:txBody>
      </p:sp>
      <p:sp>
        <p:nvSpPr>
          <p:cNvPr id="45" name="N08/ellipse/016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N08/text/017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Icon 32 px, radius 8</a:t>
            </a:r>
          </a:p>
        </p:txBody>
      </p:sp>
      <p:sp>
        <p:nvSpPr>
          <p:cNvPr id="47" name="N08/ellipse/018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08/text/019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Body wraps; title ellipsizes</a:t>
            </a:r>
          </a:p>
        </p:txBody>
      </p:sp>
      <p:sp>
        <p:nvSpPr>
          <p:cNvPr id="49" name="N08/ellipse/020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N08/text/021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Hover/press postpones timeout</a:t>
            </a:r>
          </a:p>
        </p:txBody>
      </p:sp>
      <p:cxnSp>
        <p:nvCxnSpPr>
          <p:cNvPr id="51" name="N08/line/022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N08/text/023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53" name="N08/edit-box/024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N08/edit-note/025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Peek height / duration / action order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46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46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46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CLOSED MODE</a:t>
            </a:r>
          </a:p>
        </p:txBody>
      </p:sp>
      <p:sp>
        <p:nvSpPr>
          <p:cNvPr id="5" name="N46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Closed variants and fallbacks</a:t>
            </a:r>
          </a:p>
        </p:txBody>
      </p:sp>
      <p:sp>
        <p:nvSpPr>
          <p:cNvPr id="6" name="N46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Clock off · unread · hover · custom collapsed height</a:t>
            </a:r>
          </a:p>
        </p:txBody>
      </p:sp>
      <p:cxnSp>
        <p:nvCxnSpPr>
          <p:cNvPr id="7" name="N46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46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46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N46</a:t>
            </a:r>
          </a:p>
        </p:txBody>
      </p:sp>
      <p:sp>
        <p:nvSpPr>
          <p:cNvPr id="10" name="N46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10</a:t>
            </a:r>
          </a:p>
        </p:txBody>
      </p:sp>
      <p:sp>
        <p:nvSpPr>
          <p:cNvPr id="11" name="N46/text/010"/>
          <p:cNvSpPr txBox="1"/>
          <p:nvPr/>
        </p:nvSpPr>
        <p:spPr>
          <a:xfrm>
            <a:off x="502920" y="1783080"/>
            <a:ext cx="365760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7"/>
                </a:solidFill>
                <a:latin typeface="Arial"/>
              </a:rPr>
              <a:t>Clock off</a:t>
            </a:r>
          </a:p>
        </p:txBody>
      </p:sp>
      <p:sp>
        <p:nvSpPr>
          <p:cNvPr id="12" name="N46/gnome-panel/011"/>
          <p:cNvSpPr/>
          <p:nvPr/>
        </p:nvSpPr>
        <p:spPr>
          <a:xfrm>
            <a:off x="502920" y="2093976"/>
            <a:ext cx="3657600" cy="329184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46/text/012"/>
          <p:cNvSpPr txBox="1"/>
          <p:nvPr/>
        </p:nvSpPr>
        <p:spPr>
          <a:xfrm>
            <a:off x="649224" y="2093976"/>
            <a:ext cx="1097280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7"/>
                </a:solidFill>
                <a:latin typeface="Arial"/>
              </a:rPr>
              <a:t>Activities</a:t>
            </a:r>
          </a:p>
        </p:txBody>
      </p:sp>
      <p:sp>
        <p:nvSpPr>
          <p:cNvPr id="14" name="N46/text/013"/>
          <p:cNvSpPr txBox="1"/>
          <p:nvPr/>
        </p:nvSpPr>
        <p:spPr>
          <a:xfrm>
            <a:off x="1417319" y="2093976"/>
            <a:ext cx="1828800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Fri Oct 30  14:32</a:t>
            </a:r>
          </a:p>
        </p:txBody>
      </p:sp>
      <p:cxnSp>
        <p:nvCxnSpPr>
          <p:cNvPr id="15" name="N46/line/014"/>
          <p:cNvCxnSpPr/>
          <p:nvPr/>
        </p:nvCxnSpPr>
        <p:spPr>
          <a:xfrm>
            <a:off x="3172968" y="2218563"/>
            <a:ext cx="0" cy="80010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N46/poly/015"/>
          <p:cNvSpPr/>
          <p:nvPr/>
        </p:nvSpPr>
        <p:spPr>
          <a:xfrm>
            <a:off x="3148965" y="2218563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24003"/>
                </a:moveTo>
                <a:lnTo>
                  <a:pt x="24003" y="0"/>
                </a:lnTo>
                <a:lnTo>
                  <a:pt x="48006" y="24003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46/poly/016"/>
          <p:cNvSpPr/>
          <p:nvPr/>
        </p:nvSpPr>
        <p:spPr>
          <a:xfrm>
            <a:off x="3148965" y="2274570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0"/>
                </a:moveTo>
                <a:lnTo>
                  <a:pt x="24003" y="24003"/>
                </a:lnTo>
                <a:lnTo>
                  <a:pt x="48006" y="0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46/poly/017"/>
          <p:cNvSpPr/>
          <p:nvPr/>
        </p:nvSpPr>
        <p:spPr>
          <a:xfrm>
            <a:off x="3361563" y="2218563"/>
            <a:ext cx="48006" cy="80010"/>
          </a:xfrm>
          <a:custGeom>
            <a:avLst/>
            <a:gdLst/>
            <a:ahLst/>
            <a:cxnLst/>
            <a:rect l="l" t="t" r="r" b="b"/>
            <a:pathLst>
              <a:path w="48006" h="80010">
                <a:moveTo>
                  <a:pt x="0" y="24003"/>
                </a:moveTo>
                <a:lnTo>
                  <a:pt x="24003" y="24003"/>
                </a:lnTo>
                <a:lnTo>
                  <a:pt x="48006" y="0"/>
                </a:lnTo>
                <a:lnTo>
                  <a:pt x="48006" y="80010"/>
                </a:lnTo>
                <a:lnTo>
                  <a:pt x="24003" y="56007"/>
                </a:lnTo>
                <a:lnTo>
                  <a:pt x="0" y="56007"/>
                </a:lnTo>
                <a:close/>
              </a:path>
            </a:pathLst>
          </a:cu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N46/line/018"/>
          <p:cNvCxnSpPr/>
          <p:nvPr/>
        </p:nvCxnSpPr>
        <p:spPr>
          <a:xfrm>
            <a:off x="3425571" y="2234565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N46/line/019"/>
          <p:cNvCxnSpPr/>
          <p:nvPr/>
        </p:nvCxnSpPr>
        <p:spPr>
          <a:xfrm flipH="1">
            <a:off x="3425571" y="2258568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N46/rect/020"/>
          <p:cNvSpPr/>
          <p:nvPr/>
        </p:nvSpPr>
        <p:spPr>
          <a:xfrm>
            <a:off x="3582162" y="2234565"/>
            <a:ext cx="88011" cy="48006"/>
          </a:xfrm>
          <a:prstGeom prst="roundRect">
            <a:avLst>
              <a:gd name="adj" fmla="val 16666"/>
            </a:avLst>
          </a:prstGeom>
          <a:noFill/>
          <a:ln w="1016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46/rect/021"/>
          <p:cNvSpPr/>
          <p:nvPr/>
        </p:nvSpPr>
        <p:spPr>
          <a:xfrm>
            <a:off x="3670173" y="2250567"/>
            <a:ext cx="12001" cy="1600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46/rect/022"/>
          <p:cNvSpPr/>
          <p:nvPr/>
        </p:nvSpPr>
        <p:spPr>
          <a:xfrm>
            <a:off x="3594163" y="2246566"/>
            <a:ext cx="48006" cy="24003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46/text/023"/>
          <p:cNvSpPr txBox="1"/>
          <p:nvPr/>
        </p:nvSpPr>
        <p:spPr>
          <a:xfrm>
            <a:off x="3776472" y="2093976"/>
            <a:ext cx="274320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F5F7"/>
                </a:solidFill>
                <a:latin typeface="Arial"/>
              </a:rPr>
              <a:t>⏻</a:t>
            </a:r>
          </a:p>
        </p:txBody>
      </p:sp>
      <p:grpSp>
        <p:nvGrpSpPr>
          <p:cNvPr id="25" name="N46/clock-off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6" name="N46/clock-off/notch-surface-closed/001"/>
            <p:cNvSpPr/>
            <p:nvPr/>
          </p:nvSpPr>
          <p:spPr>
            <a:xfrm>
              <a:off x="1394460" y="2093976"/>
              <a:ext cx="1874520" cy="329184"/>
            </a:xfrm>
            <a:custGeom>
              <a:avLst/>
              <a:gdLst/>
              <a:ahLst/>
              <a:cxnLst/>
              <a:rect l="l" t="t" r="r" b="b"/>
              <a:pathLst>
                <a:path w="1874520" h="329184">
                  <a:moveTo>
                    <a:pt x="0" y="0"/>
                  </a:moveTo>
                  <a:lnTo>
                    <a:pt x="1874520" y="0"/>
                  </a:lnTo>
                  <a:lnTo>
                    <a:pt x="1867387" y="803"/>
                  </a:lnTo>
                  <a:lnTo>
                    <a:pt x="1859250" y="3214"/>
                  </a:lnTo>
                  <a:lnTo>
                    <a:pt x="1850711" y="7233"/>
                  </a:lnTo>
                  <a:lnTo>
                    <a:pt x="1842373" y="12858"/>
                  </a:lnTo>
                  <a:lnTo>
                    <a:pt x="1834838" y="20091"/>
                  </a:lnTo>
                  <a:lnTo>
                    <a:pt x="1828710" y="28932"/>
                  </a:lnTo>
                  <a:lnTo>
                    <a:pt x="1824591" y="39379"/>
                  </a:lnTo>
                  <a:lnTo>
                    <a:pt x="1823085" y="51435"/>
                  </a:lnTo>
                  <a:lnTo>
                    <a:pt x="1820778" y="232582"/>
                  </a:lnTo>
                  <a:lnTo>
                    <a:pt x="1813949" y="255096"/>
                  </a:lnTo>
                  <a:lnTo>
                    <a:pt x="1802858" y="275845"/>
                  </a:lnTo>
                  <a:lnTo>
                    <a:pt x="1787933" y="294032"/>
                  </a:lnTo>
                  <a:lnTo>
                    <a:pt x="1769746" y="308957"/>
                  </a:lnTo>
                  <a:lnTo>
                    <a:pt x="1748997" y="320048"/>
                  </a:lnTo>
                  <a:lnTo>
                    <a:pt x="1726483" y="326877"/>
                  </a:lnTo>
                  <a:lnTo>
                    <a:pt x="1703070" y="329184"/>
                  </a:lnTo>
                  <a:lnTo>
                    <a:pt x="171450" y="329184"/>
                  </a:lnTo>
                  <a:lnTo>
                    <a:pt x="148036" y="326877"/>
                  </a:lnTo>
                  <a:lnTo>
                    <a:pt x="125522" y="320048"/>
                  </a:lnTo>
                  <a:lnTo>
                    <a:pt x="104773" y="308957"/>
                  </a:lnTo>
                  <a:lnTo>
                    <a:pt x="86586" y="294032"/>
                  </a:lnTo>
                  <a:lnTo>
                    <a:pt x="71661" y="275845"/>
                  </a:lnTo>
                  <a:lnTo>
                    <a:pt x="60570" y="255096"/>
                  </a:lnTo>
                  <a:lnTo>
                    <a:pt x="53741" y="232582"/>
                  </a:lnTo>
                  <a:lnTo>
                    <a:pt x="51435" y="209169"/>
                  </a:lnTo>
                  <a:lnTo>
                    <a:pt x="51435" y="51435"/>
                  </a:lnTo>
                  <a:lnTo>
                    <a:pt x="49928" y="39379"/>
                  </a:lnTo>
                  <a:lnTo>
                    <a:pt x="45809" y="28932"/>
                  </a:lnTo>
                  <a:lnTo>
                    <a:pt x="39681" y="20091"/>
                  </a:lnTo>
                  <a:lnTo>
                    <a:pt x="32146" y="12858"/>
                  </a:lnTo>
                  <a:lnTo>
                    <a:pt x="23808" y="7233"/>
                  </a:lnTo>
                  <a:lnTo>
                    <a:pt x="15269" y="3214"/>
                  </a:lnTo>
                  <a:lnTo>
                    <a:pt x="7132" y="8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7" name="N46/text/024"/>
          <p:cNvSpPr txBox="1"/>
          <p:nvPr/>
        </p:nvSpPr>
        <p:spPr>
          <a:xfrm>
            <a:off x="502920" y="253288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1A1A6"/>
                </a:solidFill>
                <a:latin typeface="Arial"/>
              </a:rPr>
              <a:t>idle-clock=false: closed notch is blank; click/shortcut still opens.</a:t>
            </a:r>
          </a:p>
        </p:txBody>
      </p:sp>
      <p:sp>
        <p:nvSpPr>
          <p:cNvPr id="28" name="N46/text/025"/>
          <p:cNvSpPr txBox="1"/>
          <p:nvPr/>
        </p:nvSpPr>
        <p:spPr>
          <a:xfrm>
            <a:off x="4434840" y="1783080"/>
            <a:ext cx="365760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7"/>
                </a:solidFill>
                <a:latin typeface="Arial"/>
              </a:rPr>
              <a:t>Unread alert</a:t>
            </a:r>
          </a:p>
        </p:txBody>
      </p:sp>
      <p:sp>
        <p:nvSpPr>
          <p:cNvPr id="29" name="N46/gnome-panel/026"/>
          <p:cNvSpPr/>
          <p:nvPr/>
        </p:nvSpPr>
        <p:spPr>
          <a:xfrm>
            <a:off x="4434840" y="2093976"/>
            <a:ext cx="3657600" cy="329184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46/text/027"/>
          <p:cNvSpPr txBox="1"/>
          <p:nvPr/>
        </p:nvSpPr>
        <p:spPr>
          <a:xfrm>
            <a:off x="4581144" y="2093976"/>
            <a:ext cx="1097280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7"/>
                </a:solidFill>
                <a:latin typeface="Arial"/>
              </a:rPr>
              <a:t>Activities</a:t>
            </a:r>
          </a:p>
        </p:txBody>
      </p:sp>
      <p:cxnSp>
        <p:nvCxnSpPr>
          <p:cNvPr id="31" name="N46/line/028"/>
          <p:cNvCxnSpPr/>
          <p:nvPr/>
        </p:nvCxnSpPr>
        <p:spPr>
          <a:xfrm>
            <a:off x="7104888" y="2218563"/>
            <a:ext cx="0" cy="80010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N46/poly/029"/>
          <p:cNvSpPr/>
          <p:nvPr/>
        </p:nvSpPr>
        <p:spPr>
          <a:xfrm>
            <a:off x="7080884" y="2218563"/>
            <a:ext cx="48007" cy="24003"/>
          </a:xfrm>
          <a:custGeom>
            <a:avLst/>
            <a:gdLst/>
            <a:ahLst/>
            <a:cxnLst/>
            <a:rect l="l" t="t" r="r" b="b"/>
            <a:pathLst>
              <a:path w="48007" h="24003">
                <a:moveTo>
                  <a:pt x="0" y="24003"/>
                </a:moveTo>
                <a:lnTo>
                  <a:pt x="24004" y="0"/>
                </a:lnTo>
                <a:lnTo>
                  <a:pt x="48007" y="24003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N46/poly/030"/>
          <p:cNvSpPr/>
          <p:nvPr/>
        </p:nvSpPr>
        <p:spPr>
          <a:xfrm>
            <a:off x="7080884" y="2274570"/>
            <a:ext cx="48007" cy="24003"/>
          </a:xfrm>
          <a:custGeom>
            <a:avLst/>
            <a:gdLst/>
            <a:ahLst/>
            <a:cxnLst/>
            <a:rect l="l" t="t" r="r" b="b"/>
            <a:pathLst>
              <a:path w="48007" h="24003">
                <a:moveTo>
                  <a:pt x="0" y="0"/>
                </a:moveTo>
                <a:lnTo>
                  <a:pt x="24004" y="24003"/>
                </a:lnTo>
                <a:lnTo>
                  <a:pt x="48007" y="0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N46/poly/031"/>
          <p:cNvSpPr/>
          <p:nvPr/>
        </p:nvSpPr>
        <p:spPr>
          <a:xfrm>
            <a:off x="7293482" y="2218563"/>
            <a:ext cx="48006" cy="80010"/>
          </a:xfrm>
          <a:custGeom>
            <a:avLst/>
            <a:gdLst/>
            <a:ahLst/>
            <a:cxnLst/>
            <a:rect l="l" t="t" r="r" b="b"/>
            <a:pathLst>
              <a:path w="48006" h="80010">
                <a:moveTo>
                  <a:pt x="0" y="24003"/>
                </a:moveTo>
                <a:lnTo>
                  <a:pt x="24004" y="24003"/>
                </a:lnTo>
                <a:lnTo>
                  <a:pt x="48006" y="0"/>
                </a:lnTo>
                <a:lnTo>
                  <a:pt x="48006" y="80010"/>
                </a:lnTo>
                <a:lnTo>
                  <a:pt x="24004" y="56007"/>
                </a:lnTo>
                <a:lnTo>
                  <a:pt x="0" y="56007"/>
                </a:lnTo>
                <a:close/>
              </a:path>
            </a:pathLst>
          </a:cu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N46/line/032"/>
          <p:cNvCxnSpPr/>
          <p:nvPr/>
        </p:nvCxnSpPr>
        <p:spPr>
          <a:xfrm>
            <a:off x="7357490" y="2234565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N46/line/033"/>
          <p:cNvCxnSpPr/>
          <p:nvPr/>
        </p:nvCxnSpPr>
        <p:spPr>
          <a:xfrm flipH="1">
            <a:off x="7357490" y="2258568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N46/rect/034"/>
          <p:cNvSpPr/>
          <p:nvPr/>
        </p:nvSpPr>
        <p:spPr>
          <a:xfrm>
            <a:off x="7514081" y="2234565"/>
            <a:ext cx="88011" cy="48006"/>
          </a:xfrm>
          <a:prstGeom prst="roundRect">
            <a:avLst>
              <a:gd name="adj" fmla="val 16666"/>
            </a:avLst>
          </a:prstGeom>
          <a:noFill/>
          <a:ln w="1016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46/rect/035"/>
          <p:cNvSpPr/>
          <p:nvPr/>
        </p:nvSpPr>
        <p:spPr>
          <a:xfrm>
            <a:off x="7602092" y="2250567"/>
            <a:ext cx="12001" cy="1600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46/rect/036"/>
          <p:cNvSpPr/>
          <p:nvPr/>
        </p:nvSpPr>
        <p:spPr>
          <a:xfrm>
            <a:off x="7526083" y="2246566"/>
            <a:ext cx="48006" cy="24003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N46/text/037"/>
          <p:cNvSpPr txBox="1"/>
          <p:nvPr/>
        </p:nvSpPr>
        <p:spPr>
          <a:xfrm>
            <a:off x="7708392" y="2093976"/>
            <a:ext cx="274320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F5F7"/>
                </a:solidFill>
                <a:latin typeface="Arial"/>
              </a:rPr>
              <a:t>⏻</a:t>
            </a:r>
          </a:p>
        </p:txBody>
      </p:sp>
      <p:grpSp>
        <p:nvGrpSpPr>
          <p:cNvPr id="41" name="N46/unread-alert"/>
          <p:cNvGrpSpPr/>
          <p:nvPr/>
        </p:nvGrpSpPr>
        <p:grpSpPr>
          <a:xfrm>
            <a:off x="5326379" y="2093976"/>
            <a:ext cx="1874520" cy="329184"/>
            <a:chOff x="5326379" y="2093976"/>
            <a:chExt cx="1874520" cy="329184"/>
          </a:xfrm>
        </p:grpSpPr>
        <p:sp>
          <p:nvSpPr>
            <p:cNvPr id="42" name="N46/unread-alert/notch-surface-closed/001"/>
            <p:cNvSpPr/>
            <p:nvPr/>
          </p:nvSpPr>
          <p:spPr>
            <a:xfrm>
              <a:off x="5326379" y="2093976"/>
              <a:ext cx="1874520" cy="329184"/>
            </a:xfrm>
            <a:custGeom>
              <a:avLst/>
              <a:gdLst/>
              <a:ahLst/>
              <a:cxnLst/>
              <a:rect l="l" t="t" r="r" b="b"/>
              <a:pathLst>
                <a:path w="1874520" h="329184">
                  <a:moveTo>
                    <a:pt x="0" y="0"/>
                  </a:moveTo>
                  <a:lnTo>
                    <a:pt x="1874520" y="0"/>
                  </a:lnTo>
                  <a:lnTo>
                    <a:pt x="1867388" y="803"/>
                  </a:lnTo>
                  <a:lnTo>
                    <a:pt x="1859251" y="3214"/>
                  </a:lnTo>
                  <a:lnTo>
                    <a:pt x="1850712" y="7233"/>
                  </a:lnTo>
                  <a:lnTo>
                    <a:pt x="1842374" y="12858"/>
                  </a:lnTo>
                  <a:lnTo>
                    <a:pt x="1834839" y="20091"/>
                  </a:lnTo>
                  <a:lnTo>
                    <a:pt x="1828711" y="28932"/>
                  </a:lnTo>
                  <a:lnTo>
                    <a:pt x="1824592" y="39379"/>
                  </a:lnTo>
                  <a:lnTo>
                    <a:pt x="1823085" y="51435"/>
                  </a:lnTo>
                  <a:lnTo>
                    <a:pt x="1820779" y="232582"/>
                  </a:lnTo>
                  <a:lnTo>
                    <a:pt x="1813950" y="255096"/>
                  </a:lnTo>
                  <a:lnTo>
                    <a:pt x="1802859" y="275845"/>
                  </a:lnTo>
                  <a:lnTo>
                    <a:pt x="1787934" y="294032"/>
                  </a:lnTo>
                  <a:lnTo>
                    <a:pt x="1769747" y="308957"/>
                  </a:lnTo>
                  <a:lnTo>
                    <a:pt x="1748998" y="320048"/>
                  </a:lnTo>
                  <a:lnTo>
                    <a:pt x="1726484" y="326877"/>
                  </a:lnTo>
                  <a:lnTo>
                    <a:pt x="1703070" y="329184"/>
                  </a:lnTo>
                  <a:lnTo>
                    <a:pt x="171450" y="329184"/>
                  </a:lnTo>
                  <a:lnTo>
                    <a:pt x="148037" y="326877"/>
                  </a:lnTo>
                  <a:lnTo>
                    <a:pt x="125523" y="320048"/>
                  </a:lnTo>
                  <a:lnTo>
                    <a:pt x="104774" y="308957"/>
                  </a:lnTo>
                  <a:lnTo>
                    <a:pt x="86587" y="294032"/>
                  </a:lnTo>
                  <a:lnTo>
                    <a:pt x="71662" y="275845"/>
                  </a:lnTo>
                  <a:lnTo>
                    <a:pt x="60571" y="255096"/>
                  </a:lnTo>
                  <a:lnTo>
                    <a:pt x="53742" y="232582"/>
                  </a:lnTo>
                  <a:lnTo>
                    <a:pt x="51436" y="209169"/>
                  </a:lnTo>
                  <a:lnTo>
                    <a:pt x="51436" y="51435"/>
                  </a:lnTo>
                  <a:lnTo>
                    <a:pt x="49929" y="39379"/>
                  </a:lnTo>
                  <a:lnTo>
                    <a:pt x="45810" y="28932"/>
                  </a:lnTo>
                  <a:lnTo>
                    <a:pt x="39682" y="20091"/>
                  </a:lnTo>
                  <a:lnTo>
                    <a:pt x="32147" y="12858"/>
                  </a:lnTo>
                  <a:lnTo>
                    <a:pt x="23809" y="7233"/>
                  </a:lnTo>
                  <a:lnTo>
                    <a:pt x="15270" y="3214"/>
                  </a:lnTo>
                  <a:lnTo>
                    <a:pt x="7133" y="8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N46/unread-alert/text/002"/>
            <p:cNvSpPr txBox="1"/>
            <p:nvPr/>
          </p:nvSpPr>
          <p:spPr>
            <a:xfrm>
              <a:off x="5326379" y="2093976"/>
              <a:ext cx="1874519" cy="3291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F5F5F7"/>
                  </a:solidFill>
                  <a:latin typeface="Arial"/>
                </a:rPr>
                <a:t>14:32</a:t>
              </a:r>
            </a:p>
          </p:txBody>
        </p:sp>
        <p:sp>
          <p:nvSpPr>
            <p:cNvPr id="44" name="N46/unread-alert/ellipse/003"/>
            <p:cNvSpPr/>
            <p:nvPr/>
          </p:nvSpPr>
          <p:spPr>
            <a:xfrm>
              <a:off x="6647688" y="2231136"/>
              <a:ext cx="54864" cy="54864"/>
            </a:xfrm>
            <a:prstGeom prst="ellipse">
              <a:avLst/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5" name="N46/text/038"/>
          <p:cNvSpPr txBox="1"/>
          <p:nvPr/>
        </p:nvSpPr>
        <p:spPr>
          <a:xfrm>
            <a:off x="4434840" y="253288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1A1A6"/>
                </a:solidFill>
                <a:latin typeface="Arial"/>
              </a:rPr>
              <a:t>Unread dot only appears with idle clock enabled.</a:t>
            </a:r>
          </a:p>
        </p:txBody>
      </p:sp>
      <p:sp>
        <p:nvSpPr>
          <p:cNvPr id="46" name="N46/text/039"/>
          <p:cNvSpPr txBox="1"/>
          <p:nvPr/>
        </p:nvSpPr>
        <p:spPr>
          <a:xfrm>
            <a:off x="502920" y="3794760"/>
            <a:ext cx="365760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7"/>
                </a:solidFill>
                <a:latin typeface="Arial"/>
              </a:rPr>
              <a:t>Hover affordance</a:t>
            </a:r>
          </a:p>
        </p:txBody>
      </p:sp>
      <p:sp>
        <p:nvSpPr>
          <p:cNvPr id="47" name="N46/gnome-panel/040"/>
          <p:cNvSpPr/>
          <p:nvPr/>
        </p:nvSpPr>
        <p:spPr>
          <a:xfrm>
            <a:off x="502920" y="4105656"/>
            <a:ext cx="3657600" cy="329184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46/text/041"/>
          <p:cNvSpPr txBox="1"/>
          <p:nvPr/>
        </p:nvSpPr>
        <p:spPr>
          <a:xfrm>
            <a:off x="649224" y="4105656"/>
            <a:ext cx="1097280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7"/>
                </a:solidFill>
                <a:latin typeface="Arial"/>
              </a:rPr>
              <a:t>Activities</a:t>
            </a:r>
          </a:p>
        </p:txBody>
      </p:sp>
      <p:cxnSp>
        <p:nvCxnSpPr>
          <p:cNvPr id="49" name="N46/line/042"/>
          <p:cNvCxnSpPr/>
          <p:nvPr/>
        </p:nvCxnSpPr>
        <p:spPr>
          <a:xfrm>
            <a:off x="3172968" y="4230243"/>
            <a:ext cx="0" cy="80009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N46/poly/043"/>
          <p:cNvSpPr/>
          <p:nvPr/>
        </p:nvSpPr>
        <p:spPr>
          <a:xfrm>
            <a:off x="3148965" y="4230243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24003"/>
                </a:moveTo>
                <a:lnTo>
                  <a:pt x="24003" y="0"/>
                </a:lnTo>
                <a:lnTo>
                  <a:pt x="48006" y="24003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N46/poly/044"/>
          <p:cNvSpPr/>
          <p:nvPr/>
        </p:nvSpPr>
        <p:spPr>
          <a:xfrm>
            <a:off x="3148965" y="4286250"/>
            <a:ext cx="48006" cy="24002"/>
          </a:xfrm>
          <a:custGeom>
            <a:avLst/>
            <a:gdLst/>
            <a:ahLst/>
            <a:cxnLst/>
            <a:rect l="l" t="t" r="r" b="b"/>
            <a:pathLst>
              <a:path w="48006" h="24002">
                <a:moveTo>
                  <a:pt x="0" y="0"/>
                </a:moveTo>
                <a:lnTo>
                  <a:pt x="24003" y="24002"/>
                </a:lnTo>
                <a:lnTo>
                  <a:pt x="48006" y="0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N46/poly/045"/>
          <p:cNvSpPr/>
          <p:nvPr/>
        </p:nvSpPr>
        <p:spPr>
          <a:xfrm>
            <a:off x="3361563" y="4230243"/>
            <a:ext cx="48006" cy="80009"/>
          </a:xfrm>
          <a:custGeom>
            <a:avLst/>
            <a:gdLst/>
            <a:ahLst/>
            <a:cxnLst/>
            <a:rect l="l" t="t" r="r" b="b"/>
            <a:pathLst>
              <a:path w="48006" h="80009">
                <a:moveTo>
                  <a:pt x="0" y="24003"/>
                </a:moveTo>
                <a:lnTo>
                  <a:pt x="24003" y="24003"/>
                </a:lnTo>
                <a:lnTo>
                  <a:pt x="48006" y="0"/>
                </a:lnTo>
                <a:lnTo>
                  <a:pt x="48006" y="80009"/>
                </a:lnTo>
                <a:lnTo>
                  <a:pt x="24003" y="56007"/>
                </a:lnTo>
                <a:lnTo>
                  <a:pt x="0" y="56007"/>
                </a:lnTo>
                <a:close/>
              </a:path>
            </a:pathLst>
          </a:cu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N46/line/046"/>
          <p:cNvCxnSpPr/>
          <p:nvPr/>
        </p:nvCxnSpPr>
        <p:spPr>
          <a:xfrm>
            <a:off x="3425571" y="4246245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N46/line/047"/>
          <p:cNvCxnSpPr/>
          <p:nvPr/>
        </p:nvCxnSpPr>
        <p:spPr>
          <a:xfrm flipH="1">
            <a:off x="3425571" y="4270248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N46/rect/048"/>
          <p:cNvSpPr/>
          <p:nvPr/>
        </p:nvSpPr>
        <p:spPr>
          <a:xfrm>
            <a:off x="3582162" y="4246245"/>
            <a:ext cx="88011" cy="48006"/>
          </a:xfrm>
          <a:prstGeom prst="roundRect">
            <a:avLst>
              <a:gd name="adj" fmla="val 16666"/>
            </a:avLst>
          </a:prstGeom>
          <a:noFill/>
          <a:ln w="1016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N46/rect/049"/>
          <p:cNvSpPr/>
          <p:nvPr/>
        </p:nvSpPr>
        <p:spPr>
          <a:xfrm>
            <a:off x="3670173" y="4262247"/>
            <a:ext cx="12001" cy="1600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N46/rect/050"/>
          <p:cNvSpPr/>
          <p:nvPr/>
        </p:nvSpPr>
        <p:spPr>
          <a:xfrm>
            <a:off x="3594163" y="4258246"/>
            <a:ext cx="48006" cy="24003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N46/text/051"/>
          <p:cNvSpPr txBox="1"/>
          <p:nvPr/>
        </p:nvSpPr>
        <p:spPr>
          <a:xfrm>
            <a:off x="3776472" y="4105656"/>
            <a:ext cx="274320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F5F7"/>
                </a:solidFill>
                <a:latin typeface="Arial"/>
              </a:rPr>
              <a:t>⏻</a:t>
            </a:r>
          </a:p>
        </p:txBody>
      </p:sp>
      <p:grpSp>
        <p:nvGrpSpPr>
          <p:cNvPr id="59" name="N46/hover-affordance"/>
          <p:cNvGrpSpPr/>
          <p:nvPr/>
        </p:nvGrpSpPr>
        <p:grpSpPr>
          <a:xfrm>
            <a:off x="1339596" y="4105656"/>
            <a:ext cx="1984248" cy="365760"/>
            <a:chOff x="1339596" y="4105656"/>
            <a:chExt cx="1984248" cy="365760"/>
          </a:xfrm>
        </p:grpSpPr>
        <p:sp>
          <p:nvSpPr>
            <p:cNvPr id="60" name="N46/hover-affordance/notch-surface-closed/001"/>
            <p:cNvSpPr/>
            <p:nvPr/>
          </p:nvSpPr>
          <p:spPr>
            <a:xfrm>
              <a:off x="1339596" y="4105656"/>
              <a:ext cx="1984248" cy="365760"/>
            </a:xfrm>
            <a:custGeom>
              <a:avLst/>
              <a:gdLst/>
              <a:ahLst/>
              <a:cxnLst/>
              <a:rect l="l" t="t" r="r" b="b"/>
              <a:pathLst>
                <a:path w="1984248" h="365760">
                  <a:moveTo>
                    <a:pt x="0" y="0"/>
                  </a:moveTo>
                  <a:lnTo>
                    <a:pt x="1984248" y="0"/>
                  </a:lnTo>
                  <a:lnTo>
                    <a:pt x="1977115" y="803"/>
                  </a:lnTo>
                  <a:lnTo>
                    <a:pt x="1968978" y="3214"/>
                  </a:lnTo>
                  <a:lnTo>
                    <a:pt x="1960439" y="7233"/>
                  </a:lnTo>
                  <a:lnTo>
                    <a:pt x="1952101" y="12858"/>
                  </a:lnTo>
                  <a:lnTo>
                    <a:pt x="1944566" y="20091"/>
                  </a:lnTo>
                  <a:lnTo>
                    <a:pt x="1938438" y="28932"/>
                  </a:lnTo>
                  <a:lnTo>
                    <a:pt x="1934319" y="39379"/>
                  </a:lnTo>
                  <a:lnTo>
                    <a:pt x="1932813" y="51435"/>
                  </a:lnTo>
                  <a:lnTo>
                    <a:pt x="1930506" y="269158"/>
                  </a:lnTo>
                  <a:lnTo>
                    <a:pt x="1923677" y="291672"/>
                  </a:lnTo>
                  <a:lnTo>
                    <a:pt x="1912586" y="312421"/>
                  </a:lnTo>
                  <a:lnTo>
                    <a:pt x="1897661" y="330608"/>
                  </a:lnTo>
                  <a:lnTo>
                    <a:pt x="1879474" y="345533"/>
                  </a:lnTo>
                  <a:lnTo>
                    <a:pt x="1858725" y="356624"/>
                  </a:lnTo>
                  <a:lnTo>
                    <a:pt x="1836211" y="363453"/>
                  </a:lnTo>
                  <a:lnTo>
                    <a:pt x="1812798" y="365760"/>
                  </a:lnTo>
                  <a:lnTo>
                    <a:pt x="171450" y="365760"/>
                  </a:lnTo>
                  <a:lnTo>
                    <a:pt x="148036" y="363453"/>
                  </a:lnTo>
                  <a:lnTo>
                    <a:pt x="125522" y="356624"/>
                  </a:lnTo>
                  <a:lnTo>
                    <a:pt x="104773" y="345533"/>
                  </a:lnTo>
                  <a:lnTo>
                    <a:pt x="86586" y="330608"/>
                  </a:lnTo>
                  <a:lnTo>
                    <a:pt x="71661" y="312421"/>
                  </a:lnTo>
                  <a:lnTo>
                    <a:pt x="60570" y="291672"/>
                  </a:lnTo>
                  <a:lnTo>
                    <a:pt x="53741" y="269158"/>
                  </a:lnTo>
                  <a:lnTo>
                    <a:pt x="51435" y="245745"/>
                  </a:lnTo>
                  <a:lnTo>
                    <a:pt x="51435" y="51435"/>
                  </a:lnTo>
                  <a:lnTo>
                    <a:pt x="49928" y="39379"/>
                  </a:lnTo>
                  <a:lnTo>
                    <a:pt x="45809" y="28932"/>
                  </a:lnTo>
                  <a:lnTo>
                    <a:pt x="39681" y="20091"/>
                  </a:lnTo>
                  <a:lnTo>
                    <a:pt x="32146" y="12858"/>
                  </a:lnTo>
                  <a:lnTo>
                    <a:pt x="23808" y="7233"/>
                  </a:lnTo>
                  <a:lnTo>
                    <a:pt x="15269" y="3214"/>
                  </a:lnTo>
                  <a:lnTo>
                    <a:pt x="7132" y="8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N46/hover-affordance/text/002"/>
            <p:cNvSpPr txBox="1"/>
            <p:nvPr/>
          </p:nvSpPr>
          <p:spPr>
            <a:xfrm>
              <a:off x="1339596" y="4105656"/>
              <a:ext cx="1984248" cy="3657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F5F5F7"/>
                  </a:solidFill>
                  <a:latin typeface="Arial"/>
                </a:rPr>
                <a:t>14:32</a:t>
              </a:r>
            </a:p>
          </p:txBody>
        </p:sp>
      </p:grpSp>
      <p:sp>
        <p:nvSpPr>
          <p:cNvPr id="62" name="N46/text/052"/>
          <p:cNvSpPr txBox="1"/>
          <p:nvPr/>
        </p:nvSpPr>
        <p:spPr>
          <a:xfrm>
            <a:off x="502920" y="454456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1A1A6"/>
                </a:solidFill>
                <a:latin typeface="Arial"/>
              </a:rPr>
              <a:t>Panel placement grows +12×4 px before opening.</a:t>
            </a:r>
          </a:p>
        </p:txBody>
      </p:sp>
      <p:sp>
        <p:nvSpPr>
          <p:cNvPr id="63" name="N46/text/053"/>
          <p:cNvSpPr txBox="1"/>
          <p:nvPr/>
        </p:nvSpPr>
        <p:spPr>
          <a:xfrm>
            <a:off x="4434840" y="3794760"/>
            <a:ext cx="365760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7"/>
                </a:solidFill>
                <a:latin typeface="Arial"/>
              </a:rPr>
              <a:t>Custom height</a:t>
            </a:r>
          </a:p>
        </p:txBody>
      </p:sp>
      <p:sp>
        <p:nvSpPr>
          <p:cNvPr id="64" name="N46/gnome-panel/054"/>
          <p:cNvSpPr/>
          <p:nvPr/>
        </p:nvSpPr>
        <p:spPr>
          <a:xfrm>
            <a:off x="4434840" y="4105656"/>
            <a:ext cx="3657600" cy="329184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N46/text/055"/>
          <p:cNvSpPr txBox="1"/>
          <p:nvPr/>
        </p:nvSpPr>
        <p:spPr>
          <a:xfrm>
            <a:off x="4581144" y="4105656"/>
            <a:ext cx="1097280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7"/>
                </a:solidFill>
                <a:latin typeface="Arial"/>
              </a:rPr>
              <a:t>Activities</a:t>
            </a:r>
          </a:p>
        </p:txBody>
      </p:sp>
      <p:cxnSp>
        <p:nvCxnSpPr>
          <p:cNvPr id="66" name="N46/line/056"/>
          <p:cNvCxnSpPr/>
          <p:nvPr/>
        </p:nvCxnSpPr>
        <p:spPr>
          <a:xfrm>
            <a:off x="7104888" y="4230243"/>
            <a:ext cx="0" cy="80009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N46/poly/057"/>
          <p:cNvSpPr/>
          <p:nvPr/>
        </p:nvSpPr>
        <p:spPr>
          <a:xfrm>
            <a:off x="7080884" y="4230243"/>
            <a:ext cx="48007" cy="24003"/>
          </a:xfrm>
          <a:custGeom>
            <a:avLst/>
            <a:gdLst/>
            <a:ahLst/>
            <a:cxnLst/>
            <a:rect l="l" t="t" r="r" b="b"/>
            <a:pathLst>
              <a:path w="48007" h="24003">
                <a:moveTo>
                  <a:pt x="0" y="24003"/>
                </a:moveTo>
                <a:lnTo>
                  <a:pt x="24004" y="0"/>
                </a:lnTo>
                <a:lnTo>
                  <a:pt x="48007" y="24003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N46/poly/058"/>
          <p:cNvSpPr/>
          <p:nvPr/>
        </p:nvSpPr>
        <p:spPr>
          <a:xfrm>
            <a:off x="7080884" y="4286250"/>
            <a:ext cx="48007" cy="24002"/>
          </a:xfrm>
          <a:custGeom>
            <a:avLst/>
            <a:gdLst/>
            <a:ahLst/>
            <a:cxnLst/>
            <a:rect l="l" t="t" r="r" b="b"/>
            <a:pathLst>
              <a:path w="48007" h="24002">
                <a:moveTo>
                  <a:pt x="0" y="0"/>
                </a:moveTo>
                <a:lnTo>
                  <a:pt x="24004" y="24002"/>
                </a:lnTo>
                <a:lnTo>
                  <a:pt x="48007" y="0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N46/poly/059"/>
          <p:cNvSpPr/>
          <p:nvPr/>
        </p:nvSpPr>
        <p:spPr>
          <a:xfrm>
            <a:off x="7293482" y="4230243"/>
            <a:ext cx="48006" cy="80009"/>
          </a:xfrm>
          <a:custGeom>
            <a:avLst/>
            <a:gdLst/>
            <a:ahLst/>
            <a:cxnLst/>
            <a:rect l="l" t="t" r="r" b="b"/>
            <a:pathLst>
              <a:path w="48006" h="80009">
                <a:moveTo>
                  <a:pt x="0" y="24003"/>
                </a:moveTo>
                <a:lnTo>
                  <a:pt x="24004" y="24003"/>
                </a:lnTo>
                <a:lnTo>
                  <a:pt x="48006" y="0"/>
                </a:lnTo>
                <a:lnTo>
                  <a:pt x="48006" y="80009"/>
                </a:lnTo>
                <a:lnTo>
                  <a:pt x="24004" y="56007"/>
                </a:lnTo>
                <a:lnTo>
                  <a:pt x="0" y="56007"/>
                </a:lnTo>
                <a:close/>
              </a:path>
            </a:pathLst>
          </a:cu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N46/line/060"/>
          <p:cNvCxnSpPr/>
          <p:nvPr/>
        </p:nvCxnSpPr>
        <p:spPr>
          <a:xfrm>
            <a:off x="7357490" y="4246245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N46/line/061"/>
          <p:cNvCxnSpPr/>
          <p:nvPr/>
        </p:nvCxnSpPr>
        <p:spPr>
          <a:xfrm flipH="1">
            <a:off x="7357490" y="4270248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N46/rect/062"/>
          <p:cNvSpPr/>
          <p:nvPr/>
        </p:nvSpPr>
        <p:spPr>
          <a:xfrm>
            <a:off x="7514081" y="4246245"/>
            <a:ext cx="88011" cy="48006"/>
          </a:xfrm>
          <a:prstGeom prst="roundRect">
            <a:avLst>
              <a:gd name="adj" fmla="val 16666"/>
            </a:avLst>
          </a:prstGeom>
          <a:noFill/>
          <a:ln w="1016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N46/rect/063"/>
          <p:cNvSpPr/>
          <p:nvPr/>
        </p:nvSpPr>
        <p:spPr>
          <a:xfrm>
            <a:off x="7602092" y="4262247"/>
            <a:ext cx="12001" cy="1600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N46/rect/064"/>
          <p:cNvSpPr/>
          <p:nvPr/>
        </p:nvSpPr>
        <p:spPr>
          <a:xfrm>
            <a:off x="7526083" y="4258246"/>
            <a:ext cx="48006" cy="24003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N46/text/065"/>
          <p:cNvSpPr txBox="1"/>
          <p:nvPr/>
        </p:nvSpPr>
        <p:spPr>
          <a:xfrm>
            <a:off x="7708392" y="4105656"/>
            <a:ext cx="274320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F5F7"/>
                </a:solidFill>
                <a:latin typeface="Arial"/>
              </a:rPr>
              <a:t>⏻</a:t>
            </a:r>
          </a:p>
        </p:txBody>
      </p:sp>
      <p:grpSp>
        <p:nvGrpSpPr>
          <p:cNvPr id="76" name="N46/custom-height"/>
          <p:cNvGrpSpPr/>
          <p:nvPr/>
        </p:nvGrpSpPr>
        <p:grpSpPr>
          <a:xfrm>
            <a:off x="5326379" y="4105656"/>
            <a:ext cx="1874520" cy="420624"/>
            <a:chOff x="5326379" y="4105656"/>
            <a:chExt cx="1874520" cy="420624"/>
          </a:xfrm>
        </p:grpSpPr>
        <p:sp>
          <p:nvSpPr>
            <p:cNvPr id="77" name="N46/custom-height/notch-surface-closed/001"/>
            <p:cNvSpPr/>
            <p:nvPr/>
          </p:nvSpPr>
          <p:spPr>
            <a:xfrm>
              <a:off x="5326379" y="4105656"/>
              <a:ext cx="1874520" cy="420624"/>
            </a:xfrm>
            <a:custGeom>
              <a:avLst/>
              <a:gdLst/>
              <a:ahLst/>
              <a:cxnLst/>
              <a:rect l="l" t="t" r="r" b="b"/>
              <a:pathLst>
                <a:path w="1874520" h="420624">
                  <a:moveTo>
                    <a:pt x="0" y="0"/>
                  </a:moveTo>
                  <a:lnTo>
                    <a:pt x="1874520" y="0"/>
                  </a:lnTo>
                  <a:lnTo>
                    <a:pt x="1867388" y="803"/>
                  </a:lnTo>
                  <a:lnTo>
                    <a:pt x="1859251" y="3214"/>
                  </a:lnTo>
                  <a:lnTo>
                    <a:pt x="1850712" y="7233"/>
                  </a:lnTo>
                  <a:lnTo>
                    <a:pt x="1842374" y="12858"/>
                  </a:lnTo>
                  <a:lnTo>
                    <a:pt x="1834839" y="20091"/>
                  </a:lnTo>
                  <a:lnTo>
                    <a:pt x="1828711" y="28932"/>
                  </a:lnTo>
                  <a:lnTo>
                    <a:pt x="1824592" y="39379"/>
                  </a:lnTo>
                  <a:lnTo>
                    <a:pt x="1823085" y="51435"/>
                  </a:lnTo>
                  <a:lnTo>
                    <a:pt x="1820779" y="324022"/>
                  </a:lnTo>
                  <a:lnTo>
                    <a:pt x="1813950" y="346536"/>
                  </a:lnTo>
                  <a:lnTo>
                    <a:pt x="1802859" y="367285"/>
                  </a:lnTo>
                  <a:lnTo>
                    <a:pt x="1787934" y="385472"/>
                  </a:lnTo>
                  <a:lnTo>
                    <a:pt x="1769747" y="400397"/>
                  </a:lnTo>
                  <a:lnTo>
                    <a:pt x="1748998" y="411488"/>
                  </a:lnTo>
                  <a:lnTo>
                    <a:pt x="1726484" y="418317"/>
                  </a:lnTo>
                  <a:lnTo>
                    <a:pt x="1703070" y="420624"/>
                  </a:lnTo>
                  <a:lnTo>
                    <a:pt x="171450" y="420624"/>
                  </a:lnTo>
                  <a:lnTo>
                    <a:pt x="148037" y="418317"/>
                  </a:lnTo>
                  <a:lnTo>
                    <a:pt x="125523" y="411488"/>
                  </a:lnTo>
                  <a:lnTo>
                    <a:pt x="104774" y="400397"/>
                  </a:lnTo>
                  <a:lnTo>
                    <a:pt x="86587" y="385472"/>
                  </a:lnTo>
                  <a:lnTo>
                    <a:pt x="71662" y="367285"/>
                  </a:lnTo>
                  <a:lnTo>
                    <a:pt x="60571" y="346536"/>
                  </a:lnTo>
                  <a:lnTo>
                    <a:pt x="53742" y="324022"/>
                  </a:lnTo>
                  <a:lnTo>
                    <a:pt x="51436" y="300609"/>
                  </a:lnTo>
                  <a:lnTo>
                    <a:pt x="51436" y="51435"/>
                  </a:lnTo>
                  <a:lnTo>
                    <a:pt x="49929" y="39379"/>
                  </a:lnTo>
                  <a:lnTo>
                    <a:pt x="45810" y="28932"/>
                  </a:lnTo>
                  <a:lnTo>
                    <a:pt x="39682" y="20091"/>
                  </a:lnTo>
                  <a:lnTo>
                    <a:pt x="32147" y="12858"/>
                  </a:lnTo>
                  <a:lnTo>
                    <a:pt x="23809" y="7233"/>
                  </a:lnTo>
                  <a:lnTo>
                    <a:pt x="15270" y="3214"/>
                  </a:lnTo>
                  <a:lnTo>
                    <a:pt x="7133" y="8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N46/custom-height/text/002"/>
            <p:cNvSpPr txBox="1"/>
            <p:nvPr/>
          </p:nvSpPr>
          <p:spPr>
            <a:xfrm>
              <a:off x="5326379" y="4105656"/>
              <a:ext cx="1874519" cy="4206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F5F5F7"/>
                  </a:solidFill>
                  <a:latin typeface="Arial"/>
                </a:rPr>
                <a:t>14:32</a:t>
              </a:r>
            </a:p>
          </p:txBody>
        </p:sp>
      </p:grpSp>
      <p:sp>
        <p:nvSpPr>
          <p:cNvPr id="79" name="N46/text/066"/>
          <p:cNvSpPr txBox="1"/>
          <p:nvPr/>
        </p:nvSpPr>
        <p:spPr>
          <a:xfrm>
            <a:off x="4434840" y="454456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1A1A6"/>
                </a:solidFill>
                <a:latin typeface="Arial"/>
              </a:rPr>
              <a:t>match-panel-height=false uses collapsed-height (24–64 px).</a:t>
            </a:r>
          </a:p>
        </p:txBody>
      </p:sp>
      <p:sp>
        <p:nvSpPr>
          <p:cNvPr id="80" name="N46/spec-panel/067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N46/text/068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82" name="N46/ellipse/069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N46/text/070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Min closed width 150 px</a:t>
            </a:r>
          </a:p>
        </p:txBody>
      </p:sp>
      <p:sp>
        <p:nvSpPr>
          <p:cNvPr id="84" name="N46/ellipse/071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N46/text/072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Collapsed height 24–64 px</a:t>
            </a:r>
          </a:p>
        </p:txBody>
      </p:sp>
      <p:sp>
        <p:nvSpPr>
          <p:cNvPr id="86" name="N46/ellipse/073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N46/text/074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Hover growth only in panel mode</a:t>
            </a:r>
          </a:p>
        </p:txBody>
      </p:sp>
      <p:sp>
        <p:nvSpPr>
          <p:cNvPr id="88" name="N46/ellipse/075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N46/text/076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Hidden contexts restore GNOME clock</a:t>
            </a:r>
          </a:p>
        </p:txBody>
      </p:sp>
      <p:cxnSp>
        <p:nvCxnSpPr>
          <p:cNvPr id="90" name="N46/line/077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N46/text/078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92" name="N46/edit-box/079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N46/edit-note/080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Closed-state spacing / fallback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47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47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47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PEEK MODE</a:t>
            </a:r>
          </a:p>
        </p:txBody>
      </p:sp>
      <p:sp>
        <p:nvSpPr>
          <p:cNvPr id="5" name="N47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Peek edge cases</a:t>
            </a:r>
          </a:p>
        </p:txBody>
      </p:sp>
      <p:sp>
        <p:nvSpPr>
          <p:cNvPr id="6" name="N47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Long body · native actions · policy fallback</a:t>
            </a:r>
          </a:p>
        </p:txBody>
      </p:sp>
      <p:cxnSp>
        <p:nvCxnSpPr>
          <p:cNvPr id="7" name="N47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47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47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N47</a:t>
            </a:r>
          </a:p>
        </p:txBody>
      </p:sp>
      <p:sp>
        <p:nvSpPr>
          <p:cNvPr id="10" name="N47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11</a:t>
            </a:r>
          </a:p>
        </p:txBody>
      </p:sp>
      <p:grpSp>
        <p:nvGrpSpPr>
          <p:cNvPr id="11" name="N47/long-notification-body"/>
          <p:cNvGrpSpPr/>
          <p:nvPr/>
        </p:nvGrpSpPr>
        <p:grpSpPr>
          <a:xfrm>
            <a:off x="502920" y="1783080"/>
            <a:ext cx="3749039" cy="1828800"/>
            <a:chOff x="502920" y="1783080"/>
            <a:chExt cx="3749039" cy="1828800"/>
          </a:xfrm>
        </p:grpSpPr>
        <p:sp>
          <p:nvSpPr>
            <p:cNvPr id="12" name="N47/long-notification-body/notch-surface-peek/001"/>
            <p:cNvSpPr/>
            <p:nvPr/>
          </p:nvSpPr>
          <p:spPr>
            <a:xfrm>
              <a:off x="502920" y="1783080"/>
              <a:ext cx="3749039" cy="1828800"/>
            </a:xfrm>
            <a:custGeom>
              <a:avLst/>
              <a:gdLst/>
              <a:ahLst/>
              <a:cxnLst/>
              <a:rect l="l" t="t" r="r" b="b"/>
              <a:pathLst>
                <a:path w="3749039" h="1828800">
                  <a:moveTo>
                    <a:pt x="0" y="0"/>
                  </a:moveTo>
                  <a:lnTo>
                    <a:pt x="3749039" y="0"/>
                  </a:lnTo>
                  <a:lnTo>
                    <a:pt x="3741511" y="848"/>
                  </a:lnTo>
                  <a:lnTo>
                    <a:pt x="3732921" y="3393"/>
                  </a:lnTo>
                  <a:lnTo>
                    <a:pt x="3723908" y="7634"/>
                  </a:lnTo>
                  <a:lnTo>
                    <a:pt x="3715107" y="13573"/>
                  </a:lnTo>
                  <a:lnTo>
                    <a:pt x="3707154" y="21208"/>
                  </a:lnTo>
                  <a:lnTo>
                    <a:pt x="3700685" y="30539"/>
                  </a:lnTo>
                  <a:lnTo>
                    <a:pt x="3696338" y="41567"/>
                  </a:lnTo>
                  <a:lnTo>
                    <a:pt x="3694747" y="54292"/>
                  </a:lnTo>
                  <a:lnTo>
                    <a:pt x="3692313" y="1726832"/>
                  </a:lnTo>
                  <a:lnTo>
                    <a:pt x="3685104" y="1750596"/>
                  </a:lnTo>
                  <a:lnTo>
                    <a:pt x="3673397" y="1772498"/>
                  </a:lnTo>
                  <a:lnTo>
                    <a:pt x="3657643" y="1791695"/>
                  </a:lnTo>
                  <a:lnTo>
                    <a:pt x="3638446" y="1807450"/>
                  </a:lnTo>
                  <a:lnTo>
                    <a:pt x="3616544" y="1819156"/>
                  </a:lnTo>
                  <a:lnTo>
                    <a:pt x="3592779" y="1826365"/>
                  </a:lnTo>
                  <a:lnTo>
                    <a:pt x="3568064" y="1828800"/>
                  </a:lnTo>
                  <a:lnTo>
                    <a:pt x="180975" y="1828800"/>
                  </a:lnTo>
                  <a:lnTo>
                    <a:pt x="156260" y="1826365"/>
                  </a:lnTo>
                  <a:lnTo>
                    <a:pt x="132495" y="1819156"/>
                  </a:lnTo>
                  <a:lnTo>
                    <a:pt x="110593" y="1807450"/>
                  </a:lnTo>
                  <a:lnTo>
                    <a:pt x="91396" y="1791695"/>
                  </a:lnTo>
                  <a:lnTo>
                    <a:pt x="75642" y="1772498"/>
                  </a:lnTo>
                  <a:lnTo>
                    <a:pt x="63935" y="1750596"/>
                  </a:lnTo>
                  <a:lnTo>
                    <a:pt x="56726" y="1726832"/>
                  </a:lnTo>
                  <a:lnTo>
                    <a:pt x="54292" y="1702117"/>
                  </a:lnTo>
                  <a:lnTo>
                    <a:pt x="54292" y="54292"/>
                  </a:lnTo>
                  <a:lnTo>
                    <a:pt x="52701" y="41567"/>
                  </a:lnTo>
                  <a:lnTo>
                    <a:pt x="48354" y="30539"/>
                  </a:lnTo>
                  <a:lnTo>
                    <a:pt x="41885" y="21208"/>
                  </a:lnTo>
                  <a:lnTo>
                    <a:pt x="33932" y="13573"/>
                  </a:lnTo>
                  <a:lnTo>
                    <a:pt x="25131" y="7634"/>
                  </a:lnTo>
                  <a:lnTo>
                    <a:pt x="16118" y="3393"/>
                  </a:lnTo>
                  <a:lnTo>
                    <a:pt x="7528" y="8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47/long-notification-body/poly/002"/>
            <p:cNvSpPr/>
            <p:nvPr/>
          </p:nvSpPr>
          <p:spPr>
            <a:xfrm>
              <a:off x="782955" y="2256282"/>
              <a:ext cx="171450" cy="154304"/>
            </a:xfrm>
            <a:custGeom>
              <a:avLst/>
              <a:gdLst/>
              <a:ahLst/>
              <a:cxnLst/>
              <a:rect l="l" t="t" r="r" b="b"/>
              <a:pathLst>
                <a:path w="171450" h="154304">
                  <a:moveTo>
                    <a:pt x="85725" y="0"/>
                  </a:moveTo>
                  <a:lnTo>
                    <a:pt x="34290" y="34290"/>
                  </a:lnTo>
                  <a:lnTo>
                    <a:pt x="17145" y="102869"/>
                  </a:lnTo>
                  <a:lnTo>
                    <a:pt x="0" y="154304"/>
                  </a:lnTo>
                  <a:lnTo>
                    <a:pt x="171450" y="154304"/>
                  </a:lnTo>
                  <a:lnTo>
                    <a:pt x="154304" y="102869"/>
                  </a:lnTo>
                  <a:lnTo>
                    <a:pt x="137160" y="34290"/>
                  </a:lnTo>
                  <a:close/>
                </a:path>
              </a:pathLst>
            </a:custGeom>
            <a:noFill/>
            <a:ln w="1270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N47/long-notification-body/line/003"/>
            <p:cNvCxnSpPr/>
            <p:nvPr/>
          </p:nvCxnSpPr>
          <p:spPr>
            <a:xfrm>
              <a:off x="834390" y="2444876"/>
              <a:ext cx="68580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N47/long-notification-body/ellipse/004"/>
            <p:cNvSpPr/>
            <p:nvPr/>
          </p:nvSpPr>
          <p:spPr>
            <a:xfrm>
              <a:off x="851535" y="2239136"/>
              <a:ext cx="34290" cy="34290"/>
            </a:xfrm>
            <a:prstGeom prst="ellipse">
              <a:avLst/>
            </a:pr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N47/long-notification-body/text/005"/>
            <p:cNvSpPr txBox="1"/>
            <p:nvPr/>
          </p:nvSpPr>
          <p:spPr>
            <a:xfrm>
              <a:off x="1161288" y="2176272"/>
              <a:ext cx="2606039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5F5F7"/>
                  </a:solidFill>
                  <a:latin typeface="Arial"/>
                </a:rPr>
                <a:t>Long notification body</a:t>
              </a:r>
            </a:p>
          </p:txBody>
        </p:sp>
        <p:sp>
          <p:nvSpPr>
            <p:cNvPr id="17" name="N47/long-notification-body/text/006"/>
            <p:cNvSpPr txBox="1"/>
            <p:nvPr/>
          </p:nvSpPr>
          <p:spPr>
            <a:xfrm>
              <a:off x="1161288" y="2441448"/>
              <a:ext cx="2606039" cy="56692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7C7CC"/>
                  </a:solidFill>
                  <a:latin typeface="Arial"/>
                </a:rPr>
                <a:t>Long body wraps across multiple lines instead of clipping. The full text remains available in Alerts.</a:t>
              </a:r>
            </a:p>
          </p:txBody>
        </p:sp>
        <p:sp>
          <p:nvSpPr>
            <p:cNvPr id="18" name="N47/long-notification-body/button-close/007"/>
            <p:cNvSpPr/>
            <p:nvPr/>
          </p:nvSpPr>
          <p:spPr>
            <a:xfrm>
              <a:off x="3813048" y="2176272"/>
              <a:ext cx="256032" cy="256032"/>
            </a:xfrm>
            <a:prstGeom prst="roundRect">
              <a:avLst>
                <a:gd name="adj" fmla="val 27901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N47/long-notification-body/line/008"/>
            <p:cNvCxnSpPr/>
            <p:nvPr/>
          </p:nvCxnSpPr>
          <p:spPr>
            <a:xfrm>
              <a:off x="3912488" y="2275713"/>
              <a:ext cx="57150" cy="5715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N47/long-notification-body/line/009"/>
            <p:cNvCxnSpPr/>
            <p:nvPr/>
          </p:nvCxnSpPr>
          <p:spPr>
            <a:xfrm flipH="1">
              <a:off x="3912488" y="2275713"/>
              <a:ext cx="57150" cy="5715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N47/long-notification-body/button-Reply/010"/>
            <p:cNvSpPr/>
            <p:nvPr/>
          </p:nvSpPr>
          <p:spPr>
            <a:xfrm>
              <a:off x="1161288" y="3172968"/>
              <a:ext cx="507491" cy="256032"/>
            </a:xfrm>
            <a:prstGeom prst="roundRect">
              <a:avLst>
                <a:gd name="adj" fmla="val 27901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47/long-notification-body/text/011"/>
            <p:cNvSpPr txBox="1"/>
            <p:nvPr/>
          </p:nvSpPr>
          <p:spPr>
            <a:xfrm>
              <a:off x="1204150" y="3172968"/>
              <a:ext cx="42176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8" b="0" i="0">
                  <a:solidFill>
                    <a:srgbClr val="E5E5EA"/>
                  </a:solidFill>
                  <a:latin typeface="Arial"/>
                </a:rPr>
                <a:t>Reply</a:t>
              </a:r>
            </a:p>
          </p:txBody>
        </p:sp>
        <p:sp>
          <p:nvSpPr>
            <p:cNvPr id="23" name="N47/long-notification-body/button-Open/012"/>
            <p:cNvSpPr/>
            <p:nvPr/>
          </p:nvSpPr>
          <p:spPr>
            <a:xfrm>
              <a:off x="1760219" y="3172968"/>
              <a:ext cx="438912" cy="256032"/>
            </a:xfrm>
            <a:prstGeom prst="roundRect">
              <a:avLst>
                <a:gd name="adj" fmla="val 27901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N47/long-notification-body/text/013"/>
            <p:cNvSpPr txBox="1"/>
            <p:nvPr/>
          </p:nvSpPr>
          <p:spPr>
            <a:xfrm>
              <a:off x="1803082" y="3172968"/>
              <a:ext cx="353187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8" b="0" i="0">
                  <a:solidFill>
                    <a:srgbClr val="E5E5EA"/>
                  </a:solidFill>
                  <a:latin typeface="Arial"/>
                </a:rPr>
                <a:t>Open</a:t>
              </a:r>
            </a:p>
          </p:txBody>
        </p:sp>
      </p:grpSp>
      <p:grpSp>
        <p:nvGrpSpPr>
          <p:cNvPr id="25" name="N47/two-native-actions"/>
          <p:cNvGrpSpPr/>
          <p:nvPr/>
        </p:nvGrpSpPr>
        <p:grpSpPr>
          <a:xfrm>
            <a:off x="4434840" y="1783080"/>
            <a:ext cx="3749039" cy="1828800"/>
            <a:chOff x="4434840" y="1783080"/>
            <a:chExt cx="3749039" cy="1828800"/>
          </a:xfrm>
        </p:grpSpPr>
        <p:sp>
          <p:nvSpPr>
            <p:cNvPr id="26" name="N47/two-native-actions/notch-surface-peek/001"/>
            <p:cNvSpPr/>
            <p:nvPr/>
          </p:nvSpPr>
          <p:spPr>
            <a:xfrm>
              <a:off x="4434840" y="1783080"/>
              <a:ext cx="3749039" cy="1828800"/>
            </a:xfrm>
            <a:custGeom>
              <a:avLst/>
              <a:gdLst/>
              <a:ahLst/>
              <a:cxnLst/>
              <a:rect l="l" t="t" r="r" b="b"/>
              <a:pathLst>
                <a:path w="3749039" h="1828800">
                  <a:moveTo>
                    <a:pt x="0" y="0"/>
                  </a:moveTo>
                  <a:lnTo>
                    <a:pt x="3749039" y="0"/>
                  </a:lnTo>
                  <a:lnTo>
                    <a:pt x="3741511" y="848"/>
                  </a:lnTo>
                  <a:lnTo>
                    <a:pt x="3732921" y="3393"/>
                  </a:lnTo>
                  <a:lnTo>
                    <a:pt x="3723908" y="7634"/>
                  </a:lnTo>
                  <a:lnTo>
                    <a:pt x="3715107" y="13573"/>
                  </a:lnTo>
                  <a:lnTo>
                    <a:pt x="3707154" y="21208"/>
                  </a:lnTo>
                  <a:lnTo>
                    <a:pt x="3700685" y="30539"/>
                  </a:lnTo>
                  <a:lnTo>
                    <a:pt x="3696338" y="41567"/>
                  </a:lnTo>
                  <a:lnTo>
                    <a:pt x="3694747" y="54292"/>
                  </a:lnTo>
                  <a:lnTo>
                    <a:pt x="3692313" y="1726832"/>
                  </a:lnTo>
                  <a:lnTo>
                    <a:pt x="3685104" y="1750596"/>
                  </a:lnTo>
                  <a:lnTo>
                    <a:pt x="3673397" y="1772498"/>
                  </a:lnTo>
                  <a:lnTo>
                    <a:pt x="3657643" y="1791695"/>
                  </a:lnTo>
                  <a:lnTo>
                    <a:pt x="3638446" y="1807450"/>
                  </a:lnTo>
                  <a:lnTo>
                    <a:pt x="3616544" y="1819156"/>
                  </a:lnTo>
                  <a:lnTo>
                    <a:pt x="3592779" y="1826365"/>
                  </a:lnTo>
                  <a:lnTo>
                    <a:pt x="3568065" y="1828800"/>
                  </a:lnTo>
                  <a:lnTo>
                    <a:pt x="180975" y="1828800"/>
                  </a:lnTo>
                  <a:lnTo>
                    <a:pt x="156260" y="1826365"/>
                  </a:lnTo>
                  <a:lnTo>
                    <a:pt x="132495" y="1819156"/>
                  </a:lnTo>
                  <a:lnTo>
                    <a:pt x="110593" y="1807450"/>
                  </a:lnTo>
                  <a:lnTo>
                    <a:pt x="91396" y="1791695"/>
                  </a:lnTo>
                  <a:lnTo>
                    <a:pt x="75642" y="1772498"/>
                  </a:lnTo>
                  <a:lnTo>
                    <a:pt x="63935" y="1750596"/>
                  </a:lnTo>
                  <a:lnTo>
                    <a:pt x="56726" y="1726832"/>
                  </a:lnTo>
                  <a:lnTo>
                    <a:pt x="54292" y="1702117"/>
                  </a:lnTo>
                  <a:lnTo>
                    <a:pt x="54292" y="54292"/>
                  </a:lnTo>
                  <a:lnTo>
                    <a:pt x="52701" y="41567"/>
                  </a:lnTo>
                  <a:lnTo>
                    <a:pt x="48354" y="30539"/>
                  </a:lnTo>
                  <a:lnTo>
                    <a:pt x="41885" y="21208"/>
                  </a:lnTo>
                  <a:lnTo>
                    <a:pt x="33932" y="13573"/>
                  </a:lnTo>
                  <a:lnTo>
                    <a:pt x="25131" y="7634"/>
                  </a:lnTo>
                  <a:lnTo>
                    <a:pt x="16118" y="3393"/>
                  </a:lnTo>
                  <a:lnTo>
                    <a:pt x="7528" y="8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N47/two-native-actions/poly/002"/>
            <p:cNvSpPr/>
            <p:nvPr/>
          </p:nvSpPr>
          <p:spPr>
            <a:xfrm>
              <a:off x="4714875" y="2256282"/>
              <a:ext cx="171450" cy="154304"/>
            </a:xfrm>
            <a:custGeom>
              <a:avLst/>
              <a:gdLst/>
              <a:ahLst/>
              <a:cxnLst/>
              <a:rect l="l" t="t" r="r" b="b"/>
              <a:pathLst>
                <a:path w="171450" h="154304">
                  <a:moveTo>
                    <a:pt x="85725" y="0"/>
                  </a:moveTo>
                  <a:lnTo>
                    <a:pt x="34290" y="34290"/>
                  </a:lnTo>
                  <a:lnTo>
                    <a:pt x="17145" y="102869"/>
                  </a:lnTo>
                  <a:lnTo>
                    <a:pt x="0" y="154304"/>
                  </a:lnTo>
                  <a:lnTo>
                    <a:pt x="171450" y="154304"/>
                  </a:lnTo>
                  <a:lnTo>
                    <a:pt x="154304" y="102869"/>
                  </a:lnTo>
                  <a:lnTo>
                    <a:pt x="137159" y="34290"/>
                  </a:lnTo>
                  <a:close/>
                </a:path>
              </a:pathLst>
            </a:custGeom>
            <a:noFill/>
            <a:ln w="1270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8" name="N47/two-native-actions/line/003"/>
            <p:cNvCxnSpPr/>
            <p:nvPr/>
          </p:nvCxnSpPr>
          <p:spPr>
            <a:xfrm>
              <a:off x="4766309" y="2444876"/>
              <a:ext cx="68581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N47/two-native-actions/ellipse/004"/>
            <p:cNvSpPr/>
            <p:nvPr/>
          </p:nvSpPr>
          <p:spPr>
            <a:xfrm>
              <a:off x="4783454" y="2239136"/>
              <a:ext cx="34290" cy="34290"/>
            </a:xfrm>
            <a:prstGeom prst="ellipse">
              <a:avLst/>
            </a:pr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N47/two-native-actions/text/005"/>
            <p:cNvSpPr txBox="1"/>
            <p:nvPr/>
          </p:nvSpPr>
          <p:spPr>
            <a:xfrm>
              <a:off x="5093207" y="2176272"/>
              <a:ext cx="2606039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5F5F7"/>
                  </a:solidFill>
                  <a:latin typeface="Arial"/>
                </a:rPr>
                <a:t>Two native actions</a:t>
              </a:r>
            </a:p>
          </p:txBody>
        </p:sp>
        <p:sp>
          <p:nvSpPr>
            <p:cNvPr id="31" name="N47/two-native-actions/text/006"/>
            <p:cNvSpPr txBox="1"/>
            <p:nvPr/>
          </p:nvSpPr>
          <p:spPr>
            <a:xfrm>
              <a:off x="5093207" y="2441448"/>
              <a:ext cx="2606039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7C7CC"/>
                  </a:solidFill>
                  <a:latin typeface="Arial"/>
                </a:rPr>
                <a:t>Accept or decline the incoming event.</a:t>
              </a:r>
            </a:p>
          </p:txBody>
        </p:sp>
        <p:sp>
          <p:nvSpPr>
            <p:cNvPr id="32" name="N47/two-native-actions/button-close/007"/>
            <p:cNvSpPr/>
            <p:nvPr/>
          </p:nvSpPr>
          <p:spPr>
            <a:xfrm>
              <a:off x="7744967" y="2176272"/>
              <a:ext cx="256032" cy="256032"/>
            </a:xfrm>
            <a:prstGeom prst="roundRect">
              <a:avLst>
                <a:gd name="adj" fmla="val 27901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3" name="N47/two-native-actions/line/008"/>
            <p:cNvCxnSpPr/>
            <p:nvPr/>
          </p:nvCxnSpPr>
          <p:spPr>
            <a:xfrm>
              <a:off x="7844408" y="2275713"/>
              <a:ext cx="57150" cy="5715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N47/two-native-actions/line/009"/>
            <p:cNvCxnSpPr/>
            <p:nvPr/>
          </p:nvCxnSpPr>
          <p:spPr>
            <a:xfrm flipH="1">
              <a:off x="7844408" y="2275713"/>
              <a:ext cx="57150" cy="5715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N47/two-native-actions/button-Accept/010"/>
            <p:cNvSpPr/>
            <p:nvPr/>
          </p:nvSpPr>
          <p:spPr>
            <a:xfrm>
              <a:off x="5093207" y="3172968"/>
              <a:ext cx="576071" cy="256032"/>
            </a:xfrm>
            <a:prstGeom prst="roundRect">
              <a:avLst>
                <a:gd name="adj" fmla="val 27901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N47/two-native-actions/text/011"/>
            <p:cNvSpPr txBox="1"/>
            <p:nvPr/>
          </p:nvSpPr>
          <p:spPr>
            <a:xfrm>
              <a:off x="5136070" y="3172968"/>
              <a:ext cx="49034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8" b="0" i="0">
                  <a:solidFill>
                    <a:srgbClr val="E5E5EA"/>
                  </a:solidFill>
                  <a:latin typeface="Arial"/>
                </a:rPr>
                <a:t>Accept</a:t>
              </a:r>
            </a:p>
          </p:txBody>
        </p:sp>
        <p:sp>
          <p:nvSpPr>
            <p:cNvPr id="37" name="N47/two-native-actions/button-Decline/012"/>
            <p:cNvSpPr/>
            <p:nvPr/>
          </p:nvSpPr>
          <p:spPr>
            <a:xfrm>
              <a:off x="5760719" y="3172968"/>
              <a:ext cx="644652" cy="256032"/>
            </a:xfrm>
            <a:prstGeom prst="roundRect">
              <a:avLst>
                <a:gd name="adj" fmla="val 27901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N47/two-native-actions/text/013"/>
            <p:cNvSpPr txBox="1"/>
            <p:nvPr/>
          </p:nvSpPr>
          <p:spPr>
            <a:xfrm>
              <a:off x="5803582" y="3172968"/>
              <a:ext cx="558927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8" b="0" i="0">
                  <a:solidFill>
                    <a:srgbClr val="E5E5EA"/>
                  </a:solidFill>
                  <a:latin typeface="Arial"/>
                </a:rPr>
                <a:t>Decline</a:t>
              </a:r>
            </a:p>
          </p:txBody>
        </p:sp>
        <p:sp>
          <p:nvSpPr>
            <p:cNvPr id="39" name="N47/two-native-actions/button-Open/014"/>
            <p:cNvSpPr/>
            <p:nvPr/>
          </p:nvSpPr>
          <p:spPr>
            <a:xfrm>
              <a:off x="6496811" y="3172968"/>
              <a:ext cx="438912" cy="256032"/>
            </a:xfrm>
            <a:prstGeom prst="roundRect">
              <a:avLst>
                <a:gd name="adj" fmla="val 27901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N47/two-native-actions/text/015"/>
            <p:cNvSpPr txBox="1"/>
            <p:nvPr/>
          </p:nvSpPr>
          <p:spPr>
            <a:xfrm>
              <a:off x="6539674" y="3172968"/>
              <a:ext cx="353187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8" b="0" i="0">
                  <a:solidFill>
                    <a:srgbClr val="E5E5EA"/>
                  </a:solidFill>
                  <a:latin typeface="Arial"/>
                </a:rPr>
                <a:t>Open</a:t>
              </a:r>
            </a:p>
          </p:txBody>
        </p:sp>
      </p:grpSp>
      <p:sp>
        <p:nvSpPr>
          <p:cNvPr id="41" name="N47/rect/010"/>
          <p:cNvSpPr/>
          <p:nvPr/>
        </p:nvSpPr>
        <p:spPr>
          <a:xfrm>
            <a:off x="502920" y="3977639"/>
            <a:ext cx="7635240" cy="1737360"/>
          </a:xfrm>
          <a:prstGeom prst="roundRect">
            <a:avLst>
              <a:gd name="adj" fmla="val 6315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47/text/011"/>
          <p:cNvSpPr txBox="1"/>
          <p:nvPr/>
        </p:nvSpPr>
        <p:spPr>
          <a:xfrm>
            <a:off x="731520" y="4160520"/>
            <a:ext cx="717804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0D158"/>
                </a:solidFill>
                <a:latin typeface="Arial"/>
              </a:rPr>
              <a:t>When the notch does NOT take the banner</a:t>
            </a:r>
          </a:p>
        </p:txBody>
      </p:sp>
      <p:sp>
        <p:nvSpPr>
          <p:cNvPr id="43" name="N47/text/012"/>
          <p:cNvSpPr txBox="1"/>
          <p:nvPr/>
        </p:nvSpPr>
        <p:spPr>
          <a:xfrm>
            <a:off x="731520" y="4526280"/>
            <a:ext cx="71780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• Critical urgency → native GNOME banner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• DND / per-app policy suppresses banner → no peek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• Fullscreen / overview / lock hidden contexts → native path or hidden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• External file drag → peek suppressed</a:t>
            </a:r>
          </a:p>
        </p:txBody>
      </p:sp>
      <p:sp>
        <p:nvSpPr>
          <p:cNvPr id="44" name="N47/spec-panel/013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N47/text/014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46" name="N47/ellipse/015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N47/text/016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Max 2 native actions + Open</a:t>
            </a:r>
          </a:p>
        </p:txBody>
      </p:sp>
      <p:sp>
        <p:nvSpPr>
          <p:cNvPr id="48" name="N47/ellipse/017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N47/text/018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Body wraps, title ellipsizes</a:t>
            </a:r>
          </a:p>
        </p:txBody>
      </p:sp>
      <p:sp>
        <p:nvSpPr>
          <p:cNvPr id="50" name="N47/ellipse/019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N47/text/020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Timeout pauses on hover/press</a:t>
            </a:r>
          </a:p>
        </p:txBody>
      </p:sp>
      <p:sp>
        <p:nvSpPr>
          <p:cNvPr id="52" name="N47/ellipse/021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N47/text/022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Critical urgency never intercepted</a:t>
            </a:r>
          </a:p>
        </p:txBody>
      </p:sp>
      <p:cxnSp>
        <p:nvCxnSpPr>
          <p:cNvPr id="54" name="N47/line/023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N47/text/024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56" name="N47/edit-box/025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N47/edit-note/026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Long-text limit / action priority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09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09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09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OPEN MODE</a:t>
            </a:r>
          </a:p>
        </p:txBody>
      </p:sp>
      <p:sp>
        <p:nvSpPr>
          <p:cNvPr id="5" name="N09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Open-shell anatomy</a:t>
            </a:r>
          </a:p>
        </p:txBody>
      </p:sp>
      <p:sp>
        <p:nvSpPr>
          <p:cNvPr id="6" name="N09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Shared chrome for every page · status footer reserves height only when visible</a:t>
            </a:r>
          </a:p>
        </p:txBody>
      </p:sp>
      <p:cxnSp>
        <p:nvCxnSpPr>
          <p:cNvPr id="7" name="N09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09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09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N09</a:t>
            </a:r>
          </a:p>
        </p:txBody>
      </p:sp>
      <p:sp>
        <p:nvSpPr>
          <p:cNvPr id="10" name="N09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12</a:t>
            </a:r>
          </a:p>
        </p:txBody>
      </p:sp>
      <p:grpSp>
        <p:nvGrpSpPr>
          <p:cNvPr id="11" name="N09/notch-home"/>
          <p:cNvGrpSpPr/>
          <p:nvPr/>
        </p:nvGrpSpPr>
        <p:grpSpPr>
          <a:xfrm>
            <a:off x="502920" y="1981200"/>
            <a:ext cx="7437120" cy="3718560"/>
            <a:chOff x="502920" y="1981200"/>
            <a:chExt cx="7437120" cy="3718560"/>
          </a:xfrm>
        </p:grpSpPr>
        <p:sp>
          <p:nvSpPr>
            <p:cNvPr id="12" name="N09/notch-home/notch-surface-open/001"/>
            <p:cNvSpPr/>
            <p:nvPr/>
          </p:nvSpPr>
          <p:spPr>
            <a:xfrm>
              <a:off x="502920" y="1981200"/>
              <a:ext cx="7437120" cy="3718560"/>
            </a:xfrm>
            <a:custGeom>
              <a:avLst/>
              <a:gdLst/>
              <a:ahLst/>
              <a:cxnLst/>
              <a:rect l="l" t="t" r="r" b="b"/>
              <a:pathLst>
                <a:path w="7437120" h="3718560">
                  <a:moveTo>
                    <a:pt x="0" y="0"/>
                  </a:moveTo>
                  <a:lnTo>
                    <a:pt x="7437120" y="0"/>
                  </a:lnTo>
                  <a:lnTo>
                    <a:pt x="7406502" y="3449"/>
                  </a:lnTo>
                  <a:lnTo>
                    <a:pt x="7371573" y="13799"/>
                  </a:lnTo>
                  <a:lnTo>
                    <a:pt x="7334918" y="31048"/>
                  </a:lnTo>
                  <a:lnTo>
                    <a:pt x="7299126" y="55197"/>
                  </a:lnTo>
                  <a:lnTo>
                    <a:pt x="7266784" y="86245"/>
                  </a:lnTo>
                  <a:lnTo>
                    <a:pt x="7240479" y="124194"/>
                  </a:lnTo>
                  <a:lnTo>
                    <a:pt x="7222798" y="169041"/>
                  </a:lnTo>
                  <a:lnTo>
                    <a:pt x="7216330" y="220789"/>
                  </a:lnTo>
                  <a:lnTo>
                    <a:pt x="7210971" y="3494077"/>
                  </a:lnTo>
                  <a:lnTo>
                    <a:pt x="7195101" y="3546395"/>
                  </a:lnTo>
                  <a:lnTo>
                    <a:pt x="7169328" y="3594612"/>
                  </a:lnTo>
                  <a:lnTo>
                    <a:pt x="7134644" y="3636874"/>
                  </a:lnTo>
                  <a:lnTo>
                    <a:pt x="7092382" y="3671558"/>
                  </a:lnTo>
                  <a:lnTo>
                    <a:pt x="7044165" y="3697330"/>
                  </a:lnTo>
                  <a:lnTo>
                    <a:pt x="6991847" y="3713201"/>
                  </a:lnTo>
                  <a:lnTo>
                    <a:pt x="6937438" y="3718560"/>
                  </a:lnTo>
                  <a:lnTo>
                    <a:pt x="499681" y="3718560"/>
                  </a:lnTo>
                  <a:lnTo>
                    <a:pt x="445272" y="3713201"/>
                  </a:lnTo>
                  <a:lnTo>
                    <a:pt x="392954" y="3697330"/>
                  </a:lnTo>
                  <a:lnTo>
                    <a:pt x="344737" y="3671558"/>
                  </a:lnTo>
                  <a:lnTo>
                    <a:pt x="302475" y="3636874"/>
                  </a:lnTo>
                  <a:lnTo>
                    <a:pt x="267791" y="3594612"/>
                  </a:lnTo>
                  <a:lnTo>
                    <a:pt x="242018" y="3546395"/>
                  </a:lnTo>
                  <a:lnTo>
                    <a:pt x="226148" y="3494077"/>
                  </a:lnTo>
                  <a:lnTo>
                    <a:pt x="220789" y="3439668"/>
                  </a:lnTo>
                  <a:lnTo>
                    <a:pt x="220789" y="220789"/>
                  </a:lnTo>
                  <a:lnTo>
                    <a:pt x="214321" y="169041"/>
                  </a:lnTo>
                  <a:lnTo>
                    <a:pt x="196640" y="124194"/>
                  </a:lnTo>
                  <a:lnTo>
                    <a:pt x="170335" y="86245"/>
                  </a:lnTo>
                  <a:lnTo>
                    <a:pt x="137993" y="55197"/>
                  </a:lnTo>
                  <a:lnTo>
                    <a:pt x="102201" y="31048"/>
                  </a:lnTo>
                  <a:lnTo>
                    <a:pt x="65546" y="13799"/>
                  </a:lnTo>
                  <a:lnTo>
                    <a:pt x="30617" y="34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09/notch-home/button-Home/002"/>
            <p:cNvSpPr/>
            <p:nvPr/>
          </p:nvSpPr>
          <p:spPr>
            <a:xfrm>
              <a:off x="735330" y="2527363"/>
              <a:ext cx="995644" cy="348615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09/notch-home/poly/003"/>
            <p:cNvSpPr/>
            <p:nvPr/>
          </p:nvSpPr>
          <p:spPr>
            <a:xfrm>
              <a:off x="933343" y="2631948"/>
              <a:ext cx="139446" cy="139446"/>
            </a:xfrm>
            <a:custGeom>
              <a:avLst/>
              <a:gdLst/>
              <a:ahLst/>
              <a:cxnLst/>
              <a:rect l="l" t="t" r="r" b="b"/>
              <a:pathLst>
                <a:path w="139446" h="139446">
                  <a:moveTo>
                    <a:pt x="69723" y="0"/>
                  </a:moveTo>
                  <a:lnTo>
                    <a:pt x="0" y="58102"/>
                  </a:lnTo>
                  <a:lnTo>
                    <a:pt x="23241" y="58102"/>
                  </a:lnTo>
                  <a:lnTo>
                    <a:pt x="23241" y="139446"/>
                  </a:lnTo>
                  <a:lnTo>
                    <a:pt x="58102" y="139446"/>
                  </a:lnTo>
                  <a:lnTo>
                    <a:pt x="58102" y="92964"/>
                  </a:lnTo>
                  <a:lnTo>
                    <a:pt x="81343" y="92964"/>
                  </a:lnTo>
                  <a:lnTo>
                    <a:pt x="81343" y="139446"/>
                  </a:lnTo>
                  <a:lnTo>
                    <a:pt x="116205" y="139446"/>
                  </a:lnTo>
                  <a:lnTo>
                    <a:pt x="116205" y="58102"/>
                  </a:lnTo>
                  <a:lnTo>
                    <a:pt x="139446" y="58102"/>
                  </a:lnTo>
                  <a:close/>
                </a:path>
              </a:pathLst>
            </a:custGeom>
            <a:noFill/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09/notch-home/text/004"/>
            <p:cNvSpPr txBox="1"/>
            <p:nvPr/>
          </p:nvSpPr>
          <p:spPr>
            <a:xfrm>
              <a:off x="1165753" y="2527363"/>
              <a:ext cx="541980" cy="34861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 b="1" i="0">
                  <a:solidFill>
                    <a:srgbClr val="FFFFFF"/>
                  </a:solidFill>
                  <a:latin typeface="Arial"/>
                </a:rPr>
                <a:t>Home</a:t>
              </a:r>
            </a:p>
          </p:txBody>
        </p:sp>
        <p:sp>
          <p:nvSpPr>
            <p:cNvPr id="16" name="N09/notch-home/button-music/005"/>
            <p:cNvSpPr/>
            <p:nvPr/>
          </p:nvSpPr>
          <p:spPr>
            <a:xfrm>
              <a:off x="1777456" y="2527363"/>
              <a:ext cx="371856" cy="34861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" name="N09/notch-home/line/006"/>
            <p:cNvCxnSpPr/>
            <p:nvPr/>
          </p:nvCxnSpPr>
          <p:spPr>
            <a:xfrm flipV="1">
              <a:off x="1940143" y="2655189"/>
              <a:ext cx="0" cy="9296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09/notch-home/line/007"/>
            <p:cNvCxnSpPr/>
            <p:nvPr/>
          </p:nvCxnSpPr>
          <p:spPr>
            <a:xfrm flipV="1">
              <a:off x="1940143" y="2643568"/>
              <a:ext cx="81343" cy="1162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N09/notch-home/line/008"/>
            <p:cNvCxnSpPr/>
            <p:nvPr/>
          </p:nvCxnSpPr>
          <p:spPr>
            <a:xfrm>
              <a:off x="2021486" y="2643568"/>
              <a:ext cx="0" cy="9296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N09/notch-home/ellipse/009"/>
            <p:cNvSpPr/>
            <p:nvPr/>
          </p:nvSpPr>
          <p:spPr>
            <a:xfrm>
              <a:off x="1905281" y="2730722"/>
              <a:ext cx="40671" cy="34861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09/notch-home/ellipse/010"/>
            <p:cNvSpPr/>
            <p:nvPr/>
          </p:nvSpPr>
          <p:spPr>
            <a:xfrm>
              <a:off x="1986625" y="2719101"/>
              <a:ext cx="40671" cy="34861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09/notch-home/button-bell/011"/>
            <p:cNvSpPr/>
            <p:nvPr/>
          </p:nvSpPr>
          <p:spPr>
            <a:xfrm>
              <a:off x="2195794" y="2527363"/>
              <a:ext cx="371856" cy="34861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N09/notch-home/poly/012"/>
            <p:cNvSpPr/>
            <p:nvPr/>
          </p:nvSpPr>
          <p:spPr>
            <a:xfrm>
              <a:off x="2323619" y="2631948"/>
              <a:ext cx="116205" cy="104584"/>
            </a:xfrm>
            <a:custGeom>
              <a:avLst/>
              <a:gdLst/>
              <a:ahLst/>
              <a:cxnLst/>
              <a:rect l="l" t="t" r="r" b="b"/>
              <a:pathLst>
                <a:path w="116205" h="104584">
                  <a:moveTo>
                    <a:pt x="58103" y="0"/>
                  </a:moveTo>
                  <a:lnTo>
                    <a:pt x="23241" y="23241"/>
                  </a:lnTo>
                  <a:lnTo>
                    <a:pt x="11621" y="69723"/>
                  </a:lnTo>
                  <a:lnTo>
                    <a:pt x="0" y="104584"/>
                  </a:lnTo>
                  <a:lnTo>
                    <a:pt x="116205" y="104584"/>
                  </a:lnTo>
                  <a:lnTo>
                    <a:pt x="104585" y="69723"/>
                  </a:lnTo>
                  <a:lnTo>
                    <a:pt x="92964" y="23241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4" name="N09/notch-home/line/013"/>
            <p:cNvCxnSpPr/>
            <p:nvPr/>
          </p:nvCxnSpPr>
          <p:spPr>
            <a:xfrm>
              <a:off x="2358481" y="2759773"/>
              <a:ext cx="4648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N09/notch-home/ellipse/014"/>
            <p:cNvSpPr/>
            <p:nvPr/>
          </p:nvSpPr>
          <p:spPr>
            <a:xfrm>
              <a:off x="2370101" y="2620327"/>
              <a:ext cx="23241" cy="23241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N09/notch-home/button-chart/015"/>
            <p:cNvSpPr/>
            <p:nvPr/>
          </p:nvSpPr>
          <p:spPr>
            <a:xfrm>
              <a:off x="2614132" y="2527363"/>
              <a:ext cx="371856" cy="34861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N09/notch-home/line/016"/>
            <p:cNvCxnSpPr/>
            <p:nvPr/>
          </p:nvCxnSpPr>
          <p:spPr>
            <a:xfrm>
              <a:off x="2730337" y="2771394"/>
              <a:ext cx="139446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09/notch-home/line/017"/>
            <p:cNvCxnSpPr/>
            <p:nvPr/>
          </p:nvCxnSpPr>
          <p:spPr>
            <a:xfrm flipV="1">
              <a:off x="2741957" y="2690050"/>
              <a:ext cx="34862" cy="4648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09/notch-home/line/018"/>
            <p:cNvCxnSpPr/>
            <p:nvPr/>
          </p:nvCxnSpPr>
          <p:spPr>
            <a:xfrm>
              <a:off x="2776819" y="2690050"/>
              <a:ext cx="34861" cy="2324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N09/notch-home/line/019"/>
            <p:cNvCxnSpPr/>
            <p:nvPr/>
          </p:nvCxnSpPr>
          <p:spPr>
            <a:xfrm flipV="1">
              <a:off x="2811680" y="2643568"/>
              <a:ext cx="46482" cy="6972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N09/notch-home/button-folder/020"/>
            <p:cNvSpPr/>
            <p:nvPr/>
          </p:nvSpPr>
          <p:spPr>
            <a:xfrm>
              <a:off x="3032470" y="2527363"/>
              <a:ext cx="371856" cy="34861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09/notch-home/poly/021"/>
            <p:cNvSpPr/>
            <p:nvPr/>
          </p:nvSpPr>
          <p:spPr>
            <a:xfrm>
              <a:off x="3148675" y="2666809"/>
              <a:ext cx="139446" cy="92964"/>
            </a:xfrm>
            <a:custGeom>
              <a:avLst/>
              <a:gdLst/>
              <a:ahLst/>
              <a:cxnLst/>
              <a:rect l="l" t="t" r="r" b="b"/>
              <a:pathLst>
                <a:path w="139446" h="92964">
                  <a:moveTo>
                    <a:pt x="0" y="0"/>
                  </a:moveTo>
                  <a:lnTo>
                    <a:pt x="46482" y="0"/>
                  </a:lnTo>
                  <a:lnTo>
                    <a:pt x="63913" y="23241"/>
                  </a:lnTo>
                  <a:lnTo>
                    <a:pt x="139446" y="23241"/>
                  </a:lnTo>
                  <a:lnTo>
                    <a:pt x="139446" y="92964"/>
                  </a:lnTo>
                  <a:lnTo>
                    <a:pt x="0" y="92964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09/notch-home/button-clipboard/022"/>
            <p:cNvSpPr/>
            <p:nvPr/>
          </p:nvSpPr>
          <p:spPr>
            <a:xfrm>
              <a:off x="3450808" y="2527363"/>
              <a:ext cx="371856" cy="34861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09/notch-home/rect/023"/>
            <p:cNvSpPr/>
            <p:nvPr/>
          </p:nvSpPr>
          <p:spPr>
            <a:xfrm>
              <a:off x="3590254" y="2643568"/>
              <a:ext cx="92964" cy="127825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09/notch-home/rect/024"/>
            <p:cNvSpPr/>
            <p:nvPr/>
          </p:nvSpPr>
          <p:spPr>
            <a:xfrm>
              <a:off x="3613495" y="2626137"/>
              <a:ext cx="46482" cy="29051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N09/notch-home/line/025"/>
            <p:cNvCxnSpPr/>
            <p:nvPr/>
          </p:nvCxnSpPr>
          <p:spPr>
            <a:xfrm>
              <a:off x="3613495" y="2690050"/>
              <a:ext cx="4648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N09/notch-home/line/026"/>
            <p:cNvCxnSpPr/>
            <p:nvPr/>
          </p:nvCxnSpPr>
          <p:spPr>
            <a:xfrm>
              <a:off x="3613495" y="2719101"/>
              <a:ext cx="4648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N09/notch-home/button-gear/027"/>
            <p:cNvSpPr/>
            <p:nvPr/>
          </p:nvSpPr>
          <p:spPr>
            <a:xfrm>
              <a:off x="6894195" y="2515743"/>
              <a:ext cx="371856" cy="371856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09/notch-home/ellipse/028"/>
            <p:cNvSpPr/>
            <p:nvPr/>
          </p:nvSpPr>
          <p:spPr>
            <a:xfrm>
              <a:off x="7045261" y="2666809"/>
              <a:ext cx="69723" cy="69723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09/notch-home/line/029"/>
            <p:cNvCxnSpPr/>
            <p:nvPr/>
          </p:nvCxnSpPr>
          <p:spPr>
            <a:xfrm>
              <a:off x="7138225" y="2701671"/>
              <a:ext cx="23241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09/notch-home/line/030"/>
            <p:cNvCxnSpPr/>
            <p:nvPr/>
          </p:nvCxnSpPr>
          <p:spPr>
            <a:xfrm>
              <a:off x="7121207" y="2742755"/>
              <a:ext cx="16434" cy="1643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09/notch-home/line/031"/>
            <p:cNvCxnSpPr/>
            <p:nvPr/>
          </p:nvCxnSpPr>
          <p:spPr>
            <a:xfrm>
              <a:off x="7080123" y="2759773"/>
              <a:ext cx="0" cy="2324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09/notch-home/line/032"/>
            <p:cNvCxnSpPr/>
            <p:nvPr/>
          </p:nvCxnSpPr>
          <p:spPr>
            <a:xfrm flipH="1">
              <a:off x="7022604" y="2742755"/>
              <a:ext cx="16434" cy="1643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09/notch-home/line/033"/>
            <p:cNvCxnSpPr/>
            <p:nvPr/>
          </p:nvCxnSpPr>
          <p:spPr>
            <a:xfrm flipH="1">
              <a:off x="6998779" y="2701671"/>
              <a:ext cx="23241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09/notch-home/line/034"/>
            <p:cNvCxnSpPr/>
            <p:nvPr/>
          </p:nvCxnSpPr>
          <p:spPr>
            <a:xfrm flipH="1" flipV="1">
              <a:off x="7022604" y="2644152"/>
              <a:ext cx="16434" cy="1643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09/notch-home/line/035"/>
            <p:cNvCxnSpPr/>
            <p:nvPr/>
          </p:nvCxnSpPr>
          <p:spPr>
            <a:xfrm flipV="1">
              <a:off x="7080123" y="2620327"/>
              <a:ext cx="0" cy="2324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09/notch-home/line/036"/>
            <p:cNvCxnSpPr/>
            <p:nvPr/>
          </p:nvCxnSpPr>
          <p:spPr>
            <a:xfrm flipV="1">
              <a:off x="7121207" y="2644152"/>
              <a:ext cx="16434" cy="1643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09/notch-home/button-close/037"/>
            <p:cNvSpPr/>
            <p:nvPr/>
          </p:nvSpPr>
          <p:spPr>
            <a:xfrm>
              <a:off x="7335774" y="2515743"/>
              <a:ext cx="371856" cy="371856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09/notch-home/line/038"/>
            <p:cNvCxnSpPr/>
            <p:nvPr/>
          </p:nvCxnSpPr>
          <p:spPr>
            <a:xfrm>
              <a:off x="7475220" y="2655189"/>
              <a:ext cx="92964" cy="9296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09/notch-home/line/039"/>
            <p:cNvCxnSpPr/>
            <p:nvPr/>
          </p:nvCxnSpPr>
          <p:spPr>
            <a:xfrm flipH="1">
              <a:off x="7475220" y="2655189"/>
              <a:ext cx="92964" cy="9296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09/notch-home/text/040"/>
            <p:cNvSpPr txBox="1"/>
            <p:nvPr/>
          </p:nvSpPr>
          <p:spPr>
            <a:xfrm>
              <a:off x="735330" y="3259455"/>
              <a:ext cx="3486150" cy="51130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111" b="1" i="0">
                  <a:solidFill>
                    <a:srgbClr val="F5F5F7"/>
                  </a:solidFill>
                  <a:latin typeface="Arial"/>
                </a:rPr>
                <a:t>14:32</a:t>
              </a:r>
            </a:p>
          </p:txBody>
        </p:sp>
        <p:sp>
          <p:nvSpPr>
            <p:cNvPr id="52" name="N09/notch-home/text/041"/>
            <p:cNvSpPr txBox="1"/>
            <p:nvPr/>
          </p:nvSpPr>
          <p:spPr>
            <a:xfrm>
              <a:off x="735330" y="3793998"/>
              <a:ext cx="3486150" cy="232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 b="0" i="0">
                  <a:solidFill>
                    <a:srgbClr val="98989D"/>
                  </a:solidFill>
                  <a:latin typeface="Arial"/>
                </a:rPr>
                <a:t>Friday, October 30</a:t>
              </a:r>
            </a:p>
          </p:txBody>
        </p:sp>
        <p:sp>
          <p:nvSpPr>
            <p:cNvPr id="53" name="N09/notch-home/button-Focus/042"/>
            <p:cNvSpPr/>
            <p:nvPr/>
          </p:nvSpPr>
          <p:spPr>
            <a:xfrm>
              <a:off x="4802505" y="4084510"/>
              <a:ext cx="906399" cy="371856"/>
            </a:xfrm>
            <a:prstGeom prst="roundRect">
              <a:avLst>
                <a:gd name="adj" fmla="val 31250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N09/notch-home/ellipse/043"/>
            <p:cNvSpPr/>
            <p:nvPr/>
          </p:nvSpPr>
          <p:spPr>
            <a:xfrm>
              <a:off x="4918710" y="4212336"/>
              <a:ext cx="116205" cy="116205"/>
            </a:xfrm>
            <a:prstGeom prst="ellipse">
              <a:avLst/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5" name="N09/notch-home/line/044"/>
            <p:cNvCxnSpPr/>
            <p:nvPr/>
          </p:nvCxnSpPr>
          <p:spPr>
            <a:xfrm flipV="1">
              <a:off x="4930330" y="4223956"/>
              <a:ext cx="92964" cy="92964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N09/notch-home/text/045"/>
            <p:cNvSpPr txBox="1"/>
            <p:nvPr/>
          </p:nvSpPr>
          <p:spPr>
            <a:xfrm>
              <a:off x="5139499" y="4084510"/>
              <a:ext cx="546163" cy="3718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 b="1" i="0">
                  <a:solidFill>
                    <a:srgbClr val="E5E5EA"/>
                  </a:solidFill>
                  <a:latin typeface="Arial"/>
                </a:rPr>
                <a:t>Focus</a:t>
              </a:r>
            </a:p>
          </p:txBody>
        </p:sp>
        <p:sp>
          <p:nvSpPr>
            <p:cNvPr id="57" name="N09/notch-home/button-Night/046"/>
            <p:cNvSpPr/>
            <p:nvPr/>
          </p:nvSpPr>
          <p:spPr>
            <a:xfrm>
              <a:off x="5801868" y="4084510"/>
              <a:ext cx="906399" cy="371856"/>
            </a:xfrm>
            <a:prstGeom prst="roundRect">
              <a:avLst>
                <a:gd name="adj" fmla="val 31250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N09/notch-home/poly/047"/>
            <p:cNvSpPr/>
            <p:nvPr/>
          </p:nvSpPr>
          <p:spPr>
            <a:xfrm>
              <a:off x="5929693" y="4200715"/>
              <a:ext cx="92964" cy="139446"/>
            </a:xfrm>
            <a:custGeom>
              <a:avLst/>
              <a:gdLst/>
              <a:ahLst/>
              <a:cxnLst/>
              <a:rect l="l" t="t" r="r" b="b"/>
              <a:pathLst>
                <a:path w="92964" h="139446">
                  <a:moveTo>
                    <a:pt x="69723" y="0"/>
                  </a:moveTo>
                  <a:lnTo>
                    <a:pt x="23241" y="11621"/>
                  </a:lnTo>
                  <a:lnTo>
                    <a:pt x="0" y="46482"/>
                  </a:lnTo>
                  <a:lnTo>
                    <a:pt x="0" y="92964"/>
                  </a:lnTo>
                  <a:lnTo>
                    <a:pt x="23241" y="127826"/>
                  </a:lnTo>
                  <a:lnTo>
                    <a:pt x="69723" y="139446"/>
                  </a:lnTo>
                  <a:lnTo>
                    <a:pt x="92964" y="116205"/>
                  </a:lnTo>
                  <a:lnTo>
                    <a:pt x="58103" y="104585"/>
                  </a:lnTo>
                  <a:lnTo>
                    <a:pt x="34862" y="69723"/>
                  </a:lnTo>
                  <a:lnTo>
                    <a:pt x="46482" y="34862"/>
                  </a:lnTo>
                  <a:close/>
                </a:path>
              </a:pathLst>
            </a:cu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N09/notch-home/text/048"/>
            <p:cNvSpPr txBox="1"/>
            <p:nvPr/>
          </p:nvSpPr>
          <p:spPr>
            <a:xfrm>
              <a:off x="6138862" y="4084510"/>
              <a:ext cx="546163" cy="3718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 b="1" i="0">
                  <a:solidFill>
                    <a:srgbClr val="E5E5EA"/>
                  </a:solidFill>
                  <a:latin typeface="Arial"/>
                </a:rPr>
                <a:t>Night</a:t>
              </a:r>
            </a:p>
          </p:txBody>
        </p:sp>
        <p:sp>
          <p:nvSpPr>
            <p:cNvPr id="60" name="N09/notch-home/button-Dark/049"/>
            <p:cNvSpPr/>
            <p:nvPr/>
          </p:nvSpPr>
          <p:spPr>
            <a:xfrm>
              <a:off x="6801231" y="4084510"/>
              <a:ext cx="906399" cy="371856"/>
            </a:xfrm>
            <a:prstGeom prst="roundRect">
              <a:avLst>
                <a:gd name="adj" fmla="val 31250"/>
              </a:avLst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N09/notch-home/ellipse/050"/>
            <p:cNvSpPr/>
            <p:nvPr/>
          </p:nvSpPr>
          <p:spPr>
            <a:xfrm>
              <a:off x="6966242" y="4212336"/>
              <a:ext cx="116205" cy="116205"/>
            </a:xfrm>
            <a:prstGeom prst="ellipse">
              <a:avLst/>
            </a:prstGeom>
            <a:noFill/>
            <a:ln w="1016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N09/notch-home/poly/051"/>
            <p:cNvSpPr/>
            <p:nvPr/>
          </p:nvSpPr>
          <p:spPr>
            <a:xfrm>
              <a:off x="7024344" y="4212336"/>
              <a:ext cx="58103" cy="116205"/>
            </a:xfrm>
            <a:custGeom>
              <a:avLst/>
              <a:gdLst/>
              <a:ahLst/>
              <a:cxnLst/>
              <a:rect l="l" t="t" r="r" b="b"/>
              <a:pathLst>
                <a:path w="58103" h="116205">
                  <a:moveTo>
                    <a:pt x="0" y="0"/>
                  </a:moveTo>
                  <a:lnTo>
                    <a:pt x="0" y="116205"/>
                  </a:lnTo>
                  <a:lnTo>
                    <a:pt x="34862" y="104584"/>
                  </a:lnTo>
                  <a:lnTo>
                    <a:pt x="58103" y="58102"/>
                  </a:lnTo>
                  <a:lnTo>
                    <a:pt x="34862" y="116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N09/notch-home/text/052"/>
            <p:cNvSpPr txBox="1"/>
            <p:nvPr/>
          </p:nvSpPr>
          <p:spPr>
            <a:xfrm>
              <a:off x="7187031" y="4084510"/>
              <a:ext cx="497357" cy="3718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 b="1" i="0">
                  <a:solidFill>
                    <a:srgbClr val="000000"/>
                  </a:solidFill>
                  <a:latin typeface="Arial"/>
                </a:rPr>
                <a:t>Dark</a:t>
              </a:r>
            </a:p>
          </p:txBody>
        </p:sp>
      </p:grpSp>
      <p:sp>
        <p:nvSpPr>
          <p:cNvPr id="64" name="N09/text/010"/>
          <p:cNvSpPr txBox="1"/>
          <p:nvPr/>
        </p:nvSpPr>
        <p:spPr>
          <a:xfrm>
            <a:off x="502920" y="5623560"/>
            <a:ext cx="763524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D2FF"/>
                </a:solidFill>
                <a:latin typeface="Arial"/>
              </a:rPr>
              <a:t>Panel 32 → top pad 8 → header 44 → page → optional status → bottom pad 16.</a:t>
            </a:r>
          </a:p>
        </p:txBody>
      </p:sp>
      <p:sp>
        <p:nvSpPr>
          <p:cNvPr id="65" name="N09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N09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67" name="N09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N09/text/014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Gutters 20 px left/right</a:t>
            </a:r>
          </a:p>
        </p:txBody>
      </p:sp>
      <p:sp>
        <p:nvSpPr>
          <p:cNvPr id="69" name="N09/ellipse/015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N09/text/016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Top pad 8 below panel</a:t>
            </a:r>
          </a:p>
        </p:txBody>
      </p:sp>
      <p:sp>
        <p:nvSpPr>
          <p:cNvPr id="71" name="N09/ellipse/017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N09/text/018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Header 44 px; tabs + settings + close</a:t>
            </a:r>
          </a:p>
        </p:txBody>
      </p:sp>
      <p:sp>
        <p:nvSpPr>
          <p:cNvPr id="73" name="N09/ellipse/019"/>
          <p:cNvSpPr/>
          <p:nvPr/>
        </p:nvSpPr>
        <p:spPr>
          <a:xfrm>
            <a:off x="8659368" y="311810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N09/text/020"/>
          <p:cNvSpPr txBox="1"/>
          <p:nvPr/>
        </p:nvSpPr>
        <p:spPr>
          <a:xfrm>
            <a:off x="8805672" y="3054096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Page scroll vertical only</a:t>
            </a:r>
          </a:p>
        </p:txBody>
      </p:sp>
      <p:sp>
        <p:nvSpPr>
          <p:cNvPr id="75" name="N09/text/021"/>
          <p:cNvSpPr txBox="1"/>
          <p:nvPr/>
        </p:nvSpPr>
        <p:spPr>
          <a:xfrm>
            <a:off x="8641080" y="3374136"/>
            <a:ext cx="2862072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4D2FF"/>
                </a:solidFill>
                <a:latin typeface="Arial"/>
              </a:rPr>
              <a:t>YOUR UPLOADED EDIT</a:t>
            </a:r>
          </a:p>
        </p:txBody>
      </p:sp>
      <p:sp>
        <p:nvSpPr>
          <p:cNvPr id="76" name="N09/text/022"/>
          <p:cNvSpPr txBox="1"/>
          <p:nvPr/>
        </p:nvSpPr>
        <p:spPr>
          <a:xfrm>
            <a:off x="8641080" y="3611880"/>
            <a:ext cx="286207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D2FF"/>
                </a:solidFill>
                <a:latin typeface="Arial"/>
              </a:rPr>
              <a:t>• Home clock/date aligned left in idle mockups.</a:t>
            </a:r>
          </a:p>
        </p:txBody>
      </p:sp>
      <p:cxnSp>
        <p:nvCxnSpPr>
          <p:cNvPr id="77" name="N09/line/023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N09/text/024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79" name="N09/edit-box/025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N09/edit-note/026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Header height / gutters / tab order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10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10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10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HOME PAGE</a:t>
            </a:r>
          </a:p>
        </p:txBody>
      </p:sp>
      <p:sp>
        <p:nvSpPr>
          <p:cNvPr id="5" name="N10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Home — idle</a:t>
            </a:r>
          </a:p>
        </p:txBody>
      </p:sp>
      <p:sp>
        <p:nvSpPr>
          <p:cNvPr id="6" name="N10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640×210 · no MPRIS player · clock + compact quick actions</a:t>
            </a:r>
          </a:p>
        </p:txBody>
      </p:sp>
      <p:cxnSp>
        <p:nvCxnSpPr>
          <p:cNvPr id="7" name="N10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10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10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N10</a:t>
            </a:r>
          </a:p>
        </p:txBody>
      </p:sp>
      <p:sp>
        <p:nvSpPr>
          <p:cNvPr id="10" name="N10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13</a:t>
            </a:r>
          </a:p>
        </p:txBody>
      </p:sp>
      <p:grpSp>
        <p:nvGrpSpPr>
          <p:cNvPr id="11" name="N10/notch-home"/>
          <p:cNvGrpSpPr/>
          <p:nvPr/>
        </p:nvGrpSpPr>
        <p:grpSpPr>
          <a:xfrm>
            <a:off x="502919" y="2356651"/>
            <a:ext cx="7818121" cy="2565321"/>
            <a:chOff x="502919" y="2356651"/>
            <a:chExt cx="7818121" cy="2565321"/>
          </a:xfrm>
        </p:grpSpPr>
        <p:sp>
          <p:nvSpPr>
            <p:cNvPr id="12" name="N10/notch-home/notch-surface-open/001"/>
            <p:cNvSpPr/>
            <p:nvPr/>
          </p:nvSpPr>
          <p:spPr>
            <a:xfrm>
              <a:off x="502919" y="2356651"/>
              <a:ext cx="7818121" cy="2565321"/>
            </a:xfrm>
            <a:custGeom>
              <a:avLst/>
              <a:gdLst/>
              <a:ahLst/>
              <a:cxnLst/>
              <a:rect l="l" t="t" r="r" b="b"/>
              <a:pathLst>
                <a:path w="7818121" h="2565321">
                  <a:moveTo>
                    <a:pt x="0" y="0"/>
                  </a:moveTo>
                  <a:lnTo>
                    <a:pt x="7818121" y="0"/>
                  </a:lnTo>
                  <a:lnTo>
                    <a:pt x="7785935" y="3627"/>
                  </a:lnTo>
                  <a:lnTo>
                    <a:pt x="7749216" y="14506"/>
                  </a:lnTo>
                  <a:lnTo>
                    <a:pt x="7710683" y="32639"/>
                  </a:lnTo>
                  <a:lnTo>
                    <a:pt x="7673058" y="58025"/>
                  </a:lnTo>
                  <a:lnTo>
                    <a:pt x="7639059" y="90664"/>
                  </a:lnTo>
                  <a:lnTo>
                    <a:pt x="7611406" y="130557"/>
                  </a:lnTo>
                  <a:lnTo>
                    <a:pt x="7592820" y="177702"/>
                  </a:lnTo>
                  <a:lnTo>
                    <a:pt x="7586020" y="232101"/>
                  </a:lnTo>
                  <a:lnTo>
                    <a:pt x="7580387" y="2329338"/>
                  </a:lnTo>
                  <a:lnTo>
                    <a:pt x="7563703" y="2384336"/>
                  </a:lnTo>
                  <a:lnTo>
                    <a:pt x="7536610" y="2435023"/>
                  </a:lnTo>
                  <a:lnTo>
                    <a:pt x="7500150" y="2479451"/>
                  </a:lnTo>
                  <a:lnTo>
                    <a:pt x="7455722" y="2515911"/>
                  </a:lnTo>
                  <a:lnTo>
                    <a:pt x="7405035" y="2543004"/>
                  </a:lnTo>
                  <a:lnTo>
                    <a:pt x="7350037" y="2559687"/>
                  </a:lnTo>
                  <a:lnTo>
                    <a:pt x="7292841" y="2565321"/>
                  </a:lnTo>
                  <a:lnTo>
                    <a:pt x="525280" y="2565321"/>
                  </a:lnTo>
                  <a:lnTo>
                    <a:pt x="468084" y="2559687"/>
                  </a:lnTo>
                  <a:lnTo>
                    <a:pt x="413086" y="2543004"/>
                  </a:lnTo>
                  <a:lnTo>
                    <a:pt x="362399" y="2515911"/>
                  </a:lnTo>
                  <a:lnTo>
                    <a:pt x="317971" y="2479451"/>
                  </a:lnTo>
                  <a:lnTo>
                    <a:pt x="281511" y="2435023"/>
                  </a:lnTo>
                  <a:lnTo>
                    <a:pt x="254418" y="2384336"/>
                  </a:lnTo>
                  <a:lnTo>
                    <a:pt x="237734" y="2329338"/>
                  </a:lnTo>
                  <a:lnTo>
                    <a:pt x="232101" y="2272141"/>
                  </a:lnTo>
                  <a:lnTo>
                    <a:pt x="232101" y="232101"/>
                  </a:lnTo>
                  <a:lnTo>
                    <a:pt x="225301" y="177702"/>
                  </a:lnTo>
                  <a:lnTo>
                    <a:pt x="206715" y="130557"/>
                  </a:lnTo>
                  <a:lnTo>
                    <a:pt x="179062" y="90664"/>
                  </a:lnTo>
                  <a:lnTo>
                    <a:pt x="145063" y="58025"/>
                  </a:lnTo>
                  <a:lnTo>
                    <a:pt x="107438" y="32639"/>
                  </a:lnTo>
                  <a:lnTo>
                    <a:pt x="68905" y="14506"/>
                  </a:lnTo>
                  <a:lnTo>
                    <a:pt x="32186" y="36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10/notch-home/button-Home/002"/>
            <p:cNvSpPr/>
            <p:nvPr/>
          </p:nvSpPr>
          <p:spPr>
            <a:xfrm>
              <a:off x="747236" y="2930794"/>
              <a:ext cx="1046650" cy="366474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10/notch-home/poly/003"/>
            <p:cNvSpPr/>
            <p:nvPr/>
          </p:nvSpPr>
          <p:spPr>
            <a:xfrm>
              <a:off x="955393" y="3040737"/>
              <a:ext cx="146590" cy="146589"/>
            </a:xfrm>
            <a:custGeom>
              <a:avLst/>
              <a:gdLst/>
              <a:ahLst/>
              <a:cxnLst/>
              <a:rect l="l" t="t" r="r" b="b"/>
              <a:pathLst>
                <a:path w="146590" h="146589">
                  <a:moveTo>
                    <a:pt x="73295" y="0"/>
                  </a:moveTo>
                  <a:lnTo>
                    <a:pt x="0" y="61079"/>
                  </a:lnTo>
                  <a:lnTo>
                    <a:pt x="24432" y="61079"/>
                  </a:lnTo>
                  <a:lnTo>
                    <a:pt x="24432" y="146589"/>
                  </a:lnTo>
                  <a:lnTo>
                    <a:pt x="61079" y="146589"/>
                  </a:lnTo>
                  <a:lnTo>
                    <a:pt x="61079" y="97726"/>
                  </a:lnTo>
                  <a:lnTo>
                    <a:pt x="85511" y="97726"/>
                  </a:lnTo>
                  <a:lnTo>
                    <a:pt x="85511" y="146589"/>
                  </a:lnTo>
                  <a:lnTo>
                    <a:pt x="122158" y="146589"/>
                  </a:lnTo>
                  <a:lnTo>
                    <a:pt x="122158" y="61079"/>
                  </a:lnTo>
                  <a:lnTo>
                    <a:pt x="146590" y="61079"/>
                  </a:lnTo>
                  <a:close/>
                </a:path>
              </a:pathLst>
            </a:custGeom>
            <a:noFill/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10/notch-home/text/004"/>
            <p:cNvSpPr txBox="1"/>
            <p:nvPr/>
          </p:nvSpPr>
          <p:spPr>
            <a:xfrm>
              <a:off x="1199709" y="2930794"/>
              <a:ext cx="569745" cy="36647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6" b="1" i="0">
                  <a:solidFill>
                    <a:srgbClr val="FFFFFF"/>
                  </a:solidFill>
                  <a:latin typeface="Arial"/>
                </a:rPr>
                <a:t>Home</a:t>
              </a:r>
            </a:p>
          </p:txBody>
        </p:sp>
        <p:sp>
          <p:nvSpPr>
            <p:cNvPr id="16" name="N10/notch-home/button-music/005"/>
            <p:cNvSpPr/>
            <p:nvPr/>
          </p:nvSpPr>
          <p:spPr>
            <a:xfrm>
              <a:off x="1842750" y="2930794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" name="N10/notch-home/line/006"/>
            <p:cNvCxnSpPr/>
            <p:nvPr/>
          </p:nvCxnSpPr>
          <p:spPr>
            <a:xfrm flipV="1">
              <a:off x="2013771" y="3065168"/>
              <a:ext cx="0" cy="9772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10/notch-home/line/007"/>
            <p:cNvCxnSpPr/>
            <p:nvPr/>
          </p:nvCxnSpPr>
          <p:spPr>
            <a:xfrm flipV="1">
              <a:off x="2013771" y="3052953"/>
              <a:ext cx="85511" cy="1221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N10/notch-home/line/008"/>
            <p:cNvCxnSpPr/>
            <p:nvPr/>
          </p:nvCxnSpPr>
          <p:spPr>
            <a:xfrm>
              <a:off x="2099282" y="3052953"/>
              <a:ext cx="0" cy="9772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N10/notch-home/ellipse/009"/>
            <p:cNvSpPr/>
            <p:nvPr/>
          </p:nvSpPr>
          <p:spPr>
            <a:xfrm>
              <a:off x="1977124" y="3144571"/>
              <a:ext cx="42755" cy="36647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10/notch-home/ellipse/010"/>
            <p:cNvSpPr/>
            <p:nvPr/>
          </p:nvSpPr>
          <p:spPr>
            <a:xfrm>
              <a:off x="2062634" y="3132355"/>
              <a:ext cx="42755" cy="36647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10/notch-home/button-bell/011"/>
            <p:cNvSpPr/>
            <p:nvPr/>
          </p:nvSpPr>
          <p:spPr>
            <a:xfrm>
              <a:off x="2282519" y="2930794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N10/notch-home/poly/012"/>
            <p:cNvSpPr/>
            <p:nvPr/>
          </p:nvSpPr>
          <p:spPr>
            <a:xfrm>
              <a:off x="2416893" y="3040737"/>
              <a:ext cx="122158" cy="109942"/>
            </a:xfrm>
            <a:custGeom>
              <a:avLst/>
              <a:gdLst/>
              <a:ahLst/>
              <a:cxnLst/>
              <a:rect l="l" t="t" r="r" b="b"/>
              <a:pathLst>
                <a:path w="122158" h="109942">
                  <a:moveTo>
                    <a:pt x="61079" y="0"/>
                  </a:moveTo>
                  <a:lnTo>
                    <a:pt x="24432" y="24431"/>
                  </a:lnTo>
                  <a:lnTo>
                    <a:pt x="12216" y="73295"/>
                  </a:lnTo>
                  <a:lnTo>
                    <a:pt x="0" y="109942"/>
                  </a:lnTo>
                  <a:lnTo>
                    <a:pt x="122158" y="109942"/>
                  </a:lnTo>
                  <a:lnTo>
                    <a:pt x="109942" y="73295"/>
                  </a:lnTo>
                  <a:lnTo>
                    <a:pt x="97727" y="24431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4" name="N10/notch-home/line/013"/>
            <p:cNvCxnSpPr/>
            <p:nvPr/>
          </p:nvCxnSpPr>
          <p:spPr>
            <a:xfrm>
              <a:off x="2453540" y="3175111"/>
              <a:ext cx="4886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N10/notch-home/ellipse/014"/>
            <p:cNvSpPr/>
            <p:nvPr/>
          </p:nvSpPr>
          <p:spPr>
            <a:xfrm>
              <a:off x="2465756" y="3028521"/>
              <a:ext cx="24431" cy="24431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N10/notch-home/button-chart/015"/>
            <p:cNvSpPr/>
            <p:nvPr/>
          </p:nvSpPr>
          <p:spPr>
            <a:xfrm>
              <a:off x="2722288" y="2930794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N10/notch-home/line/016"/>
            <p:cNvCxnSpPr/>
            <p:nvPr/>
          </p:nvCxnSpPr>
          <p:spPr>
            <a:xfrm>
              <a:off x="2844446" y="3187326"/>
              <a:ext cx="146590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10/notch-home/line/017"/>
            <p:cNvCxnSpPr/>
            <p:nvPr/>
          </p:nvCxnSpPr>
          <p:spPr>
            <a:xfrm flipV="1">
              <a:off x="2856662" y="3101816"/>
              <a:ext cx="36648" cy="4886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10/notch-home/line/018"/>
            <p:cNvCxnSpPr/>
            <p:nvPr/>
          </p:nvCxnSpPr>
          <p:spPr>
            <a:xfrm>
              <a:off x="2893310" y="3101816"/>
              <a:ext cx="36647" cy="2443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N10/notch-home/line/019"/>
            <p:cNvCxnSpPr/>
            <p:nvPr/>
          </p:nvCxnSpPr>
          <p:spPr>
            <a:xfrm flipV="1">
              <a:off x="2929957" y="3052953"/>
              <a:ext cx="48863" cy="7329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N10/notch-home/button-folder/020"/>
            <p:cNvSpPr/>
            <p:nvPr/>
          </p:nvSpPr>
          <p:spPr>
            <a:xfrm>
              <a:off x="3162058" y="2930794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10/notch-home/poly/021"/>
            <p:cNvSpPr/>
            <p:nvPr/>
          </p:nvSpPr>
          <p:spPr>
            <a:xfrm>
              <a:off x="3284216" y="3077384"/>
              <a:ext cx="146589" cy="97727"/>
            </a:xfrm>
            <a:custGeom>
              <a:avLst/>
              <a:gdLst/>
              <a:ahLst/>
              <a:cxnLst/>
              <a:rect l="l" t="t" r="r" b="b"/>
              <a:pathLst>
                <a:path w="146589" h="97727">
                  <a:moveTo>
                    <a:pt x="0" y="0"/>
                  </a:moveTo>
                  <a:lnTo>
                    <a:pt x="48863" y="0"/>
                  </a:lnTo>
                  <a:lnTo>
                    <a:pt x="67187" y="24432"/>
                  </a:lnTo>
                  <a:lnTo>
                    <a:pt x="146589" y="24432"/>
                  </a:lnTo>
                  <a:lnTo>
                    <a:pt x="146589" y="97727"/>
                  </a:lnTo>
                  <a:lnTo>
                    <a:pt x="0" y="97727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10/notch-home/button-clipboard/022"/>
            <p:cNvSpPr/>
            <p:nvPr/>
          </p:nvSpPr>
          <p:spPr>
            <a:xfrm>
              <a:off x="3601827" y="2930794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10/notch-home/rect/023"/>
            <p:cNvSpPr/>
            <p:nvPr/>
          </p:nvSpPr>
          <p:spPr>
            <a:xfrm>
              <a:off x="3748417" y="3052953"/>
              <a:ext cx="97726" cy="134373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10/notch-home/rect/024"/>
            <p:cNvSpPr/>
            <p:nvPr/>
          </p:nvSpPr>
          <p:spPr>
            <a:xfrm>
              <a:off x="3772848" y="3034629"/>
              <a:ext cx="48863" cy="30539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N10/notch-home/line/025"/>
            <p:cNvCxnSpPr/>
            <p:nvPr/>
          </p:nvCxnSpPr>
          <p:spPr>
            <a:xfrm>
              <a:off x="3772848" y="3101816"/>
              <a:ext cx="4886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N10/notch-home/line/026"/>
            <p:cNvCxnSpPr/>
            <p:nvPr/>
          </p:nvCxnSpPr>
          <p:spPr>
            <a:xfrm>
              <a:off x="3772848" y="3132355"/>
              <a:ext cx="4886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N10/notch-home/button-gear/027"/>
            <p:cNvSpPr/>
            <p:nvPr/>
          </p:nvSpPr>
          <p:spPr>
            <a:xfrm>
              <a:off x="7221616" y="2918579"/>
              <a:ext cx="390906" cy="390906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10/notch-home/ellipse/028"/>
            <p:cNvSpPr/>
            <p:nvPr/>
          </p:nvSpPr>
          <p:spPr>
            <a:xfrm>
              <a:off x="7380422" y="3077384"/>
              <a:ext cx="73294" cy="73294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10/notch-home/line/029"/>
            <p:cNvCxnSpPr/>
            <p:nvPr/>
          </p:nvCxnSpPr>
          <p:spPr>
            <a:xfrm>
              <a:off x="7478148" y="3114032"/>
              <a:ext cx="2443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10/notch-home/line/030"/>
            <p:cNvCxnSpPr/>
            <p:nvPr/>
          </p:nvCxnSpPr>
          <p:spPr>
            <a:xfrm>
              <a:off x="7460259" y="3157221"/>
              <a:ext cx="17276" cy="1727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10/notch-home/line/031"/>
            <p:cNvCxnSpPr/>
            <p:nvPr/>
          </p:nvCxnSpPr>
          <p:spPr>
            <a:xfrm>
              <a:off x="7417069" y="3175111"/>
              <a:ext cx="0" cy="2443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10/notch-home/line/032"/>
            <p:cNvCxnSpPr/>
            <p:nvPr/>
          </p:nvCxnSpPr>
          <p:spPr>
            <a:xfrm flipH="1">
              <a:off x="7356604" y="3157221"/>
              <a:ext cx="17276" cy="1727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10/notch-home/line/033"/>
            <p:cNvCxnSpPr/>
            <p:nvPr/>
          </p:nvCxnSpPr>
          <p:spPr>
            <a:xfrm flipH="1">
              <a:off x="7331559" y="3114032"/>
              <a:ext cx="24431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10/notch-home/line/034"/>
            <p:cNvCxnSpPr/>
            <p:nvPr/>
          </p:nvCxnSpPr>
          <p:spPr>
            <a:xfrm flipH="1" flipV="1">
              <a:off x="7356604" y="3053566"/>
              <a:ext cx="17276" cy="1727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10/notch-home/line/035"/>
            <p:cNvCxnSpPr/>
            <p:nvPr/>
          </p:nvCxnSpPr>
          <p:spPr>
            <a:xfrm flipV="1">
              <a:off x="7417069" y="3028521"/>
              <a:ext cx="0" cy="2443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10/notch-home/line/036"/>
            <p:cNvCxnSpPr/>
            <p:nvPr/>
          </p:nvCxnSpPr>
          <p:spPr>
            <a:xfrm flipV="1">
              <a:off x="7460259" y="3053566"/>
              <a:ext cx="17276" cy="1727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10/notch-home/button-close/037"/>
            <p:cNvSpPr/>
            <p:nvPr/>
          </p:nvSpPr>
          <p:spPr>
            <a:xfrm>
              <a:off x="7685817" y="2918579"/>
              <a:ext cx="390906" cy="390906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10/notch-home/line/038"/>
            <p:cNvCxnSpPr/>
            <p:nvPr/>
          </p:nvCxnSpPr>
          <p:spPr>
            <a:xfrm>
              <a:off x="7832407" y="3065168"/>
              <a:ext cx="97727" cy="9772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10/notch-home/line/039"/>
            <p:cNvCxnSpPr/>
            <p:nvPr/>
          </p:nvCxnSpPr>
          <p:spPr>
            <a:xfrm flipH="1">
              <a:off x="7832407" y="3065168"/>
              <a:ext cx="97727" cy="9772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10/notch-home/text/040"/>
            <p:cNvSpPr txBox="1"/>
            <p:nvPr/>
          </p:nvSpPr>
          <p:spPr>
            <a:xfrm>
              <a:off x="747236" y="3627096"/>
              <a:ext cx="3664743" cy="5374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270" b="1" i="0">
                  <a:solidFill>
                    <a:srgbClr val="F5F5F7"/>
                  </a:solidFill>
                  <a:latin typeface="Arial"/>
                </a:rPr>
                <a:t>14:32</a:t>
              </a:r>
            </a:p>
          </p:txBody>
        </p:sp>
        <p:sp>
          <p:nvSpPr>
            <p:cNvPr id="52" name="N10/notch-home/text/041"/>
            <p:cNvSpPr txBox="1"/>
            <p:nvPr/>
          </p:nvSpPr>
          <p:spPr>
            <a:xfrm>
              <a:off x="747236" y="4189023"/>
              <a:ext cx="3664743" cy="2443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6" b="0" i="0">
                  <a:solidFill>
                    <a:srgbClr val="98989D"/>
                  </a:solidFill>
                  <a:latin typeface="Arial"/>
                </a:rPr>
                <a:t>Friday, October 30</a:t>
              </a:r>
            </a:p>
          </p:txBody>
        </p:sp>
        <p:sp>
          <p:nvSpPr>
            <p:cNvPr id="53" name="N10/notch-home/button-Focus/042"/>
            <p:cNvSpPr/>
            <p:nvPr/>
          </p:nvSpPr>
          <p:spPr>
            <a:xfrm>
              <a:off x="5022770" y="3859196"/>
              <a:ext cx="952833" cy="390906"/>
            </a:xfrm>
            <a:prstGeom prst="roundRect">
              <a:avLst>
                <a:gd name="adj" fmla="val 31250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N10/notch-home/ellipse/043"/>
            <p:cNvSpPr/>
            <p:nvPr/>
          </p:nvSpPr>
          <p:spPr>
            <a:xfrm>
              <a:off x="5144928" y="3993570"/>
              <a:ext cx="122158" cy="122158"/>
            </a:xfrm>
            <a:prstGeom prst="ellipse">
              <a:avLst/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5" name="N10/notch-home/line/044"/>
            <p:cNvCxnSpPr/>
            <p:nvPr/>
          </p:nvCxnSpPr>
          <p:spPr>
            <a:xfrm flipV="1">
              <a:off x="5157144" y="4005786"/>
              <a:ext cx="97727" cy="97726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N10/notch-home/text/045"/>
            <p:cNvSpPr txBox="1"/>
            <p:nvPr/>
          </p:nvSpPr>
          <p:spPr>
            <a:xfrm>
              <a:off x="5377029" y="3859196"/>
              <a:ext cx="574143" cy="3909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6" b="1" i="0">
                  <a:solidFill>
                    <a:srgbClr val="E5E5EA"/>
                  </a:solidFill>
                  <a:latin typeface="Arial"/>
                </a:rPr>
                <a:t>Focus</a:t>
              </a:r>
            </a:p>
          </p:txBody>
        </p:sp>
        <p:sp>
          <p:nvSpPr>
            <p:cNvPr id="57" name="N10/notch-home/button-Night/046"/>
            <p:cNvSpPr/>
            <p:nvPr/>
          </p:nvSpPr>
          <p:spPr>
            <a:xfrm>
              <a:off x="6073330" y="3859196"/>
              <a:ext cx="952833" cy="390906"/>
            </a:xfrm>
            <a:prstGeom prst="roundRect">
              <a:avLst>
                <a:gd name="adj" fmla="val 31250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N10/notch-home/poly/047"/>
            <p:cNvSpPr/>
            <p:nvPr/>
          </p:nvSpPr>
          <p:spPr>
            <a:xfrm>
              <a:off x="6207704" y="3981354"/>
              <a:ext cx="97726" cy="146590"/>
            </a:xfrm>
            <a:custGeom>
              <a:avLst/>
              <a:gdLst/>
              <a:ahLst/>
              <a:cxnLst/>
              <a:rect l="l" t="t" r="r" b="b"/>
              <a:pathLst>
                <a:path w="97726" h="146590">
                  <a:moveTo>
                    <a:pt x="73295" y="0"/>
                  </a:moveTo>
                  <a:lnTo>
                    <a:pt x="24432" y="12216"/>
                  </a:lnTo>
                  <a:lnTo>
                    <a:pt x="0" y="48863"/>
                  </a:lnTo>
                  <a:lnTo>
                    <a:pt x="0" y="97727"/>
                  </a:lnTo>
                  <a:lnTo>
                    <a:pt x="24432" y="134374"/>
                  </a:lnTo>
                  <a:lnTo>
                    <a:pt x="73295" y="146590"/>
                  </a:lnTo>
                  <a:lnTo>
                    <a:pt x="97726" y="122158"/>
                  </a:lnTo>
                  <a:lnTo>
                    <a:pt x="61079" y="109943"/>
                  </a:lnTo>
                  <a:lnTo>
                    <a:pt x="36647" y="73295"/>
                  </a:lnTo>
                  <a:lnTo>
                    <a:pt x="48863" y="36648"/>
                  </a:lnTo>
                  <a:close/>
                </a:path>
              </a:pathLst>
            </a:cu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N10/notch-home/text/048"/>
            <p:cNvSpPr txBox="1"/>
            <p:nvPr/>
          </p:nvSpPr>
          <p:spPr>
            <a:xfrm>
              <a:off x="6427589" y="3859196"/>
              <a:ext cx="574143" cy="3909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6" b="1" i="0">
                  <a:solidFill>
                    <a:srgbClr val="E5E5EA"/>
                  </a:solidFill>
                  <a:latin typeface="Arial"/>
                </a:rPr>
                <a:t>Night</a:t>
              </a:r>
            </a:p>
          </p:txBody>
        </p:sp>
        <p:sp>
          <p:nvSpPr>
            <p:cNvPr id="60" name="N10/notch-home/button-Dark/049"/>
            <p:cNvSpPr/>
            <p:nvPr/>
          </p:nvSpPr>
          <p:spPr>
            <a:xfrm>
              <a:off x="7123890" y="3859196"/>
              <a:ext cx="952833" cy="390906"/>
            </a:xfrm>
            <a:prstGeom prst="roundRect">
              <a:avLst>
                <a:gd name="adj" fmla="val 31250"/>
              </a:avLst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N10/notch-home/ellipse/050"/>
            <p:cNvSpPr/>
            <p:nvPr/>
          </p:nvSpPr>
          <p:spPr>
            <a:xfrm>
              <a:off x="7297354" y="3993570"/>
              <a:ext cx="122158" cy="122158"/>
            </a:xfrm>
            <a:prstGeom prst="ellipse">
              <a:avLst/>
            </a:prstGeom>
            <a:noFill/>
            <a:ln w="1016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N10/notch-home/poly/051"/>
            <p:cNvSpPr/>
            <p:nvPr/>
          </p:nvSpPr>
          <p:spPr>
            <a:xfrm>
              <a:off x="7358433" y="3993570"/>
              <a:ext cx="61080" cy="122158"/>
            </a:xfrm>
            <a:custGeom>
              <a:avLst/>
              <a:gdLst/>
              <a:ahLst/>
              <a:cxnLst/>
              <a:rect l="l" t="t" r="r" b="b"/>
              <a:pathLst>
                <a:path w="61080" h="122158">
                  <a:moveTo>
                    <a:pt x="0" y="0"/>
                  </a:moveTo>
                  <a:lnTo>
                    <a:pt x="0" y="122158"/>
                  </a:lnTo>
                  <a:lnTo>
                    <a:pt x="36648" y="109942"/>
                  </a:lnTo>
                  <a:lnTo>
                    <a:pt x="61080" y="61079"/>
                  </a:lnTo>
                  <a:lnTo>
                    <a:pt x="36648" y="122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N10/notch-home/text/052"/>
            <p:cNvSpPr txBox="1"/>
            <p:nvPr/>
          </p:nvSpPr>
          <p:spPr>
            <a:xfrm>
              <a:off x="7529455" y="3859196"/>
              <a:ext cx="522836" cy="3909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6" b="1" i="0">
                  <a:solidFill>
                    <a:srgbClr val="000000"/>
                  </a:solidFill>
                  <a:latin typeface="Arial"/>
                </a:rPr>
                <a:t>Dark</a:t>
              </a:r>
            </a:p>
          </p:txBody>
        </p:sp>
      </p:grpSp>
      <p:sp>
        <p:nvSpPr>
          <p:cNvPr id="64" name="N10/text/010"/>
          <p:cNvSpPr txBox="1"/>
          <p:nvPr/>
        </p:nvSpPr>
        <p:spPr>
          <a:xfrm>
            <a:off x="502919" y="5049988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Clock uses locale time; date is weekday, month day.</a:t>
            </a:r>
          </a:p>
        </p:txBody>
      </p:sp>
      <p:sp>
        <p:nvSpPr>
          <p:cNvPr id="65" name="N10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N10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67" name="N10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N10/text/014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Home clock 2.4 em / 700</a:t>
            </a:r>
          </a:p>
        </p:txBody>
      </p:sp>
      <p:sp>
        <p:nvSpPr>
          <p:cNvPr id="69" name="N10/ellipse/015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N10/text/016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Date 1 em muted</a:t>
            </a:r>
          </a:p>
        </p:txBody>
      </p:sp>
      <p:sp>
        <p:nvSpPr>
          <p:cNvPr id="71" name="N10/ellipse/017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N10/text/018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Compact actions: Focus / Night / Dark</a:t>
            </a:r>
          </a:p>
        </p:txBody>
      </p:sp>
      <p:sp>
        <p:nvSpPr>
          <p:cNvPr id="73" name="N10/ellipse/019"/>
          <p:cNvSpPr/>
          <p:nvPr/>
        </p:nvSpPr>
        <p:spPr>
          <a:xfrm>
            <a:off x="8659368" y="311810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N10/text/020"/>
          <p:cNvSpPr txBox="1"/>
          <p:nvPr/>
        </p:nvSpPr>
        <p:spPr>
          <a:xfrm>
            <a:off x="8805672" y="3054096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Active action = white fill, black text</a:t>
            </a:r>
          </a:p>
        </p:txBody>
      </p:sp>
      <p:sp>
        <p:nvSpPr>
          <p:cNvPr id="75" name="N10/text/021"/>
          <p:cNvSpPr txBox="1"/>
          <p:nvPr/>
        </p:nvSpPr>
        <p:spPr>
          <a:xfrm>
            <a:off x="8641080" y="3566160"/>
            <a:ext cx="2862072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4D2FF"/>
                </a:solidFill>
                <a:latin typeface="Arial"/>
              </a:rPr>
              <a:t>YOUR UPLOADED EDIT</a:t>
            </a:r>
          </a:p>
        </p:txBody>
      </p:sp>
      <p:sp>
        <p:nvSpPr>
          <p:cNvPr id="76" name="N10/text/022"/>
          <p:cNvSpPr txBox="1"/>
          <p:nvPr/>
        </p:nvSpPr>
        <p:spPr>
          <a:xfrm>
            <a:off x="8641080" y="3803904"/>
            <a:ext cx="286207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D2FF"/>
                </a:solidFill>
                <a:latin typeface="Arial"/>
              </a:rPr>
              <a:t>• Clock and date moved left toward gutter.</a:t>
            </a:r>
          </a:p>
        </p:txBody>
      </p:sp>
      <p:cxnSp>
        <p:nvCxnSpPr>
          <p:cNvPr id="77" name="N10/line/023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N10/text/024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79" name="N10/edit-box/025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N10/edit-note/026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Clock/date alignment / action spacing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11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11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11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HOME PAGE</a:t>
            </a:r>
          </a:p>
        </p:txBody>
      </p:sp>
      <p:sp>
        <p:nvSpPr>
          <p:cNvPr id="5" name="N11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Home — media playing</a:t>
            </a:r>
          </a:p>
        </p:txBody>
      </p:sp>
      <p:sp>
        <p:nvSpPr>
          <p:cNvPr id="6" name="N11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640×210 · replaces idle stack when any MPRIS player exists</a:t>
            </a:r>
          </a:p>
        </p:txBody>
      </p:sp>
      <p:cxnSp>
        <p:nvCxnSpPr>
          <p:cNvPr id="7" name="N11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11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11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N11</a:t>
            </a:r>
          </a:p>
        </p:txBody>
      </p:sp>
      <p:sp>
        <p:nvSpPr>
          <p:cNvPr id="10" name="N11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14</a:t>
            </a:r>
          </a:p>
        </p:txBody>
      </p:sp>
      <p:grpSp>
        <p:nvGrpSpPr>
          <p:cNvPr id="11" name="N11/notch-home"/>
          <p:cNvGrpSpPr/>
          <p:nvPr/>
        </p:nvGrpSpPr>
        <p:grpSpPr>
          <a:xfrm>
            <a:off x="502919" y="2356651"/>
            <a:ext cx="7818121" cy="2565321"/>
            <a:chOff x="502919" y="2356651"/>
            <a:chExt cx="7818121" cy="2565321"/>
          </a:xfrm>
        </p:grpSpPr>
        <p:sp>
          <p:nvSpPr>
            <p:cNvPr id="12" name="N11/notch-home/notch-surface-open/001"/>
            <p:cNvSpPr/>
            <p:nvPr/>
          </p:nvSpPr>
          <p:spPr>
            <a:xfrm>
              <a:off x="502919" y="2356651"/>
              <a:ext cx="7818121" cy="2565321"/>
            </a:xfrm>
            <a:custGeom>
              <a:avLst/>
              <a:gdLst/>
              <a:ahLst/>
              <a:cxnLst/>
              <a:rect l="l" t="t" r="r" b="b"/>
              <a:pathLst>
                <a:path w="7818121" h="2565321">
                  <a:moveTo>
                    <a:pt x="0" y="0"/>
                  </a:moveTo>
                  <a:lnTo>
                    <a:pt x="7818121" y="0"/>
                  </a:lnTo>
                  <a:lnTo>
                    <a:pt x="7785935" y="3627"/>
                  </a:lnTo>
                  <a:lnTo>
                    <a:pt x="7749216" y="14506"/>
                  </a:lnTo>
                  <a:lnTo>
                    <a:pt x="7710683" y="32639"/>
                  </a:lnTo>
                  <a:lnTo>
                    <a:pt x="7673058" y="58025"/>
                  </a:lnTo>
                  <a:lnTo>
                    <a:pt x="7639059" y="90664"/>
                  </a:lnTo>
                  <a:lnTo>
                    <a:pt x="7611406" y="130557"/>
                  </a:lnTo>
                  <a:lnTo>
                    <a:pt x="7592820" y="177702"/>
                  </a:lnTo>
                  <a:lnTo>
                    <a:pt x="7586020" y="232101"/>
                  </a:lnTo>
                  <a:lnTo>
                    <a:pt x="7580387" y="2329338"/>
                  </a:lnTo>
                  <a:lnTo>
                    <a:pt x="7563703" y="2384336"/>
                  </a:lnTo>
                  <a:lnTo>
                    <a:pt x="7536610" y="2435023"/>
                  </a:lnTo>
                  <a:lnTo>
                    <a:pt x="7500150" y="2479451"/>
                  </a:lnTo>
                  <a:lnTo>
                    <a:pt x="7455722" y="2515911"/>
                  </a:lnTo>
                  <a:lnTo>
                    <a:pt x="7405035" y="2543004"/>
                  </a:lnTo>
                  <a:lnTo>
                    <a:pt x="7350037" y="2559687"/>
                  </a:lnTo>
                  <a:lnTo>
                    <a:pt x="7292841" y="2565321"/>
                  </a:lnTo>
                  <a:lnTo>
                    <a:pt x="525280" y="2565321"/>
                  </a:lnTo>
                  <a:lnTo>
                    <a:pt x="468084" y="2559687"/>
                  </a:lnTo>
                  <a:lnTo>
                    <a:pt x="413086" y="2543004"/>
                  </a:lnTo>
                  <a:lnTo>
                    <a:pt x="362399" y="2515911"/>
                  </a:lnTo>
                  <a:lnTo>
                    <a:pt x="317971" y="2479451"/>
                  </a:lnTo>
                  <a:lnTo>
                    <a:pt x="281511" y="2435023"/>
                  </a:lnTo>
                  <a:lnTo>
                    <a:pt x="254418" y="2384336"/>
                  </a:lnTo>
                  <a:lnTo>
                    <a:pt x="237734" y="2329338"/>
                  </a:lnTo>
                  <a:lnTo>
                    <a:pt x="232101" y="2272141"/>
                  </a:lnTo>
                  <a:lnTo>
                    <a:pt x="232101" y="232101"/>
                  </a:lnTo>
                  <a:lnTo>
                    <a:pt x="225301" y="177702"/>
                  </a:lnTo>
                  <a:lnTo>
                    <a:pt x="206715" y="130557"/>
                  </a:lnTo>
                  <a:lnTo>
                    <a:pt x="179062" y="90664"/>
                  </a:lnTo>
                  <a:lnTo>
                    <a:pt x="145063" y="58025"/>
                  </a:lnTo>
                  <a:lnTo>
                    <a:pt x="107438" y="32639"/>
                  </a:lnTo>
                  <a:lnTo>
                    <a:pt x="68905" y="14506"/>
                  </a:lnTo>
                  <a:lnTo>
                    <a:pt x="32186" y="36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11/notch-home/button-Home/002"/>
            <p:cNvSpPr/>
            <p:nvPr/>
          </p:nvSpPr>
          <p:spPr>
            <a:xfrm>
              <a:off x="747236" y="2930794"/>
              <a:ext cx="1046650" cy="366474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11/notch-home/poly/003"/>
            <p:cNvSpPr/>
            <p:nvPr/>
          </p:nvSpPr>
          <p:spPr>
            <a:xfrm>
              <a:off x="955393" y="3040737"/>
              <a:ext cx="146590" cy="146589"/>
            </a:xfrm>
            <a:custGeom>
              <a:avLst/>
              <a:gdLst/>
              <a:ahLst/>
              <a:cxnLst/>
              <a:rect l="l" t="t" r="r" b="b"/>
              <a:pathLst>
                <a:path w="146590" h="146589">
                  <a:moveTo>
                    <a:pt x="73295" y="0"/>
                  </a:moveTo>
                  <a:lnTo>
                    <a:pt x="0" y="61079"/>
                  </a:lnTo>
                  <a:lnTo>
                    <a:pt x="24432" y="61079"/>
                  </a:lnTo>
                  <a:lnTo>
                    <a:pt x="24432" y="146589"/>
                  </a:lnTo>
                  <a:lnTo>
                    <a:pt x="61079" y="146589"/>
                  </a:lnTo>
                  <a:lnTo>
                    <a:pt x="61079" y="97726"/>
                  </a:lnTo>
                  <a:lnTo>
                    <a:pt x="85511" y="97726"/>
                  </a:lnTo>
                  <a:lnTo>
                    <a:pt x="85511" y="146589"/>
                  </a:lnTo>
                  <a:lnTo>
                    <a:pt x="122158" y="146589"/>
                  </a:lnTo>
                  <a:lnTo>
                    <a:pt x="122158" y="61079"/>
                  </a:lnTo>
                  <a:lnTo>
                    <a:pt x="146590" y="61079"/>
                  </a:lnTo>
                  <a:close/>
                </a:path>
              </a:pathLst>
            </a:custGeom>
            <a:noFill/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11/notch-home/text/004"/>
            <p:cNvSpPr txBox="1"/>
            <p:nvPr/>
          </p:nvSpPr>
          <p:spPr>
            <a:xfrm>
              <a:off x="1199709" y="2930794"/>
              <a:ext cx="569745" cy="36647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6" b="1" i="0">
                  <a:solidFill>
                    <a:srgbClr val="FFFFFF"/>
                  </a:solidFill>
                  <a:latin typeface="Arial"/>
                </a:rPr>
                <a:t>Home</a:t>
              </a:r>
            </a:p>
          </p:txBody>
        </p:sp>
        <p:sp>
          <p:nvSpPr>
            <p:cNvPr id="16" name="N11/notch-home/button-music/005"/>
            <p:cNvSpPr/>
            <p:nvPr/>
          </p:nvSpPr>
          <p:spPr>
            <a:xfrm>
              <a:off x="1842750" y="2930794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" name="N11/notch-home/line/006"/>
            <p:cNvCxnSpPr/>
            <p:nvPr/>
          </p:nvCxnSpPr>
          <p:spPr>
            <a:xfrm flipV="1">
              <a:off x="2013771" y="3065168"/>
              <a:ext cx="0" cy="9772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11/notch-home/line/007"/>
            <p:cNvCxnSpPr/>
            <p:nvPr/>
          </p:nvCxnSpPr>
          <p:spPr>
            <a:xfrm flipV="1">
              <a:off x="2013771" y="3052953"/>
              <a:ext cx="85511" cy="1221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N11/notch-home/line/008"/>
            <p:cNvCxnSpPr/>
            <p:nvPr/>
          </p:nvCxnSpPr>
          <p:spPr>
            <a:xfrm>
              <a:off x="2099282" y="3052953"/>
              <a:ext cx="0" cy="9772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N11/notch-home/ellipse/009"/>
            <p:cNvSpPr/>
            <p:nvPr/>
          </p:nvSpPr>
          <p:spPr>
            <a:xfrm>
              <a:off x="1977124" y="3144571"/>
              <a:ext cx="42755" cy="36647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11/notch-home/ellipse/010"/>
            <p:cNvSpPr/>
            <p:nvPr/>
          </p:nvSpPr>
          <p:spPr>
            <a:xfrm>
              <a:off x="2062634" y="3132355"/>
              <a:ext cx="42755" cy="36647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11/notch-home/button-bell/011"/>
            <p:cNvSpPr/>
            <p:nvPr/>
          </p:nvSpPr>
          <p:spPr>
            <a:xfrm>
              <a:off x="2282519" y="2930794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N11/notch-home/poly/012"/>
            <p:cNvSpPr/>
            <p:nvPr/>
          </p:nvSpPr>
          <p:spPr>
            <a:xfrm>
              <a:off x="2416893" y="3040737"/>
              <a:ext cx="122158" cy="109942"/>
            </a:xfrm>
            <a:custGeom>
              <a:avLst/>
              <a:gdLst/>
              <a:ahLst/>
              <a:cxnLst/>
              <a:rect l="l" t="t" r="r" b="b"/>
              <a:pathLst>
                <a:path w="122158" h="109942">
                  <a:moveTo>
                    <a:pt x="61079" y="0"/>
                  </a:moveTo>
                  <a:lnTo>
                    <a:pt x="24432" y="24431"/>
                  </a:lnTo>
                  <a:lnTo>
                    <a:pt x="12216" y="73295"/>
                  </a:lnTo>
                  <a:lnTo>
                    <a:pt x="0" y="109942"/>
                  </a:lnTo>
                  <a:lnTo>
                    <a:pt x="122158" y="109942"/>
                  </a:lnTo>
                  <a:lnTo>
                    <a:pt x="109942" y="73295"/>
                  </a:lnTo>
                  <a:lnTo>
                    <a:pt x="97727" y="24431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4" name="N11/notch-home/line/013"/>
            <p:cNvCxnSpPr/>
            <p:nvPr/>
          </p:nvCxnSpPr>
          <p:spPr>
            <a:xfrm>
              <a:off x="2453540" y="3175111"/>
              <a:ext cx="4886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N11/notch-home/ellipse/014"/>
            <p:cNvSpPr/>
            <p:nvPr/>
          </p:nvSpPr>
          <p:spPr>
            <a:xfrm>
              <a:off x="2465756" y="3028521"/>
              <a:ext cx="24431" cy="24431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N11/notch-home/button-chart/015"/>
            <p:cNvSpPr/>
            <p:nvPr/>
          </p:nvSpPr>
          <p:spPr>
            <a:xfrm>
              <a:off x="2722288" y="2930794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N11/notch-home/line/016"/>
            <p:cNvCxnSpPr/>
            <p:nvPr/>
          </p:nvCxnSpPr>
          <p:spPr>
            <a:xfrm>
              <a:off x="2844446" y="3187326"/>
              <a:ext cx="146590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11/notch-home/line/017"/>
            <p:cNvCxnSpPr/>
            <p:nvPr/>
          </p:nvCxnSpPr>
          <p:spPr>
            <a:xfrm flipV="1">
              <a:off x="2856662" y="3101816"/>
              <a:ext cx="36648" cy="4886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11/notch-home/line/018"/>
            <p:cNvCxnSpPr/>
            <p:nvPr/>
          </p:nvCxnSpPr>
          <p:spPr>
            <a:xfrm>
              <a:off x="2893310" y="3101816"/>
              <a:ext cx="36647" cy="2443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N11/notch-home/line/019"/>
            <p:cNvCxnSpPr/>
            <p:nvPr/>
          </p:nvCxnSpPr>
          <p:spPr>
            <a:xfrm flipV="1">
              <a:off x="2929957" y="3052953"/>
              <a:ext cx="48863" cy="7329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N11/notch-home/button-folder/020"/>
            <p:cNvSpPr/>
            <p:nvPr/>
          </p:nvSpPr>
          <p:spPr>
            <a:xfrm>
              <a:off x="3162058" y="2930794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11/notch-home/poly/021"/>
            <p:cNvSpPr/>
            <p:nvPr/>
          </p:nvSpPr>
          <p:spPr>
            <a:xfrm>
              <a:off x="3284216" y="3077384"/>
              <a:ext cx="146589" cy="97727"/>
            </a:xfrm>
            <a:custGeom>
              <a:avLst/>
              <a:gdLst/>
              <a:ahLst/>
              <a:cxnLst/>
              <a:rect l="l" t="t" r="r" b="b"/>
              <a:pathLst>
                <a:path w="146589" h="97727">
                  <a:moveTo>
                    <a:pt x="0" y="0"/>
                  </a:moveTo>
                  <a:lnTo>
                    <a:pt x="48863" y="0"/>
                  </a:lnTo>
                  <a:lnTo>
                    <a:pt x="67187" y="24432"/>
                  </a:lnTo>
                  <a:lnTo>
                    <a:pt x="146589" y="24432"/>
                  </a:lnTo>
                  <a:lnTo>
                    <a:pt x="146589" y="97727"/>
                  </a:lnTo>
                  <a:lnTo>
                    <a:pt x="0" y="97727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11/notch-home/button-clipboard/022"/>
            <p:cNvSpPr/>
            <p:nvPr/>
          </p:nvSpPr>
          <p:spPr>
            <a:xfrm>
              <a:off x="3601827" y="2930794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11/notch-home/rect/023"/>
            <p:cNvSpPr/>
            <p:nvPr/>
          </p:nvSpPr>
          <p:spPr>
            <a:xfrm>
              <a:off x="3748417" y="3052953"/>
              <a:ext cx="97726" cy="134373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11/notch-home/rect/024"/>
            <p:cNvSpPr/>
            <p:nvPr/>
          </p:nvSpPr>
          <p:spPr>
            <a:xfrm>
              <a:off x="3772848" y="3034629"/>
              <a:ext cx="48863" cy="30539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N11/notch-home/line/025"/>
            <p:cNvCxnSpPr/>
            <p:nvPr/>
          </p:nvCxnSpPr>
          <p:spPr>
            <a:xfrm>
              <a:off x="3772848" y="3101816"/>
              <a:ext cx="4886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N11/notch-home/line/026"/>
            <p:cNvCxnSpPr/>
            <p:nvPr/>
          </p:nvCxnSpPr>
          <p:spPr>
            <a:xfrm>
              <a:off x="3772848" y="3132355"/>
              <a:ext cx="4886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N11/notch-home/button-gear/027"/>
            <p:cNvSpPr/>
            <p:nvPr/>
          </p:nvSpPr>
          <p:spPr>
            <a:xfrm>
              <a:off x="7221616" y="2918579"/>
              <a:ext cx="390906" cy="390906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11/notch-home/ellipse/028"/>
            <p:cNvSpPr/>
            <p:nvPr/>
          </p:nvSpPr>
          <p:spPr>
            <a:xfrm>
              <a:off x="7380422" y="3077384"/>
              <a:ext cx="73294" cy="73294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11/notch-home/line/029"/>
            <p:cNvCxnSpPr/>
            <p:nvPr/>
          </p:nvCxnSpPr>
          <p:spPr>
            <a:xfrm>
              <a:off x="7478148" y="3114032"/>
              <a:ext cx="2443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11/notch-home/line/030"/>
            <p:cNvCxnSpPr/>
            <p:nvPr/>
          </p:nvCxnSpPr>
          <p:spPr>
            <a:xfrm>
              <a:off x="7460259" y="3157221"/>
              <a:ext cx="17276" cy="1727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11/notch-home/line/031"/>
            <p:cNvCxnSpPr/>
            <p:nvPr/>
          </p:nvCxnSpPr>
          <p:spPr>
            <a:xfrm>
              <a:off x="7417069" y="3175111"/>
              <a:ext cx="0" cy="2443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11/notch-home/line/032"/>
            <p:cNvCxnSpPr/>
            <p:nvPr/>
          </p:nvCxnSpPr>
          <p:spPr>
            <a:xfrm flipH="1">
              <a:off x="7356604" y="3157221"/>
              <a:ext cx="17276" cy="1727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11/notch-home/line/033"/>
            <p:cNvCxnSpPr/>
            <p:nvPr/>
          </p:nvCxnSpPr>
          <p:spPr>
            <a:xfrm flipH="1">
              <a:off x="7331559" y="3114032"/>
              <a:ext cx="24431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11/notch-home/line/034"/>
            <p:cNvCxnSpPr/>
            <p:nvPr/>
          </p:nvCxnSpPr>
          <p:spPr>
            <a:xfrm flipH="1" flipV="1">
              <a:off x="7356604" y="3053566"/>
              <a:ext cx="17276" cy="1727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11/notch-home/line/035"/>
            <p:cNvCxnSpPr/>
            <p:nvPr/>
          </p:nvCxnSpPr>
          <p:spPr>
            <a:xfrm flipV="1">
              <a:off x="7417069" y="3028521"/>
              <a:ext cx="0" cy="2443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11/notch-home/line/036"/>
            <p:cNvCxnSpPr/>
            <p:nvPr/>
          </p:nvCxnSpPr>
          <p:spPr>
            <a:xfrm flipV="1">
              <a:off x="7460259" y="3053566"/>
              <a:ext cx="17276" cy="1727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11/notch-home/button-close/037"/>
            <p:cNvSpPr/>
            <p:nvPr/>
          </p:nvSpPr>
          <p:spPr>
            <a:xfrm>
              <a:off x="7685817" y="2918579"/>
              <a:ext cx="390906" cy="390906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11/notch-home/line/038"/>
            <p:cNvCxnSpPr/>
            <p:nvPr/>
          </p:nvCxnSpPr>
          <p:spPr>
            <a:xfrm>
              <a:off x="7832407" y="3065168"/>
              <a:ext cx="97727" cy="9772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11/notch-home/line/039"/>
            <p:cNvCxnSpPr/>
            <p:nvPr/>
          </p:nvCxnSpPr>
          <p:spPr>
            <a:xfrm flipH="1">
              <a:off x="7832407" y="3065168"/>
              <a:ext cx="97727" cy="9772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11/notch-home/album-art/040"/>
            <p:cNvSpPr/>
            <p:nvPr/>
          </p:nvSpPr>
          <p:spPr>
            <a:xfrm>
              <a:off x="747236" y="3614880"/>
              <a:ext cx="879538" cy="879538"/>
            </a:xfrm>
            <a:prstGeom prst="roundRect">
              <a:avLst>
                <a:gd name="adj" fmla="val 19444"/>
              </a:avLst>
            </a:prstGeom>
            <a:solidFill>
              <a:srgbClr val="2A1B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N11/notch-home/ellipse/041"/>
            <p:cNvSpPr/>
            <p:nvPr/>
          </p:nvSpPr>
          <p:spPr>
            <a:xfrm>
              <a:off x="835190" y="3720424"/>
              <a:ext cx="483746" cy="483746"/>
            </a:xfrm>
            <a:prstGeom prst="ellipse">
              <a:avLst/>
            </a:prstGeom>
            <a:solidFill>
              <a:srgbClr val="BF5AF2">
                <a:alpha val="8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N11/notch-home/ellipse/042"/>
            <p:cNvSpPr/>
            <p:nvPr/>
          </p:nvSpPr>
          <p:spPr>
            <a:xfrm>
              <a:off x="1116642" y="3949105"/>
              <a:ext cx="439769" cy="439769"/>
            </a:xfrm>
            <a:prstGeom prst="ellipse">
              <a:avLst/>
            </a:prstGeom>
            <a:solidFill>
              <a:srgbClr val="64D2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N11/notch-home/rect/043"/>
            <p:cNvSpPr/>
            <p:nvPr/>
          </p:nvSpPr>
          <p:spPr>
            <a:xfrm>
              <a:off x="905553" y="4160194"/>
              <a:ext cx="562904" cy="140726"/>
            </a:xfrm>
            <a:prstGeom prst="roundRect">
              <a:avLst>
                <a:gd name="adj" fmla="val 34722"/>
              </a:avLst>
            </a:prstGeom>
            <a:solidFill>
              <a:srgbClr val="30D158">
                <a:alpha val="9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N11/notch-home/text/044"/>
            <p:cNvSpPr txBox="1"/>
            <p:nvPr/>
          </p:nvSpPr>
          <p:spPr>
            <a:xfrm>
              <a:off x="747236" y="3614880"/>
              <a:ext cx="879538" cy="87953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4" b="1" i="0">
                  <a:solidFill>
                    <a:srgbClr val="FFFFFF"/>
                  </a:solidFill>
                  <a:latin typeface="Arial"/>
                </a:rPr>
                <a:t>ART</a:t>
              </a:r>
            </a:p>
          </p:txBody>
        </p:sp>
        <p:sp>
          <p:nvSpPr>
            <p:cNvPr id="56" name="N11/notch-home/text/045"/>
            <p:cNvSpPr txBox="1"/>
            <p:nvPr/>
          </p:nvSpPr>
          <p:spPr>
            <a:xfrm>
              <a:off x="1797796" y="3578232"/>
              <a:ext cx="6278927" cy="26874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35" b="1" i="0">
                  <a:solidFill>
                    <a:srgbClr val="F5F5F7"/>
                  </a:solidFill>
                  <a:latin typeface="Arial"/>
                </a:rPr>
                <a:t>Midnight City</a:t>
              </a:r>
            </a:p>
          </p:txBody>
        </p:sp>
        <p:sp>
          <p:nvSpPr>
            <p:cNvPr id="57" name="N11/notch-home/text/046"/>
            <p:cNvSpPr txBox="1"/>
            <p:nvPr/>
          </p:nvSpPr>
          <p:spPr>
            <a:xfrm>
              <a:off x="1797796" y="3871412"/>
              <a:ext cx="6278927" cy="2198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98989D"/>
                  </a:solidFill>
                  <a:latin typeface="Arial"/>
                </a:rPr>
                <a:t>M83</a:t>
              </a:r>
            </a:p>
          </p:txBody>
        </p:sp>
        <p:sp>
          <p:nvSpPr>
            <p:cNvPr id="58" name="N11/notch-home/button-prev/047"/>
            <p:cNvSpPr/>
            <p:nvPr/>
          </p:nvSpPr>
          <p:spPr>
            <a:xfrm>
              <a:off x="1797796" y="4164591"/>
              <a:ext cx="390906" cy="390906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N11/notch-home/poly/048"/>
            <p:cNvSpPr/>
            <p:nvPr/>
          </p:nvSpPr>
          <p:spPr>
            <a:xfrm>
              <a:off x="1956601" y="4298965"/>
              <a:ext cx="73295" cy="122159"/>
            </a:xfrm>
            <a:custGeom>
              <a:avLst/>
              <a:gdLst/>
              <a:ahLst/>
              <a:cxnLst/>
              <a:rect l="l" t="t" r="r" b="b"/>
              <a:pathLst>
                <a:path w="73295" h="122159">
                  <a:moveTo>
                    <a:pt x="73295" y="0"/>
                  </a:moveTo>
                  <a:lnTo>
                    <a:pt x="0" y="61079"/>
                  </a:lnTo>
                  <a:lnTo>
                    <a:pt x="73295" y="122159"/>
                  </a:lnTo>
                  <a:close/>
                </a:path>
              </a:pathLst>
            </a:cu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N11/notch-home/rect/049"/>
            <p:cNvSpPr/>
            <p:nvPr/>
          </p:nvSpPr>
          <p:spPr>
            <a:xfrm>
              <a:off x="1932170" y="4305073"/>
              <a:ext cx="19545" cy="109942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N11/notch-home/button-pause/050"/>
            <p:cNvSpPr/>
            <p:nvPr/>
          </p:nvSpPr>
          <p:spPr>
            <a:xfrm>
              <a:off x="2286428" y="4164591"/>
              <a:ext cx="537495" cy="390906"/>
            </a:xfrm>
            <a:prstGeom prst="roundRect">
              <a:avLst>
                <a:gd name="adj" fmla="val 50000"/>
              </a:avLst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N11/notch-home/rect/051"/>
            <p:cNvSpPr/>
            <p:nvPr/>
          </p:nvSpPr>
          <p:spPr>
            <a:xfrm>
              <a:off x="2512421" y="4305073"/>
              <a:ext cx="30539" cy="109942"/>
            </a:xfrm>
            <a:prstGeom prst="roundRect">
              <a:avLst>
                <a:gd name="adj" fmla="val 2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N11/notch-home/rect/052"/>
            <p:cNvSpPr/>
            <p:nvPr/>
          </p:nvSpPr>
          <p:spPr>
            <a:xfrm>
              <a:off x="2567392" y="4305073"/>
              <a:ext cx="30539" cy="109942"/>
            </a:xfrm>
            <a:prstGeom prst="roundRect">
              <a:avLst>
                <a:gd name="adj" fmla="val 2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N11/notch-home/button-next/053"/>
            <p:cNvSpPr/>
            <p:nvPr/>
          </p:nvSpPr>
          <p:spPr>
            <a:xfrm>
              <a:off x="2775061" y="4164591"/>
              <a:ext cx="390906" cy="390906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N11/notch-home/poly/054"/>
            <p:cNvSpPr/>
            <p:nvPr/>
          </p:nvSpPr>
          <p:spPr>
            <a:xfrm>
              <a:off x="2933866" y="4298965"/>
              <a:ext cx="73295" cy="122159"/>
            </a:xfrm>
            <a:custGeom>
              <a:avLst/>
              <a:gdLst/>
              <a:ahLst/>
              <a:cxnLst/>
              <a:rect l="l" t="t" r="r" b="b"/>
              <a:pathLst>
                <a:path w="73295" h="122159">
                  <a:moveTo>
                    <a:pt x="0" y="0"/>
                  </a:moveTo>
                  <a:lnTo>
                    <a:pt x="73295" y="61079"/>
                  </a:lnTo>
                  <a:lnTo>
                    <a:pt x="0" y="122159"/>
                  </a:lnTo>
                  <a:close/>
                </a:path>
              </a:pathLst>
            </a:cu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N11/notch-home/rect/055"/>
            <p:cNvSpPr/>
            <p:nvPr/>
          </p:nvSpPr>
          <p:spPr>
            <a:xfrm>
              <a:off x="3012047" y="4305073"/>
              <a:ext cx="19545" cy="109942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N11/notch-home/button-Full player/056"/>
            <p:cNvSpPr/>
            <p:nvPr/>
          </p:nvSpPr>
          <p:spPr>
            <a:xfrm>
              <a:off x="3263693" y="4164591"/>
              <a:ext cx="1050559" cy="390906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N11/notch-home/text/057"/>
            <p:cNvSpPr txBox="1"/>
            <p:nvPr/>
          </p:nvSpPr>
          <p:spPr>
            <a:xfrm>
              <a:off x="3336988" y="4164591"/>
              <a:ext cx="903970" cy="3909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A1A1A6"/>
                  </a:solidFill>
                  <a:latin typeface="Arial"/>
                </a:rPr>
                <a:t>Full player</a:t>
              </a:r>
            </a:p>
          </p:txBody>
        </p:sp>
      </p:grpSp>
      <p:sp>
        <p:nvSpPr>
          <p:cNvPr id="69" name="N11/text/010"/>
          <p:cNvSpPr txBox="1"/>
          <p:nvPr/>
        </p:nvSpPr>
        <p:spPr>
          <a:xfrm>
            <a:off x="502919" y="5049988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72 px art · title/artist · previous/play-pause/next · Full player link.</a:t>
            </a:r>
          </a:p>
        </p:txBody>
      </p:sp>
      <p:sp>
        <p:nvSpPr>
          <p:cNvPr id="70" name="N11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N11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72" name="N11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N11/text/014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Art 72 px, radius 14, padding 6</a:t>
            </a:r>
          </a:p>
        </p:txBody>
      </p:sp>
      <p:sp>
        <p:nvSpPr>
          <p:cNvPr id="74" name="N11/ellipse/015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N11/text/016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Title 1.2 em; artist muted</a:t>
            </a:r>
          </a:p>
        </p:txBody>
      </p:sp>
      <p:sp>
        <p:nvSpPr>
          <p:cNvPr id="76" name="N11/ellipse/017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N11/text/018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Play button white; icons symbolic</a:t>
            </a:r>
          </a:p>
        </p:txBody>
      </p:sp>
      <p:sp>
        <p:nvSpPr>
          <p:cNvPr id="78" name="N11/ellipse/019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N11/text/020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Full player hidden below 340 px content</a:t>
            </a:r>
          </a:p>
        </p:txBody>
      </p:sp>
      <p:cxnSp>
        <p:nvCxnSpPr>
          <p:cNvPr id="80" name="N11/line/021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N11/text/022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82" name="N11/edit-box/023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N11/edit-note/024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Art size / control spacing / link label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48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48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48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HOME PAGE</a:t>
            </a:r>
          </a:p>
        </p:txBody>
      </p:sp>
      <p:sp>
        <p:nvSpPr>
          <p:cNvPr id="5" name="N48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Home — compact and narrow</a:t>
            </a:r>
          </a:p>
        </p:txBody>
      </p:sp>
      <p:sp>
        <p:nvSpPr>
          <p:cNvPr id="6" name="N48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Effective content width &lt;420 px compact · &lt;340 px narrow</a:t>
            </a:r>
          </a:p>
        </p:txBody>
      </p:sp>
      <p:cxnSp>
        <p:nvCxnSpPr>
          <p:cNvPr id="7" name="N48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48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48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N48</a:t>
            </a:r>
          </a:p>
        </p:txBody>
      </p:sp>
      <p:sp>
        <p:nvSpPr>
          <p:cNvPr id="10" name="N48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15</a:t>
            </a:r>
          </a:p>
        </p:txBody>
      </p:sp>
      <p:grpSp>
        <p:nvGrpSpPr>
          <p:cNvPr id="11" name="N48/notch-home"/>
          <p:cNvGrpSpPr/>
          <p:nvPr/>
        </p:nvGrpSpPr>
        <p:grpSpPr>
          <a:xfrm>
            <a:off x="640080" y="1965960"/>
            <a:ext cx="4000500" cy="2100262"/>
            <a:chOff x="640080" y="1965960"/>
            <a:chExt cx="4000500" cy="2100262"/>
          </a:xfrm>
        </p:grpSpPr>
        <p:sp>
          <p:nvSpPr>
            <p:cNvPr id="12" name="N48/notch-home/notch-surface-open/001"/>
            <p:cNvSpPr/>
            <p:nvPr/>
          </p:nvSpPr>
          <p:spPr>
            <a:xfrm>
              <a:off x="640080" y="1965960"/>
              <a:ext cx="4000500" cy="2100262"/>
            </a:xfrm>
            <a:custGeom>
              <a:avLst/>
              <a:gdLst/>
              <a:ahLst/>
              <a:cxnLst/>
              <a:rect l="l" t="t" r="r" b="b"/>
              <a:pathLst>
                <a:path w="4000500" h="2100262">
                  <a:moveTo>
                    <a:pt x="0" y="0"/>
                  </a:moveTo>
                  <a:lnTo>
                    <a:pt x="4000500" y="0"/>
                  </a:lnTo>
                  <a:lnTo>
                    <a:pt x="3974149" y="2969"/>
                  </a:lnTo>
                  <a:lnTo>
                    <a:pt x="3944086" y="11876"/>
                  </a:lnTo>
                  <a:lnTo>
                    <a:pt x="3912539" y="26722"/>
                  </a:lnTo>
                  <a:lnTo>
                    <a:pt x="3881735" y="47505"/>
                  </a:lnTo>
                  <a:lnTo>
                    <a:pt x="3853899" y="74228"/>
                  </a:lnTo>
                  <a:lnTo>
                    <a:pt x="3831260" y="106888"/>
                  </a:lnTo>
                  <a:lnTo>
                    <a:pt x="3816043" y="145486"/>
                  </a:lnTo>
                  <a:lnTo>
                    <a:pt x="3810476" y="190023"/>
                  </a:lnTo>
                  <a:lnTo>
                    <a:pt x="3805864" y="1907060"/>
                  </a:lnTo>
                  <a:lnTo>
                    <a:pt x="3792205" y="1952088"/>
                  </a:lnTo>
                  <a:lnTo>
                    <a:pt x="3770023" y="1993586"/>
                  </a:lnTo>
                  <a:lnTo>
                    <a:pt x="3740173" y="2029959"/>
                  </a:lnTo>
                  <a:lnTo>
                    <a:pt x="3703799" y="2059810"/>
                  </a:lnTo>
                  <a:lnTo>
                    <a:pt x="3662301" y="2081991"/>
                  </a:lnTo>
                  <a:lnTo>
                    <a:pt x="3617273" y="2095650"/>
                  </a:lnTo>
                  <a:lnTo>
                    <a:pt x="3570446" y="2100262"/>
                  </a:lnTo>
                  <a:lnTo>
                    <a:pt x="430053" y="2100262"/>
                  </a:lnTo>
                  <a:lnTo>
                    <a:pt x="383226" y="2095650"/>
                  </a:lnTo>
                  <a:lnTo>
                    <a:pt x="338198" y="2081991"/>
                  </a:lnTo>
                  <a:lnTo>
                    <a:pt x="296700" y="2059810"/>
                  </a:lnTo>
                  <a:lnTo>
                    <a:pt x="260326" y="2029959"/>
                  </a:lnTo>
                  <a:lnTo>
                    <a:pt x="230476" y="1993586"/>
                  </a:lnTo>
                  <a:lnTo>
                    <a:pt x="208294" y="1952088"/>
                  </a:lnTo>
                  <a:lnTo>
                    <a:pt x="194635" y="1907060"/>
                  </a:lnTo>
                  <a:lnTo>
                    <a:pt x="190023" y="1860232"/>
                  </a:lnTo>
                  <a:lnTo>
                    <a:pt x="190023" y="190023"/>
                  </a:lnTo>
                  <a:lnTo>
                    <a:pt x="184456" y="145486"/>
                  </a:lnTo>
                  <a:lnTo>
                    <a:pt x="169239" y="106888"/>
                  </a:lnTo>
                  <a:lnTo>
                    <a:pt x="146600" y="74228"/>
                  </a:lnTo>
                  <a:lnTo>
                    <a:pt x="118764" y="47505"/>
                  </a:lnTo>
                  <a:lnTo>
                    <a:pt x="87960" y="26722"/>
                  </a:lnTo>
                  <a:lnTo>
                    <a:pt x="56413" y="11876"/>
                  </a:lnTo>
                  <a:lnTo>
                    <a:pt x="26350" y="29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48/notch-home/button-home/002"/>
            <p:cNvSpPr/>
            <p:nvPr/>
          </p:nvSpPr>
          <p:spPr>
            <a:xfrm>
              <a:off x="840105" y="2436018"/>
              <a:ext cx="320040" cy="300037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48/notch-home/poly/003"/>
            <p:cNvSpPr/>
            <p:nvPr/>
          </p:nvSpPr>
          <p:spPr>
            <a:xfrm>
              <a:off x="940117" y="2526030"/>
              <a:ext cx="120015" cy="120015"/>
            </a:xfrm>
            <a:custGeom>
              <a:avLst/>
              <a:gdLst/>
              <a:ahLst/>
              <a:cxnLst/>
              <a:rect l="l" t="t" r="r" b="b"/>
              <a:pathLst>
                <a:path w="120015" h="120015">
                  <a:moveTo>
                    <a:pt x="60007" y="0"/>
                  </a:moveTo>
                  <a:lnTo>
                    <a:pt x="0" y="50006"/>
                  </a:lnTo>
                  <a:lnTo>
                    <a:pt x="20002" y="50006"/>
                  </a:lnTo>
                  <a:lnTo>
                    <a:pt x="20002" y="120015"/>
                  </a:lnTo>
                  <a:lnTo>
                    <a:pt x="50006" y="120015"/>
                  </a:lnTo>
                  <a:lnTo>
                    <a:pt x="50006" y="80010"/>
                  </a:lnTo>
                  <a:lnTo>
                    <a:pt x="70009" y="80010"/>
                  </a:lnTo>
                  <a:lnTo>
                    <a:pt x="70009" y="120015"/>
                  </a:lnTo>
                  <a:lnTo>
                    <a:pt x="100013" y="120015"/>
                  </a:lnTo>
                  <a:lnTo>
                    <a:pt x="100013" y="50006"/>
                  </a:lnTo>
                  <a:lnTo>
                    <a:pt x="120015" y="50006"/>
                  </a:lnTo>
                  <a:close/>
                </a:path>
              </a:pathLst>
            </a:custGeom>
            <a:noFill/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48/notch-home/button-music/004"/>
            <p:cNvSpPr/>
            <p:nvPr/>
          </p:nvSpPr>
          <p:spPr>
            <a:xfrm>
              <a:off x="1200150" y="2436018"/>
              <a:ext cx="320040" cy="30003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N48/notch-home/line/005"/>
            <p:cNvCxnSpPr/>
            <p:nvPr/>
          </p:nvCxnSpPr>
          <p:spPr>
            <a:xfrm flipV="1">
              <a:off x="1340167" y="2546032"/>
              <a:ext cx="0" cy="8001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N48/notch-home/line/006"/>
            <p:cNvCxnSpPr/>
            <p:nvPr/>
          </p:nvCxnSpPr>
          <p:spPr>
            <a:xfrm flipV="1">
              <a:off x="1340167" y="2536031"/>
              <a:ext cx="70009" cy="1000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48/notch-home/line/007"/>
            <p:cNvCxnSpPr/>
            <p:nvPr/>
          </p:nvCxnSpPr>
          <p:spPr>
            <a:xfrm>
              <a:off x="1410176" y="2536031"/>
              <a:ext cx="0" cy="8001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N48/notch-home/ellipse/008"/>
            <p:cNvSpPr/>
            <p:nvPr/>
          </p:nvSpPr>
          <p:spPr>
            <a:xfrm>
              <a:off x="1310163" y="2611040"/>
              <a:ext cx="35004" cy="30003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48/notch-home/ellipse/009"/>
            <p:cNvSpPr/>
            <p:nvPr/>
          </p:nvSpPr>
          <p:spPr>
            <a:xfrm>
              <a:off x="1380172" y="2601039"/>
              <a:ext cx="35004" cy="30003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48/notch-home/button-bell/010"/>
            <p:cNvSpPr/>
            <p:nvPr/>
          </p:nvSpPr>
          <p:spPr>
            <a:xfrm>
              <a:off x="1560195" y="2436018"/>
              <a:ext cx="320040" cy="30003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48/notch-home/poly/011"/>
            <p:cNvSpPr/>
            <p:nvPr/>
          </p:nvSpPr>
          <p:spPr>
            <a:xfrm>
              <a:off x="1670208" y="2526030"/>
              <a:ext cx="100013" cy="90011"/>
            </a:xfrm>
            <a:custGeom>
              <a:avLst/>
              <a:gdLst/>
              <a:ahLst/>
              <a:cxnLst/>
              <a:rect l="l" t="t" r="r" b="b"/>
              <a:pathLst>
                <a:path w="100013" h="90011">
                  <a:moveTo>
                    <a:pt x="50006" y="0"/>
                  </a:moveTo>
                  <a:lnTo>
                    <a:pt x="20003" y="20002"/>
                  </a:lnTo>
                  <a:lnTo>
                    <a:pt x="10002" y="60007"/>
                  </a:lnTo>
                  <a:lnTo>
                    <a:pt x="0" y="90011"/>
                  </a:lnTo>
                  <a:lnTo>
                    <a:pt x="100013" y="90011"/>
                  </a:lnTo>
                  <a:lnTo>
                    <a:pt x="90012" y="60007"/>
                  </a:lnTo>
                  <a:lnTo>
                    <a:pt x="80010" y="20002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N48/notch-home/line/012"/>
            <p:cNvCxnSpPr/>
            <p:nvPr/>
          </p:nvCxnSpPr>
          <p:spPr>
            <a:xfrm>
              <a:off x="1700212" y="2636043"/>
              <a:ext cx="4000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N48/notch-home/ellipse/013"/>
            <p:cNvSpPr/>
            <p:nvPr/>
          </p:nvSpPr>
          <p:spPr>
            <a:xfrm>
              <a:off x="1710213" y="2516028"/>
              <a:ext cx="20002" cy="20002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48/notch-home/button-chart/014"/>
            <p:cNvSpPr/>
            <p:nvPr/>
          </p:nvSpPr>
          <p:spPr>
            <a:xfrm>
              <a:off x="1920240" y="2436018"/>
              <a:ext cx="320040" cy="30003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N48/notch-home/line/015"/>
            <p:cNvCxnSpPr/>
            <p:nvPr/>
          </p:nvCxnSpPr>
          <p:spPr>
            <a:xfrm>
              <a:off x="2020252" y="2646045"/>
              <a:ext cx="12001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N48/notch-home/line/016"/>
            <p:cNvCxnSpPr/>
            <p:nvPr/>
          </p:nvCxnSpPr>
          <p:spPr>
            <a:xfrm flipV="1">
              <a:off x="2030253" y="2576036"/>
              <a:ext cx="30004" cy="4000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48/notch-home/line/017"/>
            <p:cNvCxnSpPr/>
            <p:nvPr/>
          </p:nvCxnSpPr>
          <p:spPr>
            <a:xfrm>
              <a:off x="2060257" y="2576036"/>
              <a:ext cx="30004" cy="2000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48/notch-home/line/018"/>
            <p:cNvCxnSpPr/>
            <p:nvPr/>
          </p:nvCxnSpPr>
          <p:spPr>
            <a:xfrm flipV="1">
              <a:off x="2090261" y="2536031"/>
              <a:ext cx="40005" cy="6000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N48/notch-home/button-folder/019"/>
            <p:cNvSpPr/>
            <p:nvPr/>
          </p:nvSpPr>
          <p:spPr>
            <a:xfrm>
              <a:off x="2280285" y="2436018"/>
              <a:ext cx="320040" cy="30003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N48/notch-home/poly/020"/>
            <p:cNvSpPr/>
            <p:nvPr/>
          </p:nvSpPr>
          <p:spPr>
            <a:xfrm>
              <a:off x="2380297" y="2556033"/>
              <a:ext cx="120015" cy="80010"/>
            </a:xfrm>
            <a:custGeom>
              <a:avLst/>
              <a:gdLst/>
              <a:ahLst/>
              <a:cxnLst/>
              <a:rect l="l" t="t" r="r" b="b"/>
              <a:pathLst>
                <a:path w="120015" h="80010">
                  <a:moveTo>
                    <a:pt x="0" y="0"/>
                  </a:moveTo>
                  <a:lnTo>
                    <a:pt x="40005" y="0"/>
                  </a:lnTo>
                  <a:lnTo>
                    <a:pt x="55007" y="20003"/>
                  </a:lnTo>
                  <a:lnTo>
                    <a:pt x="120015" y="20003"/>
                  </a:lnTo>
                  <a:lnTo>
                    <a:pt x="120015" y="80010"/>
                  </a:lnTo>
                  <a:lnTo>
                    <a:pt x="0" y="80010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48/notch-home/button-clipboard/021"/>
            <p:cNvSpPr/>
            <p:nvPr/>
          </p:nvSpPr>
          <p:spPr>
            <a:xfrm>
              <a:off x="2640330" y="2436018"/>
              <a:ext cx="320040" cy="30003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48/notch-home/rect/022"/>
            <p:cNvSpPr/>
            <p:nvPr/>
          </p:nvSpPr>
          <p:spPr>
            <a:xfrm>
              <a:off x="2760345" y="2536031"/>
              <a:ext cx="80010" cy="110013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48/notch-home/rect/023"/>
            <p:cNvSpPr/>
            <p:nvPr/>
          </p:nvSpPr>
          <p:spPr>
            <a:xfrm>
              <a:off x="2780347" y="2521029"/>
              <a:ext cx="40005" cy="25003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5" name="N48/notch-home/line/024"/>
            <p:cNvCxnSpPr/>
            <p:nvPr/>
          </p:nvCxnSpPr>
          <p:spPr>
            <a:xfrm>
              <a:off x="2780347" y="2576036"/>
              <a:ext cx="4000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N48/notch-home/line/025"/>
            <p:cNvCxnSpPr/>
            <p:nvPr/>
          </p:nvCxnSpPr>
          <p:spPr>
            <a:xfrm>
              <a:off x="2780347" y="2601039"/>
              <a:ext cx="4000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N48/notch-home/button-gear/026"/>
            <p:cNvSpPr/>
            <p:nvPr/>
          </p:nvSpPr>
          <p:spPr>
            <a:xfrm>
              <a:off x="3740467" y="2426017"/>
              <a:ext cx="320040" cy="320040"/>
            </a:xfrm>
            <a:prstGeom prst="roundRect">
              <a:avLst>
                <a:gd name="adj" fmla="val 3124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N48/notch-home/ellipse/027"/>
            <p:cNvSpPr/>
            <p:nvPr/>
          </p:nvSpPr>
          <p:spPr>
            <a:xfrm>
              <a:off x="3870483" y="2556033"/>
              <a:ext cx="60007" cy="60007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9" name="N48/notch-home/line/028"/>
            <p:cNvCxnSpPr/>
            <p:nvPr/>
          </p:nvCxnSpPr>
          <p:spPr>
            <a:xfrm>
              <a:off x="3950493" y="2586037"/>
              <a:ext cx="2000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N48/notch-home/line/029"/>
            <p:cNvCxnSpPr/>
            <p:nvPr/>
          </p:nvCxnSpPr>
          <p:spPr>
            <a:xfrm>
              <a:off x="3935847" y="2621397"/>
              <a:ext cx="14144" cy="1414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48/notch-home/line/030"/>
            <p:cNvCxnSpPr/>
            <p:nvPr/>
          </p:nvCxnSpPr>
          <p:spPr>
            <a:xfrm>
              <a:off x="3900487" y="2636043"/>
              <a:ext cx="0" cy="2000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48/notch-home/line/031"/>
            <p:cNvCxnSpPr/>
            <p:nvPr/>
          </p:nvCxnSpPr>
          <p:spPr>
            <a:xfrm flipH="1">
              <a:off x="3850983" y="2621397"/>
              <a:ext cx="14144" cy="1414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48/notch-home/line/032"/>
            <p:cNvCxnSpPr/>
            <p:nvPr/>
          </p:nvCxnSpPr>
          <p:spPr>
            <a:xfrm flipH="1">
              <a:off x="3830478" y="2586037"/>
              <a:ext cx="2000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48/notch-home/line/033"/>
            <p:cNvCxnSpPr/>
            <p:nvPr/>
          </p:nvCxnSpPr>
          <p:spPr>
            <a:xfrm flipH="1" flipV="1">
              <a:off x="3850983" y="2536533"/>
              <a:ext cx="14144" cy="1414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48/notch-home/line/034"/>
            <p:cNvCxnSpPr/>
            <p:nvPr/>
          </p:nvCxnSpPr>
          <p:spPr>
            <a:xfrm flipV="1">
              <a:off x="3900487" y="2516028"/>
              <a:ext cx="0" cy="2000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48/notch-home/line/035"/>
            <p:cNvCxnSpPr/>
            <p:nvPr/>
          </p:nvCxnSpPr>
          <p:spPr>
            <a:xfrm flipV="1">
              <a:off x="3935847" y="2536533"/>
              <a:ext cx="14144" cy="1414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N48/notch-home/button-close/036"/>
            <p:cNvSpPr/>
            <p:nvPr/>
          </p:nvSpPr>
          <p:spPr>
            <a:xfrm>
              <a:off x="4120515" y="2426017"/>
              <a:ext cx="320040" cy="320040"/>
            </a:xfrm>
            <a:prstGeom prst="roundRect">
              <a:avLst>
                <a:gd name="adj" fmla="val 3124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8" name="N48/notch-home/line/037"/>
            <p:cNvCxnSpPr/>
            <p:nvPr/>
          </p:nvCxnSpPr>
          <p:spPr>
            <a:xfrm>
              <a:off x="4240530" y="2546032"/>
              <a:ext cx="80010" cy="8001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N48/notch-home/line/038"/>
            <p:cNvCxnSpPr/>
            <p:nvPr/>
          </p:nvCxnSpPr>
          <p:spPr>
            <a:xfrm flipH="1">
              <a:off x="4240530" y="2546032"/>
              <a:ext cx="80010" cy="8001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N48/notch-home/text/039"/>
            <p:cNvSpPr txBox="1"/>
            <p:nvPr/>
          </p:nvSpPr>
          <p:spPr>
            <a:xfrm>
              <a:off x="840105" y="2806065"/>
              <a:ext cx="3600450" cy="400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77" b="1" i="0">
                  <a:solidFill>
                    <a:srgbClr val="F5F5F7"/>
                  </a:solidFill>
                  <a:latin typeface="Arial"/>
                </a:rPr>
                <a:t>14:32</a:t>
              </a:r>
            </a:p>
          </p:txBody>
        </p:sp>
        <p:sp>
          <p:nvSpPr>
            <p:cNvPr id="51" name="N48/notch-home/text/040"/>
            <p:cNvSpPr txBox="1"/>
            <p:nvPr/>
          </p:nvSpPr>
          <p:spPr>
            <a:xfrm>
              <a:off x="840105" y="3226117"/>
              <a:ext cx="3600450" cy="18002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2" b="0" i="0">
                  <a:solidFill>
                    <a:srgbClr val="98989D"/>
                  </a:solidFill>
                  <a:latin typeface="Arial"/>
                </a:rPr>
                <a:t>Friday, October 30</a:t>
              </a:r>
            </a:p>
          </p:txBody>
        </p:sp>
        <p:sp>
          <p:nvSpPr>
            <p:cNvPr id="52" name="N48/notch-home/button-Focus/041"/>
            <p:cNvSpPr/>
            <p:nvPr/>
          </p:nvSpPr>
          <p:spPr>
            <a:xfrm>
              <a:off x="1390173" y="3486150"/>
              <a:ext cx="780097" cy="320040"/>
            </a:xfrm>
            <a:prstGeom prst="roundRect">
              <a:avLst>
                <a:gd name="adj" fmla="val 31249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N48/notch-home/ellipse/042"/>
            <p:cNvSpPr/>
            <p:nvPr/>
          </p:nvSpPr>
          <p:spPr>
            <a:xfrm>
              <a:off x="1490186" y="3596163"/>
              <a:ext cx="100012" cy="100012"/>
            </a:xfrm>
            <a:prstGeom prst="ellipse">
              <a:avLst/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4" name="N48/notch-home/line/043"/>
            <p:cNvCxnSpPr/>
            <p:nvPr/>
          </p:nvCxnSpPr>
          <p:spPr>
            <a:xfrm flipV="1">
              <a:off x="1500187" y="3606165"/>
              <a:ext cx="80010" cy="8001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N48/notch-home/text/044"/>
            <p:cNvSpPr txBox="1"/>
            <p:nvPr/>
          </p:nvSpPr>
          <p:spPr>
            <a:xfrm>
              <a:off x="1680210" y="3486150"/>
              <a:ext cx="470058" cy="3200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2" b="1" i="0">
                  <a:solidFill>
                    <a:srgbClr val="E5E5EA"/>
                  </a:solidFill>
                  <a:latin typeface="Arial"/>
                </a:rPr>
                <a:t>Focus</a:t>
              </a:r>
            </a:p>
          </p:txBody>
        </p:sp>
        <p:sp>
          <p:nvSpPr>
            <p:cNvPr id="56" name="N48/notch-home/button-Night/045"/>
            <p:cNvSpPr/>
            <p:nvPr/>
          </p:nvSpPr>
          <p:spPr>
            <a:xfrm>
              <a:off x="2250281" y="3486150"/>
              <a:ext cx="780097" cy="320040"/>
            </a:xfrm>
            <a:prstGeom prst="roundRect">
              <a:avLst>
                <a:gd name="adj" fmla="val 31249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N48/notch-home/poly/046"/>
            <p:cNvSpPr/>
            <p:nvPr/>
          </p:nvSpPr>
          <p:spPr>
            <a:xfrm>
              <a:off x="2360295" y="3586162"/>
              <a:ext cx="80010" cy="120015"/>
            </a:xfrm>
            <a:custGeom>
              <a:avLst/>
              <a:gdLst/>
              <a:ahLst/>
              <a:cxnLst/>
              <a:rect l="l" t="t" r="r" b="b"/>
              <a:pathLst>
                <a:path w="80010" h="120015">
                  <a:moveTo>
                    <a:pt x="60007" y="0"/>
                  </a:moveTo>
                  <a:lnTo>
                    <a:pt x="20002" y="10001"/>
                  </a:lnTo>
                  <a:lnTo>
                    <a:pt x="0" y="40005"/>
                  </a:lnTo>
                  <a:lnTo>
                    <a:pt x="0" y="80010"/>
                  </a:lnTo>
                  <a:lnTo>
                    <a:pt x="20002" y="110014"/>
                  </a:lnTo>
                  <a:lnTo>
                    <a:pt x="60007" y="120015"/>
                  </a:lnTo>
                  <a:lnTo>
                    <a:pt x="80010" y="100013"/>
                  </a:lnTo>
                  <a:lnTo>
                    <a:pt x="50006" y="90011"/>
                  </a:lnTo>
                  <a:lnTo>
                    <a:pt x="30003" y="60008"/>
                  </a:lnTo>
                  <a:lnTo>
                    <a:pt x="40005" y="30004"/>
                  </a:lnTo>
                  <a:close/>
                </a:path>
              </a:pathLst>
            </a:cu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N48/notch-home/text/047"/>
            <p:cNvSpPr txBox="1"/>
            <p:nvPr/>
          </p:nvSpPr>
          <p:spPr>
            <a:xfrm>
              <a:off x="2540317" y="3486150"/>
              <a:ext cx="470058" cy="3200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2" b="1" i="0">
                  <a:solidFill>
                    <a:srgbClr val="E5E5EA"/>
                  </a:solidFill>
                  <a:latin typeface="Arial"/>
                </a:rPr>
                <a:t>Night</a:t>
              </a:r>
            </a:p>
          </p:txBody>
        </p:sp>
        <p:sp>
          <p:nvSpPr>
            <p:cNvPr id="59" name="N48/notch-home/button-Dark/048"/>
            <p:cNvSpPr/>
            <p:nvPr/>
          </p:nvSpPr>
          <p:spPr>
            <a:xfrm>
              <a:off x="3110388" y="3486150"/>
              <a:ext cx="780097" cy="320040"/>
            </a:xfrm>
            <a:prstGeom prst="roundRect">
              <a:avLst>
                <a:gd name="adj" fmla="val 31249"/>
              </a:avLst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N48/notch-home/ellipse/049"/>
            <p:cNvSpPr/>
            <p:nvPr/>
          </p:nvSpPr>
          <p:spPr>
            <a:xfrm>
              <a:off x="3252406" y="3596163"/>
              <a:ext cx="100012" cy="100012"/>
            </a:xfrm>
            <a:prstGeom prst="ellipse">
              <a:avLst/>
            </a:prstGeom>
            <a:noFill/>
            <a:ln w="1016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N48/notch-home/poly/050"/>
            <p:cNvSpPr/>
            <p:nvPr/>
          </p:nvSpPr>
          <p:spPr>
            <a:xfrm>
              <a:off x="3302412" y="3596163"/>
              <a:ext cx="50007" cy="100013"/>
            </a:xfrm>
            <a:custGeom>
              <a:avLst/>
              <a:gdLst/>
              <a:ahLst/>
              <a:cxnLst/>
              <a:rect l="l" t="t" r="r" b="b"/>
              <a:pathLst>
                <a:path w="50007" h="100013">
                  <a:moveTo>
                    <a:pt x="0" y="0"/>
                  </a:moveTo>
                  <a:lnTo>
                    <a:pt x="0" y="100013"/>
                  </a:lnTo>
                  <a:lnTo>
                    <a:pt x="30004" y="90012"/>
                  </a:lnTo>
                  <a:lnTo>
                    <a:pt x="50007" y="50007"/>
                  </a:lnTo>
                  <a:lnTo>
                    <a:pt x="30004" y="100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N48/notch-home/text/051"/>
            <p:cNvSpPr txBox="1"/>
            <p:nvPr/>
          </p:nvSpPr>
          <p:spPr>
            <a:xfrm>
              <a:off x="3442430" y="3486150"/>
              <a:ext cx="428053" cy="3200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2" b="1" i="0">
                  <a:solidFill>
                    <a:srgbClr val="000000"/>
                  </a:solidFill>
                  <a:latin typeface="Arial"/>
                </a:rPr>
                <a:t>Dark</a:t>
              </a:r>
            </a:p>
          </p:txBody>
        </p:sp>
      </p:grpSp>
      <p:sp>
        <p:nvSpPr>
          <p:cNvPr id="63" name="N48/text/010"/>
          <p:cNvSpPr txBox="1"/>
          <p:nvPr/>
        </p:nvSpPr>
        <p:spPr>
          <a:xfrm>
            <a:off x="640080" y="4343400"/>
            <a:ext cx="384048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Compact: clock above centered actions.</a:t>
            </a:r>
          </a:p>
        </p:txBody>
      </p:sp>
      <p:grpSp>
        <p:nvGrpSpPr>
          <p:cNvPr id="64" name="N48/notch-home"/>
          <p:cNvGrpSpPr/>
          <p:nvPr/>
        </p:nvGrpSpPr>
        <p:grpSpPr>
          <a:xfrm>
            <a:off x="4663440" y="1965960"/>
            <a:ext cx="3400425" cy="2100262"/>
            <a:chOff x="4663440" y="1965960"/>
            <a:chExt cx="3400425" cy="2100262"/>
          </a:xfrm>
        </p:grpSpPr>
        <p:sp>
          <p:nvSpPr>
            <p:cNvPr id="65" name="N48/notch-home/notch-surface-open/001"/>
            <p:cNvSpPr/>
            <p:nvPr/>
          </p:nvSpPr>
          <p:spPr>
            <a:xfrm>
              <a:off x="4663440" y="1965960"/>
              <a:ext cx="3400425" cy="2100262"/>
            </a:xfrm>
            <a:custGeom>
              <a:avLst/>
              <a:gdLst/>
              <a:ahLst/>
              <a:cxnLst/>
              <a:rect l="l" t="t" r="r" b="b"/>
              <a:pathLst>
                <a:path w="3400425" h="2100262">
                  <a:moveTo>
                    <a:pt x="0" y="0"/>
                  </a:moveTo>
                  <a:lnTo>
                    <a:pt x="3400425" y="0"/>
                  </a:lnTo>
                  <a:lnTo>
                    <a:pt x="3374074" y="2969"/>
                  </a:lnTo>
                  <a:lnTo>
                    <a:pt x="3344011" y="11876"/>
                  </a:lnTo>
                  <a:lnTo>
                    <a:pt x="3312464" y="26722"/>
                  </a:lnTo>
                  <a:lnTo>
                    <a:pt x="3281660" y="47505"/>
                  </a:lnTo>
                  <a:lnTo>
                    <a:pt x="3253824" y="74228"/>
                  </a:lnTo>
                  <a:lnTo>
                    <a:pt x="3231185" y="106888"/>
                  </a:lnTo>
                  <a:lnTo>
                    <a:pt x="3215968" y="145486"/>
                  </a:lnTo>
                  <a:lnTo>
                    <a:pt x="3210401" y="190023"/>
                  </a:lnTo>
                  <a:lnTo>
                    <a:pt x="3205789" y="1907060"/>
                  </a:lnTo>
                  <a:lnTo>
                    <a:pt x="3192130" y="1952088"/>
                  </a:lnTo>
                  <a:lnTo>
                    <a:pt x="3169948" y="1993586"/>
                  </a:lnTo>
                  <a:lnTo>
                    <a:pt x="3140098" y="2029959"/>
                  </a:lnTo>
                  <a:lnTo>
                    <a:pt x="3103724" y="2059810"/>
                  </a:lnTo>
                  <a:lnTo>
                    <a:pt x="3062226" y="2081991"/>
                  </a:lnTo>
                  <a:lnTo>
                    <a:pt x="3017198" y="2095650"/>
                  </a:lnTo>
                  <a:lnTo>
                    <a:pt x="2970371" y="2100262"/>
                  </a:lnTo>
                  <a:lnTo>
                    <a:pt x="430053" y="2100262"/>
                  </a:lnTo>
                  <a:lnTo>
                    <a:pt x="383226" y="2095650"/>
                  </a:lnTo>
                  <a:lnTo>
                    <a:pt x="338198" y="2081991"/>
                  </a:lnTo>
                  <a:lnTo>
                    <a:pt x="296700" y="2059810"/>
                  </a:lnTo>
                  <a:lnTo>
                    <a:pt x="260326" y="2029959"/>
                  </a:lnTo>
                  <a:lnTo>
                    <a:pt x="230476" y="1993586"/>
                  </a:lnTo>
                  <a:lnTo>
                    <a:pt x="208294" y="1952088"/>
                  </a:lnTo>
                  <a:lnTo>
                    <a:pt x="194635" y="1907060"/>
                  </a:lnTo>
                  <a:lnTo>
                    <a:pt x="190023" y="1860232"/>
                  </a:lnTo>
                  <a:lnTo>
                    <a:pt x="190023" y="190023"/>
                  </a:lnTo>
                  <a:lnTo>
                    <a:pt x="184456" y="145486"/>
                  </a:lnTo>
                  <a:lnTo>
                    <a:pt x="169239" y="106888"/>
                  </a:lnTo>
                  <a:lnTo>
                    <a:pt x="146600" y="74228"/>
                  </a:lnTo>
                  <a:lnTo>
                    <a:pt x="118764" y="47505"/>
                  </a:lnTo>
                  <a:lnTo>
                    <a:pt x="87960" y="26722"/>
                  </a:lnTo>
                  <a:lnTo>
                    <a:pt x="56413" y="11876"/>
                  </a:lnTo>
                  <a:lnTo>
                    <a:pt x="26350" y="29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N48/notch-home/button-home/002"/>
            <p:cNvSpPr/>
            <p:nvPr/>
          </p:nvSpPr>
          <p:spPr>
            <a:xfrm>
              <a:off x="4863465" y="2436018"/>
              <a:ext cx="320040" cy="300037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N48/notch-home/poly/003"/>
            <p:cNvSpPr/>
            <p:nvPr/>
          </p:nvSpPr>
          <p:spPr>
            <a:xfrm>
              <a:off x="4963477" y="2526030"/>
              <a:ext cx="120015" cy="120015"/>
            </a:xfrm>
            <a:custGeom>
              <a:avLst/>
              <a:gdLst/>
              <a:ahLst/>
              <a:cxnLst/>
              <a:rect l="l" t="t" r="r" b="b"/>
              <a:pathLst>
                <a:path w="120015" h="120015">
                  <a:moveTo>
                    <a:pt x="60008" y="0"/>
                  </a:moveTo>
                  <a:lnTo>
                    <a:pt x="0" y="50006"/>
                  </a:lnTo>
                  <a:lnTo>
                    <a:pt x="20003" y="50006"/>
                  </a:lnTo>
                  <a:lnTo>
                    <a:pt x="20003" y="120015"/>
                  </a:lnTo>
                  <a:lnTo>
                    <a:pt x="50006" y="120015"/>
                  </a:lnTo>
                  <a:lnTo>
                    <a:pt x="50006" y="80010"/>
                  </a:lnTo>
                  <a:lnTo>
                    <a:pt x="70009" y="80010"/>
                  </a:lnTo>
                  <a:lnTo>
                    <a:pt x="70009" y="120015"/>
                  </a:lnTo>
                  <a:lnTo>
                    <a:pt x="100013" y="120015"/>
                  </a:lnTo>
                  <a:lnTo>
                    <a:pt x="100013" y="50006"/>
                  </a:lnTo>
                  <a:lnTo>
                    <a:pt x="120015" y="50006"/>
                  </a:lnTo>
                  <a:close/>
                </a:path>
              </a:pathLst>
            </a:custGeom>
            <a:noFill/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N48/notch-home/button-music/004"/>
            <p:cNvSpPr/>
            <p:nvPr/>
          </p:nvSpPr>
          <p:spPr>
            <a:xfrm>
              <a:off x="5223509" y="2436018"/>
              <a:ext cx="320040" cy="30003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9" name="N48/notch-home/line/005"/>
            <p:cNvCxnSpPr/>
            <p:nvPr/>
          </p:nvCxnSpPr>
          <p:spPr>
            <a:xfrm flipV="1">
              <a:off x="5363527" y="2546032"/>
              <a:ext cx="0" cy="8001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N48/notch-home/line/006"/>
            <p:cNvCxnSpPr/>
            <p:nvPr/>
          </p:nvCxnSpPr>
          <p:spPr>
            <a:xfrm flipV="1">
              <a:off x="5363527" y="2536031"/>
              <a:ext cx="70009" cy="1000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N48/notch-home/line/007"/>
            <p:cNvCxnSpPr/>
            <p:nvPr/>
          </p:nvCxnSpPr>
          <p:spPr>
            <a:xfrm>
              <a:off x="5433536" y="2536031"/>
              <a:ext cx="0" cy="8001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N48/notch-home/ellipse/008"/>
            <p:cNvSpPr/>
            <p:nvPr/>
          </p:nvSpPr>
          <p:spPr>
            <a:xfrm>
              <a:off x="5333523" y="2611040"/>
              <a:ext cx="35004" cy="30003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N48/notch-home/ellipse/009"/>
            <p:cNvSpPr/>
            <p:nvPr/>
          </p:nvSpPr>
          <p:spPr>
            <a:xfrm>
              <a:off x="5403532" y="2601039"/>
              <a:ext cx="35004" cy="30003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N48/notch-home/button-bell/010"/>
            <p:cNvSpPr/>
            <p:nvPr/>
          </p:nvSpPr>
          <p:spPr>
            <a:xfrm>
              <a:off x="5583554" y="2436018"/>
              <a:ext cx="320040" cy="30003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N48/notch-home/poly/011"/>
            <p:cNvSpPr/>
            <p:nvPr/>
          </p:nvSpPr>
          <p:spPr>
            <a:xfrm>
              <a:off x="5693568" y="2526030"/>
              <a:ext cx="100013" cy="90011"/>
            </a:xfrm>
            <a:custGeom>
              <a:avLst/>
              <a:gdLst/>
              <a:ahLst/>
              <a:cxnLst/>
              <a:rect l="l" t="t" r="r" b="b"/>
              <a:pathLst>
                <a:path w="100013" h="90011">
                  <a:moveTo>
                    <a:pt x="50007" y="0"/>
                  </a:moveTo>
                  <a:lnTo>
                    <a:pt x="20003" y="20002"/>
                  </a:lnTo>
                  <a:lnTo>
                    <a:pt x="10002" y="60007"/>
                  </a:lnTo>
                  <a:lnTo>
                    <a:pt x="0" y="90011"/>
                  </a:lnTo>
                  <a:lnTo>
                    <a:pt x="100013" y="90011"/>
                  </a:lnTo>
                  <a:lnTo>
                    <a:pt x="90011" y="60007"/>
                  </a:lnTo>
                  <a:lnTo>
                    <a:pt x="80010" y="20002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6" name="N48/notch-home/line/012"/>
            <p:cNvCxnSpPr/>
            <p:nvPr/>
          </p:nvCxnSpPr>
          <p:spPr>
            <a:xfrm>
              <a:off x="5723572" y="2636043"/>
              <a:ext cx="4000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N48/notch-home/ellipse/013"/>
            <p:cNvSpPr/>
            <p:nvPr/>
          </p:nvSpPr>
          <p:spPr>
            <a:xfrm>
              <a:off x="5733573" y="2516028"/>
              <a:ext cx="20002" cy="20002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N48/notch-home/button-chart/014"/>
            <p:cNvSpPr/>
            <p:nvPr/>
          </p:nvSpPr>
          <p:spPr>
            <a:xfrm>
              <a:off x="5943599" y="2436018"/>
              <a:ext cx="320040" cy="30003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9" name="N48/notch-home/line/015"/>
            <p:cNvCxnSpPr/>
            <p:nvPr/>
          </p:nvCxnSpPr>
          <p:spPr>
            <a:xfrm>
              <a:off x="6043612" y="2646045"/>
              <a:ext cx="12001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N48/notch-home/line/016"/>
            <p:cNvCxnSpPr/>
            <p:nvPr/>
          </p:nvCxnSpPr>
          <p:spPr>
            <a:xfrm flipV="1">
              <a:off x="6053613" y="2576036"/>
              <a:ext cx="30004" cy="4000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N48/notch-home/line/017"/>
            <p:cNvCxnSpPr/>
            <p:nvPr/>
          </p:nvCxnSpPr>
          <p:spPr>
            <a:xfrm>
              <a:off x="6083617" y="2576036"/>
              <a:ext cx="30004" cy="2000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N48/notch-home/line/018"/>
            <p:cNvCxnSpPr/>
            <p:nvPr/>
          </p:nvCxnSpPr>
          <p:spPr>
            <a:xfrm flipV="1">
              <a:off x="6113621" y="2536031"/>
              <a:ext cx="40005" cy="6000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N48/notch-home/button-folder/019"/>
            <p:cNvSpPr/>
            <p:nvPr/>
          </p:nvSpPr>
          <p:spPr>
            <a:xfrm>
              <a:off x="6303644" y="2436018"/>
              <a:ext cx="320040" cy="30003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N48/notch-home/poly/020"/>
            <p:cNvSpPr/>
            <p:nvPr/>
          </p:nvSpPr>
          <p:spPr>
            <a:xfrm>
              <a:off x="6403657" y="2556033"/>
              <a:ext cx="120015" cy="80010"/>
            </a:xfrm>
            <a:custGeom>
              <a:avLst/>
              <a:gdLst/>
              <a:ahLst/>
              <a:cxnLst/>
              <a:rect l="l" t="t" r="r" b="b"/>
              <a:pathLst>
                <a:path w="120015" h="80010">
                  <a:moveTo>
                    <a:pt x="0" y="0"/>
                  </a:moveTo>
                  <a:lnTo>
                    <a:pt x="40005" y="0"/>
                  </a:lnTo>
                  <a:lnTo>
                    <a:pt x="55007" y="20003"/>
                  </a:lnTo>
                  <a:lnTo>
                    <a:pt x="120015" y="20003"/>
                  </a:lnTo>
                  <a:lnTo>
                    <a:pt x="120015" y="80010"/>
                  </a:lnTo>
                  <a:lnTo>
                    <a:pt x="0" y="80010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N48/notch-home/button-clipboard/021"/>
            <p:cNvSpPr/>
            <p:nvPr/>
          </p:nvSpPr>
          <p:spPr>
            <a:xfrm>
              <a:off x="6663689" y="2436018"/>
              <a:ext cx="320040" cy="30003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N48/notch-home/rect/022"/>
            <p:cNvSpPr/>
            <p:nvPr/>
          </p:nvSpPr>
          <p:spPr>
            <a:xfrm>
              <a:off x="6783704" y="2536031"/>
              <a:ext cx="80010" cy="110013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N48/notch-home/rect/023"/>
            <p:cNvSpPr/>
            <p:nvPr/>
          </p:nvSpPr>
          <p:spPr>
            <a:xfrm>
              <a:off x="6803707" y="2521029"/>
              <a:ext cx="40005" cy="25003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8" name="N48/notch-home/line/024"/>
            <p:cNvCxnSpPr/>
            <p:nvPr/>
          </p:nvCxnSpPr>
          <p:spPr>
            <a:xfrm>
              <a:off x="6803707" y="2576036"/>
              <a:ext cx="4000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N48/notch-home/line/025"/>
            <p:cNvCxnSpPr/>
            <p:nvPr/>
          </p:nvCxnSpPr>
          <p:spPr>
            <a:xfrm>
              <a:off x="6803707" y="2601039"/>
              <a:ext cx="4000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N48/notch-home/button-gear/026"/>
            <p:cNvSpPr/>
            <p:nvPr/>
          </p:nvSpPr>
          <p:spPr>
            <a:xfrm>
              <a:off x="7163752" y="2426017"/>
              <a:ext cx="320040" cy="320040"/>
            </a:xfrm>
            <a:prstGeom prst="roundRect">
              <a:avLst>
                <a:gd name="adj" fmla="val 3124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N48/notch-home/ellipse/027"/>
            <p:cNvSpPr/>
            <p:nvPr/>
          </p:nvSpPr>
          <p:spPr>
            <a:xfrm>
              <a:off x="7293768" y="2556033"/>
              <a:ext cx="60007" cy="60007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2" name="N48/notch-home/line/028"/>
            <p:cNvCxnSpPr/>
            <p:nvPr/>
          </p:nvCxnSpPr>
          <p:spPr>
            <a:xfrm>
              <a:off x="7373778" y="2586037"/>
              <a:ext cx="2000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N48/notch-home/line/029"/>
            <p:cNvCxnSpPr/>
            <p:nvPr/>
          </p:nvCxnSpPr>
          <p:spPr>
            <a:xfrm>
              <a:off x="7359132" y="2621397"/>
              <a:ext cx="14144" cy="1414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N48/notch-home/line/030"/>
            <p:cNvCxnSpPr/>
            <p:nvPr/>
          </p:nvCxnSpPr>
          <p:spPr>
            <a:xfrm>
              <a:off x="7323772" y="2636043"/>
              <a:ext cx="0" cy="2000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N48/notch-home/line/031"/>
            <p:cNvCxnSpPr/>
            <p:nvPr/>
          </p:nvCxnSpPr>
          <p:spPr>
            <a:xfrm flipH="1">
              <a:off x="7274268" y="2621397"/>
              <a:ext cx="14144" cy="1414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N48/notch-home/line/032"/>
            <p:cNvCxnSpPr/>
            <p:nvPr/>
          </p:nvCxnSpPr>
          <p:spPr>
            <a:xfrm flipH="1">
              <a:off x="7253763" y="2586037"/>
              <a:ext cx="2000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N48/notch-home/line/033"/>
            <p:cNvCxnSpPr/>
            <p:nvPr/>
          </p:nvCxnSpPr>
          <p:spPr>
            <a:xfrm flipH="1" flipV="1">
              <a:off x="7274268" y="2536533"/>
              <a:ext cx="14144" cy="1414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N48/notch-home/line/034"/>
            <p:cNvCxnSpPr/>
            <p:nvPr/>
          </p:nvCxnSpPr>
          <p:spPr>
            <a:xfrm flipV="1">
              <a:off x="7323772" y="2516028"/>
              <a:ext cx="0" cy="2000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N48/notch-home/line/035"/>
            <p:cNvCxnSpPr/>
            <p:nvPr/>
          </p:nvCxnSpPr>
          <p:spPr>
            <a:xfrm flipV="1">
              <a:off x="7359132" y="2536533"/>
              <a:ext cx="14144" cy="1414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N48/notch-home/button-close/036"/>
            <p:cNvSpPr/>
            <p:nvPr/>
          </p:nvSpPr>
          <p:spPr>
            <a:xfrm>
              <a:off x="7543800" y="2426017"/>
              <a:ext cx="320040" cy="320040"/>
            </a:xfrm>
            <a:prstGeom prst="roundRect">
              <a:avLst>
                <a:gd name="adj" fmla="val 3124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1" name="N48/notch-home/line/037"/>
            <p:cNvCxnSpPr/>
            <p:nvPr/>
          </p:nvCxnSpPr>
          <p:spPr>
            <a:xfrm>
              <a:off x="7663815" y="2546032"/>
              <a:ext cx="80010" cy="8001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N48/notch-home/line/038"/>
            <p:cNvCxnSpPr/>
            <p:nvPr/>
          </p:nvCxnSpPr>
          <p:spPr>
            <a:xfrm flipH="1">
              <a:off x="7663815" y="2546032"/>
              <a:ext cx="80010" cy="8001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N48/notch-home/album-art/039"/>
            <p:cNvSpPr/>
            <p:nvPr/>
          </p:nvSpPr>
          <p:spPr>
            <a:xfrm>
              <a:off x="4863465" y="3076098"/>
              <a:ext cx="560070" cy="560070"/>
            </a:xfrm>
            <a:prstGeom prst="roundRect">
              <a:avLst>
                <a:gd name="adj" fmla="val 25000"/>
              </a:avLst>
            </a:prstGeom>
            <a:solidFill>
              <a:srgbClr val="2A1B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N48/notch-home/ellipse/040"/>
            <p:cNvSpPr/>
            <p:nvPr/>
          </p:nvSpPr>
          <p:spPr>
            <a:xfrm>
              <a:off x="4919472" y="3143307"/>
              <a:ext cx="308038" cy="308038"/>
            </a:xfrm>
            <a:prstGeom prst="ellipse">
              <a:avLst/>
            </a:prstGeom>
            <a:solidFill>
              <a:srgbClr val="BF5AF2">
                <a:alpha val="8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N48/notch-home/ellipse/041"/>
            <p:cNvSpPr/>
            <p:nvPr/>
          </p:nvSpPr>
          <p:spPr>
            <a:xfrm>
              <a:off x="5098694" y="3288925"/>
              <a:ext cx="280035" cy="280035"/>
            </a:xfrm>
            <a:prstGeom prst="ellipse">
              <a:avLst/>
            </a:prstGeom>
            <a:solidFill>
              <a:srgbClr val="64D2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N48/notch-home/rect/042"/>
            <p:cNvSpPr/>
            <p:nvPr/>
          </p:nvSpPr>
          <p:spPr>
            <a:xfrm>
              <a:off x="4964277" y="3423342"/>
              <a:ext cx="358444" cy="89611"/>
            </a:xfrm>
            <a:prstGeom prst="roundRect">
              <a:avLst>
                <a:gd name="adj" fmla="val 44642"/>
              </a:avLst>
            </a:prstGeom>
            <a:solidFill>
              <a:srgbClr val="30D158">
                <a:alpha val="9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N48/notch-home/text/043"/>
            <p:cNvSpPr txBox="1"/>
            <p:nvPr/>
          </p:nvSpPr>
          <p:spPr>
            <a:xfrm>
              <a:off x="4863465" y="3076098"/>
              <a:ext cx="560070" cy="56007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45" b="1" i="0">
                  <a:solidFill>
                    <a:srgbClr val="FFFFFF"/>
                  </a:solidFill>
                  <a:latin typeface="Arial"/>
                </a:rPr>
                <a:t>ART</a:t>
              </a:r>
            </a:p>
          </p:txBody>
        </p:sp>
        <p:sp>
          <p:nvSpPr>
            <p:cNvPr id="108" name="N48/notch-home/text/044"/>
            <p:cNvSpPr txBox="1"/>
            <p:nvPr/>
          </p:nvSpPr>
          <p:spPr>
            <a:xfrm>
              <a:off x="5563552" y="2886075"/>
              <a:ext cx="2300287" cy="22002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81" b="1" i="0">
                  <a:solidFill>
                    <a:srgbClr val="F5F5F7"/>
                  </a:solidFill>
                  <a:latin typeface="Arial"/>
                </a:rPr>
                <a:t>Midnight City</a:t>
              </a:r>
            </a:p>
          </p:txBody>
        </p:sp>
        <p:sp>
          <p:nvSpPr>
            <p:cNvPr id="109" name="N48/notch-home/text/045"/>
            <p:cNvSpPr txBox="1"/>
            <p:nvPr/>
          </p:nvSpPr>
          <p:spPr>
            <a:xfrm>
              <a:off x="5563552" y="3126105"/>
              <a:ext cx="2300287" cy="18002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2" b="0" i="0">
                  <a:solidFill>
                    <a:srgbClr val="98989D"/>
                  </a:solidFill>
                  <a:latin typeface="Arial"/>
                </a:rPr>
                <a:t>M83</a:t>
              </a:r>
            </a:p>
          </p:txBody>
        </p:sp>
        <p:sp>
          <p:nvSpPr>
            <p:cNvPr id="110" name="N48/notch-home/button-prev/046"/>
            <p:cNvSpPr/>
            <p:nvPr/>
          </p:nvSpPr>
          <p:spPr>
            <a:xfrm>
              <a:off x="5563552" y="3366135"/>
              <a:ext cx="320040" cy="320040"/>
            </a:xfrm>
            <a:prstGeom prst="roundRect">
              <a:avLst>
                <a:gd name="adj" fmla="val 3124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N48/notch-home/poly/047"/>
            <p:cNvSpPr/>
            <p:nvPr/>
          </p:nvSpPr>
          <p:spPr>
            <a:xfrm>
              <a:off x="5693568" y="3476148"/>
              <a:ext cx="60008" cy="100013"/>
            </a:xfrm>
            <a:custGeom>
              <a:avLst/>
              <a:gdLst/>
              <a:ahLst/>
              <a:cxnLst/>
              <a:rect l="l" t="t" r="r" b="b"/>
              <a:pathLst>
                <a:path w="60008" h="100013">
                  <a:moveTo>
                    <a:pt x="60008" y="0"/>
                  </a:moveTo>
                  <a:lnTo>
                    <a:pt x="0" y="50007"/>
                  </a:lnTo>
                  <a:lnTo>
                    <a:pt x="60008" y="100013"/>
                  </a:lnTo>
                  <a:close/>
                </a:path>
              </a:pathLst>
            </a:cu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N48/notch-home/rect/048"/>
            <p:cNvSpPr/>
            <p:nvPr/>
          </p:nvSpPr>
          <p:spPr>
            <a:xfrm>
              <a:off x="5673566" y="3481149"/>
              <a:ext cx="16002" cy="90011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N48/notch-home/button-pause/049"/>
            <p:cNvSpPr/>
            <p:nvPr/>
          </p:nvSpPr>
          <p:spPr>
            <a:xfrm>
              <a:off x="5963602" y="3366135"/>
              <a:ext cx="440055" cy="320040"/>
            </a:xfrm>
            <a:prstGeom prst="roundRect">
              <a:avLst>
                <a:gd name="adj" fmla="val 50000"/>
              </a:avLst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N48/notch-home/rect/050"/>
            <p:cNvSpPr/>
            <p:nvPr/>
          </p:nvSpPr>
          <p:spPr>
            <a:xfrm>
              <a:off x="6148625" y="3481149"/>
              <a:ext cx="25003" cy="90011"/>
            </a:xfrm>
            <a:prstGeom prst="roundRect">
              <a:avLst>
                <a:gd name="adj" fmla="val 2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N48/notch-home/rect/051"/>
            <p:cNvSpPr/>
            <p:nvPr/>
          </p:nvSpPr>
          <p:spPr>
            <a:xfrm>
              <a:off x="6193631" y="3481149"/>
              <a:ext cx="25003" cy="90011"/>
            </a:xfrm>
            <a:prstGeom prst="roundRect">
              <a:avLst>
                <a:gd name="adj" fmla="val 2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N48/notch-home/button-next/052"/>
            <p:cNvSpPr/>
            <p:nvPr/>
          </p:nvSpPr>
          <p:spPr>
            <a:xfrm>
              <a:off x="6363652" y="3366135"/>
              <a:ext cx="320040" cy="320040"/>
            </a:xfrm>
            <a:prstGeom prst="roundRect">
              <a:avLst>
                <a:gd name="adj" fmla="val 3124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N48/notch-home/poly/053"/>
            <p:cNvSpPr/>
            <p:nvPr/>
          </p:nvSpPr>
          <p:spPr>
            <a:xfrm>
              <a:off x="6493668" y="3476148"/>
              <a:ext cx="60008" cy="100013"/>
            </a:xfrm>
            <a:custGeom>
              <a:avLst/>
              <a:gdLst/>
              <a:ahLst/>
              <a:cxnLst/>
              <a:rect l="l" t="t" r="r" b="b"/>
              <a:pathLst>
                <a:path w="60008" h="100013">
                  <a:moveTo>
                    <a:pt x="0" y="0"/>
                  </a:moveTo>
                  <a:lnTo>
                    <a:pt x="60008" y="50007"/>
                  </a:lnTo>
                  <a:lnTo>
                    <a:pt x="0" y="100013"/>
                  </a:lnTo>
                  <a:close/>
                </a:path>
              </a:pathLst>
            </a:cu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N48/notch-home/rect/054"/>
            <p:cNvSpPr/>
            <p:nvPr/>
          </p:nvSpPr>
          <p:spPr>
            <a:xfrm>
              <a:off x="6557676" y="3481149"/>
              <a:ext cx="16002" cy="90011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19" name="N48/text/011"/>
          <p:cNvSpPr txBox="1"/>
          <p:nvPr/>
        </p:nvSpPr>
        <p:spPr>
          <a:xfrm>
            <a:off x="4663440" y="4343400"/>
            <a:ext cx="324612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Narrow: no Full player; 56 px art.</a:t>
            </a:r>
          </a:p>
        </p:txBody>
      </p:sp>
      <p:sp>
        <p:nvSpPr>
          <p:cNvPr id="120" name="N48/spec-panel/012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N48/text/013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122" name="N48/ellipse/014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N48/text/015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Compact stacks idle clock/actions</a:t>
            </a:r>
          </a:p>
        </p:txBody>
      </p:sp>
      <p:sp>
        <p:nvSpPr>
          <p:cNvPr id="124" name="N48/ellipse/016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N48/text/017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Narrow hides Full player link</a:t>
            </a:r>
          </a:p>
        </p:txBody>
      </p:sp>
      <p:sp>
        <p:nvSpPr>
          <p:cNvPr id="126" name="N48/ellipse/018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N48/text/019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Home art 72→56 px in compact</a:t>
            </a:r>
          </a:p>
        </p:txBody>
      </p:sp>
      <p:sp>
        <p:nvSpPr>
          <p:cNvPr id="128" name="N48/ellipse/020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N48/text/021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Actions remain centered</a:t>
            </a:r>
          </a:p>
        </p:txBody>
      </p:sp>
      <p:cxnSp>
        <p:nvCxnSpPr>
          <p:cNvPr id="130" name="N48/line/022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N48/text/023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132" name="N48/edit-box/024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N48/edit-note/025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Compact breakpoint / narrow copy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12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12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12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MUSIC PAGE</a:t>
            </a:r>
          </a:p>
        </p:txBody>
      </p:sp>
      <p:sp>
        <p:nvSpPr>
          <p:cNvPr id="5" name="N12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Music — full player</a:t>
            </a:r>
          </a:p>
        </p:txBody>
      </p:sp>
      <p:sp>
        <p:nvSpPr>
          <p:cNvPr id="6" name="N12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640×300 · art, metadata, seek, transport, player/system volume</a:t>
            </a:r>
          </a:p>
        </p:txBody>
      </p:sp>
      <p:cxnSp>
        <p:nvCxnSpPr>
          <p:cNvPr id="7" name="N12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12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12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N12</a:t>
            </a:r>
          </a:p>
        </p:txBody>
      </p:sp>
      <p:sp>
        <p:nvSpPr>
          <p:cNvPr id="10" name="N12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16</a:t>
            </a:r>
          </a:p>
        </p:txBody>
      </p:sp>
      <p:grpSp>
        <p:nvGrpSpPr>
          <p:cNvPr id="11" name="N12/notch-media"/>
          <p:cNvGrpSpPr/>
          <p:nvPr/>
        </p:nvGrpSpPr>
        <p:grpSpPr>
          <a:xfrm>
            <a:off x="502919" y="1806940"/>
            <a:ext cx="7818121" cy="3664743"/>
            <a:chOff x="502919" y="1806940"/>
            <a:chExt cx="7818121" cy="3664743"/>
          </a:xfrm>
        </p:grpSpPr>
        <p:sp>
          <p:nvSpPr>
            <p:cNvPr id="12" name="N12/notch-media/notch-surface-open/001"/>
            <p:cNvSpPr/>
            <p:nvPr/>
          </p:nvSpPr>
          <p:spPr>
            <a:xfrm>
              <a:off x="502919" y="1806940"/>
              <a:ext cx="7818121" cy="3664743"/>
            </a:xfrm>
            <a:custGeom>
              <a:avLst/>
              <a:gdLst/>
              <a:ahLst/>
              <a:cxnLst/>
              <a:rect l="l" t="t" r="r" b="b"/>
              <a:pathLst>
                <a:path w="7818121" h="3664743">
                  <a:moveTo>
                    <a:pt x="0" y="0"/>
                  </a:moveTo>
                  <a:lnTo>
                    <a:pt x="7818121" y="0"/>
                  </a:lnTo>
                  <a:lnTo>
                    <a:pt x="7785935" y="3626"/>
                  </a:lnTo>
                  <a:lnTo>
                    <a:pt x="7749216" y="14506"/>
                  </a:lnTo>
                  <a:lnTo>
                    <a:pt x="7710683" y="32639"/>
                  </a:lnTo>
                  <a:lnTo>
                    <a:pt x="7673058" y="58025"/>
                  </a:lnTo>
                  <a:lnTo>
                    <a:pt x="7639059" y="90664"/>
                  </a:lnTo>
                  <a:lnTo>
                    <a:pt x="7611406" y="130556"/>
                  </a:lnTo>
                  <a:lnTo>
                    <a:pt x="7592820" y="177702"/>
                  </a:lnTo>
                  <a:lnTo>
                    <a:pt x="7586020" y="232100"/>
                  </a:lnTo>
                  <a:lnTo>
                    <a:pt x="7580387" y="3428760"/>
                  </a:lnTo>
                  <a:lnTo>
                    <a:pt x="7563703" y="3483759"/>
                  </a:lnTo>
                  <a:lnTo>
                    <a:pt x="7536610" y="3534446"/>
                  </a:lnTo>
                  <a:lnTo>
                    <a:pt x="7500150" y="3578873"/>
                  </a:lnTo>
                  <a:lnTo>
                    <a:pt x="7455722" y="3615334"/>
                  </a:lnTo>
                  <a:lnTo>
                    <a:pt x="7405035" y="3642426"/>
                  </a:lnTo>
                  <a:lnTo>
                    <a:pt x="7350037" y="3659110"/>
                  </a:lnTo>
                  <a:lnTo>
                    <a:pt x="7292841" y="3664743"/>
                  </a:lnTo>
                  <a:lnTo>
                    <a:pt x="525280" y="3664743"/>
                  </a:lnTo>
                  <a:lnTo>
                    <a:pt x="468084" y="3659110"/>
                  </a:lnTo>
                  <a:lnTo>
                    <a:pt x="413086" y="3642426"/>
                  </a:lnTo>
                  <a:lnTo>
                    <a:pt x="362399" y="3615334"/>
                  </a:lnTo>
                  <a:lnTo>
                    <a:pt x="317971" y="3578873"/>
                  </a:lnTo>
                  <a:lnTo>
                    <a:pt x="281511" y="3534446"/>
                  </a:lnTo>
                  <a:lnTo>
                    <a:pt x="254418" y="3483759"/>
                  </a:lnTo>
                  <a:lnTo>
                    <a:pt x="237734" y="3428760"/>
                  </a:lnTo>
                  <a:lnTo>
                    <a:pt x="232101" y="3371564"/>
                  </a:lnTo>
                  <a:lnTo>
                    <a:pt x="232101" y="232100"/>
                  </a:lnTo>
                  <a:lnTo>
                    <a:pt x="225301" y="177702"/>
                  </a:lnTo>
                  <a:lnTo>
                    <a:pt x="206715" y="130556"/>
                  </a:lnTo>
                  <a:lnTo>
                    <a:pt x="179062" y="90664"/>
                  </a:lnTo>
                  <a:lnTo>
                    <a:pt x="145063" y="58025"/>
                  </a:lnTo>
                  <a:lnTo>
                    <a:pt x="107438" y="32639"/>
                  </a:lnTo>
                  <a:lnTo>
                    <a:pt x="68905" y="14506"/>
                  </a:lnTo>
                  <a:lnTo>
                    <a:pt x="32186" y="36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12/notch-media/button-home/002"/>
            <p:cNvSpPr/>
            <p:nvPr/>
          </p:nvSpPr>
          <p:spPr>
            <a:xfrm>
              <a:off x="747236" y="2381083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12/notch-media/poly/003"/>
            <p:cNvSpPr/>
            <p:nvPr/>
          </p:nvSpPr>
          <p:spPr>
            <a:xfrm>
              <a:off x="869394" y="2491025"/>
              <a:ext cx="146590" cy="146590"/>
            </a:xfrm>
            <a:custGeom>
              <a:avLst/>
              <a:gdLst/>
              <a:ahLst/>
              <a:cxnLst/>
              <a:rect l="l" t="t" r="r" b="b"/>
              <a:pathLst>
                <a:path w="146590" h="146590">
                  <a:moveTo>
                    <a:pt x="73295" y="0"/>
                  </a:moveTo>
                  <a:lnTo>
                    <a:pt x="0" y="61079"/>
                  </a:lnTo>
                  <a:lnTo>
                    <a:pt x="24431" y="61079"/>
                  </a:lnTo>
                  <a:lnTo>
                    <a:pt x="24431" y="146590"/>
                  </a:lnTo>
                  <a:lnTo>
                    <a:pt x="61079" y="146590"/>
                  </a:lnTo>
                  <a:lnTo>
                    <a:pt x="61079" y="97727"/>
                  </a:lnTo>
                  <a:lnTo>
                    <a:pt x="85511" y="97727"/>
                  </a:lnTo>
                  <a:lnTo>
                    <a:pt x="85511" y="146590"/>
                  </a:lnTo>
                  <a:lnTo>
                    <a:pt x="122158" y="146590"/>
                  </a:lnTo>
                  <a:lnTo>
                    <a:pt x="122158" y="61079"/>
                  </a:lnTo>
                  <a:lnTo>
                    <a:pt x="146590" y="61079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12/notch-media/button-Music/004"/>
            <p:cNvSpPr/>
            <p:nvPr/>
          </p:nvSpPr>
          <p:spPr>
            <a:xfrm>
              <a:off x="1187005" y="2381083"/>
              <a:ext cx="1180047" cy="366474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N12/notch-media/line/005"/>
            <p:cNvCxnSpPr/>
            <p:nvPr/>
          </p:nvCxnSpPr>
          <p:spPr>
            <a:xfrm flipV="1">
              <a:off x="1459418" y="2515457"/>
              <a:ext cx="0" cy="97726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N12/notch-media/line/006"/>
            <p:cNvCxnSpPr/>
            <p:nvPr/>
          </p:nvCxnSpPr>
          <p:spPr>
            <a:xfrm flipV="1">
              <a:off x="1459418" y="2503241"/>
              <a:ext cx="85510" cy="12216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12/notch-media/line/007"/>
            <p:cNvCxnSpPr/>
            <p:nvPr/>
          </p:nvCxnSpPr>
          <p:spPr>
            <a:xfrm>
              <a:off x="1544928" y="2503241"/>
              <a:ext cx="0" cy="97726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N12/notch-media/ellipse/008"/>
            <p:cNvSpPr/>
            <p:nvPr/>
          </p:nvSpPr>
          <p:spPr>
            <a:xfrm>
              <a:off x="1422770" y="2594860"/>
              <a:ext cx="42755" cy="366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12/notch-media/ellipse/009"/>
            <p:cNvSpPr/>
            <p:nvPr/>
          </p:nvSpPr>
          <p:spPr>
            <a:xfrm>
              <a:off x="1508281" y="2582644"/>
              <a:ext cx="42755" cy="366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12/notch-media/text/010"/>
            <p:cNvSpPr txBox="1"/>
            <p:nvPr/>
          </p:nvSpPr>
          <p:spPr>
            <a:xfrm>
              <a:off x="1654871" y="2381083"/>
              <a:ext cx="687750" cy="36647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6" b="1" i="0">
                  <a:solidFill>
                    <a:srgbClr val="FFFFFF"/>
                  </a:solidFill>
                  <a:latin typeface="Arial"/>
                </a:rPr>
                <a:t>Music</a:t>
              </a:r>
            </a:p>
          </p:txBody>
        </p:sp>
        <p:sp>
          <p:nvSpPr>
            <p:cNvPr id="22" name="N12/notch-media/button-bell/011"/>
            <p:cNvSpPr/>
            <p:nvPr/>
          </p:nvSpPr>
          <p:spPr>
            <a:xfrm>
              <a:off x="2415916" y="2381083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N12/notch-media/poly/012"/>
            <p:cNvSpPr/>
            <p:nvPr/>
          </p:nvSpPr>
          <p:spPr>
            <a:xfrm>
              <a:off x="2550290" y="2491025"/>
              <a:ext cx="122158" cy="109942"/>
            </a:xfrm>
            <a:custGeom>
              <a:avLst/>
              <a:gdLst/>
              <a:ahLst/>
              <a:cxnLst/>
              <a:rect l="l" t="t" r="r" b="b"/>
              <a:pathLst>
                <a:path w="122158" h="109942">
                  <a:moveTo>
                    <a:pt x="61079" y="0"/>
                  </a:moveTo>
                  <a:lnTo>
                    <a:pt x="24431" y="24432"/>
                  </a:lnTo>
                  <a:lnTo>
                    <a:pt x="12215" y="73295"/>
                  </a:lnTo>
                  <a:lnTo>
                    <a:pt x="0" y="109942"/>
                  </a:lnTo>
                  <a:lnTo>
                    <a:pt x="122158" y="109942"/>
                  </a:lnTo>
                  <a:lnTo>
                    <a:pt x="109942" y="73295"/>
                  </a:lnTo>
                  <a:lnTo>
                    <a:pt x="97726" y="24432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4" name="N12/notch-media/line/013"/>
            <p:cNvCxnSpPr/>
            <p:nvPr/>
          </p:nvCxnSpPr>
          <p:spPr>
            <a:xfrm>
              <a:off x="2586937" y="2625399"/>
              <a:ext cx="4886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N12/notch-media/ellipse/014"/>
            <p:cNvSpPr/>
            <p:nvPr/>
          </p:nvSpPr>
          <p:spPr>
            <a:xfrm>
              <a:off x="2599153" y="2478809"/>
              <a:ext cx="24431" cy="24431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N12/notch-media/button-chart/015"/>
            <p:cNvSpPr/>
            <p:nvPr/>
          </p:nvSpPr>
          <p:spPr>
            <a:xfrm>
              <a:off x="2855685" y="2381083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N12/notch-media/line/016"/>
            <p:cNvCxnSpPr/>
            <p:nvPr/>
          </p:nvCxnSpPr>
          <p:spPr>
            <a:xfrm>
              <a:off x="2977843" y="2637615"/>
              <a:ext cx="146590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12/notch-media/line/017"/>
            <p:cNvCxnSpPr/>
            <p:nvPr/>
          </p:nvCxnSpPr>
          <p:spPr>
            <a:xfrm flipV="1">
              <a:off x="2990059" y="2552104"/>
              <a:ext cx="36647" cy="4886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12/notch-media/line/018"/>
            <p:cNvCxnSpPr/>
            <p:nvPr/>
          </p:nvCxnSpPr>
          <p:spPr>
            <a:xfrm>
              <a:off x="3026706" y="2552104"/>
              <a:ext cx="36648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N12/notch-media/line/019"/>
            <p:cNvCxnSpPr/>
            <p:nvPr/>
          </p:nvCxnSpPr>
          <p:spPr>
            <a:xfrm flipV="1">
              <a:off x="3063354" y="2503241"/>
              <a:ext cx="48863" cy="7329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N12/notch-media/button-folder/020"/>
            <p:cNvSpPr/>
            <p:nvPr/>
          </p:nvSpPr>
          <p:spPr>
            <a:xfrm>
              <a:off x="3295454" y="2381083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12/notch-media/poly/021"/>
            <p:cNvSpPr/>
            <p:nvPr/>
          </p:nvSpPr>
          <p:spPr>
            <a:xfrm>
              <a:off x="3417612" y="2527673"/>
              <a:ext cx="146590" cy="97726"/>
            </a:xfrm>
            <a:custGeom>
              <a:avLst/>
              <a:gdLst/>
              <a:ahLst/>
              <a:cxnLst/>
              <a:rect l="l" t="t" r="r" b="b"/>
              <a:pathLst>
                <a:path w="146590" h="97726">
                  <a:moveTo>
                    <a:pt x="0" y="0"/>
                  </a:moveTo>
                  <a:lnTo>
                    <a:pt x="48864" y="0"/>
                  </a:lnTo>
                  <a:lnTo>
                    <a:pt x="67187" y="24431"/>
                  </a:lnTo>
                  <a:lnTo>
                    <a:pt x="146590" y="24431"/>
                  </a:lnTo>
                  <a:lnTo>
                    <a:pt x="146590" y="97726"/>
                  </a:lnTo>
                  <a:lnTo>
                    <a:pt x="0" y="97726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12/notch-media/button-clipboard/022"/>
            <p:cNvSpPr/>
            <p:nvPr/>
          </p:nvSpPr>
          <p:spPr>
            <a:xfrm>
              <a:off x="3735223" y="2381083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12/notch-media/rect/023"/>
            <p:cNvSpPr/>
            <p:nvPr/>
          </p:nvSpPr>
          <p:spPr>
            <a:xfrm>
              <a:off x="3881813" y="2503241"/>
              <a:ext cx="97726" cy="134373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12/notch-media/rect/024"/>
            <p:cNvSpPr/>
            <p:nvPr/>
          </p:nvSpPr>
          <p:spPr>
            <a:xfrm>
              <a:off x="3906245" y="2484917"/>
              <a:ext cx="48863" cy="30539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N12/notch-media/line/025"/>
            <p:cNvCxnSpPr/>
            <p:nvPr/>
          </p:nvCxnSpPr>
          <p:spPr>
            <a:xfrm>
              <a:off x="3906245" y="2552104"/>
              <a:ext cx="4886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N12/notch-media/line/026"/>
            <p:cNvCxnSpPr/>
            <p:nvPr/>
          </p:nvCxnSpPr>
          <p:spPr>
            <a:xfrm>
              <a:off x="3906245" y="2582644"/>
              <a:ext cx="4886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N12/notch-media/button-gear/027"/>
            <p:cNvSpPr/>
            <p:nvPr/>
          </p:nvSpPr>
          <p:spPr>
            <a:xfrm>
              <a:off x="7221616" y="2368867"/>
              <a:ext cx="390906" cy="390906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12/notch-media/ellipse/028"/>
            <p:cNvSpPr/>
            <p:nvPr/>
          </p:nvSpPr>
          <p:spPr>
            <a:xfrm>
              <a:off x="7380422" y="2527673"/>
              <a:ext cx="73294" cy="73294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12/notch-media/line/029"/>
            <p:cNvCxnSpPr/>
            <p:nvPr/>
          </p:nvCxnSpPr>
          <p:spPr>
            <a:xfrm>
              <a:off x="7478148" y="2564320"/>
              <a:ext cx="2443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12/notch-media/line/030"/>
            <p:cNvCxnSpPr/>
            <p:nvPr/>
          </p:nvCxnSpPr>
          <p:spPr>
            <a:xfrm>
              <a:off x="7460259" y="2607509"/>
              <a:ext cx="17276" cy="1727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12/notch-media/line/031"/>
            <p:cNvCxnSpPr/>
            <p:nvPr/>
          </p:nvCxnSpPr>
          <p:spPr>
            <a:xfrm>
              <a:off x="7417069" y="2625399"/>
              <a:ext cx="0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12/notch-media/line/032"/>
            <p:cNvCxnSpPr/>
            <p:nvPr/>
          </p:nvCxnSpPr>
          <p:spPr>
            <a:xfrm flipH="1">
              <a:off x="7356604" y="2607509"/>
              <a:ext cx="17276" cy="1727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12/notch-media/line/033"/>
            <p:cNvCxnSpPr/>
            <p:nvPr/>
          </p:nvCxnSpPr>
          <p:spPr>
            <a:xfrm flipH="1">
              <a:off x="7331559" y="2564320"/>
              <a:ext cx="24431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12/notch-media/line/034"/>
            <p:cNvCxnSpPr/>
            <p:nvPr/>
          </p:nvCxnSpPr>
          <p:spPr>
            <a:xfrm flipH="1" flipV="1">
              <a:off x="7356604" y="2503855"/>
              <a:ext cx="17276" cy="1727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12/notch-media/line/035"/>
            <p:cNvCxnSpPr/>
            <p:nvPr/>
          </p:nvCxnSpPr>
          <p:spPr>
            <a:xfrm flipV="1">
              <a:off x="7417069" y="2478809"/>
              <a:ext cx="0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12/notch-media/line/036"/>
            <p:cNvCxnSpPr/>
            <p:nvPr/>
          </p:nvCxnSpPr>
          <p:spPr>
            <a:xfrm flipV="1">
              <a:off x="7460259" y="2503855"/>
              <a:ext cx="17276" cy="1727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12/notch-media/button-close/037"/>
            <p:cNvSpPr/>
            <p:nvPr/>
          </p:nvSpPr>
          <p:spPr>
            <a:xfrm>
              <a:off x="7685817" y="2368867"/>
              <a:ext cx="390906" cy="390906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12/notch-media/line/038"/>
            <p:cNvCxnSpPr/>
            <p:nvPr/>
          </p:nvCxnSpPr>
          <p:spPr>
            <a:xfrm>
              <a:off x="7832407" y="2515457"/>
              <a:ext cx="97727" cy="9772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12/notch-media/line/039"/>
            <p:cNvCxnSpPr/>
            <p:nvPr/>
          </p:nvCxnSpPr>
          <p:spPr>
            <a:xfrm flipH="1">
              <a:off x="7832407" y="2515457"/>
              <a:ext cx="97727" cy="9772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12/notch-media/album-art/040"/>
            <p:cNvSpPr/>
            <p:nvPr/>
          </p:nvSpPr>
          <p:spPr>
            <a:xfrm>
              <a:off x="747236" y="2881931"/>
              <a:ext cx="879538" cy="879538"/>
            </a:xfrm>
            <a:prstGeom prst="roundRect">
              <a:avLst>
                <a:gd name="adj" fmla="val 19444"/>
              </a:avLst>
            </a:prstGeom>
            <a:solidFill>
              <a:srgbClr val="2A1B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N12/notch-media/ellipse/041"/>
            <p:cNvSpPr/>
            <p:nvPr/>
          </p:nvSpPr>
          <p:spPr>
            <a:xfrm>
              <a:off x="835190" y="2987476"/>
              <a:ext cx="483746" cy="483746"/>
            </a:xfrm>
            <a:prstGeom prst="ellipse">
              <a:avLst/>
            </a:prstGeom>
            <a:solidFill>
              <a:srgbClr val="BF5AF2">
                <a:alpha val="8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N12/notch-media/ellipse/042"/>
            <p:cNvSpPr/>
            <p:nvPr/>
          </p:nvSpPr>
          <p:spPr>
            <a:xfrm>
              <a:off x="1116642" y="3216156"/>
              <a:ext cx="439769" cy="439769"/>
            </a:xfrm>
            <a:prstGeom prst="ellipse">
              <a:avLst/>
            </a:prstGeom>
            <a:solidFill>
              <a:srgbClr val="64D2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N12/notch-media/rect/043"/>
            <p:cNvSpPr/>
            <p:nvPr/>
          </p:nvSpPr>
          <p:spPr>
            <a:xfrm>
              <a:off x="905553" y="3427245"/>
              <a:ext cx="562904" cy="140726"/>
            </a:xfrm>
            <a:prstGeom prst="roundRect">
              <a:avLst>
                <a:gd name="adj" fmla="val 34722"/>
              </a:avLst>
            </a:prstGeom>
            <a:solidFill>
              <a:srgbClr val="30D158">
                <a:alpha val="9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N12/notch-media/text/044"/>
            <p:cNvSpPr txBox="1"/>
            <p:nvPr/>
          </p:nvSpPr>
          <p:spPr>
            <a:xfrm>
              <a:off x="747236" y="2881931"/>
              <a:ext cx="879538" cy="87953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4" b="1" i="0">
                  <a:solidFill>
                    <a:srgbClr val="FFFFFF"/>
                  </a:solidFill>
                  <a:latin typeface="Arial"/>
                </a:rPr>
                <a:t>ART</a:t>
              </a:r>
            </a:p>
          </p:txBody>
        </p:sp>
        <p:sp>
          <p:nvSpPr>
            <p:cNvPr id="56" name="N12/notch-media/text/045"/>
            <p:cNvSpPr txBox="1"/>
            <p:nvPr/>
          </p:nvSpPr>
          <p:spPr>
            <a:xfrm>
              <a:off x="1797796" y="2881931"/>
              <a:ext cx="4080081" cy="2443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13" b="1" i="0">
                  <a:solidFill>
                    <a:srgbClr val="F5F5F7"/>
                  </a:solidFill>
                  <a:latin typeface="Arial"/>
                </a:rPr>
                <a:t>Midnight City</a:t>
              </a:r>
            </a:p>
          </p:txBody>
        </p:sp>
        <p:sp>
          <p:nvSpPr>
            <p:cNvPr id="57" name="N12/notch-media/text/046"/>
            <p:cNvSpPr txBox="1"/>
            <p:nvPr/>
          </p:nvSpPr>
          <p:spPr>
            <a:xfrm>
              <a:off x="1797796" y="3150679"/>
              <a:ext cx="4080081" cy="2198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98989D"/>
                  </a:solidFill>
                  <a:latin typeface="Arial"/>
                </a:rPr>
                <a:t>M83</a:t>
              </a:r>
            </a:p>
          </p:txBody>
        </p:sp>
        <p:sp>
          <p:nvSpPr>
            <p:cNvPr id="58" name="N12/notch-media/text/047"/>
            <p:cNvSpPr txBox="1"/>
            <p:nvPr/>
          </p:nvSpPr>
          <p:spPr>
            <a:xfrm>
              <a:off x="1797796" y="3370564"/>
              <a:ext cx="4080081" cy="2198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98989D"/>
                  </a:solidFill>
                  <a:latin typeface="Arial"/>
                </a:rPr>
                <a:t>Hurry Up, We're Dreaming</a:t>
              </a:r>
            </a:p>
          </p:txBody>
        </p:sp>
        <p:sp>
          <p:nvSpPr>
            <p:cNvPr id="59" name="N12/notch-media/button-Spotify  ·  2 players ›/048"/>
            <p:cNvSpPr/>
            <p:nvPr/>
          </p:nvSpPr>
          <p:spPr>
            <a:xfrm>
              <a:off x="6000035" y="3370564"/>
              <a:ext cx="2076688" cy="317611"/>
            </a:xfrm>
            <a:prstGeom prst="roundRect">
              <a:avLst>
                <a:gd name="adj" fmla="val 38461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N12/notch-media/rect/049"/>
            <p:cNvSpPr/>
            <p:nvPr/>
          </p:nvSpPr>
          <p:spPr>
            <a:xfrm>
              <a:off x="6158841" y="3492722"/>
              <a:ext cx="122158" cy="97726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1" name="N12/notch-media/line/050"/>
            <p:cNvCxnSpPr/>
            <p:nvPr/>
          </p:nvCxnSpPr>
          <p:spPr>
            <a:xfrm>
              <a:off x="6195488" y="3456074"/>
              <a:ext cx="85511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N12/notch-media/line/051"/>
            <p:cNvCxnSpPr/>
            <p:nvPr/>
          </p:nvCxnSpPr>
          <p:spPr>
            <a:xfrm>
              <a:off x="6280999" y="3456074"/>
              <a:ext cx="0" cy="85511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N12/notch-media/text/052"/>
            <p:cNvSpPr txBox="1"/>
            <p:nvPr/>
          </p:nvSpPr>
          <p:spPr>
            <a:xfrm>
              <a:off x="6390941" y="3370564"/>
              <a:ext cx="1661350" cy="31761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E5E5EA"/>
                  </a:solidFill>
                  <a:latin typeface="Arial"/>
                </a:rPr>
                <a:t>Spotify  ·  2 players ›</a:t>
              </a:r>
            </a:p>
          </p:txBody>
        </p:sp>
        <p:sp>
          <p:nvSpPr>
            <p:cNvPr id="64" name="N12/notch-media/text/053"/>
            <p:cNvSpPr txBox="1"/>
            <p:nvPr/>
          </p:nvSpPr>
          <p:spPr>
            <a:xfrm>
              <a:off x="747236" y="3883628"/>
              <a:ext cx="439769" cy="1954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98989D"/>
                  </a:solidFill>
                  <a:latin typeface="Arial"/>
                </a:rPr>
                <a:t>1:24</a:t>
              </a:r>
            </a:p>
          </p:txBody>
        </p:sp>
        <p:sp>
          <p:nvSpPr>
            <p:cNvPr id="65" name="N12/notch-media/rect/054"/>
            <p:cNvSpPr/>
            <p:nvPr/>
          </p:nvSpPr>
          <p:spPr>
            <a:xfrm>
              <a:off x="1260300" y="3956923"/>
              <a:ext cx="6303359" cy="48863"/>
            </a:xfrm>
            <a:prstGeom prst="roundRect">
              <a:avLst>
                <a:gd name="adj" fmla="val 50000"/>
              </a:avLst>
            </a:prstGeom>
            <a:solidFill>
              <a:srgbClr val="3A3A3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N12/notch-media/rect/055"/>
            <p:cNvSpPr/>
            <p:nvPr/>
          </p:nvSpPr>
          <p:spPr>
            <a:xfrm>
              <a:off x="1260300" y="3956923"/>
              <a:ext cx="2206175" cy="48863"/>
            </a:xfrm>
            <a:prstGeom prst="roundRect">
              <a:avLst>
                <a:gd name="adj" fmla="val 50000"/>
              </a:avLst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N12/notch-media/ellipse/056"/>
            <p:cNvSpPr/>
            <p:nvPr/>
          </p:nvSpPr>
          <p:spPr>
            <a:xfrm>
              <a:off x="3393181" y="3908059"/>
              <a:ext cx="146589" cy="146589"/>
            </a:xfrm>
            <a:prstGeom prst="ellipse">
              <a:avLst/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N12/notch-media/text/057"/>
            <p:cNvSpPr txBox="1"/>
            <p:nvPr/>
          </p:nvSpPr>
          <p:spPr>
            <a:xfrm>
              <a:off x="7636954" y="3883628"/>
              <a:ext cx="439769" cy="1954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98989D"/>
                  </a:solidFill>
                  <a:latin typeface="Arial"/>
                </a:rPr>
                <a:t>4:03</a:t>
              </a:r>
            </a:p>
          </p:txBody>
        </p:sp>
        <p:sp>
          <p:nvSpPr>
            <p:cNvPr id="69" name="N12/notch-media/button-prev/058"/>
            <p:cNvSpPr/>
            <p:nvPr/>
          </p:nvSpPr>
          <p:spPr>
            <a:xfrm>
              <a:off x="3373635" y="4152376"/>
              <a:ext cx="390906" cy="390906"/>
            </a:xfrm>
            <a:prstGeom prst="roundRect">
              <a:avLst>
                <a:gd name="adj" fmla="val 31250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N12/notch-media/poly/059"/>
            <p:cNvSpPr/>
            <p:nvPr/>
          </p:nvSpPr>
          <p:spPr>
            <a:xfrm>
              <a:off x="3532441" y="4286750"/>
              <a:ext cx="73295" cy="122158"/>
            </a:xfrm>
            <a:custGeom>
              <a:avLst/>
              <a:gdLst/>
              <a:ahLst/>
              <a:cxnLst/>
              <a:rect l="l" t="t" r="r" b="b"/>
              <a:pathLst>
                <a:path w="73295" h="122158">
                  <a:moveTo>
                    <a:pt x="73295" y="0"/>
                  </a:moveTo>
                  <a:lnTo>
                    <a:pt x="0" y="61079"/>
                  </a:lnTo>
                  <a:lnTo>
                    <a:pt x="73295" y="122158"/>
                  </a:lnTo>
                  <a:close/>
                </a:path>
              </a:pathLst>
            </a:cu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N12/notch-media/rect/060"/>
            <p:cNvSpPr/>
            <p:nvPr/>
          </p:nvSpPr>
          <p:spPr>
            <a:xfrm>
              <a:off x="3508009" y="4292857"/>
              <a:ext cx="19545" cy="109942"/>
            </a:xfrm>
            <a:prstGeom prst="rect">
              <a:avLst/>
            </a:pr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N12/notch-media/button-pause/061"/>
            <p:cNvSpPr/>
            <p:nvPr/>
          </p:nvSpPr>
          <p:spPr>
            <a:xfrm>
              <a:off x="3886700" y="4152376"/>
              <a:ext cx="537495" cy="390906"/>
            </a:xfrm>
            <a:prstGeom prst="roundRect">
              <a:avLst>
                <a:gd name="adj" fmla="val 50000"/>
              </a:avLst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N12/notch-media/rect/062"/>
            <p:cNvSpPr/>
            <p:nvPr/>
          </p:nvSpPr>
          <p:spPr>
            <a:xfrm>
              <a:off x="4112692" y="4292857"/>
              <a:ext cx="30539" cy="109942"/>
            </a:xfrm>
            <a:prstGeom prst="roundRect">
              <a:avLst>
                <a:gd name="adj" fmla="val 2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N12/notch-media/rect/063"/>
            <p:cNvSpPr/>
            <p:nvPr/>
          </p:nvSpPr>
          <p:spPr>
            <a:xfrm>
              <a:off x="4167663" y="4292857"/>
              <a:ext cx="30539" cy="109942"/>
            </a:xfrm>
            <a:prstGeom prst="roundRect">
              <a:avLst>
                <a:gd name="adj" fmla="val 2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N12/notch-media/button-next/064"/>
            <p:cNvSpPr/>
            <p:nvPr/>
          </p:nvSpPr>
          <p:spPr>
            <a:xfrm>
              <a:off x="4546353" y="4152376"/>
              <a:ext cx="390906" cy="390906"/>
            </a:xfrm>
            <a:prstGeom prst="roundRect">
              <a:avLst>
                <a:gd name="adj" fmla="val 31250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N12/notch-media/poly/065"/>
            <p:cNvSpPr/>
            <p:nvPr/>
          </p:nvSpPr>
          <p:spPr>
            <a:xfrm>
              <a:off x="4705159" y="4286750"/>
              <a:ext cx="73295" cy="122158"/>
            </a:xfrm>
            <a:custGeom>
              <a:avLst/>
              <a:gdLst/>
              <a:ahLst/>
              <a:cxnLst/>
              <a:rect l="l" t="t" r="r" b="b"/>
              <a:pathLst>
                <a:path w="73295" h="122158">
                  <a:moveTo>
                    <a:pt x="0" y="0"/>
                  </a:moveTo>
                  <a:lnTo>
                    <a:pt x="73295" y="61079"/>
                  </a:lnTo>
                  <a:lnTo>
                    <a:pt x="0" y="122158"/>
                  </a:lnTo>
                  <a:close/>
                </a:path>
              </a:pathLst>
            </a:cu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N12/notch-media/rect/066"/>
            <p:cNvSpPr/>
            <p:nvPr/>
          </p:nvSpPr>
          <p:spPr>
            <a:xfrm>
              <a:off x="4783340" y="4292857"/>
              <a:ext cx="19545" cy="109942"/>
            </a:xfrm>
            <a:prstGeom prst="rect">
              <a:avLst/>
            </a:pr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N12/notch-media/button-raise/067"/>
            <p:cNvSpPr/>
            <p:nvPr/>
          </p:nvSpPr>
          <p:spPr>
            <a:xfrm>
              <a:off x="5059418" y="4152376"/>
              <a:ext cx="390906" cy="390906"/>
            </a:xfrm>
            <a:prstGeom prst="roundRect">
              <a:avLst>
                <a:gd name="adj" fmla="val 31250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N12/notch-media/rect/068"/>
            <p:cNvSpPr/>
            <p:nvPr/>
          </p:nvSpPr>
          <p:spPr>
            <a:xfrm>
              <a:off x="5193792" y="4311181"/>
              <a:ext cx="122158" cy="97726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0" name="N12/notch-media/line/069"/>
            <p:cNvCxnSpPr/>
            <p:nvPr/>
          </p:nvCxnSpPr>
          <p:spPr>
            <a:xfrm>
              <a:off x="5230439" y="4274534"/>
              <a:ext cx="85511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N12/notch-media/line/070"/>
            <p:cNvCxnSpPr/>
            <p:nvPr/>
          </p:nvCxnSpPr>
          <p:spPr>
            <a:xfrm>
              <a:off x="5315950" y="4274534"/>
              <a:ext cx="0" cy="8551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N12/notch-media/text/071"/>
            <p:cNvSpPr txBox="1"/>
            <p:nvPr/>
          </p:nvSpPr>
          <p:spPr>
            <a:xfrm>
              <a:off x="747236" y="4616577"/>
              <a:ext cx="1221581" cy="2198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98989D"/>
                  </a:solidFill>
                  <a:latin typeface="Arial"/>
                </a:rPr>
                <a:t>Player volume</a:t>
              </a:r>
            </a:p>
          </p:txBody>
        </p:sp>
        <p:sp>
          <p:nvSpPr>
            <p:cNvPr id="83" name="N12/notch-media/rect/072"/>
            <p:cNvSpPr/>
            <p:nvPr/>
          </p:nvSpPr>
          <p:spPr>
            <a:xfrm>
              <a:off x="2066543" y="4702087"/>
              <a:ext cx="5008483" cy="48863"/>
            </a:xfrm>
            <a:prstGeom prst="roundRect">
              <a:avLst>
                <a:gd name="adj" fmla="val 50000"/>
              </a:avLst>
            </a:prstGeom>
            <a:solidFill>
              <a:srgbClr val="3A3A3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N12/notch-media/rect/073"/>
            <p:cNvSpPr/>
            <p:nvPr/>
          </p:nvSpPr>
          <p:spPr>
            <a:xfrm>
              <a:off x="2066543" y="4702087"/>
              <a:ext cx="5008483" cy="48863"/>
            </a:xfrm>
            <a:prstGeom prst="roundRect">
              <a:avLst>
                <a:gd name="adj" fmla="val 50000"/>
              </a:avLst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N12/notch-media/ellipse/074"/>
            <p:cNvSpPr/>
            <p:nvPr/>
          </p:nvSpPr>
          <p:spPr>
            <a:xfrm>
              <a:off x="7001732" y="4653224"/>
              <a:ext cx="146589" cy="146589"/>
            </a:xfrm>
            <a:prstGeom prst="ellipse">
              <a:avLst/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N12/notch-media/text/075"/>
            <p:cNvSpPr txBox="1"/>
            <p:nvPr/>
          </p:nvSpPr>
          <p:spPr>
            <a:xfrm>
              <a:off x="7539228" y="4616577"/>
              <a:ext cx="537495" cy="2198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98989D"/>
                  </a:solidFill>
                  <a:latin typeface="Arial"/>
                </a:rPr>
                <a:t>100%</a:t>
              </a:r>
            </a:p>
          </p:txBody>
        </p:sp>
        <p:sp>
          <p:nvSpPr>
            <p:cNvPr id="87" name="N12/notch-media/text/076"/>
            <p:cNvSpPr txBox="1"/>
            <p:nvPr/>
          </p:nvSpPr>
          <p:spPr>
            <a:xfrm>
              <a:off x="747236" y="4958619"/>
              <a:ext cx="1221581" cy="2198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98989D"/>
                  </a:solidFill>
                  <a:latin typeface="Arial"/>
                </a:rPr>
                <a:t>System output</a:t>
              </a:r>
            </a:p>
          </p:txBody>
        </p:sp>
        <p:sp>
          <p:nvSpPr>
            <p:cNvPr id="88" name="N12/notch-media/rect/077"/>
            <p:cNvSpPr/>
            <p:nvPr/>
          </p:nvSpPr>
          <p:spPr>
            <a:xfrm>
              <a:off x="2066543" y="5044130"/>
              <a:ext cx="5008483" cy="48863"/>
            </a:xfrm>
            <a:prstGeom prst="roundRect">
              <a:avLst>
                <a:gd name="adj" fmla="val 50000"/>
              </a:avLst>
            </a:prstGeom>
            <a:solidFill>
              <a:srgbClr val="3A3A3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N12/notch-media/rect/078"/>
            <p:cNvSpPr/>
            <p:nvPr/>
          </p:nvSpPr>
          <p:spPr>
            <a:xfrm>
              <a:off x="2066543" y="5044130"/>
              <a:ext cx="3255514" cy="48863"/>
            </a:xfrm>
            <a:prstGeom prst="roundRect">
              <a:avLst>
                <a:gd name="adj" fmla="val 50000"/>
              </a:avLst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N12/notch-media/ellipse/079"/>
            <p:cNvSpPr/>
            <p:nvPr/>
          </p:nvSpPr>
          <p:spPr>
            <a:xfrm>
              <a:off x="5248763" y="4995267"/>
              <a:ext cx="146589" cy="146589"/>
            </a:xfrm>
            <a:prstGeom prst="ellipse">
              <a:avLst/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N12/notch-media/button-volume/080"/>
            <p:cNvSpPr/>
            <p:nvPr/>
          </p:nvSpPr>
          <p:spPr>
            <a:xfrm>
              <a:off x="7685817" y="4897540"/>
              <a:ext cx="390906" cy="342042"/>
            </a:xfrm>
            <a:prstGeom prst="roundRect">
              <a:avLst>
                <a:gd name="adj" fmla="val 35714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N12/notch-media/poly/081"/>
            <p:cNvSpPr/>
            <p:nvPr/>
          </p:nvSpPr>
          <p:spPr>
            <a:xfrm>
              <a:off x="7820191" y="5007483"/>
              <a:ext cx="73295" cy="122158"/>
            </a:xfrm>
            <a:custGeom>
              <a:avLst/>
              <a:gdLst/>
              <a:ahLst/>
              <a:cxnLst/>
              <a:rect l="l" t="t" r="r" b="b"/>
              <a:pathLst>
                <a:path w="73295" h="122158">
                  <a:moveTo>
                    <a:pt x="0" y="36647"/>
                  </a:moveTo>
                  <a:lnTo>
                    <a:pt x="36648" y="36647"/>
                  </a:lnTo>
                  <a:lnTo>
                    <a:pt x="73295" y="0"/>
                  </a:lnTo>
                  <a:lnTo>
                    <a:pt x="73295" y="122158"/>
                  </a:lnTo>
                  <a:lnTo>
                    <a:pt x="36648" y="85510"/>
                  </a:lnTo>
                  <a:lnTo>
                    <a:pt x="0" y="85510"/>
                  </a:lnTo>
                  <a:close/>
                </a:path>
              </a:pathLst>
            </a:cu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3" name="N12/notch-media/line/082"/>
            <p:cNvCxnSpPr/>
            <p:nvPr/>
          </p:nvCxnSpPr>
          <p:spPr>
            <a:xfrm>
              <a:off x="7917918" y="5031914"/>
              <a:ext cx="24431" cy="3664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N12/notch-media/line/083"/>
            <p:cNvCxnSpPr/>
            <p:nvPr/>
          </p:nvCxnSpPr>
          <p:spPr>
            <a:xfrm flipH="1">
              <a:off x="7917918" y="5068562"/>
              <a:ext cx="24431" cy="3664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N12/text/010"/>
          <p:cNvSpPr txBox="1"/>
          <p:nvPr/>
        </p:nvSpPr>
        <p:spPr>
          <a:xfrm>
            <a:off x="502919" y="5599699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Seek disabled when canSeek=false or length=0. Switcher enabled only with multiple players.</a:t>
            </a:r>
          </a:p>
        </p:txBody>
      </p:sp>
      <p:sp>
        <p:nvSpPr>
          <p:cNvPr id="96" name="N12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N12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98" name="N12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N12/text/014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Art 72 px; metadata wraps</a:t>
            </a:r>
          </a:p>
        </p:txBody>
      </p:sp>
      <p:sp>
        <p:nvSpPr>
          <p:cNvPr id="100" name="N12/ellipse/015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N12/text/016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Seek bar 4 px / handle 12</a:t>
            </a:r>
          </a:p>
        </p:txBody>
      </p:sp>
      <p:sp>
        <p:nvSpPr>
          <p:cNvPr id="102" name="N12/ellipse/017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N12/text/018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Transport centered; raise player</a:t>
            </a:r>
          </a:p>
        </p:txBody>
      </p:sp>
      <p:sp>
        <p:nvSpPr>
          <p:cNvPr id="104" name="N12/ellipse/019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N12/text/020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Player volume + system output/mute</a:t>
            </a:r>
          </a:p>
        </p:txBody>
      </p:sp>
      <p:sp>
        <p:nvSpPr>
          <p:cNvPr id="106" name="N12/text/021"/>
          <p:cNvSpPr txBox="1"/>
          <p:nvPr/>
        </p:nvSpPr>
        <p:spPr>
          <a:xfrm>
            <a:off x="8641080" y="3182112"/>
            <a:ext cx="2862072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4D2FF"/>
                </a:solidFill>
                <a:latin typeface="Arial"/>
              </a:rPr>
              <a:t>YOUR UPLOADED EDIT</a:t>
            </a:r>
          </a:p>
        </p:txBody>
      </p:sp>
      <p:sp>
        <p:nvSpPr>
          <p:cNvPr id="107" name="N12/text/022"/>
          <p:cNvSpPr txBox="1"/>
          <p:nvPr/>
        </p:nvSpPr>
        <p:spPr>
          <a:xfrm>
            <a:off x="8641080" y="3419856"/>
            <a:ext cx="286207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D2FF"/>
                </a:solidFill>
                <a:latin typeface="Arial"/>
              </a:rPr>
              <a:t>• Player switcher moved to right side.</a:t>
            </a:r>
          </a:p>
        </p:txBody>
      </p:sp>
      <p:cxnSp>
        <p:nvCxnSpPr>
          <p:cNvPr id="108" name="N12/line/023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N12/text/024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110" name="N12/edit-box/025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N12/edit-note/026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Metadata lines / slider labels / volume rows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13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13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13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MUSIC PAGE</a:t>
            </a:r>
          </a:p>
        </p:txBody>
      </p:sp>
      <p:sp>
        <p:nvSpPr>
          <p:cNvPr id="5" name="N13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Music — no player / unavailable</a:t>
            </a:r>
          </a:p>
        </p:txBody>
      </p:sp>
      <p:sp>
        <p:nvSpPr>
          <p:cNvPr id="6" name="N13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Same shell; disabled controls remain visible and readable</a:t>
            </a:r>
          </a:p>
        </p:txBody>
      </p:sp>
      <p:cxnSp>
        <p:nvCxnSpPr>
          <p:cNvPr id="7" name="N13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13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13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N13</a:t>
            </a:r>
          </a:p>
        </p:txBody>
      </p:sp>
      <p:sp>
        <p:nvSpPr>
          <p:cNvPr id="10" name="N13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17</a:t>
            </a:r>
          </a:p>
        </p:txBody>
      </p:sp>
      <p:grpSp>
        <p:nvGrpSpPr>
          <p:cNvPr id="11" name="N13/notch-media"/>
          <p:cNvGrpSpPr/>
          <p:nvPr/>
        </p:nvGrpSpPr>
        <p:grpSpPr>
          <a:xfrm>
            <a:off x="502919" y="1806940"/>
            <a:ext cx="7818121" cy="3664743"/>
            <a:chOff x="502919" y="1806940"/>
            <a:chExt cx="7818121" cy="3664743"/>
          </a:xfrm>
        </p:grpSpPr>
        <p:sp>
          <p:nvSpPr>
            <p:cNvPr id="12" name="N13/notch-media/notch-surface-open/001"/>
            <p:cNvSpPr/>
            <p:nvPr/>
          </p:nvSpPr>
          <p:spPr>
            <a:xfrm>
              <a:off x="502919" y="1806940"/>
              <a:ext cx="7818121" cy="3664743"/>
            </a:xfrm>
            <a:custGeom>
              <a:avLst/>
              <a:gdLst/>
              <a:ahLst/>
              <a:cxnLst/>
              <a:rect l="l" t="t" r="r" b="b"/>
              <a:pathLst>
                <a:path w="7818121" h="3664743">
                  <a:moveTo>
                    <a:pt x="0" y="0"/>
                  </a:moveTo>
                  <a:lnTo>
                    <a:pt x="7818121" y="0"/>
                  </a:lnTo>
                  <a:lnTo>
                    <a:pt x="7785935" y="3626"/>
                  </a:lnTo>
                  <a:lnTo>
                    <a:pt x="7749216" y="14506"/>
                  </a:lnTo>
                  <a:lnTo>
                    <a:pt x="7710683" y="32639"/>
                  </a:lnTo>
                  <a:lnTo>
                    <a:pt x="7673058" y="58025"/>
                  </a:lnTo>
                  <a:lnTo>
                    <a:pt x="7639059" y="90664"/>
                  </a:lnTo>
                  <a:lnTo>
                    <a:pt x="7611406" y="130556"/>
                  </a:lnTo>
                  <a:lnTo>
                    <a:pt x="7592820" y="177702"/>
                  </a:lnTo>
                  <a:lnTo>
                    <a:pt x="7586020" y="232100"/>
                  </a:lnTo>
                  <a:lnTo>
                    <a:pt x="7580387" y="3428760"/>
                  </a:lnTo>
                  <a:lnTo>
                    <a:pt x="7563703" y="3483759"/>
                  </a:lnTo>
                  <a:lnTo>
                    <a:pt x="7536610" y="3534446"/>
                  </a:lnTo>
                  <a:lnTo>
                    <a:pt x="7500150" y="3578873"/>
                  </a:lnTo>
                  <a:lnTo>
                    <a:pt x="7455722" y="3615334"/>
                  </a:lnTo>
                  <a:lnTo>
                    <a:pt x="7405035" y="3642426"/>
                  </a:lnTo>
                  <a:lnTo>
                    <a:pt x="7350037" y="3659110"/>
                  </a:lnTo>
                  <a:lnTo>
                    <a:pt x="7292841" y="3664743"/>
                  </a:lnTo>
                  <a:lnTo>
                    <a:pt x="525280" y="3664743"/>
                  </a:lnTo>
                  <a:lnTo>
                    <a:pt x="468084" y="3659110"/>
                  </a:lnTo>
                  <a:lnTo>
                    <a:pt x="413086" y="3642426"/>
                  </a:lnTo>
                  <a:lnTo>
                    <a:pt x="362399" y="3615334"/>
                  </a:lnTo>
                  <a:lnTo>
                    <a:pt x="317971" y="3578873"/>
                  </a:lnTo>
                  <a:lnTo>
                    <a:pt x="281511" y="3534446"/>
                  </a:lnTo>
                  <a:lnTo>
                    <a:pt x="254418" y="3483759"/>
                  </a:lnTo>
                  <a:lnTo>
                    <a:pt x="237734" y="3428760"/>
                  </a:lnTo>
                  <a:lnTo>
                    <a:pt x="232101" y="3371564"/>
                  </a:lnTo>
                  <a:lnTo>
                    <a:pt x="232101" y="232100"/>
                  </a:lnTo>
                  <a:lnTo>
                    <a:pt x="225301" y="177702"/>
                  </a:lnTo>
                  <a:lnTo>
                    <a:pt x="206715" y="130556"/>
                  </a:lnTo>
                  <a:lnTo>
                    <a:pt x="179062" y="90664"/>
                  </a:lnTo>
                  <a:lnTo>
                    <a:pt x="145063" y="58025"/>
                  </a:lnTo>
                  <a:lnTo>
                    <a:pt x="107438" y="32639"/>
                  </a:lnTo>
                  <a:lnTo>
                    <a:pt x="68905" y="14506"/>
                  </a:lnTo>
                  <a:lnTo>
                    <a:pt x="32186" y="36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13/notch-media/button-home/002"/>
            <p:cNvSpPr/>
            <p:nvPr/>
          </p:nvSpPr>
          <p:spPr>
            <a:xfrm>
              <a:off x="747236" y="2381083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13/notch-media/poly/003"/>
            <p:cNvSpPr/>
            <p:nvPr/>
          </p:nvSpPr>
          <p:spPr>
            <a:xfrm>
              <a:off x="869394" y="2491025"/>
              <a:ext cx="146590" cy="146590"/>
            </a:xfrm>
            <a:custGeom>
              <a:avLst/>
              <a:gdLst/>
              <a:ahLst/>
              <a:cxnLst/>
              <a:rect l="l" t="t" r="r" b="b"/>
              <a:pathLst>
                <a:path w="146590" h="146590">
                  <a:moveTo>
                    <a:pt x="73295" y="0"/>
                  </a:moveTo>
                  <a:lnTo>
                    <a:pt x="0" y="61079"/>
                  </a:lnTo>
                  <a:lnTo>
                    <a:pt x="24431" y="61079"/>
                  </a:lnTo>
                  <a:lnTo>
                    <a:pt x="24431" y="146590"/>
                  </a:lnTo>
                  <a:lnTo>
                    <a:pt x="61079" y="146590"/>
                  </a:lnTo>
                  <a:lnTo>
                    <a:pt x="61079" y="97727"/>
                  </a:lnTo>
                  <a:lnTo>
                    <a:pt x="85511" y="97727"/>
                  </a:lnTo>
                  <a:lnTo>
                    <a:pt x="85511" y="146590"/>
                  </a:lnTo>
                  <a:lnTo>
                    <a:pt x="122158" y="146590"/>
                  </a:lnTo>
                  <a:lnTo>
                    <a:pt x="122158" y="61079"/>
                  </a:lnTo>
                  <a:lnTo>
                    <a:pt x="146590" y="61079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13/notch-media/button-Music/004"/>
            <p:cNvSpPr/>
            <p:nvPr/>
          </p:nvSpPr>
          <p:spPr>
            <a:xfrm>
              <a:off x="1187005" y="2381083"/>
              <a:ext cx="1180047" cy="366474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N13/notch-media/line/005"/>
            <p:cNvCxnSpPr/>
            <p:nvPr/>
          </p:nvCxnSpPr>
          <p:spPr>
            <a:xfrm flipV="1">
              <a:off x="1459418" y="2515457"/>
              <a:ext cx="0" cy="97726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N13/notch-media/line/006"/>
            <p:cNvCxnSpPr/>
            <p:nvPr/>
          </p:nvCxnSpPr>
          <p:spPr>
            <a:xfrm flipV="1">
              <a:off x="1459418" y="2503241"/>
              <a:ext cx="85510" cy="12216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13/notch-media/line/007"/>
            <p:cNvCxnSpPr/>
            <p:nvPr/>
          </p:nvCxnSpPr>
          <p:spPr>
            <a:xfrm>
              <a:off x="1544928" y="2503241"/>
              <a:ext cx="0" cy="97726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N13/notch-media/ellipse/008"/>
            <p:cNvSpPr/>
            <p:nvPr/>
          </p:nvSpPr>
          <p:spPr>
            <a:xfrm>
              <a:off x="1422770" y="2594860"/>
              <a:ext cx="42755" cy="366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13/notch-media/ellipse/009"/>
            <p:cNvSpPr/>
            <p:nvPr/>
          </p:nvSpPr>
          <p:spPr>
            <a:xfrm>
              <a:off x="1508281" y="2582644"/>
              <a:ext cx="42755" cy="366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13/notch-media/text/010"/>
            <p:cNvSpPr txBox="1"/>
            <p:nvPr/>
          </p:nvSpPr>
          <p:spPr>
            <a:xfrm>
              <a:off x="1654871" y="2381083"/>
              <a:ext cx="687750" cy="36647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6" b="1" i="0">
                  <a:solidFill>
                    <a:srgbClr val="FFFFFF"/>
                  </a:solidFill>
                  <a:latin typeface="Arial"/>
                </a:rPr>
                <a:t>Music</a:t>
              </a:r>
            </a:p>
          </p:txBody>
        </p:sp>
        <p:sp>
          <p:nvSpPr>
            <p:cNvPr id="22" name="N13/notch-media/button-bell/011"/>
            <p:cNvSpPr/>
            <p:nvPr/>
          </p:nvSpPr>
          <p:spPr>
            <a:xfrm>
              <a:off x="2415916" y="2381083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N13/notch-media/poly/012"/>
            <p:cNvSpPr/>
            <p:nvPr/>
          </p:nvSpPr>
          <p:spPr>
            <a:xfrm>
              <a:off x="2550290" y="2491025"/>
              <a:ext cx="122158" cy="109942"/>
            </a:xfrm>
            <a:custGeom>
              <a:avLst/>
              <a:gdLst/>
              <a:ahLst/>
              <a:cxnLst/>
              <a:rect l="l" t="t" r="r" b="b"/>
              <a:pathLst>
                <a:path w="122158" h="109942">
                  <a:moveTo>
                    <a:pt x="61079" y="0"/>
                  </a:moveTo>
                  <a:lnTo>
                    <a:pt x="24431" y="24432"/>
                  </a:lnTo>
                  <a:lnTo>
                    <a:pt x="12215" y="73295"/>
                  </a:lnTo>
                  <a:lnTo>
                    <a:pt x="0" y="109942"/>
                  </a:lnTo>
                  <a:lnTo>
                    <a:pt x="122158" y="109942"/>
                  </a:lnTo>
                  <a:lnTo>
                    <a:pt x="109942" y="73295"/>
                  </a:lnTo>
                  <a:lnTo>
                    <a:pt x="97726" y="24432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4" name="N13/notch-media/line/013"/>
            <p:cNvCxnSpPr/>
            <p:nvPr/>
          </p:nvCxnSpPr>
          <p:spPr>
            <a:xfrm>
              <a:off x="2586937" y="2625399"/>
              <a:ext cx="4886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N13/notch-media/ellipse/014"/>
            <p:cNvSpPr/>
            <p:nvPr/>
          </p:nvSpPr>
          <p:spPr>
            <a:xfrm>
              <a:off x="2599153" y="2478809"/>
              <a:ext cx="24431" cy="24431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N13/notch-media/button-chart/015"/>
            <p:cNvSpPr/>
            <p:nvPr/>
          </p:nvSpPr>
          <p:spPr>
            <a:xfrm>
              <a:off x="2855685" y="2381083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N13/notch-media/line/016"/>
            <p:cNvCxnSpPr/>
            <p:nvPr/>
          </p:nvCxnSpPr>
          <p:spPr>
            <a:xfrm>
              <a:off x="2977843" y="2637615"/>
              <a:ext cx="146590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13/notch-media/line/017"/>
            <p:cNvCxnSpPr/>
            <p:nvPr/>
          </p:nvCxnSpPr>
          <p:spPr>
            <a:xfrm flipV="1">
              <a:off x="2990059" y="2552104"/>
              <a:ext cx="36647" cy="4886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13/notch-media/line/018"/>
            <p:cNvCxnSpPr/>
            <p:nvPr/>
          </p:nvCxnSpPr>
          <p:spPr>
            <a:xfrm>
              <a:off x="3026706" y="2552104"/>
              <a:ext cx="36648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N13/notch-media/line/019"/>
            <p:cNvCxnSpPr/>
            <p:nvPr/>
          </p:nvCxnSpPr>
          <p:spPr>
            <a:xfrm flipV="1">
              <a:off x="3063354" y="2503241"/>
              <a:ext cx="48863" cy="7329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N13/notch-media/button-folder/020"/>
            <p:cNvSpPr/>
            <p:nvPr/>
          </p:nvSpPr>
          <p:spPr>
            <a:xfrm>
              <a:off x="3295454" y="2381083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13/notch-media/poly/021"/>
            <p:cNvSpPr/>
            <p:nvPr/>
          </p:nvSpPr>
          <p:spPr>
            <a:xfrm>
              <a:off x="3417612" y="2527673"/>
              <a:ext cx="146590" cy="97726"/>
            </a:xfrm>
            <a:custGeom>
              <a:avLst/>
              <a:gdLst/>
              <a:ahLst/>
              <a:cxnLst/>
              <a:rect l="l" t="t" r="r" b="b"/>
              <a:pathLst>
                <a:path w="146590" h="97726">
                  <a:moveTo>
                    <a:pt x="0" y="0"/>
                  </a:moveTo>
                  <a:lnTo>
                    <a:pt x="48864" y="0"/>
                  </a:lnTo>
                  <a:lnTo>
                    <a:pt x="67187" y="24431"/>
                  </a:lnTo>
                  <a:lnTo>
                    <a:pt x="146590" y="24431"/>
                  </a:lnTo>
                  <a:lnTo>
                    <a:pt x="146590" y="97726"/>
                  </a:lnTo>
                  <a:lnTo>
                    <a:pt x="0" y="97726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13/notch-media/button-clipboard/022"/>
            <p:cNvSpPr/>
            <p:nvPr/>
          </p:nvSpPr>
          <p:spPr>
            <a:xfrm>
              <a:off x="3735223" y="2381083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13/notch-media/rect/023"/>
            <p:cNvSpPr/>
            <p:nvPr/>
          </p:nvSpPr>
          <p:spPr>
            <a:xfrm>
              <a:off x="3881813" y="2503241"/>
              <a:ext cx="97726" cy="134373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13/notch-media/rect/024"/>
            <p:cNvSpPr/>
            <p:nvPr/>
          </p:nvSpPr>
          <p:spPr>
            <a:xfrm>
              <a:off x="3906245" y="2484917"/>
              <a:ext cx="48863" cy="30539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N13/notch-media/line/025"/>
            <p:cNvCxnSpPr/>
            <p:nvPr/>
          </p:nvCxnSpPr>
          <p:spPr>
            <a:xfrm>
              <a:off x="3906245" y="2552104"/>
              <a:ext cx="4886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N13/notch-media/line/026"/>
            <p:cNvCxnSpPr/>
            <p:nvPr/>
          </p:nvCxnSpPr>
          <p:spPr>
            <a:xfrm>
              <a:off x="3906245" y="2582644"/>
              <a:ext cx="4886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N13/notch-media/button-gear/027"/>
            <p:cNvSpPr/>
            <p:nvPr/>
          </p:nvSpPr>
          <p:spPr>
            <a:xfrm>
              <a:off x="7221616" y="2368867"/>
              <a:ext cx="390906" cy="390906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13/notch-media/ellipse/028"/>
            <p:cNvSpPr/>
            <p:nvPr/>
          </p:nvSpPr>
          <p:spPr>
            <a:xfrm>
              <a:off x="7380422" y="2527673"/>
              <a:ext cx="73294" cy="73294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13/notch-media/line/029"/>
            <p:cNvCxnSpPr/>
            <p:nvPr/>
          </p:nvCxnSpPr>
          <p:spPr>
            <a:xfrm>
              <a:off x="7478148" y="2564320"/>
              <a:ext cx="2443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13/notch-media/line/030"/>
            <p:cNvCxnSpPr/>
            <p:nvPr/>
          </p:nvCxnSpPr>
          <p:spPr>
            <a:xfrm>
              <a:off x="7460259" y="2607509"/>
              <a:ext cx="17276" cy="1727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13/notch-media/line/031"/>
            <p:cNvCxnSpPr/>
            <p:nvPr/>
          </p:nvCxnSpPr>
          <p:spPr>
            <a:xfrm>
              <a:off x="7417069" y="2625399"/>
              <a:ext cx="0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13/notch-media/line/032"/>
            <p:cNvCxnSpPr/>
            <p:nvPr/>
          </p:nvCxnSpPr>
          <p:spPr>
            <a:xfrm flipH="1">
              <a:off x="7356604" y="2607509"/>
              <a:ext cx="17276" cy="1727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13/notch-media/line/033"/>
            <p:cNvCxnSpPr/>
            <p:nvPr/>
          </p:nvCxnSpPr>
          <p:spPr>
            <a:xfrm flipH="1">
              <a:off x="7331559" y="2564320"/>
              <a:ext cx="24431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13/notch-media/line/034"/>
            <p:cNvCxnSpPr/>
            <p:nvPr/>
          </p:nvCxnSpPr>
          <p:spPr>
            <a:xfrm flipH="1" flipV="1">
              <a:off x="7356604" y="2503855"/>
              <a:ext cx="17276" cy="1727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13/notch-media/line/035"/>
            <p:cNvCxnSpPr/>
            <p:nvPr/>
          </p:nvCxnSpPr>
          <p:spPr>
            <a:xfrm flipV="1">
              <a:off x="7417069" y="2478809"/>
              <a:ext cx="0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13/notch-media/line/036"/>
            <p:cNvCxnSpPr/>
            <p:nvPr/>
          </p:nvCxnSpPr>
          <p:spPr>
            <a:xfrm flipV="1">
              <a:off x="7460259" y="2503855"/>
              <a:ext cx="17276" cy="1727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13/notch-media/button-close/037"/>
            <p:cNvSpPr/>
            <p:nvPr/>
          </p:nvSpPr>
          <p:spPr>
            <a:xfrm>
              <a:off x="7685817" y="2368867"/>
              <a:ext cx="390906" cy="390906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13/notch-media/line/038"/>
            <p:cNvCxnSpPr/>
            <p:nvPr/>
          </p:nvCxnSpPr>
          <p:spPr>
            <a:xfrm>
              <a:off x="7832407" y="2515457"/>
              <a:ext cx="97727" cy="9772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13/notch-media/line/039"/>
            <p:cNvCxnSpPr/>
            <p:nvPr/>
          </p:nvCxnSpPr>
          <p:spPr>
            <a:xfrm flipH="1">
              <a:off x="7832407" y="2515457"/>
              <a:ext cx="97727" cy="9772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13/notch-media/rect/040"/>
            <p:cNvSpPr/>
            <p:nvPr/>
          </p:nvSpPr>
          <p:spPr>
            <a:xfrm>
              <a:off x="747236" y="2881931"/>
              <a:ext cx="879538" cy="879538"/>
            </a:xfrm>
            <a:prstGeom prst="roundRect">
              <a:avLst>
                <a:gd name="adj" fmla="val 19444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2" name="N13/notch-media/line/041"/>
            <p:cNvCxnSpPr/>
            <p:nvPr/>
          </p:nvCxnSpPr>
          <p:spPr>
            <a:xfrm flipV="1">
              <a:off x="1138142" y="3223974"/>
              <a:ext cx="0" cy="195453"/>
            </a:xfrm>
            <a:prstGeom prst="line">
              <a:avLst/>
            </a:prstGeom>
            <a:ln w="10160">
              <a:solidFill>
                <a:srgbClr val="8E8E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N13/notch-media/line/042"/>
            <p:cNvCxnSpPr/>
            <p:nvPr/>
          </p:nvCxnSpPr>
          <p:spPr>
            <a:xfrm flipV="1">
              <a:off x="1138142" y="3199542"/>
              <a:ext cx="171021" cy="24432"/>
            </a:xfrm>
            <a:prstGeom prst="line">
              <a:avLst/>
            </a:prstGeom>
            <a:ln w="10160">
              <a:solidFill>
                <a:srgbClr val="8E8E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N13/notch-media/line/043"/>
            <p:cNvCxnSpPr/>
            <p:nvPr/>
          </p:nvCxnSpPr>
          <p:spPr>
            <a:xfrm>
              <a:off x="1309163" y="3199542"/>
              <a:ext cx="0" cy="195453"/>
            </a:xfrm>
            <a:prstGeom prst="line">
              <a:avLst/>
            </a:prstGeom>
            <a:ln w="10160">
              <a:solidFill>
                <a:srgbClr val="8E8E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N13/notch-media/ellipse/044"/>
            <p:cNvSpPr/>
            <p:nvPr/>
          </p:nvSpPr>
          <p:spPr>
            <a:xfrm>
              <a:off x="1064847" y="3382779"/>
              <a:ext cx="85510" cy="73294"/>
            </a:xfrm>
            <a:prstGeom prst="ellipse">
              <a:avLst/>
            </a:prstGeom>
            <a:solidFill>
              <a:srgbClr val="8E8E9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N13/notch-media/ellipse/045"/>
            <p:cNvSpPr/>
            <p:nvPr/>
          </p:nvSpPr>
          <p:spPr>
            <a:xfrm>
              <a:off x="1235868" y="3358348"/>
              <a:ext cx="85510" cy="73294"/>
            </a:xfrm>
            <a:prstGeom prst="ellipse">
              <a:avLst/>
            </a:prstGeom>
            <a:solidFill>
              <a:srgbClr val="8E8E9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N13/notch-media/text/046"/>
            <p:cNvSpPr txBox="1"/>
            <p:nvPr/>
          </p:nvSpPr>
          <p:spPr>
            <a:xfrm>
              <a:off x="1797796" y="2881931"/>
              <a:ext cx="6278927" cy="2443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13" b="1" i="0">
                  <a:solidFill>
                    <a:srgbClr val="F5F5F7"/>
                  </a:solidFill>
                  <a:latin typeface="Arial"/>
                </a:rPr>
                <a:t>Nothing playing</a:t>
              </a:r>
            </a:p>
          </p:txBody>
        </p:sp>
        <p:sp>
          <p:nvSpPr>
            <p:cNvPr id="58" name="N13/notch-media/text/047"/>
            <p:cNvSpPr txBox="1"/>
            <p:nvPr/>
          </p:nvSpPr>
          <p:spPr>
            <a:xfrm>
              <a:off x="1797796" y="3150679"/>
              <a:ext cx="6278927" cy="2198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98989D"/>
                  </a:solidFill>
                  <a:latin typeface="Arial"/>
                </a:rPr>
                <a:t>Start a song in an MPRIS-compatible player</a:t>
              </a:r>
            </a:p>
          </p:txBody>
        </p:sp>
        <p:sp>
          <p:nvSpPr>
            <p:cNvPr id="59" name="N13/notch-media/text/048"/>
            <p:cNvSpPr txBox="1"/>
            <p:nvPr/>
          </p:nvSpPr>
          <p:spPr>
            <a:xfrm>
              <a:off x="1797796" y="3370564"/>
              <a:ext cx="6278927" cy="2198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98989D"/>
                  </a:solidFill>
                  <a:latin typeface="Arial"/>
                </a:rPr>
                <a:t/>
              </a:r>
            </a:p>
          </p:txBody>
        </p:sp>
        <p:sp>
          <p:nvSpPr>
            <p:cNvPr id="60" name="N13/notch-media/button-No media player/049"/>
            <p:cNvSpPr/>
            <p:nvPr/>
          </p:nvSpPr>
          <p:spPr>
            <a:xfrm>
              <a:off x="1797796" y="3614880"/>
              <a:ext cx="2076688" cy="317611"/>
            </a:xfrm>
            <a:prstGeom prst="roundRect">
              <a:avLst>
                <a:gd name="adj" fmla="val 38461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N13/notch-media/rect/050"/>
            <p:cNvSpPr/>
            <p:nvPr/>
          </p:nvSpPr>
          <p:spPr>
            <a:xfrm>
              <a:off x="1956601" y="3737038"/>
              <a:ext cx="122158" cy="97726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6363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2" name="N13/notch-media/line/051"/>
            <p:cNvCxnSpPr/>
            <p:nvPr/>
          </p:nvCxnSpPr>
          <p:spPr>
            <a:xfrm>
              <a:off x="1993249" y="3700391"/>
              <a:ext cx="85510" cy="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N13/notch-media/line/052"/>
            <p:cNvCxnSpPr/>
            <p:nvPr/>
          </p:nvCxnSpPr>
          <p:spPr>
            <a:xfrm>
              <a:off x="2078759" y="3700391"/>
              <a:ext cx="0" cy="8551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N13/notch-media/text/053"/>
            <p:cNvSpPr txBox="1"/>
            <p:nvPr/>
          </p:nvSpPr>
          <p:spPr>
            <a:xfrm>
              <a:off x="2188702" y="3614880"/>
              <a:ext cx="1661350" cy="31761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636366"/>
                  </a:solidFill>
                  <a:latin typeface="Arial"/>
                </a:rPr>
                <a:t>No media player</a:t>
              </a:r>
            </a:p>
          </p:txBody>
        </p:sp>
        <p:sp>
          <p:nvSpPr>
            <p:cNvPr id="65" name="N13/notch-media/text/054"/>
            <p:cNvSpPr txBox="1"/>
            <p:nvPr/>
          </p:nvSpPr>
          <p:spPr>
            <a:xfrm>
              <a:off x="747236" y="3883628"/>
              <a:ext cx="439769" cy="1954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98989D"/>
                  </a:solidFill>
                  <a:latin typeface="Arial"/>
                </a:rPr>
                <a:t>0:00</a:t>
              </a:r>
            </a:p>
          </p:txBody>
        </p:sp>
        <p:sp>
          <p:nvSpPr>
            <p:cNvPr id="66" name="N13/notch-media/rect/055"/>
            <p:cNvSpPr/>
            <p:nvPr/>
          </p:nvSpPr>
          <p:spPr>
            <a:xfrm>
              <a:off x="1260300" y="3956923"/>
              <a:ext cx="6303359" cy="48863"/>
            </a:xfrm>
            <a:prstGeom prst="roundRect">
              <a:avLst>
                <a:gd name="adj" fmla="val 50000"/>
              </a:avLst>
            </a:prstGeom>
            <a:solidFill>
              <a:srgbClr val="3A3A3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N13/notch-media/rect/056"/>
            <p:cNvSpPr/>
            <p:nvPr/>
          </p:nvSpPr>
          <p:spPr>
            <a:xfrm>
              <a:off x="1260300" y="3956923"/>
              <a:ext cx="0" cy="48863"/>
            </a:xfrm>
            <a:prstGeom prst="roundRect">
              <a:avLst/>
            </a:prstGeom>
            <a:solidFill>
              <a:srgbClr val="63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N13/notch-media/ellipse/057"/>
            <p:cNvSpPr/>
            <p:nvPr/>
          </p:nvSpPr>
          <p:spPr>
            <a:xfrm>
              <a:off x="1187005" y="3908059"/>
              <a:ext cx="146589" cy="146589"/>
            </a:xfrm>
            <a:prstGeom prst="ellipse">
              <a:avLst/>
            </a:prstGeom>
            <a:solidFill>
              <a:srgbClr val="63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N13/notch-media/text/058"/>
            <p:cNvSpPr txBox="1"/>
            <p:nvPr/>
          </p:nvSpPr>
          <p:spPr>
            <a:xfrm>
              <a:off x="7636954" y="3883628"/>
              <a:ext cx="439769" cy="1954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98989D"/>
                  </a:solidFill>
                  <a:latin typeface="Arial"/>
                </a:rPr>
                <a:t>0:00</a:t>
              </a:r>
            </a:p>
          </p:txBody>
        </p:sp>
        <p:sp>
          <p:nvSpPr>
            <p:cNvPr id="70" name="N13/notch-media/button-prev/059"/>
            <p:cNvSpPr/>
            <p:nvPr/>
          </p:nvSpPr>
          <p:spPr>
            <a:xfrm>
              <a:off x="3373635" y="4152376"/>
              <a:ext cx="390906" cy="390906"/>
            </a:xfrm>
            <a:prstGeom prst="roundRect">
              <a:avLst>
                <a:gd name="adj" fmla="val 31250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N13/notch-media/poly/060"/>
            <p:cNvSpPr/>
            <p:nvPr/>
          </p:nvSpPr>
          <p:spPr>
            <a:xfrm>
              <a:off x="3532441" y="4286750"/>
              <a:ext cx="73295" cy="122158"/>
            </a:xfrm>
            <a:custGeom>
              <a:avLst/>
              <a:gdLst/>
              <a:ahLst/>
              <a:cxnLst/>
              <a:rect l="l" t="t" r="r" b="b"/>
              <a:pathLst>
                <a:path w="73295" h="122158">
                  <a:moveTo>
                    <a:pt x="73295" y="0"/>
                  </a:moveTo>
                  <a:lnTo>
                    <a:pt x="0" y="61079"/>
                  </a:lnTo>
                  <a:lnTo>
                    <a:pt x="73295" y="122158"/>
                  </a:lnTo>
                  <a:close/>
                </a:path>
              </a:pathLst>
            </a:custGeom>
            <a:solidFill>
              <a:srgbClr val="63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N13/notch-media/rect/061"/>
            <p:cNvSpPr/>
            <p:nvPr/>
          </p:nvSpPr>
          <p:spPr>
            <a:xfrm>
              <a:off x="3508009" y="4292857"/>
              <a:ext cx="19545" cy="109942"/>
            </a:xfrm>
            <a:prstGeom prst="rect">
              <a:avLst/>
            </a:prstGeom>
            <a:solidFill>
              <a:srgbClr val="63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N13/notch-media/button-play/062"/>
            <p:cNvSpPr/>
            <p:nvPr/>
          </p:nvSpPr>
          <p:spPr>
            <a:xfrm>
              <a:off x="3886700" y="4152376"/>
              <a:ext cx="537495" cy="390906"/>
            </a:xfrm>
            <a:prstGeom prst="roundRect">
              <a:avLst>
                <a:gd name="adj" fmla="val 50000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N13/notch-media/poly/063"/>
            <p:cNvSpPr/>
            <p:nvPr/>
          </p:nvSpPr>
          <p:spPr>
            <a:xfrm>
              <a:off x="4118800" y="4286750"/>
              <a:ext cx="97727" cy="122158"/>
            </a:xfrm>
            <a:custGeom>
              <a:avLst/>
              <a:gdLst/>
              <a:ahLst/>
              <a:cxnLst/>
              <a:rect l="l" t="t" r="r" b="b"/>
              <a:pathLst>
                <a:path w="97727" h="122158">
                  <a:moveTo>
                    <a:pt x="0" y="0"/>
                  </a:moveTo>
                  <a:lnTo>
                    <a:pt x="97727" y="61079"/>
                  </a:lnTo>
                  <a:lnTo>
                    <a:pt x="0" y="122158"/>
                  </a:lnTo>
                  <a:close/>
                </a:path>
              </a:pathLst>
            </a:custGeom>
            <a:solidFill>
              <a:srgbClr val="63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N13/notch-media/button-next/064"/>
            <p:cNvSpPr/>
            <p:nvPr/>
          </p:nvSpPr>
          <p:spPr>
            <a:xfrm>
              <a:off x="4546353" y="4152376"/>
              <a:ext cx="390906" cy="390906"/>
            </a:xfrm>
            <a:prstGeom prst="roundRect">
              <a:avLst>
                <a:gd name="adj" fmla="val 31250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N13/notch-media/poly/065"/>
            <p:cNvSpPr/>
            <p:nvPr/>
          </p:nvSpPr>
          <p:spPr>
            <a:xfrm>
              <a:off x="4705159" y="4286750"/>
              <a:ext cx="73295" cy="122158"/>
            </a:xfrm>
            <a:custGeom>
              <a:avLst/>
              <a:gdLst/>
              <a:ahLst/>
              <a:cxnLst/>
              <a:rect l="l" t="t" r="r" b="b"/>
              <a:pathLst>
                <a:path w="73295" h="122158">
                  <a:moveTo>
                    <a:pt x="0" y="0"/>
                  </a:moveTo>
                  <a:lnTo>
                    <a:pt x="73295" y="61079"/>
                  </a:lnTo>
                  <a:lnTo>
                    <a:pt x="0" y="122158"/>
                  </a:lnTo>
                  <a:close/>
                </a:path>
              </a:pathLst>
            </a:custGeom>
            <a:solidFill>
              <a:srgbClr val="63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N13/notch-media/rect/066"/>
            <p:cNvSpPr/>
            <p:nvPr/>
          </p:nvSpPr>
          <p:spPr>
            <a:xfrm>
              <a:off x="4783340" y="4292857"/>
              <a:ext cx="19545" cy="109942"/>
            </a:xfrm>
            <a:prstGeom prst="rect">
              <a:avLst/>
            </a:prstGeom>
            <a:solidFill>
              <a:srgbClr val="63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N13/notch-media/button-raise/067"/>
            <p:cNvSpPr/>
            <p:nvPr/>
          </p:nvSpPr>
          <p:spPr>
            <a:xfrm>
              <a:off x="5059418" y="4152376"/>
              <a:ext cx="390906" cy="390906"/>
            </a:xfrm>
            <a:prstGeom prst="roundRect">
              <a:avLst>
                <a:gd name="adj" fmla="val 31250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N13/notch-media/rect/068"/>
            <p:cNvSpPr/>
            <p:nvPr/>
          </p:nvSpPr>
          <p:spPr>
            <a:xfrm>
              <a:off x="5193792" y="4311181"/>
              <a:ext cx="122158" cy="97726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6363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0" name="N13/notch-media/line/069"/>
            <p:cNvCxnSpPr/>
            <p:nvPr/>
          </p:nvCxnSpPr>
          <p:spPr>
            <a:xfrm>
              <a:off x="5230439" y="4274534"/>
              <a:ext cx="85511" cy="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N13/notch-media/line/070"/>
            <p:cNvCxnSpPr/>
            <p:nvPr/>
          </p:nvCxnSpPr>
          <p:spPr>
            <a:xfrm>
              <a:off x="5315950" y="4274534"/>
              <a:ext cx="0" cy="8551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N13/notch-media/text/071"/>
            <p:cNvSpPr txBox="1"/>
            <p:nvPr/>
          </p:nvSpPr>
          <p:spPr>
            <a:xfrm>
              <a:off x="747236" y="4616577"/>
              <a:ext cx="1221581" cy="2198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98989D"/>
                  </a:solidFill>
                  <a:latin typeface="Arial"/>
                </a:rPr>
                <a:t>Player volume</a:t>
              </a:r>
            </a:p>
          </p:txBody>
        </p:sp>
        <p:sp>
          <p:nvSpPr>
            <p:cNvPr id="83" name="N13/notch-media/rect/072"/>
            <p:cNvSpPr/>
            <p:nvPr/>
          </p:nvSpPr>
          <p:spPr>
            <a:xfrm>
              <a:off x="2066543" y="4702087"/>
              <a:ext cx="5008483" cy="48863"/>
            </a:xfrm>
            <a:prstGeom prst="roundRect">
              <a:avLst>
                <a:gd name="adj" fmla="val 50000"/>
              </a:avLst>
            </a:prstGeom>
            <a:solidFill>
              <a:srgbClr val="3A3A3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N13/notch-media/rect/073"/>
            <p:cNvSpPr/>
            <p:nvPr/>
          </p:nvSpPr>
          <p:spPr>
            <a:xfrm>
              <a:off x="2066543" y="4702087"/>
              <a:ext cx="0" cy="48863"/>
            </a:xfrm>
            <a:prstGeom prst="roundRect">
              <a:avLst/>
            </a:prstGeom>
            <a:solidFill>
              <a:srgbClr val="63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N13/notch-media/ellipse/074"/>
            <p:cNvSpPr/>
            <p:nvPr/>
          </p:nvSpPr>
          <p:spPr>
            <a:xfrm>
              <a:off x="1993249" y="4653224"/>
              <a:ext cx="146589" cy="146589"/>
            </a:xfrm>
            <a:prstGeom prst="ellipse">
              <a:avLst/>
            </a:prstGeom>
            <a:solidFill>
              <a:srgbClr val="63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N13/notch-media/text/075"/>
            <p:cNvSpPr txBox="1"/>
            <p:nvPr/>
          </p:nvSpPr>
          <p:spPr>
            <a:xfrm>
              <a:off x="7539228" y="4616577"/>
              <a:ext cx="537495" cy="2198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98989D"/>
                  </a:solidFill>
                  <a:latin typeface="Arial"/>
                </a:rPr>
                <a:t>—</a:t>
              </a:r>
            </a:p>
          </p:txBody>
        </p:sp>
        <p:sp>
          <p:nvSpPr>
            <p:cNvPr id="87" name="N13/notch-media/text/076"/>
            <p:cNvSpPr txBox="1"/>
            <p:nvPr/>
          </p:nvSpPr>
          <p:spPr>
            <a:xfrm>
              <a:off x="747236" y="4958619"/>
              <a:ext cx="1221581" cy="2198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98989D"/>
                  </a:solidFill>
                  <a:latin typeface="Arial"/>
                </a:rPr>
                <a:t>System output</a:t>
              </a:r>
            </a:p>
          </p:txBody>
        </p:sp>
        <p:sp>
          <p:nvSpPr>
            <p:cNvPr id="88" name="N13/notch-media/rect/077"/>
            <p:cNvSpPr/>
            <p:nvPr/>
          </p:nvSpPr>
          <p:spPr>
            <a:xfrm>
              <a:off x="2066543" y="5044130"/>
              <a:ext cx="5008483" cy="48863"/>
            </a:xfrm>
            <a:prstGeom prst="roundRect">
              <a:avLst>
                <a:gd name="adj" fmla="val 50000"/>
              </a:avLst>
            </a:prstGeom>
            <a:solidFill>
              <a:srgbClr val="3A3A3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N13/notch-media/rect/078"/>
            <p:cNvSpPr/>
            <p:nvPr/>
          </p:nvSpPr>
          <p:spPr>
            <a:xfrm>
              <a:off x="2066543" y="5044130"/>
              <a:ext cx="3255514" cy="48863"/>
            </a:xfrm>
            <a:prstGeom prst="roundRect">
              <a:avLst>
                <a:gd name="adj" fmla="val 50000"/>
              </a:avLst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N13/notch-media/ellipse/079"/>
            <p:cNvSpPr/>
            <p:nvPr/>
          </p:nvSpPr>
          <p:spPr>
            <a:xfrm>
              <a:off x="5248763" y="4995267"/>
              <a:ext cx="146589" cy="146589"/>
            </a:xfrm>
            <a:prstGeom prst="ellipse">
              <a:avLst/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N13/notch-media/button-volume/080"/>
            <p:cNvSpPr/>
            <p:nvPr/>
          </p:nvSpPr>
          <p:spPr>
            <a:xfrm>
              <a:off x="7685817" y="4897540"/>
              <a:ext cx="390906" cy="342042"/>
            </a:xfrm>
            <a:prstGeom prst="roundRect">
              <a:avLst>
                <a:gd name="adj" fmla="val 35714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N13/notch-media/poly/081"/>
            <p:cNvSpPr/>
            <p:nvPr/>
          </p:nvSpPr>
          <p:spPr>
            <a:xfrm>
              <a:off x="7820191" y="5007483"/>
              <a:ext cx="73295" cy="122158"/>
            </a:xfrm>
            <a:custGeom>
              <a:avLst/>
              <a:gdLst/>
              <a:ahLst/>
              <a:cxnLst/>
              <a:rect l="l" t="t" r="r" b="b"/>
              <a:pathLst>
                <a:path w="73295" h="122158">
                  <a:moveTo>
                    <a:pt x="0" y="36647"/>
                  </a:moveTo>
                  <a:lnTo>
                    <a:pt x="36648" y="36647"/>
                  </a:lnTo>
                  <a:lnTo>
                    <a:pt x="73295" y="0"/>
                  </a:lnTo>
                  <a:lnTo>
                    <a:pt x="73295" y="122158"/>
                  </a:lnTo>
                  <a:lnTo>
                    <a:pt x="36648" y="85510"/>
                  </a:lnTo>
                  <a:lnTo>
                    <a:pt x="0" y="85510"/>
                  </a:lnTo>
                  <a:close/>
                </a:path>
              </a:pathLst>
            </a:cu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3" name="N13/notch-media/line/082"/>
            <p:cNvCxnSpPr/>
            <p:nvPr/>
          </p:nvCxnSpPr>
          <p:spPr>
            <a:xfrm>
              <a:off x="7917918" y="5031914"/>
              <a:ext cx="24431" cy="3664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N13/notch-media/line/083"/>
            <p:cNvCxnSpPr/>
            <p:nvPr/>
          </p:nvCxnSpPr>
          <p:spPr>
            <a:xfrm flipH="1">
              <a:off x="7917918" y="5068562"/>
              <a:ext cx="24431" cy="3664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N13/text/010"/>
          <p:cNvSpPr txBox="1"/>
          <p:nvPr/>
        </p:nvSpPr>
        <p:spPr>
          <a:xfrm>
            <a:off x="502919" y="5599699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Fallback symbolic art · 'Nothing playing' · 'No media player' · seek/transport disabled.</a:t>
            </a:r>
          </a:p>
        </p:txBody>
      </p:sp>
      <p:sp>
        <p:nvSpPr>
          <p:cNvPr id="96" name="N13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N13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98" name="N13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N13/text/014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Disabled color #636366</a:t>
            </a:r>
          </a:p>
        </p:txBody>
      </p:sp>
      <p:sp>
        <p:nvSpPr>
          <p:cNvPr id="100" name="N13/ellipse/015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N13/text/016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Disabled fill #1C1C1E</a:t>
            </a:r>
          </a:p>
        </p:txBody>
      </p:sp>
      <p:sp>
        <p:nvSpPr>
          <p:cNvPr id="102" name="N13/ellipse/017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N13/text/018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System output can still work</a:t>
            </a:r>
          </a:p>
        </p:txBody>
      </p:sp>
      <p:sp>
        <p:nvSpPr>
          <p:cNvPr id="104" name="N13/ellipse/019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N13/text/020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No hidden controls when empty</a:t>
            </a:r>
          </a:p>
        </p:txBody>
      </p:sp>
      <p:cxnSp>
        <p:nvCxnSpPr>
          <p:cNvPr id="106" name="N13/line/021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N13/text/022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108" name="N13/edit-box/023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N13/edit-note/024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Empty copy / disabled contrast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49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49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49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MUSIC PAGE</a:t>
            </a:r>
          </a:p>
        </p:txBody>
      </p:sp>
      <p:sp>
        <p:nvSpPr>
          <p:cNvPr id="5" name="N49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Music — paused, live stream, muted</a:t>
            </a:r>
          </a:p>
        </p:txBody>
      </p:sp>
      <p:sp>
        <p:nvSpPr>
          <p:cNvPr id="6" name="N49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Paused transport · disabled seek · system mute</a:t>
            </a:r>
          </a:p>
        </p:txBody>
      </p:sp>
      <p:cxnSp>
        <p:nvCxnSpPr>
          <p:cNvPr id="7" name="N49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49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49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N49</a:t>
            </a:r>
          </a:p>
        </p:txBody>
      </p:sp>
      <p:sp>
        <p:nvSpPr>
          <p:cNvPr id="10" name="N49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18</a:t>
            </a:r>
          </a:p>
        </p:txBody>
      </p:sp>
      <p:grpSp>
        <p:nvGrpSpPr>
          <p:cNvPr id="11" name="N49/notch-media"/>
          <p:cNvGrpSpPr/>
          <p:nvPr/>
        </p:nvGrpSpPr>
        <p:grpSpPr>
          <a:xfrm>
            <a:off x="640080" y="1783080"/>
            <a:ext cx="5600700" cy="3000375"/>
            <a:chOff x="640080" y="1783080"/>
            <a:chExt cx="5600700" cy="3000375"/>
          </a:xfrm>
        </p:grpSpPr>
        <p:sp>
          <p:nvSpPr>
            <p:cNvPr id="12" name="N49/notch-media/notch-surface-open/001"/>
            <p:cNvSpPr/>
            <p:nvPr/>
          </p:nvSpPr>
          <p:spPr>
            <a:xfrm>
              <a:off x="640080" y="1783080"/>
              <a:ext cx="5600700" cy="3000375"/>
            </a:xfrm>
            <a:custGeom>
              <a:avLst/>
              <a:gdLst/>
              <a:ahLst/>
              <a:cxnLst/>
              <a:rect l="l" t="t" r="r" b="b"/>
              <a:pathLst>
                <a:path w="5600700" h="3000375">
                  <a:moveTo>
                    <a:pt x="0" y="0"/>
                  </a:moveTo>
                  <a:lnTo>
                    <a:pt x="5600700" y="0"/>
                  </a:lnTo>
                  <a:lnTo>
                    <a:pt x="5574349" y="2969"/>
                  </a:lnTo>
                  <a:lnTo>
                    <a:pt x="5544286" y="11876"/>
                  </a:lnTo>
                  <a:lnTo>
                    <a:pt x="5512739" y="26722"/>
                  </a:lnTo>
                  <a:lnTo>
                    <a:pt x="5481935" y="47505"/>
                  </a:lnTo>
                  <a:lnTo>
                    <a:pt x="5454099" y="74228"/>
                  </a:lnTo>
                  <a:lnTo>
                    <a:pt x="5431460" y="106888"/>
                  </a:lnTo>
                  <a:lnTo>
                    <a:pt x="5416243" y="145486"/>
                  </a:lnTo>
                  <a:lnTo>
                    <a:pt x="5410676" y="190023"/>
                  </a:lnTo>
                  <a:lnTo>
                    <a:pt x="5406064" y="2807172"/>
                  </a:lnTo>
                  <a:lnTo>
                    <a:pt x="5392405" y="2852200"/>
                  </a:lnTo>
                  <a:lnTo>
                    <a:pt x="5370223" y="2893698"/>
                  </a:lnTo>
                  <a:lnTo>
                    <a:pt x="5340373" y="2930071"/>
                  </a:lnTo>
                  <a:lnTo>
                    <a:pt x="5303999" y="2959922"/>
                  </a:lnTo>
                  <a:lnTo>
                    <a:pt x="5262501" y="2982103"/>
                  </a:lnTo>
                  <a:lnTo>
                    <a:pt x="5217473" y="2995762"/>
                  </a:lnTo>
                  <a:lnTo>
                    <a:pt x="5170646" y="3000375"/>
                  </a:lnTo>
                  <a:lnTo>
                    <a:pt x="430053" y="3000375"/>
                  </a:lnTo>
                  <a:lnTo>
                    <a:pt x="383226" y="2995762"/>
                  </a:lnTo>
                  <a:lnTo>
                    <a:pt x="338198" y="2982103"/>
                  </a:lnTo>
                  <a:lnTo>
                    <a:pt x="296700" y="2959922"/>
                  </a:lnTo>
                  <a:lnTo>
                    <a:pt x="260326" y="2930071"/>
                  </a:lnTo>
                  <a:lnTo>
                    <a:pt x="230476" y="2893698"/>
                  </a:lnTo>
                  <a:lnTo>
                    <a:pt x="208294" y="2852200"/>
                  </a:lnTo>
                  <a:lnTo>
                    <a:pt x="194635" y="2807172"/>
                  </a:lnTo>
                  <a:lnTo>
                    <a:pt x="190023" y="2760345"/>
                  </a:lnTo>
                  <a:lnTo>
                    <a:pt x="190023" y="190023"/>
                  </a:lnTo>
                  <a:lnTo>
                    <a:pt x="184456" y="145486"/>
                  </a:lnTo>
                  <a:lnTo>
                    <a:pt x="169239" y="106888"/>
                  </a:lnTo>
                  <a:lnTo>
                    <a:pt x="146600" y="74228"/>
                  </a:lnTo>
                  <a:lnTo>
                    <a:pt x="118764" y="47505"/>
                  </a:lnTo>
                  <a:lnTo>
                    <a:pt x="87960" y="26722"/>
                  </a:lnTo>
                  <a:lnTo>
                    <a:pt x="56413" y="11876"/>
                  </a:lnTo>
                  <a:lnTo>
                    <a:pt x="26350" y="29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49/notch-media/button-home/002"/>
            <p:cNvSpPr/>
            <p:nvPr/>
          </p:nvSpPr>
          <p:spPr>
            <a:xfrm>
              <a:off x="840105" y="2253138"/>
              <a:ext cx="320040" cy="30003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49/notch-media/poly/003"/>
            <p:cNvSpPr/>
            <p:nvPr/>
          </p:nvSpPr>
          <p:spPr>
            <a:xfrm>
              <a:off x="940117" y="2343150"/>
              <a:ext cx="120015" cy="120015"/>
            </a:xfrm>
            <a:custGeom>
              <a:avLst/>
              <a:gdLst/>
              <a:ahLst/>
              <a:cxnLst/>
              <a:rect l="l" t="t" r="r" b="b"/>
              <a:pathLst>
                <a:path w="120015" h="120015">
                  <a:moveTo>
                    <a:pt x="60007" y="0"/>
                  </a:moveTo>
                  <a:lnTo>
                    <a:pt x="0" y="50006"/>
                  </a:lnTo>
                  <a:lnTo>
                    <a:pt x="20002" y="50006"/>
                  </a:lnTo>
                  <a:lnTo>
                    <a:pt x="20002" y="120015"/>
                  </a:lnTo>
                  <a:lnTo>
                    <a:pt x="50006" y="120015"/>
                  </a:lnTo>
                  <a:lnTo>
                    <a:pt x="50006" y="80010"/>
                  </a:lnTo>
                  <a:lnTo>
                    <a:pt x="70009" y="80010"/>
                  </a:lnTo>
                  <a:lnTo>
                    <a:pt x="70009" y="120015"/>
                  </a:lnTo>
                  <a:lnTo>
                    <a:pt x="100013" y="120015"/>
                  </a:lnTo>
                  <a:lnTo>
                    <a:pt x="100013" y="50006"/>
                  </a:lnTo>
                  <a:lnTo>
                    <a:pt x="120015" y="50006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49/notch-media/button-Music/004"/>
            <p:cNvSpPr/>
            <p:nvPr/>
          </p:nvSpPr>
          <p:spPr>
            <a:xfrm>
              <a:off x="1200150" y="2253138"/>
              <a:ext cx="966120" cy="300037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N49/notch-media/line/005"/>
            <p:cNvCxnSpPr/>
            <p:nvPr/>
          </p:nvCxnSpPr>
          <p:spPr>
            <a:xfrm flipV="1">
              <a:off x="1423177" y="2363152"/>
              <a:ext cx="0" cy="8001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N49/notch-media/line/006"/>
            <p:cNvCxnSpPr/>
            <p:nvPr/>
          </p:nvCxnSpPr>
          <p:spPr>
            <a:xfrm flipV="1">
              <a:off x="1423177" y="2353151"/>
              <a:ext cx="70009" cy="10001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49/notch-media/line/007"/>
            <p:cNvCxnSpPr/>
            <p:nvPr/>
          </p:nvCxnSpPr>
          <p:spPr>
            <a:xfrm>
              <a:off x="1493186" y="2353151"/>
              <a:ext cx="0" cy="8001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N49/notch-media/ellipse/008"/>
            <p:cNvSpPr/>
            <p:nvPr/>
          </p:nvSpPr>
          <p:spPr>
            <a:xfrm>
              <a:off x="1393174" y="2428160"/>
              <a:ext cx="35004" cy="3000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49/notch-media/ellipse/009"/>
            <p:cNvSpPr/>
            <p:nvPr/>
          </p:nvSpPr>
          <p:spPr>
            <a:xfrm>
              <a:off x="1463182" y="2418159"/>
              <a:ext cx="35004" cy="3000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49/notch-media/text/010"/>
            <p:cNvSpPr txBox="1"/>
            <p:nvPr/>
          </p:nvSpPr>
          <p:spPr>
            <a:xfrm>
              <a:off x="1583197" y="2253138"/>
              <a:ext cx="563070" cy="3000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2" b="1" i="0">
                  <a:solidFill>
                    <a:srgbClr val="FFFFFF"/>
                  </a:solidFill>
                  <a:latin typeface="Arial"/>
                </a:rPr>
                <a:t>Music</a:t>
              </a:r>
            </a:p>
          </p:txBody>
        </p:sp>
        <p:sp>
          <p:nvSpPr>
            <p:cNvPr id="22" name="N49/notch-media/button-bell/011"/>
            <p:cNvSpPr/>
            <p:nvPr/>
          </p:nvSpPr>
          <p:spPr>
            <a:xfrm>
              <a:off x="2206275" y="2253138"/>
              <a:ext cx="320040" cy="30003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N49/notch-media/poly/012"/>
            <p:cNvSpPr/>
            <p:nvPr/>
          </p:nvSpPr>
          <p:spPr>
            <a:xfrm>
              <a:off x="2316289" y="2343150"/>
              <a:ext cx="100013" cy="90011"/>
            </a:xfrm>
            <a:custGeom>
              <a:avLst/>
              <a:gdLst/>
              <a:ahLst/>
              <a:cxnLst/>
              <a:rect l="l" t="t" r="r" b="b"/>
              <a:pathLst>
                <a:path w="100013" h="90011">
                  <a:moveTo>
                    <a:pt x="50006" y="0"/>
                  </a:moveTo>
                  <a:lnTo>
                    <a:pt x="20003" y="20002"/>
                  </a:lnTo>
                  <a:lnTo>
                    <a:pt x="10001" y="60007"/>
                  </a:lnTo>
                  <a:lnTo>
                    <a:pt x="0" y="90011"/>
                  </a:lnTo>
                  <a:lnTo>
                    <a:pt x="100013" y="90011"/>
                  </a:lnTo>
                  <a:lnTo>
                    <a:pt x="90011" y="60007"/>
                  </a:lnTo>
                  <a:lnTo>
                    <a:pt x="80010" y="20002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4" name="N49/notch-media/line/013"/>
            <p:cNvCxnSpPr/>
            <p:nvPr/>
          </p:nvCxnSpPr>
          <p:spPr>
            <a:xfrm>
              <a:off x="2346293" y="2453163"/>
              <a:ext cx="4000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N49/notch-media/ellipse/014"/>
            <p:cNvSpPr/>
            <p:nvPr/>
          </p:nvSpPr>
          <p:spPr>
            <a:xfrm>
              <a:off x="2356294" y="2333148"/>
              <a:ext cx="20002" cy="20002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N49/notch-media/button-chart/015"/>
            <p:cNvSpPr/>
            <p:nvPr/>
          </p:nvSpPr>
          <p:spPr>
            <a:xfrm>
              <a:off x="2566320" y="2253138"/>
              <a:ext cx="320040" cy="30003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N49/notch-media/line/016"/>
            <p:cNvCxnSpPr/>
            <p:nvPr/>
          </p:nvCxnSpPr>
          <p:spPr>
            <a:xfrm>
              <a:off x="2666333" y="2463165"/>
              <a:ext cx="12001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49/notch-media/line/017"/>
            <p:cNvCxnSpPr/>
            <p:nvPr/>
          </p:nvCxnSpPr>
          <p:spPr>
            <a:xfrm flipV="1">
              <a:off x="2676334" y="2393156"/>
              <a:ext cx="30004" cy="4000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49/notch-media/line/018"/>
            <p:cNvCxnSpPr/>
            <p:nvPr/>
          </p:nvCxnSpPr>
          <p:spPr>
            <a:xfrm>
              <a:off x="2706338" y="2393156"/>
              <a:ext cx="30004" cy="2000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N49/notch-media/line/019"/>
            <p:cNvCxnSpPr/>
            <p:nvPr/>
          </p:nvCxnSpPr>
          <p:spPr>
            <a:xfrm flipV="1">
              <a:off x="2736342" y="2353151"/>
              <a:ext cx="40005" cy="6000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N49/notch-media/button-folder/020"/>
            <p:cNvSpPr/>
            <p:nvPr/>
          </p:nvSpPr>
          <p:spPr>
            <a:xfrm>
              <a:off x="2926365" y="2253138"/>
              <a:ext cx="320040" cy="30003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49/notch-media/poly/021"/>
            <p:cNvSpPr/>
            <p:nvPr/>
          </p:nvSpPr>
          <p:spPr>
            <a:xfrm>
              <a:off x="3026378" y="2373153"/>
              <a:ext cx="120015" cy="80010"/>
            </a:xfrm>
            <a:custGeom>
              <a:avLst/>
              <a:gdLst/>
              <a:ahLst/>
              <a:cxnLst/>
              <a:rect l="l" t="t" r="r" b="b"/>
              <a:pathLst>
                <a:path w="120015" h="80010">
                  <a:moveTo>
                    <a:pt x="0" y="0"/>
                  </a:moveTo>
                  <a:lnTo>
                    <a:pt x="40005" y="0"/>
                  </a:lnTo>
                  <a:lnTo>
                    <a:pt x="55007" y="20003"/>
                  </a:lnTo>
                  <a:lnTo>
                    <a:pt x="120015" y="20003"/>
                  </a:lnTo>
                  <a:lnTo>
                    <a:pt x="120015" y="80010"/>
                  </a:lnTo>
                  <a:lnTo>
                    <a:pt x="0" y="80010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49/notch-media/button-clipboard/022"/>
            <p:cNvSpPr/>
            <p:nvPr/>
          </p:nvSpPr>
          <p:spPr>
            <a:xfrm>
              <a:off x="3286410" y="2253138"/>
              <a:ext cx="320040" cy="30003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49/notch-media/rect/023"/>
            <p:cNvSpPr/>
            <p:nvPr/>
          </p:nvSpPr>
          <p:spPr>
            <a:xfrm>
              <a:off x="3406425" y="2353151"/>
              <a:ext cx="80010" cy="110013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49/notch-media/rect/024"/>
            <p:cNvSpPr/>
            <p:nvPr/>
          </p:nvSpPr>
          <p:spPr>
            <a:xfrm>
              <a:off x="3426428" y="2338149"/>
              <a:ext cx="40005" cy="25003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N49/notch-media/line/025"/>
            <p:cNvCxnSpPr/>
            <p:nvPr/>
          </p:nvCxnSpPr>
          <p:spPr>
            <a:xfrm>
              <a:off x="3426428" y="2393156"/>
              <a:ext cx="4000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N49/notch-media/line/026"/>
            <p:cNvCxnSpPr/>
            <p:nvPr/>
          </p:nvCxnSpPr>
          <p:spPr>
            <a:xfrm>
              <a:off x="3426428" y="2418159"/>
              <a:ext cx="4000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N49/notch-media/button-gear/027"/>
            <p:cNvSpPr/>
            <p:nvPr/>
          </p:nvSpPr>
          <p:spPr>
            <a:xfrm>
              <a:off x="5340667" y="2243137"/>
              <a:ext cx="320040" cy="320040"/>
            </a:xfrm>
            <a:prstGeom prst="roundRect">
              <a:avLst>
                <a:gd name="adj" fmla="val 3124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49/notch-media/ellipse/028"/>
            <p:cNvSpPr/>
            <p:nvPr/>
          </p:nvSpPr>
          <p:spPr>
            <a:xfrm>
              <a:off x="5470683" y="2373153"/>
              <a:ext cx="60007" cy="60007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49/notch-media/line/029"/>
            <p:cNvCxnSpPr/>
            <p:nvPr/>
          </p:nvCxnSpPr>
          <p:spPr>
            <a:xfrm>
              <a:off x="5550693" y="2403157"/>
              <a:ext cx="2000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49/notch-media/line/030"/>
            <p:cNvCxnSpPr/>
            <p:nvPr/>
          </p:nvCxnSpPr>
          <p:spPr>
            <a:xfrm>
              <a:off x="5536047" y="2438517"/>
              <a:ext cx="14144" cy="1414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49/notch-media/line/031"/>
            <p:cNvCxnSpPr/>
            <p:nvPr/>
          </p:nvCxnSpPr>
          <p:spPr>
            <a:xfrm>
              <a:off x="5500687" y="2453163"/>
              <a:ext cx="0" cy="2000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49/notch-media/line/032"/>
            <p:cNvCxnSpPr/>
            <p:nvPr/>
          </p:nvCxnSpPr>
          <p:spPr>
            <a:xfrm flipH="1">
              <a:off x="5451183" y="2438517"/>
              <a:ext cx="14144" cy="1414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49/notch-media/line/033"/>
            <p:cNvCxnSpPr/>
            <p:nvPr/>
          </p:nvCxnSpPr>
          <p:spPr>
            <a:xfrm flipH="1">
              <a:off x="5430678" y="2403157"/>
              <a:ext cx="2000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49/notch-media/line/034"/>
            <p:cNvCxnSpPr/>
            <p:nvPr/>
          </p:nvCxnSpPr>
          <p:spPr>
            <a:xfrm flipH="1" flipV="1">
              <a:off x="5451183" y="2353653"/>
              <a:ext cx="14144" cy="1414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49/notch-media/line/035"/>
            <p:cNvCxnSpPr/>
            <p:nvPr/>
          </p:nvCxnSpPr>
          <p:spPr>
            <a:xfrm flipV="1">
              <a:off x="5500687" y="2333148"/>
              <a:ext cx="0" cy="2000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49/notch-media/line/036"/>
            <p:cNvCxnSpPr/>
            <p:nvPr/>
          </p:nvCxnSpPr>
          <p:spPr>
            <a:xfrm flipV="1">
              <a:off x="5536047" y="2353653"/>
              <a:ext cx="14144" cy="1414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49/notch-media/button-close/037"/>
            <p:cNvSpPr/>
            <p:nvPr/>
          </p:nvSpPr>
          <p:spPr>
            <a:xfrm>
              <a:off x="5720715" y="2243137"/>
              <a:ext cx="320040" cy="320040"/>
            </a:xfrm>
            <a:prstGeom prst="roundRect">
              <a:avLst>
                <a:gd name="adj" fmla="val 3124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49/notch-media/line/038"/>
            <p:cNvCxnSpPr/>
            <p:nvPr/>
          </p:nvCxnSpPr>
          <p:spPr>
            <a:xfrm>
              <a:off x="5840730" y="2363152"/>
              <a:ext cx="80010" cy="8001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49/notch-media/line/039"/>
            <p:cNvCxnSpPr/>
            <p:nvPr/>
          </p:nvCxnSpPr>
          <p:spPr>
            <a:xfrm flipH="1">
              <a:off x="5840730" y="2363152"/>
              <a:ext cx="80010" cy="8001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49/notch-media/album-art/040"/>
            <p:cNvSpPr/>
            <p:nvPr/>
          </p:nvSpPr>
          <p:spPr>
            <a:xfrm>
              <a:off x="840105" y="2623185"/>
              <a:ext cx="720090" cy="720090"/>
            </a:xfrm>
            <a:prstGeom prst="roundRect">
              <a:avLst>
                <a:gd name="adj" fmla="val 19444"/>
              </a:avLst>
            </a:prstGeom>
            <a:solidFill>
              <a:srgbClr val="2A1B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N49/notch-media/ellipse/041"/>
            <p:cNvSpPr/>
            <p:nvPr/>
          </p:nvSpPr>
          <p:spPr>
            <a:xfrm>
              <a:off x="912114" y="2709595"/>
              <a:ext cx="396049" cy="396049"/>
            </a:xfrm>
            <a:prstGeom prst="ellipse">
              <a:avLst/>
            </a:prstGeom>
            <a:solidFill>
              <a:srgbClr val="BF5AF2">
                <a:alpha val="8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N49/notch-media/ellipse/042"/>
            <p:cNvSpPr/>
            <p:nvPr/>
          </p:nvSpPr>
          <p:spPr>
            <a:xfrm>
              <a:off x="1142542" y="2896819"/>
              <a:ext cx="360045" cy="360045"/>
            </a:xfrm>
            <a:prstGeom prst="ellipse">
              <a:avLst/>
            </a:prstGeom>
            <a:solidFill>
              <a:srgbClr val="64D2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N49/notch-media/rect/043"/>
            <p:cNvSpPr/>
            <p:nvPr/>
          </p:nvSpPr>
          <p:spPr>
            <a:xfrm>
              <a:off x="969721" y="3069640"/>
              <a:ext cx="460857" cy="115214"/>
            </a:xfrm>
            <a:prstGeom prst="roundRect">
              <a:avLst>
                <a:gd name="adj" fmla="val 34722"/>
              </a:avLst>
            </a:prstGeom>
            <a:solidFill>
              <a:srgbClr val="30D158">
                <a:alpha val="9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N49/notch-media/text/044"/>
            <p:cNvSpPr txBox="1"/>
            <p:nvPr/>
          </p:nvSpPr>
          <p:spPr>
            <a:xfrm>
              <a:off x="840105" y="2623185"/>
              <a:ext cx="720090" cy="7200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45" b="1" i="0">
                  <a:solidFill>
                    <a:srgbClr val="FFFFFF"/>
                  </a:solidFill>
                  <a:latin typeface="Arial"/>
                </a:rPr>
                <a:t>ART</a:t>
              </a:r>
            </a:p>
          </p:txBody>
        </p:sp>
        <p:sp>
          <p:nvSpPr>
            <p:cNvPr id="56" name="N49/notch-media/text/045"/>
            <p:cNvSpPr txBox="1"/>
            <p:nvPr/>
          </p:nvSpPr>
          <p:spPr>
            <a:xfrm>
              <a:off x="1700212" y="2623185"/>
              <a:ext cx="4340542" cy="2000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7" b="1" i="0">
                  <a:solidFill>
                    <a:srgbClr val="F5F5F7"/>
                  </a:solidFill>
                  <a:latin typeface="Arial"/>
                </a:rPr>
                <a:t>Midnight City</a:t>
              </a:r>
            </a:p>
          </p:txBody>
        </p:sp>
        <p:sp>
          <p:nvSpPr>
            <p:cNvPr id="57" name="N49/notch-media/text/046"/>
            <p:cNvSpPr txBox="1"/>
            <p:nvPr/>
          </p:nvSpPr>
          <p:spPr>
            <a:xfrm>
              <a:off x="1700212" y="2843212"/>
              <a:ext cx="4340542" cy="18002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2" b="0" i="0">
                  <a:solidFill>
                    <a:srgbClr val="98989D"/>
                  </a:solidFill>
                  <a:latin typeface="Arial"/>
                </a:rPr>
                <a:t>M83</a:t>
              </a:r>
            </a:p>
          </p:txBody>
        </p:sp>
        <p:sp>
          <p:nvSpPr>
            <p:cNvPr id="58" name="N49/notch-media/text/047"/>
            <p:cNvSpPr txBox="1"/>
            <p:nvPr/>
          </p:nvSpPr>
          <p:spPr>
            <a:xfrm>
              <a:off x="1700212" y="3023235"/>
              <a:ext cx="4340542" cy="18002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2" b="0" i="0">
                  <a:solidFill>
                    <a:srgbClr val="98989D"/>
                  </a:solidFill>
                  <a:latin typeface="Arial"/>
                </a:rPr>
                <a:t>Hurry Up, We're Dreaming</a:t>
              </a:r>
            </a:p>
          </p:txBody>
        </p:sp>
        <p:sp>
          <p:nvSpPr>
            <p:cNvPr id="59" name="N49/notch-media/button-Spotify  ·  2 players ›/048"/>
            <p:cNvSpPr/>
            <p:nvPr/>
          </p:nvSpPr>
          <p:spPr>
            <a:xfrm>
              <a:off x="1700212" y="3223260"/>
              <a:ext cx="1700212" cy="260032"/>
            </a:xfrm>
            <a:prstGeom prst="roundRect">
              <a:avLst>
                <a:gd name="adj" fmla="val 38461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N49/notch-media/rect/049"/>
            <p:cNvSpPr/>
            <p:nvPr/>
          </p:nvSpPr>
          <p:spPr>
            <a:xfrm>
              <a:off x="1830228" y="3323272"/>
              <a:ext cx="100012" cy="80010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1" name="N49/notch-media/line/050"/>
            <p:cNvCxnSpPr/>
            <p:nvPr/>
          </p:nvCxnSpPr>
          <p:spPr>
            <a:xfrm>
              <a:off x="1860232" y="3293268"/>
              <a:ext cx="70009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N49/notch-media/line/051"/>
            <p:cNvCxnSpPr/>
            <p:nvPr/>
          </p:nvCxnSpPr>
          <p:spPr>
            <a:xfrm>
              <a:off x="1930241" y="3293268"/>
              <a:ext cx="0" cy="70009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N49/notch-media/text/052"/>
            <p:cNvSpPr txBox="1"/>
            <p:nvPr/>
          </p:nvSpPr>
          <p:spPr>
            <a:xfrm>
              <a:off x="2020252" y="3223260"/>
              <a:ext cx="1360169" cy="260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2" b="0" i="0">
                  <a:solidFill>
                    <a:srgbClr val="E5E5EA"/>
                  </a:solidFill>
                  <a:latin typeface="Arial"/>
                </a:rPr>
                <a:t>Spotify  ·  2 players ›</a:t>
              </a:r>
            </a:p>
          </p:txBody>
        </p:sp>
        <p:sp>
          <p:nvSpPr>
            <p:cNvPr id="64" name="N49/notch-media/text/053"/>
            <p:cNvSpPr txBox="1"/>
            <p:nvPr/>
          </p:nvSpPr>
          <p:spPr>
            <a:xfrm>
              <a:off x="840105" y="3443287"/>
              <a:ext cx="360045" cy="1600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2" b="0" i="0">
                  <a:solidFill>
                    <a:srgbClr val="98989D"/>
                  </a:solidFill>
                  <a:latin typeface="Arial"/>
                </a:rPr>
                <a:t>1:24</a:t>
              </a:r>
            </a:p>
          </p:txBody>
        </p:sp>
        <p:sp>
          <p:nvSpPr>
            <p:cNvPr id="65" name="N49/notch-media/rect/054"/>
            <p:cNvSpPr/>
            <p:nvPr/>
          </p:nvSpPr>
          <p:spPr>
            <a:xfrm>
              <a:off x="1260157" y="3503295"/>
              <a:ext cx="4360545" cy="40005"/>
            </a:xfrm>
            <a:prstGeom prst="roundRect">
              <a:avLst>
                <a:gd name="adj" fmla="val 50000"/>
              </a:avLst>
            </a:prstGeom>
            <a:solidFill>
              <a:srgbClr val="3A3A3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N49/notch-media/rect/055"/>
            <p:cNvSpPr/>
            <p:nvPr/>
          </p:nvSpPr>
          <p:spPr>
            <a:xfrm>
              <a:off x="1260157" y="3503295"/>
              <a:ext cx="1526190" cy="40005"/>
            </a:xfrm>
            <a:prstGeom prst="roundRect">
              <a:avLst>
                <a:gd name="adj" fmla="val 50000"/>
              </a:avLst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N49/notch-media/ellipse/056"/>
            <p:cNvSpPr/>
            <p:nvPr/>
          </p:nvSpPr>
          <p:spPr>
            <a:xfrm>
              <a:off x="2726340" y="3463290"/>
              <a:ext cx="120015" cy="120015"/>
            </a:xfrm>
            <a:prstGeom prst="ellipse">
              <a:avLst/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N49/notch-media/text/057"/>
            <p:cNvSpPr txBox="1"/>
            <p:nvPr/>
          </p:nvSpPr>
          <p:spPr>
            <a:xfrm>
              <a:off x="5680710" y="3443287"/>
              <a:ext cx="360045" cy="1600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2" b="0" i="0">
                  <a:solidFill>
                    <a:srgbClr val="98989D"/>
                  </a:solidFill>
                  <a:latin typeface="Arial"/>
                </a:rPr>
                <a:t>4:03</a:t>
              </a:r>
            </a:p>
          </p:txBody>
        </p:sp>
        <p:sp>
          <p:nvSpPr>
            <p:cNvPr id="69" name="N49/notch-media/button-prev/058"/>
            <p:cNvSpPr/>
            <p:nvPr/>
          </p:nvSpPr>
          <p:spPr>
            <a:xfrm>
              <a:off x="2590323" y="3663314"/>
              <a:ext cx="320040" cy="320040"/>
            </a:xfrm>
            <a:prstGeom prst="roundRect">
              <a:avLst>
                <a:gd name="adj" fmla="val 31249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N49/notch-media/poly/059"/>
            <p:cNvSpPr/>
            <p:nvPr/>
          </p:nvSpPr>
          <p:spPr>
            <a:xfrm>
              <a:off x="2720340" y="3773328"/>
              <a:ext cx="60007" cy="100013"/>
            </a:xfrm>
            <a:custGeom>
              <a:avLst/>
              <a:gdLst/>
              <a:ahLst/>
              <a:cxnLst/>
              <a:rect l="l" t="t" r="r" b="b"/>
              <a:pathLst>
                <a:path w="60007" h="100013">
                  <a:moveTo>
                    <a:pt x="60007" y="0"/>
                  </a:moveTo>
                  <a:lnTo>
                    <a:pt x="0" y="50007"/>
                  </a:lnTo>
                  <a:lnTo>
                    <a:pt x="60007" y="100013"/>
                  </a:lnTo>
                  <a:close/>
                </a:path>
              </a:pathLst>
            </a:cu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N49/notch-media/rect/060"/>
            <p:cNvSpPr/>
            <p:nvPr/>
          </p:nvSpPr>
          <p:spPr>
            <a:xfrm>
              <a:off x="2700337" y="3778329"/>
              <a:ext cx="16002" cy="90011"/>
            </a:xfrm>
            <a:prstGeom prst="rect">
              <a:avLst/>
            </a:pr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N49/notch-media/button-play/061"/>
            <p:cNvSpPr/>
            <p:nvPr/>
          </p:nvSpPr>
          <p:spPr>
            <a:xfrm>
              <a:off x="3010376" y="3663314"/>
              <a:ext cx="440055" cy="320040"/>
            </a:xfrm>
            <a:prstGeom prst="roundRect">
              <a:avLst>
                <a:gd name="adj" fmla="val 50000"/>
              </a:avLst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N49/notch-media/poly/062"/>
            <p:cNvSpPr/>
            <p:nvPr/>
          </p:nvSpPr>
          <p:spPr>
            <a:xfrm>
              <a:off x="3200400" y="3773328"/>
              <a:ext cx="80010" cy="100013"/>
            </a:xfrm>
            <a:custGeom>
              <a:avLst/>
              <a:gdLst/>
              <a:ahLst/>
              <a:cxnLst/>
              <a:rect l="l" t="t" r="r" b="b"/>
              <a:pathLst>
                <a:path w="80010" h="100013">
                  <a:moveTo>
                    <a:pt x="0" y="0"/>
                  </a:moveTo>
                  <a:lnTo>
                    <a:pt x="80010" y="50007"/>
                  </a:lnTo>
                  <a:lnTo>
                    <a:pt x="0" y="1000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N49/notch-media/button-next/063"/>
            <p:cNvSpPr/>
            <p:nvPr/>
          </p:nvSpPr>
          <p:spPr>
            <a:xfrm>
              <a:off x="3550443" y="3663314"/>
              <a:ext cx="320040" cy="320040"/>
            </a:xfrm>
            <a:prstGeom prst="roundRect">
              <a:avLst>
                <a:gd name="adj" fmla="val 31249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N49/notch-media/poly/064"/>
            <p:cNvSpPr/>
            <p:nvPr/>
          </p:nvSpPr>
          <p:spPr>
            <a:xfrm>
              <a:off x="3680460" y="3773328"/>
              <a:ext cx="60007" cy="100013"/>
            </a:xfrm>
            <a:custGeom>
              <a:avLst/>
              <a:gdLst/>
              <a:ahLst/>
              <a:cxnLst/>
              <a:rect l="l" t="t" r="r" b="b"/>
              <a:pathLst>
                <a:path w="60007" h="100013">
                  <a:moveTo>
                    <a:pt x="0" y="0"/>
                  </a:moveTo>
                  <a:lnTo>
                    <a:pt x="60007" y="50007"/>
                  </a:lnTo>
                  <a:lnTo>
                    <a:pt x="0" y="100013"/>
                  </a:lnTo>
                  <a:close/>
                </a:path>
              </a:pathLst>
            </a:cu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N49/notch-media/rect/065"/>
            <p:cNvSpPr/>
            <p:nvPr/>
          </p:nvSpPr>
          <p:spPr>
            <a:xfrm>
              <a:off x="3744468" y="3778329"/>
              <a:ext cx="16002" cy="90011"/>
            </a:xfrm>
            <a:prstGeom prst="rect">
              <a:avLst/>
            </a:pr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N49/notch-media/button-raise/066"/>
            <p:cNvSpPr/>
            <p:nvPr/>
          </p:nvSpPr>
          <p:spPr>
            <a:xfrm>
              <a:off x="3970496" y="3663314"/>
              <a:ext cx="320040" cy="320040"/>
            </a:xfrm>
            <a:prstGeom prst="roundRect">
              <a:avLst>
                <a:gd name="adj" fmla="val 31249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N49/notch-media/rect/067"/>
            <p:cNvSpPr/>
            <p:nvPr/>
          </p:nvSpPr>
          <p:spPr>
            <a:xfrm>
              <a:off x="4080510" y="3793331"/>
              <a:ext cx="100012" cy="80010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9" name="N49/notch-media/line/068"/>
            <p:cNvCxnSpPr/>
            <p:nvPr/>
          </p:nvCxnSpPr>
          <p:spPr>
            <a:xfrm>
              <a:off x="4110513" y="3763327"/>
              <a:ext cx="70009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N49/notch-media/line/069"/>
            <p:cNvCxnSpPr/>
            <p:nvPr/>
          </p:nvCxnSpPr>
          <p:spPr>
            <a:xfrm>
              <a:off x="4180522" y="3763327"/>
              <a:ext cx="0" cy="70009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N49/notch-media/text/070"/>
            <p:cNvSpPr txBox="1"/>
            <p:nvPr/>
          </p:nvSpPr>
          <p:spPr>
            <a:xfrm>
              <a:off x="840105" y="4043362"/>
              <a:ext cx="1000125" cy="18002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2" b="0" i="0">
                  <a:solidFill>
                    <a:srgbClr val="98989D"/>
                  </a:solidFill>
                  <a:latin typeface="Arial"/>
                </a:rPr>
                <a:t>Player volume</a:t>
              </a:r>
            </a:p>
          </p:txBody>
        </p:sp>
        <p:sp>
          <p:nvSpPr>
            <p:cNvPr id="82" name="N49/notch-media/rect/071"/>
            <p:cNvSpPr/>
            <p:nvPr/>
          </p:nvSpPr>
          <p:spPr>
            <a:xfrm>
              <a:off x="1920240" y="4113371"/>
              <a:ext cx="3300412" cy="40005"/>
            </a:xfrm>
            <a:prstGeom prst="roundRect">
              <a:avLst>
                <a:gd name="adj" fmla="val 50000"/>
              </a:avLst>
            </a:prstGeom>
            <a:solidFill>
              <a:srgbClr val="3A3A3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N49/notch-media/rect/072"/>
            <p:cNvSpPr/>
            <p:nvPr/>
          </p:nvSpPr>
          <p:spPr>
            <a:xfrm>
              <a:off x="1920240" y="4113371"/>
              <a:ext cx="3300412" cy="40005"/>
            </a:xfrm>
            <a:prstGeom prst="roundRect">
              <a:avLst>
                <a:gd name="adj" fmla="val 50000"/>
              </a:avLst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N49/notch-media/ellipse/073"/>
            <p:cNvSpPr/>
            <p:nvPr/>
          </p:nvSpPr>
          <p:spPr>
            <a:xfrm>
              <a:off x="5160645" y="4073366"/>
              <a:ext cx="120015" cy="120015"/>
            </a:xfrm>
            <a:prstGeom prst="ellipse">
              <a:avLst/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N49/notch-media/text/074"/>
            <p:cNvSpPr txBox="1"/>
            <p:nvPr/>
          </p:nvSpPr>
          <p:spPr>
            <a:xfrm>
              <a:off x="5600700" y="4043362"/>
              <a:ext cx="440055" cy="18002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2" b="0" i="0">
                  <a:solidFill>
                    <a:srgbClr val="98989D"/>
                  </a:solidFill>
                  <a:latin typeface="Arial"/>
                </a:rPr>
                <a:t>100%</a:t>
              </a:r>
            </a:p>
          </p:txBody>
        </p:sp>
        <p:sp>
          <p:nvSpPr>
            <p:cNvPr id="86" name="N49/notch-media/text/075"/>
            <p:cNvSpPr txBox="1"/>
            <p:nvPr/>
          </p:nvSpPr>
          <p:spPr>
            <a:xfrm>
              <a:off x="840105" y="4323397"/>
              <a:ext cx="1000125" cy="18002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2" b="0" i="0">
                  <a:solidFill>
                    <a:srgbClr val="98989D"/>
                  </a:solidFill>
                  <a:latin typeface="Arial"/>
                </a:rPr>
                <a:t>System output</a:t>
              </a:r>
            </a:p>
          </p:txBody>
        </p:sp>
        <p:sp>
          <p:nvSpPr>
            <p:cNvPr id="87" name="N49/notch-media/rect/076"/>
            <p:cNvSpPr/>
            <p:nvPr/>
          </p:nvSpPr>
          <p:spPr>
            <a:xfrm>
              <a:off x="1920240" y="4393406"/>
              <a:ext cx="3300412" cy="40005"/>
            </a:xfrm>
            <a:prstGeom prst="roundRect">
              <a:avLst>
                <a:gd name="adj" fmla="val 50000"/>
              </a:avLst>
            </a:prstGeom>
            <a:solidFill>
              <a:srgbClr val="3A3A3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N49/notch-media/rect/077"/>
            <p:cNvSpPr/>
            <p:nvPr/>
          </p:nvSpPr>
          <p:spPr>
            <a:xfrm>
              <a:off x="1920240" y="4393406"/>
              <a:ext cx="2145268" cy="40005"/>
            </a:xfrm>
            <a:prstGeom prst="roundRect">
              <a:avLst>
                <a:gd name="adj" fmla="val 50000"/>
              </a:avLst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N49/notch-media/ellipse/078"/>
            <p:cNvSpPr/>
            <p:nvPr/>
          </p:nvSpPr>
          <p:spPr>
            <a:xfrm>
              <a:off x="4005500" y="4353401"/>
              <a:ext cx="120015" cy="120015"/>
            </a:xfrm>
            <a:prstGeom prst="ellipse">
              <a:avLst/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N49/notch-media/button-volume/079"/>
            <p:cNvSpPr/>
            <p:nvPr/>
          </p:nvSpPr>
          <p:spPr>
            <a:xfrm>
              <a:off x="5720715" y="4273391"/>
              <a:ext cx="320040" cy="280035"/>
            </a:xfrm>
            <a:prstGeom prst="roundRect">
              <a:avLst>
                <a:gd name="adj" fmla="val 35714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N49/notch-media/poly/080"/>
            <p:cNvSpPr/>
            <p:nvPr/>
          </p:nvSpPr>
          <p:spPr>
            <a:xfrm>
              <a:off x="5830728" y="4363402"/>
              <a:ext cx="60008" cy="100013"/>
            </a:xfrm>
            <a:custGeom>
              <a:avLst/>
              <a:gdLst/>
              <a:ahLst/>
              <a:cxnLst/>
              <a:rect l="l" t="t" r="r" b="b"/>
              <a:pathLst>
                <a:path w="60008" h="100013">
                  <a:moveTo>
                    <a:pt x="0" y="30004"/>
                  </a:moveTo>
                  <a:lnTo>
                    <a:pt x="30004" y="30004"/>
                  </a:lnTo>
                  <a:lnTo>
                    <a:pt x="60008" y="0"/>
                  </a:lnTo>
                  <a:lnTo>
                    <a:pt x="60008" y="100013"/>
                  </a:lnTo>
                  <a:lnTo>
                    <a:pt x="30004" y="70009"/>
                  </a:lnTo>
                  <a:lnTo>
                    <a:pt x="0" y="70009"/>
                  </a:lnTo>
                  <a:close/>
                </a:path>
              </a:pathLst>
            </a:cu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2" name="N49/notch-media/line/081"/>
            <p:cNvCxnSpPr/>
            <p:nvPr/>
          </p:nvCxnSpPr>
          <p:spPr>
            <a:xfrm>
              <a:off x="5910738" y="4383405"/>
              <a:ext cx="20003" cy="3000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N49/notch-media/line/082"/>
            <p:cNvCxnSpPr/>
            <p:nvPr/>
          </p:nvCxnSpPr>
          <p:spPr>
            <a:xfrm flipH="1">
              <a:off x="5910738" y="4413408"/>
              <a:ext cx="20003" cy="3000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N49/text/010"/>
          <p:cNvSpPr txBox="1"/>
          <p:nvPr/>
        </p:nvSpPr>
        <p:spPr>
          <a:xfrm>
            <a:off x="640080" y="4892040"/>
            <a:ext cx="534924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Paused: play icon replaces pause; metadata and art remain.</a:t>
            </a:r>
          </a:p>
        </p:txBody>
      </p:sp>
      <p:sp>
        <p:nvSpPr>
          <p:cNvPr id="95" name="N49/rect/011"/>
          <p:cNvSpPr/>
          <p:nvPr/>
        </p:nvSpPr>
        <p:spPr>
          <a:xfrm>
            <a:off x="640080" y="5257800"/>
            <a:ext cx="7315200" cy="777240"/>
          </a:xfrm>
          <a:prstGeom prst="roundRect">
            <a:avLst>
              <a:gd name="adj" fmla="val 11764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N49/text/012"/>
          <p:cNvSpPr txBox="1"/>
          <p:nvPr/>
        </p:nvSpPr>
        <p:spPr>
          <a:xfrm>
            <a:off x="822960" y="5394960"/>
            <a:ext cx="694944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Live stream: length=0 → seek disabled, duration 0:00. Muted output: speaker icon changes to muted; volume slider remains available.</a:t>
            </a:r>
          </a:p>
        </p:txBody>
      </p:sp>
      <p:sp>
        <p:nvSpPr>
          <p:cNvPr id="97" name="N49/spec-panel/013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N49/text/014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99" name="N49/ellipse/015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N49/text/016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canSeek=false disables seek</a:t>
            </a:r>
          </a:p>
        </p:txBody>
      </p:sp>
      <p:sp>
        <p:nvSpPr>
          <p:cNvPr id="101" name="N49/ellipse/017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N49/text/018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length=0 disables seek</a:t>
            </a:r>
          </a:p>
        </p:txBody>
      </p:sp>
      <p:sp>
        <p:nvSpPr>
          <p:cNvPr id="103" name="N49/ellipse/019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N49/text/020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Mute toggles output icon</a:t>
            </a:r>
          </a:p>
        </p:txBody>
      </p:sp>
      <p:sp>
        <p:nvSpPr>
          <p:cNvPr id="105" name="N49/ellipse/021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N49/text/022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Player volume independent</a:t>
            </a:r>
          </a:p>
        </p:txBody>
      </p:sp>
      <p:cxnSp>
        <p:nvCxnSpPr>
          <p:cNvPr id="107" name="N49/line/023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N49/text/024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109" name="N49/edit-box/025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N49/edit-note/026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Paused / stream / muted states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50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50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50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MUSIC PAGE</a:t>
            </a:r>
          </a:p>
        </p:txBody>
      </p:sp>
      <p:sp>
        <p:nvSpPr>
          <p:cNvPr id="5" name="N50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Music — narrow layout</a:t>
            </a:r>
          </a:p>
        </p:txBody>
      </p:sp>
      <p:sp>
        <p:nvSpPr>
          <p:cNvPr id="6" name="N50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Art stacks above metadata; volume rows stack</a:t>
            </a:r>
          </a:p>
        </p:txBody>
      </p:sp>
      <p:cxnSp>
        <p:nvCxnSpPr>
          <p:cNvPr id="7" name="N50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50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50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N50</a:t>
            </a:r>
          </a:p>
        </p:txBody>
      </p:sp>
      <p:sp>
        <p:nvSpPr>
          <p:cNvPr id="10" name="N50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19</a:t>
            </a:r>
          </a:p>
        </p:txBody>
      </p:sp>
      <p:grpSp>
        <p:nvGrpSpPr>
          <p:cNvPr id="11" name="N50/notch-media"/>
          <p:cNvGrpSpPr/>
          <p:nvPr/>
        </p:nvGrpSpPr>
        <p:grpSpPr>
          <a:xfrm>
            <a:off x="1371600" y="1783080"/>
            <a:ext cx="3562350" cy="3143250"/>
            <a:chOff x="1371600" y="1783080"/>
            <a:chExt cx="3562350" cy="3143250"/>
          </a:xfrm>
        </p:grpSpPr>
        <p:sp>
          <p:nvSpPr>
            <p:cNvPr id="12" name="N50/notch-media/notch-surface-open/001"/>
            <p:cNvSpPr/>
            <p:nvPr/>
          </p:nvSpPr>
          <p:spPr>
            <a:xfrm>
              <a:off x="1371600" y="1783080"/>
              <a:ext cx="3562350" cy="3143250"/>
            </a:xfrm>
            <a:custGeom>
              <a:avLst/>
              <a:gdLst/>
              <a:ahLst/>
              <a:cxnLst/>
              <a:rect l="l" t="t" r="r" b="b"/>
              <a:pathLst>
                <a:path w="3562350" h="3143250">
                  <a:moveTo>
                    <a:pt x="0" y="0"/>
                  </a:moveTo>
                  <a:lnTo>
                    <a:pt x="3562350" y="0"/>
                  </a:lnTo>
                  <a:lnTo>
                    <a:pt x="3534744" y="3110"/>
                  </a:lnTo>
                  <a:lnTo>
                    <a:pt x="3503250" y="12442"/>
                  </a:lnTo>
                  <a:lnTo>
                    <a:pt x="3470201" y="27994"/>
                  </a:lnTo>
                  <a:lnTo>
                    <a:pt x="3437929" y="49768"/>
                  </a:lnTo>
                  <a:lnTo>
                    <a:pt x="3408768" y="77762"/>
                  </a:lnTo>
                  <a:lnTo>
                    <a:pt x="3385051" y="111978"/>
                  </a:lnTo>
                  <a:lnTo>
                    <a:pt x="3369109" y="152414"/>
                  </a:lnTo>
                  <a:lnTo>
                    <a:pt x="3363277" y="199072"/>
                  </a:lnTo>
                  <a:lnTo>
                    <a:pt x="3358445" y="2940847"/>
                  </a:lnTo>
                  <a:lnTo>
                    <a:pt x="3344136" y="2988019"/>
                  </a:lnTo>
                  <a:lnTo>
                    <a:pt x="3320898" y="3031493"/>
                  </a:lnTo>
                  <a:lnTo>
                    <a:pt x="3289626" y="3069599"/>
                  </a:lnTo>
                  <a:lnTo>
                    <a:pt x="3251521" y="3100871"/>
                  </a:lnTo>
                  <a:lnTo>
                    <a:pt x="3208047" y="3124108"/>
                  </a:lnTo>
                  <a:lnTo>
                    <a:pt x="3160874" y="3138418"/>
                  </a:lnTo>
                  <a:lnTo>
                    <a:pt x="3111817" y="3143250"/>
                  </a:lnTo>
                  <a:lnTo>
                    <a:pt x="450532" y="3143250"/>
                  </a:lnTo>
                  <a:lnTo>
                    <a:pt x="401475" y="3138418"/>
                  </a:lnTo>
                  <a:lnTo>
                    <a:pt x="354302" y="3124108"/>
                  </a:lnTo>
                  <a:lnTo>
                    <a:pt x="310828" y="3100871"/>
                  </a:lnTo>
                  <a:lnTo>
                    <a:pt x="272723" y="3069599"/>
                  </a:lnTo>
                  <a:lnTo>
                    <a:pt x="241451" y="3031493"/>
                  </a:lnTo>
                  <a:lnTo>
                    <a:pt x="218213" y="2988019"/>
                  </a:lnTo>
                  <a:lnTo>
                    <a:pt x="203904" y="2940847"/>
                  </a:lnTo>
                  <a:lnTo>
                    <a:pt x="199072" y="2891790"/>
                  </a:lnTo>
                  <a:lnTo>
                    <a:pt x="199072" y="199072"/>
                  </a:lnTo>
                  <a:lnTo>
                    <a:pt x="193240" y="152414"/>
                  </a:lnTo>
                  <a:lnTo>
                    <a:pt x="177298" y="111978"/>
                  </a:lnTo>
                  <a:lnTo>
                    <a:pt x="153581" y="77762"/>
                  </a:lnTo>
                  <a:lnTo>
                    <a:pt x="124420" y="49768"/>
                  </a:lnTo>
                  <a:lnTo>
                    <a:pt x="92148" y="27994"/>
                  </a:lnTo>
                  <a:lnTo>
                    <a:pt x="59099" y="12442"/>
                  </a:lnTo>
                  <a:lnTo>
                    <a:pt x="27605" y="31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50/notch-media/button-home/002"/>
            <p:cNvSpPr/>
            <p:nvPr/>
          </p:nvSpPr>
          <p:spPr>
            <a:xfrm>
              <a:off x="1581150" y="2275522"/>
              <a:ext cx="335280" cy="31432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50/notch-media/poly/003"/>
            <p:cNvSpPr/>
            <p:nvPr/>
          </p:nvSpPr>
          <p:spPr>
            <a:xfrm>
              <a:off x="1685925" y="2369819"/>
              <a:ext cx="125730" cy="125731"/>
            </a:xfrm>
            <a:custGeom>
              <a:avLst/>
              <a:gdLst/>
              <a:ahLst/>
              <a:cxnLst/>
              <a:rect l="l" t="t" r="r" b="b"/>
              <a:pathLst>
                <a:path w="125730" h="125731">
                  <a:moveTo>
                    <a:pt x="62865" y="0"/>
                  </a:moveTo>
                  <a:lnTo>
                    <a:pt x="0" y="52388"/>
                  </a:lnTo>
                  <a:lnTo>
                    <a:pt x="20955" y="52388"/>
                  </a:lnTo>
                  <a:lnTo>
                    <a:pt x="20955" y="125731"/>
                  </a:lnTo>
                  <a:lnTo>
                    <a:pt x="52387" y="125731"/>
                  </a:lnTo>
                  <a:lnTo>
                    <a:pt x="52387" y="83821"/>
                  </a:lnTo>
                  <a:lnTo>
                    <a:pt x="73342" y="83821"/>
                  </a:lnTo>
                  <a:lnTo>
                    <a:pt x="73342" y="125731"/>
                  </a:lnTo>
                  <a:lnTo>
                    <a:pt x="104775" y="125731"/>
                  </a:lnTo>
                  <a:lnTo>
                    <a:pt x="104775" y="52388"/>
                  </a:lnTo>
                  <a:lnTo>
                    <a:pt x="125730" y="52388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50/notch-media/button-music/004"/>
            <p:cNvSpPr/>
            <p:nvPr/>
          </p:nvSpPr>
          <p:spPr>
            <a:xfrm>
              <a:off x="1958340" y="2275522"/>
              <a:ext cx="335280" cy="314325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N50/notch-media/line/005"/>
            <p:cNvCxnSpPr/>
            <p:nvPr/>
          </p:nvCxnSpPr>
          <p:spPr>
            <a:xfrm flipV="1">
              <a:off x="2105025" y="2390774"/>
              <a:ext cx="0" cy="83821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N50/notch-media/line/006"/>
            <p:cNvCxnSpPr/>
            <p:nvPr/>
          </p:nvCxnSpPr>
          <p:spPr>
            <a:xfrm flipV="1">
              <a:off x="2105025" y="2380297"/>
              <a:ext cx="73342" cy="10477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50/notch-media/line/007"/>
            <p:cNvCxnSpPr/>
            <p:nvPr/>
          </p:nvCxnSpPr>
          <p:spPr>
            <a:xfrm>
              <a:off x="2178367" y="2380297"/>
              <a:ext cx="0" cy="8382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N50/notch-media/ellipse/008"/>
            <p:cNvSpPr/>
            <p:nvPr/>
          </p:nvSpPr>
          <p:spPr>
            <a:xfrm>
              <a:off x="2073592" y="2458878"/>
              <a:ext cx="36671" cy="314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50/notch-media/ellipse/009"/>
            <p:cNvSpPr/>
            <p:nvPr/>
          </p:nvSpPr>
          <p:spPr>
            <a:xfrm>
              <a:off x="2146935" y="2448401"/>
              <a:ext cx="36671" cy="314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50/notch-media/button-bell/010"/>
            <p:cNvSpPr/>
            <p:nvPr/>
          </p:nvSpPr>
          <p:spPr>
            <a:xfrm>
              <a:off x="2335530" y="2275522"/>
              <a:ext cx="335280" cy="31432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50/notch-media/poly/011"/>
            <p:cNvSpPr/>
            <p:nvPr/>
          </p:nvSpPr>
          <p:spPr>
            <a:xfrm>
              <a:off x="2450782" y="2369819"/>
              <a:ext cx="104775" cy="94298"/>
            </a:xfrm>
            <a:custGeom>
              <a:avLst/>
              <a:gdLst/>
              <a:ahLst/>
              <a:cxnLst/>
              <a:rect l="l" t="t" r="r" b="b"/>
              <a:pathLst>
                <a:path w="104775" h="94298">
                  <a:moveTo>
                    <a:pt x="52388" y="0"/>
                  </a:moveTo>
                  <a:lnTo>
                    <a:pt x="20955" y="20955"/>
                  </a:lnTo>
                  <a:lnTo>
                    <a:pt x="10478" y="62866"/>
                  </a:lnTo>
                  <a:lnTo>
                    <a:pt x="0" y="94298"/>
                  </a:lnTo>
                  <a:lnTo>
                    <a:pt x="104775" y="94298"/>
                  </a:lnTo>
                  <a:lnTo>
                    <a:pt x="94298" y="62866"/>
                  </a:lnTo>
                  <a:lnTo>
                    <a:pt x="83820" y="20955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N50/notch-media/line/012"/>
            <p:cNvCxnSpPr/>
            <p:nvPr/>
          </p:nvCxnSpPr>
          <p:spPr>
            <a:xfrm>
              <a:off x="2482215" y="2485072"/>
              <a:ext cx="41910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N50/notch-media/ellipse/013"/>
            <p:cNvSpPr/>
            <p:nvPr/>
          </p:nvSpPr>
          <p:spPr>
            <a:xfrm>
              <a:off x="2492692" y="2359342"/>
              <a:ext cx="20955" cy="20955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50/notch-media/button-chart/014"/>
            <p:cNvSpPr/>
            <p:nvPr/>
          </p:nvSpPr>
          <p:spPr>
            <a:xfrm>
              <a:off x="2712720" y="2275522"/>
              <a:ext cx="335280" cy="31432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N50/notch-media/line/015"/>
            <p:cNvCxnSpPr/>
            <p:nvPr/>
          </p:nvCxnSpPr>
          <p:spPr>
            <a:xfrm>
              <a:off x="2817495" y="2495550"/>
              <a:ext cx="125730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N50/notch-media/line/016"/>
            <p:cNvCxnSpPr/>
            <p:nvPr/>
          </p:nvCxnSpPr>
          <p:spPr>
            <a:xfrm flipV="1">
              <a:off x="2827972" y="2422207"/>
              <a:ext cx="31433" cy="4191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50/notch-media/line/017"/>
            <p:cNvCxnSpPr/>
            <p:nvPr/>
          </p:nvCxnSpPr>
          <p:spPr>
            <a:xfrm>
              <a:off x="2859405" y="2422207"/>
              <a:ext cx="31432" cy="2095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50/notch-media/line/018"/>
            <p:cNvCxnSpPr/>
            <p:nvPr/>
          </p:nvCxnSpPr>
          <p:spPr>
            <a:xfrm flipV="1">
              <a:off x="2890837" y="2380297"/>
              <a:ext cx="41910" cy="6286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N50/notch-media/button-folder/019"/>
            <p:cNvSpPr/>
            <p:nvPr/>
          </p:nvSpPr>
          <p:spPr>
            <a:xfrm>
              <a:off x="3089910" y="2275522"/>
              <a:ext cx="335280" cy="31432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N50/notch-media/poly/020"/>
            <p:cNvSpPr/>
            <p:nvPr/>
          </p:nvSpPr>
          <p:spPr>
            <a:xfrm>
              <a:off x="3194685" y="2401252"/>
              <a:ext cx="125730" cy="83820"/>
            </a:xfrm>
            <a:custGeom>
              <a:avLst/>
              <a:gdLst/>
              <a:ahLst/>
              <a:cxnLst/>
              <a:rect l="l" t="t" r="r" b="b"/>
              <a:pathLst>
                <a:path w="125730" h="83820">
                  <a:moveTo>
                    <a:pt x="0" y="0"/>
                  </a:moveTo>
                  <a:lnTo>
                    <a:pt x="41910" y="0"/>
                  </a:lnTo>
                  <a:lnTo>
                    <a:pt x="57626" y="20955"/>
                  </a:lnTo>
                  <a:lnTo>
                    <a:pt x="125730" y="20955"/>
                  </a:lnTo>
                  <a:lnTo>
                    <a:pt x="125730" y="83820"/>
                  </a:lnTo>
                  <a:lnTo>
                    <a:pt x="0" y="83820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50/notch-media/button-clipboard/021"/>
            <p:cNvSpPr/>
            <p:nvPr/>
          </p:nvSpPr>
          <p:spPr>
            <a:xfrm>
              <a:off x="3467100" y="2275522"/>
              <a:ext cx="335280" cy="31432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50/notch-media/rect/022"/>
            <p:cNvSpPr/>
            <p:nvPr/>
          </p:nvSpPr>
          <p:spPr>
            <a:xfrm>
              <a:off x="3592830" y="2380297"/>
              <a:ext cx="83820" cy="115252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50/notch-media/rect/023"/>
            <p:cNvSpPr/>
            <p:nvPr/>
          </p:nvSpPr>
          <p:spPr>
            <a:xfrm>
              <a:off x="3613785" y="2364581"/>
              <a:ext cx="41910" cy="26193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5" name="N50/notch-media/line/024"/>
            <p:cNvCxnSpPr/>
            <p:nvPr/>
          </p:nvCxnSpPr>
          <p:spPr>
            <a:xfrm>
              <a:off x="3613785" y="2422207"/>
              <a:ext cx="41910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N50/notch-media/line/025"/>
            <p:cNvCxnSpPr/>
            <p:nvPr/>
          </p:nvCxnSpPr>
          <p:spPr>
            <a:xfrm>
              <a:off x="3613785" y="2448401"/>
              <a:ext cx="41910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N50/notch-media/button-gear/026"/>
            <p:cNvSpPr/>
            <p:nvPr/>
          </p:nvSpPr>
          <p:spPr>
            <a:xfrm>
              <a:off x="3990975" y="2265045"/>
              <a:ext cx="335280" cy="335280"/>
            </a:xfrm>
            <a:prstGeom prst="roundRect">
              <a:avLst>
                <a:gd name="adj" fmla="val 3124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N50/notch-media/ellipse/027"/>
            <p:cNvSpPr/>
            <p:nvPr/>
          </p:nvSpPr>
          <p:spPr>
            <a:xfrm>
              <a:off x="4127182" y="2401252"/>
              <a:ext cx="62865" cy="62865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9" name="N50/notch-media/line/028"/>
            <p:cNvCxnSpPr/>
            <p:nvPr/>
          </p:nvCxnSpPr>
          <p:spPr>
            <a:xfrm>
              <a:off x="4211002" y="2432685"/>
              <a:ext cx="2095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N50/notch-media/line/029"/>
            <p:cNvCxnSpPr/>
            <p:nvPr/>
          </p:nvCxnSpPr>
          <p:spPr>
            <a:xfrm>
              <a:off x="4195658" y="2469728"/>
              <a:ext cx="14817" cy="1481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50/notch-media/line/030"/>
            <p:cNvCxnSpPr/>
            <p:nvPr/>
          </p:nvCxnSpPr>
          <p:spPr>
            <a:xfrm>
              <a:off x="4158615" y="2485072"/>
              <a:ext cx="0" cy="2095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50/notch-media/line/031"/>
            <p:cNvCxnSpPr/>
            <p:nvPr/>
          </p:nvCxnSpPr>
          <p:spPr>
            <a:xfrm flipH="1">
              <a:off x="4106754" y="2469728"/>
              <a:ext cx="14817" cy="1481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50/notch-media/line/032"/>
            <p:cNvCxnSpPr/>
            <p:nvPr/>
          </p:nvCxnSpPr>
          <p:spPr>
            <a:xfrm flipH="1">
              <a:off x="4085272" y="2432685"/>
              <a:ext cx="2095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50/notch-media/line/033"/>
            <p:cNvCxnSpPr/>
            <p:nvPr/>
          </p:nvCxnSpPr>
          <p:spPr>
            <a:xfrm flipH="1" flipV="1">
              <a:off x="4106754" y="2380824"/>
              <a:ext cx="14817" cy="1481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50/notch-media/line/034"/>
            <p:cNvCxnSpPr/>
            <p:nvPr/>
          </p:nvCxnSpPr>
          <p:spPr>
            <a:xfrm flipV="1">
              <a:off x="4158615" y="2359342"/>
              <a:ext cx="0" cy="2095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50/notch-media/line/035"/>
            <p:cNvCxnSpPr/>
            <p:nvPr/>
          </p:nvCxnSpPr>
          <p:spPr>
            <a:xfrm flipV="1">
              <a:off x="4195658" y="2380824"/>
              <a:ext cx="14817" cy="1481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N50/notch-media/button-close/036"/>
            <p:cNvSpPr/>
            <p:nvPr/>
          </p:nvSpPr>
          <p:spPr>
            <a:xfrm>
              <a:off x="4389120" y="2265045"/>
              <a:ext cx="335280" cy="335280"/>
            </a:xfrm>
            <a:prstGeom prst="roundRect">
              <a:avLst>
                <a:gd name="adj" fmla="val 3124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8" name="N50/notch-media/line/037"/>
            <p:cNvCxnSpPr/>
            <p:nvPr/>
          </p:nvCxnSpPr>
          <p:spPr>
            <a:xfrm>
              <a:off x="4514850" y="2390775"/>
              <a:ext cx="83820" cy="8382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N50/notch-media/line/038"/>
            <p:cNvCxnSpPr/>
            <p:nvPr/>
          </p:nvCxnSpPr>
          <p:spPr>
            <a:xfrm flipH="1">
              <a:off x="4514850" y="2390775"/>
              <a:ext cx="83820" cy="8382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N50/notch-media/album-art/039"/>
            <p:cNvSpPr/>
            <p:nvPr/>
          </p:nvSpPr>
          <p:spPr>
            <a:xfrm>
              <a:off x="2859405" y="2663190"/>
              <a:ext cx="586740" cy="586740"/>
            </a:xfrm>
            <a:prstGeom prst="roundRect">
              <a:avLst>
                <a:gd name="adj" fmla="val 25000"/>
              </a:avLst>
            </a:prstGeom>
            <a:solidFill>
              <a:srgbClr val="2A1B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N50/notch-media/ellipse/040"/>
            <p:cNvSpPr/>
            <p:nvPr/>
          </p:nvSpPr>
          <p:spPr>
            <a:xfrm>
              <a:off x="2918079" y="2733598"/>
              <a:ext cx="322707" cy="322707"/>
            </a:xfrm>
            <a:prstGeom prst="ellipse">
              <a:avLst/>
            </a:prstGeom>
            <a:solidFill>
              <a:srgbClr val="BF5AF2">
                <a:alpha val="8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N50/notch-media/ellipse/041"/>
            <p:cNvSpPr/>
            <p:nvPr/>
          </p:nvSpPr>
          <p:spPr>
            <a:xfrm>
              <a:off x="3105835" y="2886151"/>
              <a:ext cx="293370" cy="293370"/>
            </a:xfrm>
            <a:prstGeom prst="ellipse">
              <a:avLst/>
            </a:prstGeom>
            <a:solidFill>
              <a:srgbClr val="64D2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N50/notch-media/rect/042"/>
            <p:cNvSpPr/>
            <p:nvPr/>
          </p:nvSpPr>
          <p:spPr>
            <a:xfrm>
              <a:off x="2965018" y="3026968"/>
              <a:ext cx="375513" cy="93878"/>
            </a:xfrm>
            <a:prstGeom prst="roundRect">
              <a:avLst>
                <a:gd name="adj" fmla="val 44642"/>
              </a:avLst>
            </a:prstGeom>
            <a:solidFill>
              <a:srgbClr val="30D158">
                <a:alpha val="9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N50/notch-media/text/043"/>
            <p:cNvSpPr txBox="1"/>
            <p:nvPr/>
          </p:nvSpPr>
          <p:spPr>
            <a:xfrm>
              <a:off x="2859405" y="2663190"/>
              <a:ext cx="586740" cy="5867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0" b="1" i="0">
                  <a:solidFill>
                    <a:srgbClr val="FFFFFF"/>
                  </a:solidFill>
                  <a:latin typeface="Arial"/>
                </a:rPr>
                <a:t>ART</a:t>
              </a:r>
            </a:p>
          </p:txBody>
        </p:sp>
        <p:sp>
          <p:nvSpPr>
            <p:cNvPr id="55" name="N50/notch-media/text/044"/>
            <p:cNvSpPr txBox="1"/>
            <p:nvPr/>
          </p:nvSpPr>
          <p:spPr>
            <a:xfrm>
              <a:off x="1581150" y="3312795"/>
              <a:ext cx="3143250" cy="2095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2" b="1" i="0">
                  <a:solidFill>
                    <a:srgbClr val="F5F5F7"/>
                  </a:solidFill>
                  <a:latin typeface="Arial"/>
                </a:rPr>
                <a:t>Midnight City</a:t>
              </a:r>
            </a:p>
          </p:txBody>
        </p:sp>
        <p:sp>
          <p:nvSpPr>
            <p:cNvPr id="56" name="N50/notch-media/text/045"/>
            <p:cNvSpPr txBox="1"/>
            <p:nvPr/>
          </p:nvSpPr>
          <p:spPr>
            <a:xfrm>
              <a:off x="1581150" y="3543300"/>
              <a:ext cx="3143250" cy="1885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39" b="0" i="0">
                  <a:solidFill>
                    <a:srgbClr val="98989D"/>
                  </a:solidFill>
                  <a:latin typeface="Arial"/>
                </a:rPr>
                <a:t>M83</a:t>
              </a:r>
            </a:p>
          </p:txBody>
        </p:sp>
        <p:sp>
          <p:nvSpPr>
            <p:cNvPr id="57" name="N50/notch-media/text/046"/>
            <p:cNvSpPr txBox="1"/>
            <p:nvPr/>
          </p:nvSpPr>
          <p:spPr>
            <a:xfrm>
              <a:off x="1581150" y="3731895"/>
              <a:ext cx="3143250" cy="1885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39" b="0" i="0">
                  <a:solidFill>
                    <a:srgbClr val="98989D"/>
                  </a:solidFill>
                  <a:latin typeface="Arial"/>
                </a:rPr>
                <a:t>Hurry Up, We're Dreaming</a:t>
              </a:r>
            </a:p>
          </p:txBody>
        </p:sp>
        <p:sp>
          <p:nvSpPr>
            <p:cNvPr id="58" name="N50/notch-media/button-Spotify  ·  2 players ›/047"/>
            <p:cNvSpPr/>
            <p:nvPr/>
          </p:nvSpPr>
          <p:spPr>
            <a:xfrm>
              <a:off x="2262187" y="3962400"/>
              <a:ext cx="1781175" cy="272415"/>
            </a:xfrm>
            <a:prstGeom prst="roundRect">
              <a:avLst>
                <a:gd name="adj" fmla="val 38461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N50/notch-media/rect/048"/>
            <p:cNvSpPr/>
            <p:nvPr/>
          </p:nvSpPr>
          <p:spPr>
            <a:xfrm>
              <a:off x="2398395" y="4067175"/>
              <a:ext cx="104775" cy="83820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0" name="N50/notch-media/line/049"/>
            <p:cNvCxnSpPr/>
            <p:nvPr/>
          </p:nvCxnSpPr>
          <p:spPr>
            <a:xfrm>
              <a:off x="2429827" y="4035742"/>
              <a:ext cx="73343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N50/notch-media/line/050"/>
            <p:cNvCxnSpPr/>
            <p:nvPr/>
          </p:nvCxnSpPr>
          <p:spPr>
            <a:xfrm>
              <a:off x="2503170" y="4035742"/>
              <a:ext cx="0" cy="73343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N50/notch-media/text/051"/>
            <p:cNvSpPr txBox="1"/>
            <p:nvPr/>
          </p:nvSpPr>
          <p:spPr>
            <a:xfrm>
              <a:off x="2597467" y="3962400"/>
              <a:ext cx="1424940" cy="27241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39" b="0" i="0">
                  <a:solidFill>
                    <a:srgbClr val="E5E5EA"/>
                  </a:solidFill>
                  <a:latin typeface="Arial"/>
                </a:rPr>
                <a:t>Spotify  ·  2 players ›</a:t>
              </a:r>
            </a:p>
          </p:txBody>
        </p:sp>
        <p:sp>
          <p:nvSpPr>
            <p:cNvPr id="63" name="N50/notch-media/text/052"/>
            <p:cNvSpPr txBox="1"/>
            <p:nvPr/>
          </p:nvSpPr>
          <p:spPr>
            <a:xfrm>
              <a:off x="1581150" y="4339590"/>
              <a:ext cx="37719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39" b="0" i="0">
                  <a:solidFill>
                    <a:srgbClr val="98989D"/>
                  </a:solidFill>
                  <a:latin typeface="Arial"/>
                </a:rPr>
                <a:t>1:24</a:t>
              </a:r>
            </a:p>
          </p:txBody>
        </p:sp>
        <p:sp>
          <p:nvSpPr>
            <p:cNvPr id="64" name="N50/notch-media/rect/053"/>
            <p:cNvSpPr/>
            <p:nvPr/>
          </p:nvSpPr>
          <p:spPr>
            <a:xfrm>
              <a:off x="2021205" y="4402455"/>
              <a:ext cx="2263140" cy="41910"/>
            </a:xfrm>
            <a:prstGeom prst="roundRect">
              <a:avLst>
                <a:gd name="adj" fmla="val 50000"/>
              </a:avLst>
            </a:prstGeom>
            <a:solidFill>
              <a:srgbClr val="3A3A3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N50/notch-media/rect/054"/>
            <p:cNvSpPr/>
            <p:nvPr/>
          </p:nvSpPr>
          <p:spPr>
            <a:xfrm>
              <a:off x="2021205" y="4402455"/>
              <a:ext cx="792099" cy="41910"/>
            </a:xfrm>
            <a:prstGeom prst="roundRect">
              <a:avLst>
                <a:gd name="adj" fmla="val 50000"/>
              </a:avLst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N50/notch-media/ellipse/055"/>
            <p:cNvSpPr/>
            <p:nvPr/>
          </p:nvSpPr>
          <p:spPr>
            <a:xfrm>
              <a:off x="2750439" y="4360545"/>
              <a:ext cx="125730" cy="125730"/>
            </a:xfrm>
            <a:prstGeom prst="ellipse">
              <a:avLst/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N50/notch-media/text/056"/>
            <p:cNvSpPr txBox="1"/>
            <p:nvPr/>
          </p:nvSpPr>
          <p:spPr>
            <a:xfrm>
              <a:off x="4284345" y="4339590"/>
              <a:ext cx="37719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39" b="0" i="0">
                  <a:solidFill>
                    <a:srgbClr val="98989D"/>
                  </a:solidFill>
                  <a:latin typeface="Arial"/>
                </a:rPr>
                <a:t>4:03</a:t>
              </a:r>
            </a:p>
          </p:txBody>
        </p:sp>
        <p:sp>
          <p:nvSpPr>
            <p:cNvPr id="68" name="N50/notch-media/rect/057"/>
            <p:cNvSpPr/>
            <p:nvPr/>
          </p:nvSpPr>
          <p:spPr>
            <a:xfrm>
              <a:off x="4703445" y="2663190"/>
              <a:ext cx="31432" cy="2095499"/>
            </a:xfrm>
            <a:prstGeom prst="roundRect">
              <a:avLst>
                <a:gd name="adj" fmla="val 50000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N50/notch-media/rect/058"/>
            <p:cNvSpPr/>
            <p:nvPr/>
          </p:nvSpPr>
          <p:spPr>
            <a:xfrm>
              <a:off x="4682490" y="2747010"/>
              <a:ext cx="31432" cy="607695"/>
            </a:xfrm>
            <a:prstGeom prst="roundRect">
              <a:avLst>
                <a:gd name="adj" fmla="val 50000"/>
              </a:avLst>
            </a:prstGeom>
            <a:solidFill>
              <a:srgbClr val="98989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0" name="N50/text/010"/>
          <p:cNvSpPr txBox="1"/>
          <p:nvPr/>
        </p:nvSpPr>
        <p:spPr>
          <a:xfrm>
            <a:off x="1371600" y="4892040"/>
            <a:ext cx="356616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Narrow: art above metadata; transport/volume scroll.</a:t>
            </a:r>
          </a:p>
        </p:txBody>
      </p:sp>
      <p:sp>
        <p:nvSpPr>
          <p:cNvPr id="71" name="N50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N50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73" name="N50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N50/text/014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Art 56 px in compact</a:t>
            </a:r>
          </a:p>
        </p:txBody>
      </p:sp>
      <p:sp>
        <p:nvSpPr>
          <p:cNvPr id="75" name="N50/ellipse/015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N50/text/016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Metadata below art in narrow</a:t>
            </a:r>
          </a:p>
        </p:txBody>
      </p:sp>
      <p:sp>
        <p:nvSpPr>
          <p:cNvPr id="77" name="N50/ellipse/017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N50/text/018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Volume label above slider</a:t>
            </a:r>
          </a:p>
        </p:txBody>
      </p:sp>
      <p:sp>
        <p:nvSpPr>
          <p:cNvPr id="79" name="N50/ellipse/019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N50/text/020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Page scrolls vertically</a:t>
            </a:r>
          </a:p>
        </p:txBody>
      </p:sp>
      <p:cxnSp>
        <p:nvCxnSpPr>
          <p:cNvPr id="81" name="N50/line/021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N50/text/022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83" name="N50/edit-box/023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N50/edit-note/024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Narrow art / metadata order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14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14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14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ALERTS PAGE</a:t>
            </a:r>
          </a:p>
        </p:txBody>
      </p:sp>
      <p:sp>
        <p:nvSpPr>
          <p:cNvPr id="5" name="N14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Alerts — empty</a:t>
            </a:r>
          </a:p>
        </p:txBody>
      </p:sp>
      <p:sp>
        <p:nvSpPr>
          <p:cNvPr id="6" name="N14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560×320 · centered empty-state card</a:t>
            </a:r>
          </a:p>
        </p:txBody>
      </p:sp>
      <p:cxnSp>
        <p:nvCxnSpPr>
          <p:cNvPr id="7" name="N14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14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14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N14</a:t>
            </a:r>
          </a:p>
        </p:txBody>
      </p:sp>
      <p:sp>
        <p:nvSpPr>
          <p:cNvPr id="10" name="N14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20</a:t>
            </a:r>
          </a:p>
        </p:txBody>
      </p:sp>
      <p:grpSp>
        <p:nvGrpSpPr>
          <p:cNvPr id="11" name="N14/notch-notifications"/>
          <p:cNvGrpSpPr/>
          <p:nvPr/>
        </p:nvGrpSpPr>
        <p:grpSpPr>
          <a:xfrm>
            <a:off x="891540" y="1627632"/>
            <a:ext cx="7040880" cy="4023360"/>
            <a:chOff x="891540" y="1627632"/>
            <a:chExt cx="7040880" cy="4023360"/>
          </a:xfrm>
        </p:grpSpPr>
        <p:sp>
          <p:nvSpPr>
            <p:cNvPr id="12" name="N14/notch-notifications/notch-surface-open/001"/>
            <p:cNvSpPr/>
            <p:nvPr/>
          </p:nvSpPr>
          <p:spPr>
            <a:xfrm>
              <a:off x="891540" y="1627632"/>
              <a:ext cx="7040880" cy="4023360"/>
            </a:xfrm>
            <a:custGeom>
              <a:avLst/>
              <a:gdLst/>
              <a:ahLst/>
              <a:cxnLst/>
              <a:rect l="l" t="t" r="r" b="b"/>
              <a:pathLst>
                <a:path w="7040880" h="4023360">
                  <a:moveTo>
                    <a:pt x="0" y="0"/>
                  </a:moveTo>
                  <a:lnTo>
                    <a:pt x="7040880" y="0"/>
                  </a:lnTo>
                  <a:lnTo>
                    <a:pt x="7007753" y="3732"/>
                  </a:lnTo>
                  <a:lnTo>
                    <a:pt x="6969960" y="14930"/>
                  </a:lnTo>
                  <a:lnTo>
                    <a:pt x="6930301" y="33593"/>
                  </a:lnTo>
                  <a:lnTo>
                    <a:pt x="6891575" y="59721"/>
                  </a:lnTo>
                  <a:lnTo>
                    <a:pt x="6856582" y="93315"/>
                  </a:lnTo>
                  <a:lnTo>
                    <a:pt x="6828121" y="134373"/>
                  </a:lnTo>
                  <a:lnTo>
                    <a:pt x="6808991" y="182897"/>
                  </a:lnTo>
                  <a:lnTo>
                    <a:pt x="6801993" y="238887"/>
                  </a:lnTo>
                  <a:lnTo>
                    <a:pt x="6796194" y="3780476"/>
                  </a:lnTo>
                  <a:lnTo>
                    <a:pt x="6779023" y="3837083"/>
                  </a:lnTo>
                  <a:lnTo>
                    <a:pt x="6751138" y="3889252"/>
                  </a:lnTo>
                  <a:lnTo>
                    <a:pt x="6713611" y="3934978"/>
                  </a:lnTo>
                  <a:lnTo>
                    <a:pt x="6667885" y="3972505"/>
                  </a:lnTo>
                  <a:lnTo>
                    <a:pt x="6615716" y="4000390"/>
                  </a:lnTo>
                  <a:lnTo>
                    <a:pt x="6559109" y="4017561"/>
                  </a:lnTo>
                  <a:lnTo>
                    <a:pt x="6500241" y="4023360"/>
                  </a:lnTo>
                  <a:lnTo>
                    <a:pt x="540639" y="4023360"/>
                  </a:lnTo>
                  <a:lnTo>
                    <a:pt x="481770" y="4017561"/>
                  </a:lnTo>
                  <a:lnTo>
                    <a:pt x="425163" y="4000390"/>
                  </a:lnTo>
                  <a:lnTo>
                    <a:pt x="372994" y="3972505"/>
                  </a:lnTo>
                  <a:lnTo>
                    <a:pt x="327268" y="3934978"/>
                  </a:lnTo>
                  <a:lnTo>
                    <a:pt x="289741" y="3889252"/>
                  </a:lnTo>
                  <a:lnTo>
                    <a:pt x="261856" y="3837083"/>
                  </a:lnTo>
                  <a:lnTo>
                    <a:pt x="244685" y="3780476"/>
                  </a:lnTo>
                  <a:lnTo>
                    <a:pt x="238887" y="3721608"/>
                  </a:lnTo>
                  <a:lnTo>
                    <a:pt x="238887" y="238887"/>
                  </a:lnTo>
                  <a:lnTo>
                    <a:pt x="231888" y="182897"/>
                  </a:lnTo>
                  <a:lnTo>
                    <a:pt x="212758" y="134373"/>
                  </a:lnTo>
                  <a:lnTo>
                    <a:pt x="184297" y="93315"/>
                  </a:lnTo>
                  <a:lnTo>
                    <a:pt x="149304" y="59721"/>
                  </a:lnTo>
                  <a:lnTo>
                    <a:pt x="110578" y="33593"/>
                  </a:lnTo>
                  <a:lnTo>
                    <a:pt x="70919" y="14930"/>
                  </a:lnTo>
                  <a:lnTo>
                    <a:pt x="33126" y="37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14/notch-notifications/button-home/002"/>
            <p:cNvSpPr/>
            <p:nvPr/>
          </p:nvSpPr>
          <p:spPr>
            <a:xfrm>
              <a:off x="1143000" y="2218563"/>
              <a:ext cx="402336" cy="377190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14/notch-notifications/poly/003"/>
            <p:cNvSpPr/>
            <p:nvPr/>
          </p:nvSpPr>
          <p:spPr>
            <a:xfrm>
              <a:off x="1268730" y="2331720"/>
              <a:ext cx="150876" cy="150876"/>
            </a:xfrm>
            <a:custGeom>
              <a:avLst/>
              <a:gdLst/>
              <a:ahLst/>
              <a:cxnLst/>
              <a:rect l="l" t="t" r="r" b="b"/>
              <a:pathLst>
                <a:path w="150876" h="150876">
                  <a:moveTo>
                    <a:pt x="75438" y="0"/>
                  </a:moveTo>
                  <a:lnTo>
                    <a:pt x="0" y="62865"/>
                  </a:lnTo>
                  <a:lnTo>
                    <a:pt x="25146" y="62865"/>
                  </a:lnTo>
                  <a:lnTo>
                    <a:pt x="25146" y="150876"/>
                  </a:lnTo>
                  <a:lnTo>
                    <a:pt x="62865" y="150876"/>
                  </a:lnTo>
                  <a:lnTo>
                    <a:pt x="62865" y="100584"/>
                  </a:lnTo>
                  <a:lnTo>
                    <a:pt x="88011" y="100584"/>
                  </a:lnTo>
                  <a:lnTo>
                    <a:pt x="88011" y="150876"/>
                  </a:lnTo>
                  <a:lnTo>
                    <a:pt x="125730" y="150876"/>
                  </a:lnTo>
                  <a:lnTo>
                    <a:pt x="125730" y="62865"/>
                  </a:lnTo>
                  <a:lnTo>
                    <a:pt x="150876" y="62865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14/notch-notifications/button-music/004"/>
            <p:cNvSpPr/>
            <p:nvPr/>
          </p:nvSpPr>
          <p:spPr>
            <a:xfrm>
              <a:off x="1595628" y="2218563"/>
              <a:ext cx="402336" cy="377190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N14/notch-notifications/line/005"/>
            <p:cNvCxnSpPr/>
            <p:nvPr/>
          </p:nvCxnSpPr>
          <p:spPr>
            <a:xfrm flipV="1">
              <a:off x="1771650" y="2356866"/>
              <a:ext cx="0" cy="1005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N14/notch-notifications/line/006"/>
            <p:cNvCxnSpPr/>
            <p:nvPr/>
          </p:nvCxnSpPr>
          <p:spPr>
            <a:xfrm flipV="1">
              <a:off x="1771650" y="2344293"/>
              <a:ext cx="88011" cy="1257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14/notch-notifications/line/007"/>
            <p:cNvCxnSpPr/>
            <p:nvPr/>
          </p:nvCxnSpPr>
          <p:spPr>
            <a:xfrm>
              <a:off x="1859661" y="2344293"/>
              <a:ext cx="0" cy="1005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N14/notch-notifications/ellipse/008"/>
            <p:cNvSpPr/>
            <p:nvPr/>
          </p:nvSpPr>
          <p:spPr>
            <a:xfrm>
              <a:off x="1733931" y="2438590"/>
              <a:ext cx="44005" cy="37719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14/notch-notifications/ellipse/009"/>
            <p:cNvSpPr/>
            <p:nvPr/>
          </p:nvSpPr>
          <p:spPr>
            <a:xfrm>
              <a:off x="1821942" y="2426017"/>
              <a:ext cx="44005" cy="37719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14/notch-notifications/button-Alerts/010"/>
            <p:cNvSpPr/>
            <p:nvPr/>
          </p:nvSpPr>
          <p:spPr>
            <a:xfrm>
              <a:off x="2048256" y="2218563"/>
              <a:ext cx="1351848" cy="377190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14/notch-notifications/poly/011"/>
            <p:cNvSpPr/>
            <p:nvPr/>
          </p:nvSpPr>
          <p:spPr>
            <a:xfrm>
              <a:off x="2306756" y="2331720"/>
              <a:ext cx="125730" cy="113157"/>
            </a:xfrm>
            <a:custGeom>
              <a:avLst/>
              <a:gdLst/>
              <a:ahLst/>
              <a:cxnLst/>
              <a:rect l="l" t="t" r="r" b="b"/>
              <a:pathLst>
                <a:path w="125730" h="113157">
                  <a:moveTo>
                    <a:pt x="62865" y="0"/>
                  </a:moveTo>
                  <a:lnTo>
                    <a:pt x="25146" y="25146"/>
                  </a:lnTo>
                  <a:lnTo>
                    <a:pt x="12573" y="75438"/>
                  </a:lnTo>
                  <a:lnTo>
                    <a:pt x="0" y="113157"/>
                  </a:lnTo>
                  <a:lnTo>
                    <a:pt x="125730" y="113157"/>
                  </a:lnTo>
                  <a:lnTo>
                    <a:pt x="113157" y="75438"/>
                  </a:lnTo>
                  <a:lnTo>
                    <a:pt x="100584" y="25146"/>
                  </a:lnTo>
                  <a:close/>
                </a:path>
              </a:pathLst>
            </a:custGeom>
            <a:noFill/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N14/notch-notifications/line/012"/>
            <p:cNvCxnSpPr/>
            <p:nvPr/>
          </p:nvCxnSpPr>
          <p:spPr>
            <a:xfrm>
              <a:off x="2344475" y="2470023"/>
              <a:ext cx="50292" cy="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N14/notch-notifications/ellipse/013"/>
            <p:cNvSpPr/>
            <p:nvPr/>
          </p:nvSpPr>
          <p:spPr>
            <a:xfrm>
              <a:off x="2357048" y="2319147"/>
              <a:ext cx="25146" cy="2514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14/notch-notifications/text/014"/>
            <p:cNvSpPr txBox="1"/>
            <p:nvPr/>
          </p:nvSpPr>
          <p:spPr>
            <a:xfrm>
              <a:off x="2545643" y="2218563"/>
              <a:ext cx="829315" cy="3771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6" b="1" i="0">
                  <a:solidFill>
                    <a:srgbClr val="FFFFFF"/>
                  </a:solidFill>
                  <a:latin typeface="Arial"/>
                </a:rPr>
                <a:t>Alerts</a:t>
              </a:r>
            </a:p>
          </p:txBody>
        </p:sp>
        <p:sp>
          <p:nvSpPr>
            <p:cNvPr id="26" name="N14/notch-notifications/button-chart/015"/>
            <p:cNvSpPr/>
            <p:nvPr/>
          </p:nvSpPr>
          <p:spPr>
            <a:xfrm>
              <a:off x="3450396" y="2218563"/>
              <a:ext cx="402336" cy="377190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N14/notch-notifications/line/016"/>
            <p:cNvCxnSpPr/>
            <p:nvPr/>
          </p:nvCxnSpPr>
          <p:spPr>
            <a:xfrm>
              <a:off x="3576126" y="2482596"/>
              <a:ext cx="150876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14/notch-notifications/line/017"/>
            <p:cNvCxnSpPr/>
            <p:nvPr/>
          </p:nvCxnSpPr>
          <p:spPr>
            <a:xfrm flipV="1">
              <a:off x="3588699" y="2394585"/>
              <a:ext cx="37719" cy="5029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14/notch-notifications/line/018"/>
            <p:cNvCxnSpPr/>
            <p:nvPr/>
          </p:nvCxnSpPr>
          <p:spPr>
            <a:xfrm>
              <a:off x="3626418" y="2394585"/>
              <a:ext cx="37719" cy="2514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N14/notch-notifications/line/019"/>
            <p:cNvCxnSpPr/>
            <p:nvPr/>
          </p:nvCxnSpPr>
          <p:spPr>
            <a:xfrm flipV="1">
              <a:off x="3664137" y="2344293"/>
              <a:ext cx="50292" cy="7543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N14/notch-notifications/button-folder/020"/>
            <p:cNvSpPr/>
            <p:nvPr/>
          </p:nvSpPr>
          <p:spPr>
            <a:xfrm>
              <a:off x="3903024" y="2218563"/>
              <a:ext cx="402336" cy="377190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14/notch-notifications/poly/021"/>
            <p:cNvSpPr/>
            <p:nvPr/>
          </p:nvSpPr>
          <p:spPr>
            <a:xfrm>
              <a:off x="4028754" y="2369439"/>
              <a:ext cx="150876" cy="100584"/>
            </a:xfrm>
            <a:custGeom>
              <a:avLst/>
              <a:gdLst/>
              <a:ahLst/>
              <a:cxnLst/>
              <a:rect l="l" t="t" r="r" b="b"/>
              <a:pathLst>
                <a:path w="150876" h="100584">
                  <a:moveTo>
                    <a:pt x="0" y="0"/>
                  </a:moveTo>
                  <a:lnTo>
                    <a:pt x="50292" y="0"/>
                  </a:lnTo>
                  <a:lnTo>
                    <a:pt x="69152" y="25146"/>
                  </a:lnTo>
                  <a:lnTo>
                    <a:pt x="150876" y="25146"/>
                  </a:lnTo>
                  <a:lnTo>
                    <a:pt x="150876" y="100584"/>
                  </a:lnTo>
                  <a:lnTo>
                    <a:pt x="0" y="100584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14/notch-notifications/button-clipboard/022"/>
            <p:cNvSpPr/>
            <p:nvPr/>
          </p:nvSpPr>
          <p:spPr>
            <a:xfrm>
              <a:off x="4355652" y="2218563"/>
              <a:ext cx="402336" cy="377190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14/notch-notifications/rect/023"/>
            <p:cNvSpPr/>
            <p:nvPr/>
          </p:nvSpPr>
          <p:spPr>
            <a:xfrm>
              <a:off x="4506528" y="2344293"/>
              <a:ext cx="100584" cy="138303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14/notch-notifications/rect/024"/>
            <p:cNvSpPr/>
            <p:nvPr/>
          </p:nvSpPr>
          <p:spPr>
            <a:xfrm>
              <a:off x="4531674" y="2325433"/>
              <a:ext cx="50292" cy="31432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N14/notch-notifications/line/025"/>
            <p:cNvCxnSpPr/>
            <p:nvPr/>
          </p:nvCxnSpPr>
          <p:spPr>
            <a:xfrm>
              <a:off x="4531674" y="2394585"/>
              <a:ext cx="5029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N14/notch-notifications/line/026"/>
            <p:cNvCxnSpPr/>
            <p:nvPr/>
          </p:nvCxnSpPr>
          <p:spPr>
            <a:xfrm>
              <a:off x="4531674" y="2426017"/>
              <a:ext cx="5029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N14/notch-notifications/button-gear/027"/>
            <p:cNvSpPr/>
            <p:nvPr/>
          </p:nvSpPr>
          <p:spPr>
            <a:xfrm>
              <a:off x="6800850" y="2205990"/>
              <a:ext cx="402336" cy="402336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14/notch-notifications/ellipse/028"/>
            <p:cNvSpPr/>
            <p:nvPr/>
          </p:nvSpPr>
          <p:spPr>
            <a:xfrm>
              <a:off x="6964299" y="2369439"/>
              <a:ext cx="75438" cy="75438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14/notch-notifications/line/029"/>
            <p:cNvCxnSpPr/>
            <p:nvPr/>
          </p:nvCxnSpPr>
          <p:spPr>
            <a:xfrm>
              <a:off x="7064883" y="2407158"/>
              <a:ext cx="25146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14/notch-notifications/line/030"/>
            <p:cNvCxnSpPr/>
            <p:nvPr/>
          </p:nvCxnSpPr>
          <p:spPr>
            <a:xfrm>
              <a:off x="7046470" y="2451610"/>
              <a:ext cx="17781" cy="1778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14/notch-notifications/line/031"/>
            <p:cNvCxnSpPr/>
            <p:nvPr/>
          </p:nvCxnSpPr>
          <p:spPr>
            <a:xfrm>
              <a:off x="7002018" y="2470023"/>
              <a:ext cx="0" cy="2514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14/notch-notifications/line/032"/>
            <p:cNvCxnSpPr/>
            <p:nvPr/>
          </p:nvCxnSpPr>
          <p:spPr>
            <a:xfrm flipH="1">
              <a:off x="6939784" y="2451610"/>
              <a:ext cx="17781" cy="1778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14/notch-notifications/line/033"/>
            <p:cNvCxnSpPr/>
            <p:nvPr/>
          </p:nvCxnSpPr>
          <p:spPr>
            <a:xfrm flipH="1">
              <a:off x="6914007" y="2407158"/>
              <a:ext cx="25146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14/notch-notifications/line/034"/>
            <p:cNvCxnSpPr/>
            <p:nvPr/>
          </p:nvCxnSpPr>
          <p:spPr>
            <a:xfrm flipH="1" flipV="1">
              <a:off x="6939784" y="2344924"/>
              <a:ext cx="17781" cy="1778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14/notch-notifications/line/035"/>
            <p:cNvCxnSpPr/>
            <p:nvPr/>
          </p:nvCxnSpPr>
          <p:spPr>
            <a:xfrm flipV="1">
              <a:off x="7002018" y="2319147"/>
              <a:ext cx="0" cy="2514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14/notch-notifications/line/036"/>
            <p:cNvCxnSpPr/>
            <p:nvPr/>
          </p:nvCxnSpPr>
          <p:spPr>
            <a:xfrm flipV="1">
              <a:off x="7046470" y="2344924"/>
              <a:ext cx="17781" cy="1778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14/notch-notifications/button-close/037"/>
            <p:cNvSpPr/>
            <p:nvPr/>
          </p:nvSpPr>
          <p:spPr>
            <a:xfrm>
              <a:off x="7278624" y="2205990"/>
              <a:ext cx="402336" cy="402336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14/notch-notifications/line/038"/>
            <p:cNvCxnSpPr/>
            <p:nvPr/>
          </p:nvCxnSpPr>
          <p:spPr>
            <a:xfrm>
              <a:off x="7429500" y="2356866"/>
              <a:ext cx="100583" cy="1005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14/notch-notifications/line/039"/>
            <p:cNvCxnSpPr/>
            <p:nvPr/>
          </p:nvCxnSpPr>
          <p:spPr>
            <a:xfrm flipH="1">
              <a:off x="7429500" y="2356866"/>
              <a:ext cx="100583" cy="1005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14/notch-notifications/text/040"/>
            <p:cNvSpPr txBox="1"/>
            <p:nvPr/>
          </p:nvSpPr>
          <p:spPr>
            <a:xfrm>
              <a:off x="1268730" y="2683764"/>
              <a:ext cx="3595878" cy="2766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5" b="1" i="0">
                  <a:solidFill>
                    <a:srgbClr val="F5F5F7"/>
                  </a:solidFill>
                  <a:latin typeface="Arial"/>
                </a:rPr>
                <a:t>0 notifications</a:t>
              </a:r>
            </a:p>
          </p:txBody>
        </p:sp>
        <p:sp>
          <p:nvSpPr>
            <p:cNvPr id="52" name="N14/notch-notifications/button-Clear all/041"/>
            <p:cNvSpPr/>
            <p:nvPr/>
          </p:nvSpPr>
          <p:spPr>
            <a:xfrm>
              <a:off x="6423660" y="2658618"/>
              <a:ext cx="1257300" cy="352044"/>
            </a:xfrm>
            <a:prstGeom prst="roundRect">
              <a:avLst>
                <a:gd name="adj" fmla="val 35714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3" name="N14/notch-notifications/line/042"/>
            <p:cNvCxnSpPr/>
            <p:nvPr/>
          </p:nvCxnSpPr>
          <p:spPr>
            <a:xfrm>
              <a:off x="6523992" y="2796921"/>
              <a:ext cx="125730" cy="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N14/notch-notifications/rect/043"/>
            <p:cNvSpPr/>
            <p:nvPr/>
          </p:nvSpPr>
          <p:spPr>
            <a:xfrm>
              <a:off x="6549138" y="2796921"/>
              <a:ext cx="75438" cy="113157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6363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5" name="N14/notch-notifications/line/044"/>
            <p:cNvCxnSpPr/>
            <p:nvPr/>
          </p:nvCxnSpPr>
          <p:spPr>
            <a:xfrm>
              <a:off x="6561711" y="2771775"/>
              <a:ext cx="50292" cy="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N14/notch-notifications/line/045"/>
            <p:cNvCxnSpPr/>
            <p:nvPr/>
          </p:nvCxnSpPr>
          <p:spPr>
            <a:xfrm>
              <a:off x="6574284" y="2822067"/>
              <a:ext cx="0" cy="62865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N14/notch-notifications/line/046"/>
            <p:cNvCxnSpPr/>
            <p:nvPr/>
          </p:nvCxnSpPr>
          <p:spPr>
            <a:xfrm>
              <a:off x="6599430" y="2822067"/>
              <a:ext cx="0" cy="62865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N14/notch-notifications/text/047"/>
            <p:cNvSpPr txBox="1"/>
            <p:nvPr/>
          </p:nvSpPr>
          <p:spPr>
            <a:xfrm>
              <a:off x="6762879" y="2658618"/>
              <a:ext cx="892934" cy="35204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47" b="0" i="0">
                  <a:solidFill>
                    <a:srgbClr val="636366"/>
                  </a:solidFill>
                  <a:latin typeface="Arial"/>
                </a:rPr>
                <a:t>Clear all</a:t>
              </a:r>
            </a:p>
          </p:txBody>
        </p:sp>
        <p:sp>
          <p:nvSpPr>
            <p:cNvPr id="59" name="N14/notch-notifications/text/048"/>
            <p:cNvSpPr txBox="1"/>
            <p:nvPr/>
          </p:nvSpPr>
          <p:spPr>
            <a:xfrm>
              <a:off x="1268730" y="3010662"/>
              <a:ext cx="6537960" cy="22631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47" b="0" i="0">
                  <a:solidFill>
                    <a:srgbClr val="98989D"/>
                  </a:solidFill>
                  <a:latin typeface="Arial"/>
                </a:rPr>
                <a:t>Friday, October 30</a:t>
              </a:r>
            </a:p>
          </p:txBody>
        </p:sp>
        <p:sp>
          <p:nvSpPr>
            <p:cNvPr id="60" name="N14/notch-notifications/empty-state/049"/>
            <p:cNvSpPr/>
            <p:nvPr/>
          </p:nvSpPr>
          <p:spPr>
            <a:xfrm>
              <a:off x="1143000" y="3337560"/>
              <a:ext cx="6537960" cy="2112264"/>
            </a:xfrm>
            <a:prstGeom prst="roundRect">
              <a:avLst>
                <a:gd name="adj" fmla="val 8333"/>
              </a:avLst>
            </a:prstGeom>
            <a:solidFill>
              <a:srgbClr val="0A0A0B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N14/notch-notifications/poly/050"/>
            <p:cNvSpPr/>
            <p:nvPr/>
          </p:nvSpPr>
          <p:spPr>
            <a:xfrm>
              <a:off x="4286250" y="3589020"/>
              <a:ext cx="251460" cy="226314"/>
            </a:xfrm>
            <a:custGeom>
              <a:avLst/>
              <a:gdLst/>
              <a:ahLst/>
              <a:cxnLst/>
              <a:rect l="l" t="t" r="r" b="b"/>
              <a:pathLst>
                <a:path w="251460" h="226314">
                  <a:moveTo>
                    <a:pt x="125730" y="0"/>
                  </a:moveTo>
                  <a:lnTo>
                    <a:pt x="50292" y="50292"/>
                  </a:lnTo>
                  <a:lnTo>
                    <a:pt x="25146" y="150876"/>
                  </a:lnTo>
                  <a:lnTo>
                    <a:pt x="0" y="226314"/>
                  </a:lnTo>
                  <a:lnTo>
                    <a:pt x="251460" y="226314"/>
                  </a:lnTo>
                  <a:lnTo>
                    <a:pt x="226314" y="150876"/>
                  </a:lnTo>
                  <a:lnTo>
                    <a:pt x="201168" y="50292"/>
                  </a:lnTo>
                  <a:close/>
                </a:path>
              </a:pathLst>
            </a:custGeom>
            <a:noFill/>
            <a:ln w="12700">
              <a:solidFill>
                <a:srgbClr val="8E8E9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2" name="N14/notch-notifications/line/051"/>
            <p:cNvCxnSpPr/>
            <p:nvPr/>
          </p:nvCxnSpPr>
          <p:spPr>
            <a:xfrm>
              <a:off x="4361688" y="3865626"/>
              <a:ext cx="100584" cy="0"/>
            </a:xfrm>
            <a:prstGeom prst="line">
              <a:avLst/>
            </a:prstGeom>
            <a:ln w="10160">
              <a:solidFill>
                <a:srgbClr val="8E8E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N14/notch-notifications/ellipse/052"/>
            <p:cNvSpPr/>
            <p:nvPr/>
          </p:nvSpPr>
          <p:spPr>
            <a:xfrm>
              <a:off x="4386834" y="3563874"/>
              <a:ext cx="50292" cy="50292"/>
            </a:xfrm>
            <a:prstGeom prst="ellipse">
              <a:avLst/>
            </a:prstGeom>
            <a:solidFill>
              <a:srgbClr val="8E8E9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N14/notch-notifications/text/053"/>
            <p:cNvSpPr txBox="1"/>
            <p:nvPr/>
          </p:nvSpPr>
          <p:spPr>
            <a:xfrm>
              <a:off x="1293876" y="4016502"/>
              <a:ext cx="6236208" cy="2514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6" b="1" i="0">
                  <a:solidFill>
                    <a:srgbClr val="F5F5F7"/>
                  </a:solidFill>
                  <a:latin typeface="Arial"/>
                </a:rPr>
                <a:t>No notifications</a:t>
              </a:r>
            </a:p>
          </p:txBody>
        </p:sp>
        <p:sp>
          <p:nvSpPr>
            <p:cNvPr id="65" name="N14/notch-notifications/text/054"/>
            <p:cNvSpPr txBox="1"/>
            <p:nvPr/>
          </p:nvSpPr>
          <p:spPr>
            <a:xfrm>
              <a:off x="1369314" y="4318254"/>
              <a:ext cx="6085332" cy="103098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47" b="0" i="0">
                  <a:solidFill>
                    <a:srgbClr val="98989D"/>
                  </a:solidFill>
                  <a:latin typeface="Arial"/>
                </a:rPr>
                <a:t>New alerts will peek here.</a:t>
              </a:r>
            </a:p>
          </p:txBody>
        </p:sp>
      </p:grpSp>
      <p:sp>
        <p:nvSpPr>
          <p:cNvPr id="66" name="N14/text/010"/>
          <p:cNvSpPr txBox="1"/>
          <p:nvPr/>
        </p:nvSpPr>
        <p:spPr>
          <a:xfrm>
            <a:off x="891540" y="5779008"/>
            <a:ext cx="704088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Clear all disabled when count=0. Shared emptyState() rhythm.</a:t>
            </a:r>
          </a:p>
        </p:txBody>
      </p:sp>
      <p:sp>
        <p:nvSpPr>
          <p:cNvPr id="67" name="N14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N14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69" name="N14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N14/text/014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Count + Clear all header</a:t>
            </a:r>
          </a:p>
        </p:txBody>
      </p:sp>
      <p:sp>
        <p:nvSpPr>
          <p:cNvPr id="71" name="N14/ellipse/015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N14/text/016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Weekday date subtitle</a:t>
            </a:r>
          </a:p>
        </p:txBody>
      </p:sp>
      <p:sp>
        <p:nvSpPr>
          <p:cNvPr id="73" name="N14/ellipse/017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N14/text/018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Empty icon 32 px</a:t>
            </a:r>
          </a:p>
        </p:txBody>
      </p:sp>
      <p:sp>
        <p:nvSpPr>
          <p:cNvPr id="75" name="N14/ellipse/019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N14/text/020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Title + one-line body centered</a:t>
            </a:r>
          </a:p>
        </p:txBody>
      </p:sp>
      <p:sp>
        <p:nvSpPr>
          <p:cNvPr id="77" name="N14/text/021"/>
          <p:cNvSpPr txBox="1"/>
          <p:nvPr/>
        </p:nvSpPr>
        <p:spPr>
          <a:xfrm>
            <a:off x="8641080" y="3182112"/>
            <a:ext cx="2862072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4D2FF"/>
                </a:solidFill>
                <a:latin typeface="Arial"/>
              </a:rPr>
              <a:t>YOUR UPLOADED EDIT</a:t>
            </a:r>
          </a:p>
        </p:txBody>
      </p:sp>
      <p:sp>
        <p:nvSpPr>
          <p:cNvPr id="78" name="N14/text/022"/>
          <p:cNvSpPr txBox="1"/>
          <p:nvPr/>
        </p:nvSpPr>
        <p:spPr>
          <a:xfrm>
            <a:off x="8641080" y="3419856"/>
            <a:ext cx="286207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D2FF"/>
                </a:solidFill>
                <a:latin typeface="Arial"/>
              </a:rPr>
              <a:t>• Count/date indented to card padding.</a:t>
            </a:r>
          </a:p>
        </p:txBody>
      </p:sp>
      <p:cxnSp>
        <p:nvCxnSpPr>
          <p:cNvPr id="79" name="N14/line/023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N14/text/024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81" name="N14/edit-box/025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N14/edit-note/026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Empty card height / icon / copy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15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15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15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ALERTS PAGE</a:t>
            </a:r>
          </a:p>
        </p:txBody>
      </p:sp>
      <p:sp>
        <p:nvSpPr>
          <p:cNvPr id="5" name="N15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Alerts — populated</a:t>
            </a:r>
          </a:p>
        </p:txBody>
      </p:sp>
      <p:sp>
        <p:nvSpPr>
          <p:cNvPr id="6" name="N15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Notification cards keep native actions; list scrolls vertically</a:t>
            </a:r>
          </a:p>
        </p:txBody>
      </p:sp>
      <p:cxnSp>
        <p:nvCxnSpPr>
          <p:cNvPr id="7" name="N15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15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15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N15</a:t>
            </a:r>
          </a:p>
        </p:txBody>
      </p:sp>
      <p:sp>
        <p:nvSpPr>
          <p:cNvPr id="10" name="N15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21</a:t>
            </a:r>
          </a:p>
        </p:txBody>
      </p:sp>
      <p:grpSp>
        <p:nvGrpSpPr>
          <p:cNvPr id="11" name="N15/notch-notifications"/>
          <p:cNvGrpSpPr/>
          <p:nvPr/>
        </p:nvGrpSpPr>
        <p:grpSpPr>
          <a:xfrm>
            <a:off x="891540" y="1627632"/>
            <a:ext cx="7040880" cy="4023360"/>
            <a:chOff x="891540" y="1627632"/>
            <a:chExt cx="7040880" cy="4023360"/>
          </a:xfrm>
        </p:grpSpPr>
        <p:sp>
          <p:nvSpPr>
            <p:cNvPr id="12" name="N15/notch-notifications/notch-surface-open/001"/>
            <p:cNvSpPr/>
            <p:nvPr/>
          </p:nvSpPr>
          <p:spPr>
            <a:xfrm>
              <a:off x="891540" y="1627632"/>
              <a:ext cx="7040880" cy="4023360"/>
            </a:xfrm>
            <a:custGeom>
              <a:avLst/>
              <a:gdLst/>
              <a:ahLst/>
              <a:cxnLst/>
              <a:rect l="l" t="t" r="r" b="b"/>
              <a:pathLst>
                <a:path w="7040880" h="4023360">
                  <a:moveTo>
                    <a:pt x="0" y="0"/>
                  </a:moveTo>
                  <a:lnTo>
                    <a:pt x="7040880" y="0"/>
                  </a:lnTo>
                  <a:lnTo>
                    <a:pt x="7007753" y="3732"/>
                  </a:lnTo>
                  <a:lnTo>
                    <a:pt x="6969960" y="14930"/>
                  </a:lnTo>
                  <a:lnTo>
                    <a:pt x="6930301" y="33593"/>
                  </a:lnTo>
                  <a:lnTo>
                    <a:pt x="6891575" y="59721"/>
                  </a:lnTo>
                  <a:lnTo>
                    <a:pt x="6856582" y="93315"/>
                  </a:lnTo>
                  <a:lnTo>
                    <a:pt x="6828121" y="134373"/>
                  </a:lnTo>
                  <a:lnTo>
                    <a:pt x="6808991" y="182897"/>
                  </a:lnTo>
                  <a:lnTo>
                    <a:pt x="6801993" y="238887"/>
                  </a:lnTo>
                  <a:lnTo>
                    <a:pt x="6796194" y="3780476"/>
                  </a:lnTo>
                  <a:lnTo>
                    <a:pt x="6779023" y="3837083"/>
                  </a:lnTo>
                  <a:lnTo>
                    <a:pt x="6751138" y="3889252"/>
                  </a:lnTo>
                  <a:lnTo>
                    <a:pt x="6713611" y="3934978"/>
                  </a:lnTo>
                  <a:lnTo>
                    <a:pt x="6667885" y="3972505"/>
                  </a:lnTo>
                  <a:lnTo>
                    <a:pt x="6615716" y="4000390"/>
                  </a:lnTo>
                  <a:lnTo>
                    <a:pt x="6559109" y="4017561"/>
                  </a:lnTo>
                  <a:lnTo>
                    <a:pt x="6500241" y="4023360"/>
                  </a:lnTo>
                  <a:lnTo>
                    <a:pt x="540639" y="4023360"/>
                  </a:lnTo>
                  <a:lnTo>
                    <a:pt x="481770" y="4017561"/>
                  </a:lnTo>
                  <a:lnTo>
                    <a:pt x="425163" y="4000390"/>
                  </a:lnTo>
                  <a:lnTo>
                    <a:pt x="372994" y="3972505"/>
                  </a:lnTo>
                  <a:lnTo>
                    <a:pt x="327268" y="3934978"/>
                  </a:lnTo>
                  <a:lnTo>
                    <a:pt x="289741" y="3889252"/>
                  </a:lnTo>
                  <a:lnTo>
                    <a:pt x="261856" y="3837083"/>
                  </a:lnTo>
                  <a:lnTo>
                    <a:pt x="244685" y="3780476"/>
                  </a:lnTo>
                  <a:lnTo>
                    <a:pt x="238887" y="3721608"/>
                  </a:lnTo>
                  <a:lnTo>
                    <a:pt x="238887" y="238887"/>
                  </a:lnTo>
                  <a:lnTo>
                    <a:pt x="231888" y="182897"/>
                  </a:lnTo>
                  <a:lnTo>
                    <a:pt x="212758" y="134373"/>
                  </a:lnTo>
                  <a:lnTo>
                    <a:pt x="184297" y="93315"/>
                  </a:lnTo>
                  <a:lnTo>
                    <a:pt x="149304" y="59721"/>
                  </a:lnTo>
                  <a:lnTo>
                    <a:pt x="110578" y="33593"/>
                  </a:lnTo>
                  <a:lnTo>
                    <a:pt x="70919" y="14930"/>
                  </a:lnTo>
                  <a:lnTo>
                    <a:pt x="33126" y="37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15/notch-notifications/button-home/002"/>
            <p:cNvSpPr/>
            <p:nvPr/>
          </p:nvSpPr>
          <p:spPr>
            <a:xfrm>
              <a:off x="1143000" y="2218563"/>
              <a:ext cx="402336" cy="377190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15/notch-notifications/poly/003"/>
            <p:cNvSpPr/>
            <p:nvPr/>
          </p:nvSpPr>
          <p:spPr>
            <a:xfrm>
              <a:off x="1268730" y="2331720"/>
              <a:ext cx="150876" cy="150876"/>
            </a:xfrm>
            <a:custGeom>
              <a:avLst/>
              <a:gdLst/>
              <a:ahLst/>
              <a:cxnLst/>
              <a:rect l="l" t="t" r="r" b="b"/>
              <a:pathLst>
                <a:path w="150876" h="150876">
                  <a:moveTo>
                    <a:pt x="75438" y="0"/>
                  </a:moveTo>
                  <a:lnTo>
                    <a:pt x="0" y="62865"/>
                  </a:lnTo>
                  <a:lnTo>
                    <a:pt x="25146" y="62865"/>
                  </a:lnTo>
                  <a:lnTo>
                    <a:pt x="25146" y="150876"/>
                  </a:lnTo>
                  <a:lnTo>
                    <a:pt x="62865" y="150876"/>
                  </a:lnTo>
                  <a:lnTo>
                    <a:pt x="62865" y="100584"/>
                  </a:lnTo>
                  <a:lnTo>
                    <a:pt x="88011" y="100584"/>
                  </a:lnTo>
                  <a:lnTo>
                    <a:pt x="88011" y="150876"/>
                  </a:lnTo>
                  <a:lnTo>
                    <a:pt x="125730" y="150876"/>
                  </a:lnTo>
                  <a:lnTo>
                    <a:pt x="125730" y="62865"/>
                  </a:lnTo>
                  <a:lnTo>
                    <a:pt x="150876" y="62865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15/notch-notifications/button-music/004"/>
            <p:cNvSpPr/>
            <p:nvPr/>
          </p:nvSpPr>
          <p:spPr>
            <a:xfrm>
              <a:off x="1595628" y="2218563"/>
              <a:ext cx="402336" cy="377190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N15/notch-notifications/line/005"/>
            <p:cNvCxnSpPr/>
            <p:nvPr/>
          </p:nvCxnSpPr>
          <p:spPr>
            <a:xfrm flipV="1">
              <a:off x="1771650" y="2356866"/>
              <a:ext cx="0" cy="1005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N15/notch-notifications/line/006"/>
            <p:cNvCxnSpPr/>
            <p:nvPr/>
          </p:nvCxnSpPr>
          <p:spPr>
            <a:xfrm flipV="1">
              <a:off x="1771650" y="2344293"/>
              <a:ext cx="88011" cy="1257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15/notch-notifications/line/007"/>
            <p:cNvCxnSpPr/>
            <p:nvPr/>
          </p:nvCxnSpPr>
          <p:spPr>
            <a:xfrm>
              <a:off x="1859661" y="2344293"/>
              <a:ext cx="0" cy="1005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N15/notch-notifications/ellipse/008"/>
            <p:cNvSpPr/>
            <p:nvPr/>
          </p:nvSpPr>
          <p:spPr>
            <a:xfrm>
              <a:off x="1733931" y="2438590"/>
              <a:ext cx="44005" cy="37719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15/notch-notifications/ellipse/009"/>
            <p:cNvSpPr/>
            <p:nvPr/>
          </p:nvSpPr>
          <p:spPr>
            <a:xfrm>
              <a:off x="1821942" y="2426017"/>
              <a:ext cx="44005" cy="37719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15/notch-notifications/button-Alerts/010"/>
            <p:cNvSpPr/>
            <p:nvPr/>
          </p:nvSpPr>
          <p:spPr>
            <a:xfrm>
              <a:off x="2048256" y="2218563"/>
              <a:ext cx="1351848" cy="377190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15/notch-notifications/poly/011"/>
            <p:cNvSpPr/>
            <p:nvPr/>
          </p:nvSpPr>
          <p:spPr>
            <a:xfrm>
              <a:off x="2306756" y="2331720"/>
              <a:ext cx="125730" cy="113157"/>
            </a:xfrm>
            <a:custGeom>
              <a:avLst/>
              <a:gdLst/>
              <a:ahLst/>
              <a:cxnLst/>
              <a:rect l="l" t="t" r="r" b="b"/>
              <a:pathLst>
                <a:path w="125730" h="113157">
                  <a:moveTo>
                    <a:pt x="62865" y="0"/>
                  </a:moveTo>
                  <a:lnTo>
                    <a:pt x="25146" y="25146"/>
                  </a:lnTo>
                  <a:lnTo>
                    <a:pt x="12573" y="75438"/>
                  </a:lnTo>
                  <a:lnTo>
                    <a:pt x="0" y="113157"/>
                  </a:lnTo>
                  <a:lnTo>
                    <a:pt x="125730" y="113157"/>
                  </a:lnTo>
                  <a:lnTo>
                    <a:pt x="113157" y="75438"/>
                  </a:lnTo>
                  <a:lnTo>
                    <a:pt x="100584" y="25146"/>
                  </a:lnTo>
                  <a:close/>
                </a:path>
              </a:pathLst>
            </a:custGeom>
            <a:noFill/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N15/notch-notifications/line/012"/>
            <p:cNvCxnSpPr/>
            <p:nvPr/>
          </p:nvCxnSpPr>
          <p:spPr>
            <a:xfrm>
              <a:off x="2344475" y="2470023"/>
              <a:ext cx="50292" cy="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N15/notch-notifications/ellipse/013"/>
            <p:cNvSpPr/>
            <p:nvPr/>
          </p:nvSpPr>
          <p:spPr>
            <a:xfrm>
              <a:off x="2357048" y="2319147"/>
              <a:ext cx="25146" cy="2514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15/notch-notifications/text/014"/>
            <p:cNvSpPr txBox="1"/>
            <p:nvPr/>
          </p:nvSpPr>
          <p:spPr>
            <a:xfrm>
              <a:off x="2545643" y="2218563"/>
              <a:ext cx="829315" cy="3771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6" b="1" i="0">
                  <a:solidFill>
                    <a:srgbClr val="FFFFFF"/>
                  </a:solidFill>
                  <a:latin typeface="Arial"/>
                </a:rPr>
                <a:t>Alerts</a:t>
              </a:r>
            </a:p>
          </p:txBody>
        </p:sp>
        <p:sp>
          <p:nvSpPr>
            <p:cNvPr id="26" name="N15/notch-notifications/button-chart/015"/>
            <p:cNvSpPr/>
            <p:nvPr/>
          </p:nvSpPr>
          <p:spPr>
            <a:xfrm>
              <a:off x="3450396" y="2218563"/>
              <a:ext cx="402336" cy="377190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N15/notch-notifications/line/016"/>
            <p:cNvCxnSpPr/>
            <p:nvPr/>
          </p:nvCxnSpPr>
          <p:spPr>
            <a:xfrm>
              <a:off x="3576126" y="2482596"/>
              <a:ext cx="150876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15/notch-notifications/line/017"/>
            <p:cNvCxnSpPr/>
            <p:nvPr/>
          </p:nvCxnSpPr>
          <p:spPr>
            <a:xfrm flipV="1">
              <a:off x="3588699" y="2394585"/>
              <a:ext cx="37719" cy="5029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15/notch-notifications/line/018"/>
            <p:cNvCxnSpPr/>
            <p:nvPr/>
          </p:nvCxnSpPr>
          <p:spPr>
            <a:xfrm>
              <a:off x="3626418" y="2394585"/>
              <a:ext cx="37719" cy="2514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N15/notch-notifications/line/019"/>
            <p:cNvCxnSpPr/>
            <p:nvPr/>
          </p:nvCxnSpPr>
          <p:spPr>
            <a:xfrm flipV="1">
              <a:off x="3664137" y="2344293"/>
              <a:ext cx="50292" cy="7543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N15/notch-notifications/button-folder/020"/>
            <p:cNvSpPr/>
            <p:nvPr/>
          </p:nvSpPr>
          <p:spPr>
            <a:xfrm>
              <a:off x="3903024" y="2218563"/>
              <a:ext cx="402336" cy="377190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15/notch-notifications/poly/021"/>
            <p:cNvSpPr/>
            <p:nvPr/>
          </p:nvSpPr>
          <p:spPr>
            <a:xfrm>
              <a:off x="4028754" y="2369439"/>
              <a:ext cx="150876" cy="100584"/>
            </a:xfrm>
            <a:custGeom>
              <a:avLst/>
              <a:gdLst/>
              <a:ahLst/>
              <a:cxnLst/>
              <a:rect l="l" t="t" r="r" b="b"/>
              <a:pathLst>
                <a:path w="150876" h="100584">
                  <a:moveTo>
                    <a:pt x="0" y="0"/>
                  </a:moveTo>
                  <a:lnTo>
                    <a:pt x="50292" y="0"/>
                  </a:lnTo>
                  <a:lnTo>
                    <a:pt x="69152" y="25146"/>
                  </a:lnTo>
                  <a:lnTo>
                    <a:pt x="150876" y="25146"/>
                  </a:lnTo>
                  <a:lnTo>
                    <a:pt x="150876" y="100584"/>
                  </a:lnTo>
                  <a:lnTo>
                    <a:pt x="0" y="100584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15/notch-notifications/button-clipboard/022"/>
            <p:cNvSpPr/>
            <p:nvPr/>
          </p:nvSpPr>
          <p:spPr>
            <a:xfrm>
              <a:off x="4355652" y="2218563"/>
              <a:ext cx="402336" cy="377190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15/notch-notifications/rect/023"/>
            <p:cNvSpPr/>
            <p:nvPr/>
          </p:nvSpPr>
          <p:spPr>
            <a:xfrm>
              <a:off x="4506528" y="2344293"/>
              <a:ext cx="100584" cy="138303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15/notch-notifications/rect/024"/>
            <p:cNvSpPr/>
            <p:nvPr/>
          </p:nvSpPr>
          <p:spPr>
            <a:xfrm>
              <a:off x="4531674" y="2325433"/>
              <a:ext cx="50292" cy="31432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N15/notch-notifications/line/025"/>
            <p:cNvCxnSpPr/>
            <p:nvPr/>
          </p:nvCxnSpPr>
          <p:spPr>
            <a:xfrm>
              <a:off x="4531674" y="2394585"/>
              <a:ext cx="5029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N15/notch-notifications/line/026"/>
            <p:cNvCxnSpPr/>
            <p:nvPr/>
          </p:nvCxnSpPr>
          <p:spPr>
            <a:xfrm>
              <a:off x="4531674" y="2426017"/>
              <a:ext cx="5029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N15/notch-notifications/button-gear/027"/>
            <p:cNvSpPr/>
            <p:nvPr/>
          </p:nvSpPr>
          <p:spPr>
            <a:xfrm>
              <a:off x="6800850" y="2205990"/>
              <a:ext cx="402336" cy="402336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15/notch-notifications/ellipse/028"/>
            <p:cNvSpPr/>
            <p:nvPr/>
          </p:nvSpPr>
          <p:spPr>
            <a:xfrm>
              <a:off x="6964299" y="2369439"/>
              <a:ext cx="75438" cy="75438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15/notch-notifications/line/029"/>
            <p:cNvCxnSpPr/>
            <p:nvPr/>
          </p:nvCxnSpPr>
          <p:spPr>
            <a:xfrm>
              <a:off x="7064883" y="2407158"/>
              <a:ext cx="25146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15/notch-notifications/line/030"/>
            <p:cNvCxnSpPr/>
            <p:nvPr/>
          </p:nvCxnSpPr>
          <p:spPr>
            <a:xfrm>
              <a:off x="7046470" y="2451610"/>
              <a:ext cx="17781" cy="1778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15/notch-notifications/line/031"/>
            <p:cNvCxnSpPr/>
            <p:nvPr/>
          </p:nvCxnSpPr>
          <p:spPr>
            <a:xfrm>
              <a:off x="7002018" y="2470023"/>
              <a:ext cx="0" cy="2514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15/notch-notifications/line/032"/>
            <p:cNvCxnSpPr/>
            <p:nvPr/>
          </p:nvCxnSpPr>
          <p:spPr>
            <a:xfrm flipH="1">
              <a:off x="6939784" y="2451610"/>
              <a:ext cx="17781" cy="1778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15/notch-notifications/line/033"/>
            <p:cNvCxnSpPr/>
            <p:nvPr/>
          </p:nvCxnSpPr>
          <p:spPr>
            <a:xfrm flipH="1">
              <a:off x="6914007" y="2407158"/>
              <a:ext cx="25146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15/notch-notifications/line/034"/>
            <p:cNvCxnSpPr/>
            <p:nvPr/>
          </p:nvCxnSpPr>
          <p:spPr>
            <a:xfrm flipH="1" flipV="1">
              <a:off x="6939784" y="2344924"/>
              <a:ext cx="17781" cy="1778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15/notch-notifications/line/035"/>
            <p:cNvCxnSpPr/>
            <p:nvPr/>
          </p:nvCxnSpPr>
          <p:spPr>
            <a:xfrm flipV="1">
              <a:off x="7002018" y="2319147"/>
              <a:ext cx="0" cy="2514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15/notch-notifications/line/036"/>
            <p:cNvCxnSpPr/>
            <p:nvPr/>
          </p:nvCxnSpPr>
          <p:spPr>
            <a:xfrm flipV="1">
              <a:off x="7046470" y="2344924"/>
              <a:ext cx="17781" cy="1778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15/notch-notifications/button-close/037"/>
            <p:cNvSpPr/>
            <p:nvPr/>
          </p:nvSpPr>
          <p:spPr>
            <a:xfrm>
              <a:off x="7278624" y="2205990"/>
              <a:ext cx="402336" cy="402336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15/notch-notifications/line/038"/>
            <p:cNvCxnSpPr/>
            <p:nvPr/>
          </p:nvCxnSpPr>
          <p:spPr>
            <a:xfrm>
              <a:off x="7429500" y="2356866"/>
              <a:ext cx="100583" cy="1005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15/notch-notifications/line/039"/>
            <p:cNvCxnSpPr/>
            <p:nvPr/>
          </p:nvCxnSpPr>
          <p:spPr>
            <a:xfrm flipH="1">
              <a:off x="7429500" y="2356866"/>
              <a:ext cx="100583" cy="1005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15/notch-notifications/text/040"/>
            <p:cNvSpPr txBox="1"/>
            <p:nvPr/>
          </p:nvSpPr>
          <p:spPr>
            <a:xfrm>
              <a:off x="1268730" y="2683764"/>
              <a:ext cx="3595878" cy="2766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5" b="1" i="0">
                  <a:solidFill>
                    <a:srgbClr val="F5F5F7"/>
                  </a:solidFill>
                  <a:latin typeface="Arial"/>
                </a:rPr>
                <a:t>2 notifications</a:t>
              </a:r>
            </a:p>
          </p:txBody>
        </p:sp>
        <p:sp>
          <p:nvSpPr>
            <p:cNvPr id="52" name="N15/notch-notifications/button-Clear all/041"/>
            <p:cNvSpPr/>
            <p:nvPr/>
          </p:nvSpPr>
          <p:spPr>
            <a:xfrm>
              <a:off x="6423660" y="2658618"/>
              <a:ext cx="1257300" cy="352044"/>
            </a:xfrm>
            <a:prstGeom prst="roundRect">
              <a:avLst>
                <a:gd name="adj" fmla="val 35714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3" name="N15/notch-notifications/line/042"/>
            <p:cNvCxnSpPr/>
            <p:nvPr/>
          </p:nvCxnSpPr>
          <p:spPr>
            <a:xfrm>
              <a:off x="6523992" y="2796921"/>
              <a:ext cx="125730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N15/notch-notifications/rect/043"/>
            <p:cNvSpPr/>
            <p:nvPr/>
          </p:nvSpPr>
          <p:spPr>
            <a:xfrm>
              <a:off x="6549138" y="2796921"/>
              <a:ext cx="75438" cy="113157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5" name="N15/notch-notifications/line/044"/>
            <p:cNvCxnSpPr/>
            <p:nvPr/>
          </p:nvCxnSpPr>
          <p:spPr>
            <a:xfrm>
              <a:off x="6561711" y="2771775"/>
              <a:ext cx="50292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N15/notch-notifications/line/045"/>
            <p:cNvCxnSpPr/>
            <p:nvPr/>
          </p:nvCxnSpPr>
          <p:spPr>
            <a:xfrm>
              <a:off x="6574284" y="2822067"/>
              <a:ext cx="0" cy="62865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N15/notch-notifications/line/046"/>
            <p:cNvCxnSpPr/>
            <p:nvPr/>
          </p:nvCxnSpPr>
          <p:spPr>
            <a:xfrm>
              <a:off x="6599430" y="2822067"/>
              <a:ext cx="0" cy="62865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N15/notch-notifications/text/047"/>
            <p:cNvSpPr txBox="1"/>
            <p:nvPr/>
          </p:nvSpPr>
          <p:spPr>
            <a:xfrm>
              <a:off x="6762879" y="2658618"/>
              <a:ext cx="892934" cy="35204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47" b="0" i="0">
                  <a:solidFill>
                    <a:srgbClr val="E5E5EA"/>
                  </a:solidFill>
                  <a:latin typeface="Arial"/>
                </a:rPr>
                <a:t>Clear all</a:t>
              </a:r>
            </a:p>
          </p:txBody>
        </p:sp>
        <p:sp>
          <p:nvSpPr>
            <p:cNvPr id="59" name="N15/notch-notifications/text/048"/>
            <p:cNvSpPr txBox="1"/>
            <p:nvPr/>
          </p:nvSpPr>
          <p:spPr>
            <a:xfrm>
              <a:off x="1268730" y="3010662"/>
              <a:ext cx="6537960" cy="22631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47" b="0" i="0">
                  <a:solidFill>
                    <a:srgbClr val="98989D"/>
                  </a:solidFill>
                  <a:latin typeface="Arial"/>
                </a:rPr>
                <a:t>Friday, October 30</a:t>
              </a:r>
            </a:p>
          </p:txBody>
        </p:sp>
        <p:sp>
          <p:nvSpPr>
            <p:cNvPr id="60" name="N15/notch-notifications/notification-card/049"/>
            <p:cNvSpPr/>
            <p:nvPr/>
          </p:nvSpPr>
          <p:spPr>
            <a:xfrm>
              <a:off x="1143000" y="3337560"/>
              <a:ext cx="6537960" cy="1081278"/>
            </a:xfrm>
            <a:prstGeom prst="roundRect">
              <a:avLst>
                <a:gd name="adj" fmla="val 16279"/>
              </a:avLst>
            </a:prstGeom>
            <a:solidFill>
              <a:srgbClr val="1C1C1E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N15/notch-notifications/poly/050"/>
            <p:cNvSpPr/>
            <p:nvPr/>
          </p:nvSpPr>
          <p:spPr>
            <a:xfrm>
              <a:off x="1337881" y="3497865"/>
              <a:ext cx="138303" cy="207455"/>
            </a:xfrm>
            <a:custGeom>
              <a:avLst/>
              <a:gdLst/>
              <a:ahLst/>
              <a:cxnLst/>
              <a:rect l="l" t="t" r="r" b="b"/>
              <a:pathLst>
                <a:path w="138303" h="207455">
                  <a:moveTo>
                    <a:pt x="0" y="0"/>
                  </a:moveTo>
                  <a:lnTo>
                    <a:pt x="86439" y="0"/>
                  </a:lnTo>
                  <a:lnTo>
                    <a:pt x="138303" y="51864"/>
                  </a:lnTo>
                  <a:lnTo>
                    <a:pt x="138303" y="207455"/>
                  </a:lnTo>
                  <a:lnTo>
                    <a:pt x="0" y="207455"/>
                  </a:lnTo>
                  <a:close/>
                </a:path>
              </a:pathLst>
            </a:custGeom>
            <a:noFill/>
            <a:ln w="1270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2" name="N15/notch-notifications/line/051"/>
            <p:cNvCxnSpPr/>
            <p:nvPr/>
          </p:nvCxnSpPr>
          <p:spPr>
            <a:xfrm>
              <a:off x="1424320" y="3497865"/>
              <a:ext cx="0" cy="51864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N15/notch-notifications/line/052"/>
            <p:cNvCxnSpPr/>
            <p:nvPr/>
          </p:nvCxnSpPr>
          <p:spPr>
            <a:xfrm>
              <a:off x="1424320" y="3549729"/>
              <a:ext cx="51864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N15/notch-notifications/text/053"/>
            <p:cNvSpPr txBox="1"/>
            <p:nvPr/>
          </p:nvSpPr>
          <p:spPr>
            <a:xfrm>
              <a:off x="1671066" y="3438144"/>
              <a:ext cx="5481828" cy="2514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5" b="1" i="0">
                  <a:solidFill>
                    <a:srgbClr val="F5F5F7"/>
                  </a:solidFill>
                  <a:latin typeface="Arial"/>
                </a:rPr>
                <a:t>Download complete</a:t>
              </a:r>
            </a:p>
          </p:txBody>
        </p:sp>
        <p:sp>
          <p:nvSpPr>
            <p:cNvPr id="65" name="N15/notch-notifications/button-close/054"/>
            <p:cNvSpPr/>
            <p:nvPr/>
          </p:nvSpPr>
          <p:spPr>
            <a:xfrm>
              <a:off x="7253478" y="3412998"/>
              <a:ext cx="352044" cy="352044"/>
            </a:xfrm>
            <a:prstGeom prst="roundRect">
              <a:avLst>
                <a:gd name="adj" fmla="val 35714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6" name="N15/notch-notifications/line/055"/>
            <p:cNvCxnSpPr/>
            <p:nvPr/>
          </p:nvCxnSpPr>
          <p:spPr>
            <a:xfrm>
              <a:off x="7379208" y="3538728"/>
              <a:ext cx="100584" cy="1005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N15/notch-notifications/line/056"/>
            <p:cNvCxnSpPr/>
            <p:nvPr/>
          </p:nvCxnSpPr>
          <p:spPr>
            <a:xfrm flipH="1">
              <a:off x="7379208" y="3538728"/>
              <a:ext cx="100584" cy="1005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N15/notch-notifications/text/057"/>
            <p:cNvSpPr txBox="1"/>
            <p:nvPr/>
          </p:nvSpPr>
          <p:spPr>
            <a:xfrm>
              <a:off x="1268730" y="3739896"/>
              <a:ext cx="6286500" cy="3520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16" b="0" i="0">
                  <a:solidFill>
                    <a:srgbClr val="C7C7CC"/>
                  </a:solidFill>
                  <a:latin typeface="Arial"/>
                </a:rPr>
                <a:t>Fedora-Workstation-44.iso is ready.</a:t>
              </a:r>
            </a:p>
          </p:txBody>
        </p:sp>
        <p:sp>
          <p:nvSpPr>
            <p:cNvPr id="69" name="N15/notch-notifications/button-Open folder/058"/>
            <p:cNvSpPr/>
            <p:nvPr/>
          </p:nvSpPr>
          <p:spPr>
            <a:xfrm>
              <a:off x="1268730" y="4041648"/>
              <a:ext cx="1118997" cy="301752"/>
            </a:xfrm>
            <a:prstGeom prst="roundRect">
              <a:avLst>
                <a:gd name="adj" fmla="val 41666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N15/notch-notifications/text/059"/>
            <p:cNvSpPr txBox="1"/>
            <p:nvPr/>
          </p:nvSpPr>
          <p:spPr>
            <a:xfrm>
              <a:off x="1344168" y="4041648"/>
              <a:ext cx="968121" cy="30175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47" b="0" i="0">
                  <a:solidFill>
                    <a:srgbClr val="E5E5EA"/>
                  </a:solidFill>
                  <a:latin typeface="Arial"/>
                </a:rPr>
                <a:t>Open folder</a:t>
              </a:r>
            </a:p>
          </p:txBody>
        </p:sp>
        <p:sp>
          <p:nvSpPr>
            <p:cNvPr id="71" name="N15/notch-notifications/button-Dismiss/060"/>
            <p:cNvSpPr/>
            <p:nvPr/>
          </p:nvSpPr>
          <p:spPr>
            <a:xfrm>
              <a:off x="2488311" y="4041648"/>
              <a:ext cx="766953" cy="301752"/>
            </a:xfrm>
            <a:prstGeom prst="roundRect">
              <a:avLst>
                <a:gd name="adj" fmla="val 41666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N15/notch-notifications/text/061"/>
            <p:cNvSpPr txBox="1"/>
            <p:nvPr/>
          </p:nvSpPr>
          <p:spPr>
            <a:xfrm>
              <a:off x="2563749" y="4041648"/>
              <a:ext cx="616077" cy="30175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47" b="0" i="0">
                  <a:solidFill>
                    <a:srgbClr val="E5E5EA"/>
                  </a:solidFill>
                  <a:latin typeface="Arial"/>
                </a:rPr>
                <a:t>Dismiss</a:t>
              </a:r>
            </a:p>
          </p:txBody>
        </p:sp>
        <p:sp>
          <p:nvSpPr>
            <p:cNvPr id="73" name="N15/notch-notifications/notification-card/062"/>
            <p:cNvSpPr/>
            <p:nvPr/>
          </p:nvSpPr>
          <p:spPr>
            <a:xfrm>
              <a:off x="1143000" y="4519422"/>
              <a:ext cx="6537960" cy="930402"/>
            </a:xfrm>
            <a:prstGeom prst="roundRect">
              <a:avLst>
                <a:gd name="adj" fmla="val 18918"/>
              </a:avLst>
            </a:prstGeom>
            <a:solidFill>
              <a:srgbClr val="1C1C1E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N15/notch-notifications/poly/063"/>
            <p:cNvSpPr/>
            <p:nvPr/>
          </p:nvSpPr>
          <p:spPr>
            <a:xfrm>
              <a:off x="1320593" y="4679727"/>
              <a:ext cx="172879" cy="155591"/>
            </a:xfrm>
            <a:custGeom>
              <a:avLst/>
              <a:gdLst/>
              <a:ahLst/>
              <a:cxnLst/>
              <a:rect l="l" t="t" r="r" b="b"/>
              <a:pathLst>
                <a:path w="172879" h="155591">
                  <a:moveTo>
                    <a:pt x="86440" y="0"/>
                  </a:moveTo>
                  <a:lnTo>
                    <a:pt x="34576" y="34576"/>
                  </a:lnTo>
                  <a:lnTo>
                    <a:pt x="17288" y="103728"/>
                  </a:lnTo>
                  <a:lnTo>
                    <a:pt x="0" y="155591"/>
                  </a:lnTo>
                  <a:lnTo>
                    <a:pt x="172879" y="155591"/>
                  </a:lnTo>
                  <a:lnTo>
                    <a:pt x="155591" y="103728"/>
                  </a:lnTo>
                  <a:lnTo>
                    <a:pt x="138303" y="34576"/>
                  </a:lnTo>
                  <a:close/>
                </a:path>
              </a:pathLst>
            </a:custGeom>
            <a:noFill/>
            <a:ln w="1270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5" name="N15/notch-notifications/line/064"/>
            <p:cNvCxnSpPr/>
            <p:nvPr/>
          </p:nvCxnSpPr>
          <p:spPr>
            <a:xfrm>
              <a:off x="1372457" y="4869894"/>
              <a:ext cx="69151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N15/notch-notifications/ellipse/065"/>
            <p:cNvSpPr/>
            <p:nvPr/>
          </p:nvSpPr>
          <p:spPr>
            <a:xfrm>
              <a:off x="1389745" y="4662439"/>
              <a:ext cx="34575" cy="34575"/>
            </a:xfrm>
            <a:prstGeom prst="ellipse">
              <a:avLst/>
            </a:pr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N15/notch-notifications/text/066"/>
            <p:cNvSpPr txBox="1"/>
            <p:nvPr/>
          </p:nvSpPr>
          <p:spPr>
            <a:xfrm>
              <a:off x="1671066" y="4620006"/>
              <a:ext cx="5481828" cy="2514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5" b="1" i="0">
                  <a:solidFill>
                    <a:srgbClr val="F5F5F7"/>
                  </a:solidFill>
                  <a:latin typeface="Arial"/>
                </a:rPr>
                <a:t>Design review in 15 min</a:t>
              </a:r>
            </a:p>
          </p:txBody>
        </p:sp>
        <p:sp>
          <p:nvSpPr>
            <p:cNvPr id="78" name="N15/notch-notifications/button-close/067"/>
            <p:cNvSpPr/>
            <p:nvPr/>
          </p:nvSpPr>
          <p:spPr>
            <a:xfrm>
              <a:off x="7253478" y="4594859"/>
              <a:ext cx="352044" cy="352044"/>
            </a:xfrm>
            <a:prstGeom prst="roundRect">
              <a:avLst>
                <a:gd name="adj" fmla="val 35714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9" name="N15/notch-notifications/line/068"/>
            <p:cNvCxnSpPr/>
            <p:nvPr/>
          </p:nvCxnSpPr>
          <p:spPr>
            <a:xfrm>
              <a:off x="7379208" y="4720589"/>
              <a:ext cx="100584" cy="1005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N15/notch-notifications/line/069"/>
            <p:cNvCxnSpPr/>
            <p:nvPr/>
          </p:nvCxnSpPr>
          <p:spPr>
            <a:xfrm flipH="1">
              <a:off x="7379208" y="4720589"/>
              <a:ext cx="100584" cy="1005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N15/notch-notifications/text/070"/>
            <p:cNvSpPr txBox="1"/>
            <p:nvPr/>
          </p:nvSpPr>
          <p:spPr>
            <a:xfrm>
              <a:off x="1268730" y="4921758"/>
              <a:ext cx="6286500" cy="3520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16" b="0" i="0">
                  <a:solidFill>
                    <a:srgbClr val="C7C7CC"/>
                  </a:solidFill>
                  <a:latin typeface="Arial"/>
                </a:rPr>
                <a:t>Notch UI pass · Meeting room 2</a:t>
              </a:r>
            </a:p>
          </p:txBody>
        </p:sp>
        <p:sp>
          <p:nvSpPr>
            <p:cNvPr id="82" name="N15/notch-notifications/button-Join/071"/>
            <p:cNvSpPr/>
            <p:nvPr/>
          </p:nvSpPr>
          <p:spPr>
            <a:xfrm>
              <a:off x="1268730" y="5072634"/>
              <a:ext cx="502920" cy="301752"/>
            </a:xfrm>
            <a:prstGeom prst="roundRect">
              <a:avLst>
                <a:gd name="adj" fmla="val 41666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N15/notch-notifications/text/072"/>
            <p:cNvSpPr txBox="1"/>
            <p:nvPr/>
          </p:nvSpPr>
          <p:spPr>
            <a:xfrm>
              <a:off x="1344168" y="5072634"/>
              <a:ext cx="352044" cy="30175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47" b="0" i="0">
                  <a:solidFill>
                    <a:srgbClr val="E5E5EA"/>
                  </a:solidFill>
                  <a:latin typeface="Arial"/>
                </a:rPr>
                <a:t>Join</a:t>
              </a:r>
            </a:p>
          </p:txBody>
        </p:sp>
      </p:grpSp>
      <p:sp>
        <p:nvSpPr>
          <p:cNvPr id="84" name="N15/text/010"/>
          <p:cNvSpPr txBox="1"/>
          <p:nvPr/>
        </p:nvSpPr>
        <p:spPr>
          <a:xfrm>
            <a:off x="891540" y="5779008"/>
            <a:ext cx="704088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22 px source icon · title · dismiss · wrapped body · up to 2 native actions.</a:t>
            </a:r>
          </a:p>
        </p:txBody>
      </p:sp>
      <p:sp>
        <p:nvSpPr>
          <p:cNvPr id="85" name="N15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N15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87" name="N15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N15/text/014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Card radius 14 / padding 10</a:t>
            </a:r>
          </a:p>
        </p:txBody>
      </p:sp>
      <p:sp>
        <p:nvSpPr>
          <p:cNvPr id="89" name="N15/ellipse/015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N15/text/016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List spacing 8 px</a:t>
            </a:r>
          </a:p>
        </p:txBody>
      </p:sp>
      <p:sp>
        <p:nvSpPr>
          <p:cNvPr id="91" name="N15/ellipse/017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N15/text/018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Body color #C7C7CC</a:t>
            </a:r>
          </a:p>
        </p:txBody>
      </p:sp>
      <p:sp>
        <p:nvSpPr>
          <p:cNvPr id="93" name="N15/ellipse/019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N15/text/020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Compact mode stacks actions</a:t>
            </a:r>
          </a:p>
        </p:txBody>
      </p:sp>
      <p:sp>
        <p:nvSpPr>
          <p:cNvPr id="95" name="N15/text/021"/>
          <p:cNvSpPr txBox="1"/>
          <p:nvPr/>
        </p:nvSpPr>
        <p:spPr>
          <a:xfrm>
            <a:off x="8641080" y="3182112"/>
            <a:ext cx="2862072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4D2FF"/>
                </a:solidFill>
                <a:latin typeface="Arial"/>
              </a:rPr>
              <a:t>YOUR UPLOADED EDIT</a:t>
            </a:r>
          </a:p>
        </p:txBody>
      </p:sp>
      <p:sp>
        <p:nvSpPr>
          <p:cNvPr id="96" name="N15/text/022"/>
          <p:cNvSpPr txBox="1"/>
          <p:nvPr/>
        </p:nvSpPr>
        <p:spPr>
          <a:xfrm>
            <a:off x="8641080" y="3419856"/>
            <a:ext cx="286207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4D2FF"/>
                </a:solidFill>
                <a:latin typeface="Arial"/>
              </a:rPr>
              <a:t>• Count/date indented to card padding.</a:t>
            </a:r>
          </a:p>
        </p:txBody>
      </p:sp>
      <p:cxnSp>
        <p:nvCxnSpPr>
          <p:cNvPr id="97" name="N15/line/023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N15/text/024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99" name="N15/edit-box/025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N15/edit-note/026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Card padding / action buttons / density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51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51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51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ALERTS PAGE</a:t>
            </a:r>
          </a:p>
        </p:txBody>
      </p:sp>
      <p:sp>
        <p:nvSpPr>
          <p:cNvPr id="5" name="N51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Alerts — long body and scroll</a:t>
            </a:r>
          </a:p>
        </p:txBody>
      </p:sp>
      <p:sp>
        <p:nvSpPr>
          <p:cNvPr id="6" name="N51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Fixed page height; vertical scroll preserves full content</a:t>
            </a:r>
          </a:p>
        </p:txBody>
      </p:sp>
      <p:cxnSp>
        <p:nvCxnSpPr>
          <p:cNvPr id="7" name="N51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51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51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N51</a:t>
            </a:r>
          </a:p>
        </p:txBody>
      </p:sp>
      <p:sp>
        <p:nvSpPr>
          <p:cNvPr id="10" name="N51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22</a:t>
            </a:r>
          </a:p>
        </p:txBody>
      </p:sp>
      <p:grpSp>
        <p:nvGrpSpPr>
          <p:cNvPr id="11" name="N51/notch-notifications"/>
          <p:cNvGrpSpPr/>
          <p:nvPr/>
        </p:nvGrpSpPr>
        <p:grpSpPr>
          <a:xfrm>
            <a:off x="868680" y="1737360"/>
            <a:ext cx="6134100" cy="3505200"/>
            <a:chOff x="868680" y="1737360"/>
            <a:chExt cx="6134100" cy="3505200"/>
          </a:xfrm>
        </p:grpSpPr>
        <p:sp>
          <p:nvSpPr>
            <p:cNvPr id="12" name="N51/notch-notifications/notch-surface-open/001"/>
            <p:cNvSpPr/>
            <p:nvPr/>
          </p:nvSpPr>
          <p:spPr>
            <a:xfrm>
              <a:off x="868680" y="1737360"/>
              <a:ext cx="6134100" cy="3505200"/>
            </a:xfrm>
            <a:custGeom>
              <a:avLst/>
              <a:gdLst/>
              <a:ahLst/>
              <a:cxnLst/>
              <a:rect l="l" t="t" r="r" b="b"/>
              <a:pathLst>
                <a:path w="6134100" h="3505200">
                  <a:moveTo>
                    <a:pt x="0" y="0"/>
                  </a:moveTo>
                  <a:lnTo>
                    <a:pt x="6134100" y="0"/>
                  </a:lnTo>
                  <a:lnTo>
                    <a:pt x="6105239" y="3251"/>
                  </a:lnTo>
                  <a:lnTo>
                    <a:pt x="6072314" y="13007"/>
                  </a:lnTo>
                  <a:lnTo>
                    <a:pt x="6037762" y="29267"/>
                  </a:lnTo>
                  <a:lnTo>
                    <a:pt x="6004024" y="52030"/>
                  </a:lnTo>
                  <a:lnTo>
                    <a:pt x="5973537" y="81297"/>
                  </a:lnTo>
                  <a:lnTo>
                    <a:pt x="5948742" y="117068"/>
                  </a:lnTo>
                  <a:lnTo>
                    <a:pt x="5932076" y="159342"/>
                  </a:lnTo>
                  <a:lnTo>
                    <a:pt x="5925978" y="208121"/>
                  </a:lnTo>
                  <a:lnTo>
                    <a:pt x="5920927" y="3293597"/>
                  </a:lnTo>
                  <a:lnTo>
                    <a:pt x="5905967" y="3342913"/>
                  </a:lnTo>
                  <a:lnTo>
                    <a:pt x="5881673" y="3388363"/>
                  </a:lnTo>
                  <a:lnTo>
                    <a:pt x="5848980" y="3428201"/>
                  </a:lnTo>
                  <a:lnTo>
                    <a:pt x="5809142" y="3460895"/>
                  </a:lnTo>
                  <a:lnTo>
                    <a:pt x="5763692" y="3485188"/>
                  </a:lnTo>
                  <a:lnTo>
                    <a:pt x="5714376" y="3500148"/>
                  </a:lnTo>
                  <a:lnTo>
                    <a:pt x="5663088" y="3505200"/>
                  </a:lnTo>
                  <a:lnTo>
                    <a:pt x="471011" y="3505200"/>
                  </a:lnTo>
                  <a:lnTo>
                    <a:pt x="419723" y="3500148"/>
                  </a:lnTo>
                  <a:lnTo>
                    <a:pt x="370407" y="3485188"/>
                  </a:lnTo>
                  <a:lnTo>
                    <a:pt x="324957" y="3460895"/>
                  </a:lnTo>
                  <a:lnTo>
                    <a:pt x="285119" y="3428201"/>
                  </a:lnTo>
                  <a:lnTo>
                    <a:pt x="252426" y="3388363"/>
                  </a:lnTo>
                  <a:lnTo>
                    <a:pt x="228132" y="3342913"/>
                  </a:lnTo>
                  <a:lnTo>
                    <a:pt x="213172" y="3293597"/>
                  </a:lnTo>
                  <a:lnTo>
                    <a:pt x="208121" y="3242310"/>
                  </a:lnTo>
                  <a:lnTo>
                    <a:pt x="208121" y="208121"/>
                  </a:lnTo>
                  <a:lnTo>
                    <a:pt x="202023" y="159342"/>
                  </a:lnTo>
                  <a:lnTo>
                    <a:pt x="185357" y="117068"/>
                  </a:lnTo>
                  <a:lnTo>
                    <a:pt x="160562" y="81297"/>
                  </a:lnTo>
                  <a:lnTo>
                    <a:pt x="130075" y="52030"/>
                  </a:lnTo>
                  <a:lnTo>
                    <a:pt x="96337" y="29267"/>
                  </a:lnTo>
                  <a:lnTo>
                    <a:pt x="61785" y="13007"/>
                  </a:lnTo>
                  <a:lnTo>
                    <a:pt x="28860" y="32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51/notch-notifications/button-home/002"/>
            <p:cNvSpPr/>
            <p:nvPr/>
          </p:nvSpPr>
          <p:spPr>
            <a:xfrm>
              <a:off x="1087755" y="2252186"/>
              <a:ext cx="350520" cy="328612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51/notch-notifications/poly/003"/>
            <p:cNvSpPr/>
            <p:nvPr/>
          </p:nvSpPr>
          <p:spPr>
            <a:xfrm>
              <a:off x="1197292" y="2350770"/>
              <a:ext cx="131445" cy="131445"/>
            </a:xfrm>
            <a:custGeom>
              <a:avLst/>
              <a:gdLst/>
              <a:ahLst/>
              <a:cxnLst/>
              <a:rect l="l" t="t" r="r" b="b"/>
              <a:pathLst>
                <a:path w="131445" h="131445">
                  <a:moveTo>
                    <a:pt x="65722" y="0"/>
                  </a:moveTo>
                  <a:lnTo>
                    <a:pt x="0" y="54768"/>
                  </a:lnTo>
                  <a:lnTo>
                    <a:pt x="21907" y="54768"/>
                  </a:lnTo>
                  <a:lnTo>
                    <a:pt x="21907" y="131445"/>
                  </a:lnTo>
                  <a:lnTo>
                    <a:pt x="54769" y="131445"/>
                  </a:lnTo>
                  <a:lnTo>
                    <a:pt x="54769" y="87630"/>
                  </a:lnTo>
                  <a:lnTo>
                    <a:pt x="76676" y="87630"/>
                  </a:lnTo>
                  <a:lnTo>
                    <a:pt x="76676" y="131445"/>
                  </a:lnTo>
                  <a:lnTo>
                    <a:pt x="109537" y="131445"/>
                  </a:lnTo>
                  <a:lnTo>
                    <a:pt x="109537" y="54768"/>
                  </a:lnTo>
                  <a:lnTo>
                    <a:pt x="131445" y="54768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51/notch-notifications/button-music/004"/>
            <p:cNvSpPr/>
            <p:nvPr/>
          </p:nvSpPr>
          <p:spPr>
            <a:xfrm>
              <a:off x="1482089" y="2252186"/>
              <a:ext cx="350520" cy="328612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N51/notch-notifications/line/005"/>
            <p:cNvCxnSpPr/>
            <p:nvPr/>
          </p:nvCxnSpPr>
          <p:spPr>
            <a:xfrm flipV="1">
              <a:off x="1635442" y="2372677"/>
              <a:ext cx="0" cy="8763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N51/notch-notifications/line/006"/>
            <p:cNvCxnSpPr/>
            <p:nvPr/>
          </p:nvCxnSpPr>
          <p:spPr>
            <a:xfrm flipV="1">
              <a:off x="1635442" y="2361723"/>
              <a:ext cx="76676" cy="1095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51/notch-notifications/line/007"/>
            <p:cNvCxnSpPr/>
            <p:nvPr/>
          </p:nvCxnSpPr>
          <p:spPr>
            <a:xfrm>
              <a:off x="1712118" y="2361723"/>
              <a:ext cx="0" cy="8763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N51/notch-notifications/ellipse/008"/>
            <p:cNvSpPr/>
            <p:nvPr/>
          </p:nvSpPr>
          <p:spPr>
            <a:xfrm>
              <a:off x="1602581" y="2443876"/>
              <a:ext cx="38338" cy="32861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51/notch-notifications/ellipse/009"/>
            <p:cNvSpPr/>
            <p:nvPr/>
          </p:nvSpPr>
          <p:spPr>
            <a:xfrm>
              <a:off x="1679257" y="2432923"/>
              <a:ext cx="38338" cy="32861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51/notch-notifications/button-Alerts/010"/>
            <p:cNvSpPr/>
            <p:nvPr/>
          </p:nvSpPr>
          <p:spPr>
            <a:xfrm>
              <a:off x="1876424" y="2252186"/>
              <a:ext cx="1177747" cy="328612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51/notch-notifications/poly/011"/>
            <p:cNvSpPr/>
            <p:nvPr/>
          </p:nvSpPr>
          <p:spPr>
            <a:xfrm>
              <a:off x="2101634" y="2350770"/>
              <a:ext cx="109537" cy="98583"/>
            </a:xfrm>
            <a:custGeom>
              <a:avLst/>
              <a:gdLst/>
              <a:ahLst/>
              <a:cxnLst/>
              <a:rect l="l" t="t" r="r" b="b"/>
              <a:pathLst>
                <a:path w="109537" h="98583">
                  <a:moveTo>
                    <a:pt x="54768" y="0"/>
                  </a:moveTo>
                  <a:lnTo>
                    <a:pt x="21907" y="21907"/>
                  </a:lnTo>
                  <a:lnTo>
                    <a:pt x="10953" y="65722"/>
                  </a:lnTo>
                  <a:lnTo>
                    <a:pt x="0" y="98583"/>
                  </a:lnTo>
                  <a:lnTo>
                    <a:pt x="109537" y="98583"/>
                  </a:lnTo>
                  <a:lnTo>
                    <a:pt x="98583" y="65722"/>
                  </a:lnTo>
                  <a:lnTo>
                    <a:pt x="87630" y="21907"/>
                  </a:lnTo>
                  <a:close/>
                </a:path>
              </a:pathLst>
            </a:custGeom>
            <a:noFill/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N51/notch-notifications/line/012"/>
            <p:cNvCxnSpPr/>
            <p:nvPr/>
          </p:nvCxnSpPr>
          <p:spPr>
            <a:xfrm>
              <a:off x="2134495" y="2471261"/>
              <a:ext cx="43815" cy="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N51/notch-notifications/ellipse/013"/>
            <p:cNvSpPr/>
            <p:nvPr/>
          </p:nvSpPr>
          <p:spPr>
            <a:xfrm>
              <a:off x="2145449" y="2339816"/>
              <a:ext cx="21907" cy="2190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51/notch-notifications/text/014"/>
            <p:cNvSpPr txBox="1"/>
            <p:nvPr/>
          </p:nvSpPr>
          <p:spPr>
            <a:xfrm>
              <a:off x="2309755" y="2252186"/>
              <a:ext cx="722509" cy="32861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7" b="1" i="0">
                  <a:solidFill>
                    <a:srgbClr val="FFFFFF"/>
                  </a:solidFill>
                  <a:latin typeface="Arial"/>
                </a:rPr>
                <a:t>Alerts</a:t>
              </a:r>
            </a:p>
          </p:txBody>
        </p:sp>
        <p:sp>
          <p:nvSpPr>
            <p:cNvPr id="26" name="N51/notch-notifications/button-chart/015"/>
            <p:cNvSpPr/>
            <p:nvPr/>
          </p:nvSpPr>
          <p:spPr>
            <a:xfrm>
              <a:off x="3097987" y="2252186"/>
              <a:ext cx="350520" cy="328612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N51/notch-notifications/line/016"/>
            <p:cNvCxnSpPr/>
            <p:nvPr/>
          </p:nvCxnSpPr>
          <p:spPr>
            <a:xfrm>
              <a:off x="3207524" y="2482215"/>
              <a:ext cx="13144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51/notch-notifications/line/017"/>
            <p:cNvCxnSpPr/>
            <p:nvPr/>
          </p:nvCxnSpPr>
          <p:spPr>
            <a:xfrm flipV="1">
              <a:off x="3218478" y="2405538"/>
              <a:ext cx="32861" cy="4381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51/notch-notifications/line/018"/>
            <p:cNvCxnSpPr/>
            <p:nvPr/>
          </p:nvCxnSpPr>
          <p:spPr>
            <a:xfrm>
              <a:off x="3251339" y="2405538"/>
              <a:ext cx="32861" cy="2190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N51/notch-notifications/line/019"/>
            <p:cNvCxnSpPr/>
            <p:nvPr/>
          </p:nvCxnSpPr>
          <p:spPr>
            <a:xfrm flipV="1">
              <a:off x="3284200" y="2361723"/>
              <a:ext cx="43815" cy="6572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N51/notch-notifications/button-folder/020"/>
            <p:cNvSpPr/>
            <p:nvPr/>
          </p:nvSpPr>
          <p:spPr>
            <a:xfrm>
              <a:off x="3492322" y="2252186"/>
              <a:ext cx="350520" cy="328612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51/notch-notifications/poly/021"/>
            <p:cNvSpPr/>
            <p:nvPr/>
          </p:nvSpPr>
          <p:spPr>
            <a:xfrm>
              <a:off x="3601859" y="2383631"/>
              <a:ext cx="131445" cy="87630"/>
            </a:xfrm>
            <a:custGeom>
              <a:avLst/>
              <a:gdLst/>
              <a:ahLst/>
              <a:cxnLst/>
              <a:rect l="l" t="t" r="r" b="b"/>
              <a:pathLst>
                <a:path w="131445" h="87630">
                  <a:moveTo>
                    <a:pt x="0" y="0"/>
                  </a:moveTo>
                  <a:lnTo>
                    <a:pt x="43815" y="0"/>
                  </a:lnTo>
                  <a:lnTo>
                    <a:pt x="60246" y="21907"/>
                  </a:lnTo>
                  <a:lnTo>
                    <a:pt x="131445" y="21907"/>
                  </a:lnTo>
                  <a:lnTo>
                    <a:pt x="131445" y="87630"/>
                  </a:lnTo>
                  <a:lnTo>
                    <a:pt x="0" y="87630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51/notch-notifications/button-clipboard/022"/>
            <p:cNvSpPr/>
            <p:nvPr/>
          </p:nvSpPr>
          <p:spPr>
            <a:xfrm>
              <a:off x="3886657" y="2252186"/>
              <a:ext cx="350520" cy="328612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51/notch-notifications/rect/023"/>
            <p:cNvSpPr/>
            <p:nvPr/>
          </p:nvSpPr>
          <p:spPr>
            <a:xfrm>
              <a:off x="4018102" y="2361723"/>
              <a:ext cx="87630" cy="120491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51/notch-notifications/rect/024"/>
            <p:cNvSpPr/>
            <p:nvPr/>
          </p:nvSpPr>
          <p:spPr>
            <a:xfrm>
              <a:off x="4040009" y="2345293"/>
              <a:ext cx="43815" cy="27384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N51/notch-notifications/line/025"/>
            <p:cNvCxnSpPr/>
            <p:nvPr/>
          </p:nvCxnSpPr>
          <p:spPr>
            <a:xfrm>
              <a:off x="4040009" y="2405538"/>
              <a:ext cx="4381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N51/notch-notifications/line/026"/>
            <p:cNvCxnSpPr/>
            <p:nvPr/>
          </p:nvCxnSpPr>
          <p:spPr>
            <a:xfrm>
              <a:off x="4040009" y="2432923"/>
              <a:ext cx="4381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N51/notch-notifications/button-gear/027"/>
            <p:cNvSpPr/>
            <p:nvPr/>
          </p:nvSpPr>
          <p:spPr>
            <a:xfrm>
              <a:off x="6016942" y="2241232"/>
              <a:ext cx="350520" cy="35052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51/notch-notifications/ellipse/028"/>
            <p:cNvSpPr/>
            <p:nvPr/>
          </p:nvSpPr>
          <p:spPr>
            <a:xfrm>
              <a:off x="6159341" y="2383631"/>
              <a:ext cx="65722" cy="65722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51/notch-notifications/line/029"/>
            <p:cNvCxnSpPr/>
            <p:nvPr/>
          </p:nvCxnSpPr>
          <p:spPr>
            <a:xfrm>
              <a:off x="6246971" y="2416492"/>
              <a:ext cx="21907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51/notch-notifications/line/030"/>
            <p:cNvCxnSpPr/>
            <p:nvPr/>
          </p:nvCxnSpPr>
          <p:spPr>
            <a:xfrm>
              <a:off x="6230929" y="2455219"/>
              <a:ext cx="15491" cy="1549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51/notch-notifications/line/031"/>
            <p:cNvCxnSpPr/>
            <p:nvPr/>
          </p:nvCxnSpPr>
          <p:spPr>
            <a:xfrm>
              <a:off x="6192202" y="2471261"/>
              <a:ext cx="0" cy="2190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51/notch-notifications/line/032"/>
            <p:cNvCxnSpPr/>
            <p:nvPr/>
          </p:nvCxnSpPr>
          <p:spPr>
            <a:xfrm flipH="1">
              <a:off x="6137984" y="2455219"/>
              <a:ext cx="15491" cy="1549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51/notch-notifications/line/033"/>
            <p:cNvCxnSpPr/>
            <p:nvPr/>
          </p:nvCxnSpPr>
          <p:spPr>
            <a:xfrm flipH="1">
              <a:off x="6115526" y="2416492"/>
              <a:ext cx="21907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51/notch-notifications/line/034"/>
            <p:cNvCxnSpPr/>
            <p:nvPr/>
          </p:nvCxnSpPr>
          <p:spPr>
            <a:xfrm flipH="1" flipV="1">
              <a:off x="6137984" y="2362274"/>
              <a:ext cx="15491" cy="1549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51/notch-notifications/line/035"/>
            <p:cNvCxnSpPr/>
            <p:nvPr/>
          </p:nvCxnSpPr>
          <p:spPr>
            <a:xfrm flipV="1">
              <a:off x="6192202" y="2339816"/>
              <a:ext cx="0" cy="2190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51/notch-notifications/line/036"/>
            <p:cNvCxnSpPr/>
            <p:nvPr/>
          </p:nvCxnSpPr>
          <p:spPr>
            <a:xfrm flipV="1">
              <a:off x="6230929" y="2362274"/>
              <a:ext cx="15491" cy="1549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51/notch-notifications/button-close/037"/>
            <p:cNvSpPr/>
            <p:nvPr/>
          </p:nvSpPr>
          <p:spPr>
            <a:xfrm>
              <a:off x="6433185" y="2241232"/>
              <a:ext cx="350520" cy="35052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51/notch-notifications/line/038"/>
            <p:cNvCxnSpPr/>
            <p:nvPr/>
          </p:nvCxnSpPr>
          <p:spPr>
            <a:xfrm>
              <a:off x="6564630" y="2372677"/>
              <a:ext cx="87629" cy="8763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51/notch-notifications/line/039"/>
            <p:cNvCxnSpPr/>
            <p:nvPr/>
          </p:nvCxnSpPr>
          <p:spPr>
            <a:xfrm flipH="1">
              <a:off x="6564630" y="2372677"/>
              <a:ext cx="87629" cy="8763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51/notch-notifications/text/040"/>
            <p:cNvSpPr txBox="1"/>
            <p:nvPr/>
          </p:nvSpPr>
          <p:spPr>
            <a:xfrm>
              <a:off x="1087755" y="2657474"/>
              <a:ext cx="3132772" cy="24098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67" b="1" i="0">
                  <a:solidFill>
                    <a:srgbClr val="F5F5F7"/>
                  </a:solidFill>
                  <a:latin typeface="Arial"/>
                </a:rPr>
                <a:t>3 notifications</a:t>
              </a:r>
            </a:p>
          </p:txBody>
        </p:sp>
        <p:sp>
          <p:nvSpPr>
            <p:cNvPr id="52" name="N51/notch-notifications/button-Clear all/041"/>
            <p:cNvSpPr/>
            <p:nvPr/>
          </p:nvSpPr>
          <p:spPr>
            <a:xfrm>
              <a:off x="5688330" y="2657474"/>
              <a:ext cx="1095374" cy="306705"/>
            </a:xfrm>
            <a:prstGeom prst="roundRect">
              <a:avLst>
                <a:gd name="adj" fmla="val 35714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3" name="N51/notch-notifications/line/042"/>
            <p:cNvCxnSpPr/>
            <p:nvPr/>
          </p:nvCxnSpPr>
          <p:spPr>
            <a:xfrm>
              <a:off x="5775740" y="2777966"/>
              <a:ext cx="109538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N51/notch-notifications/rect/043"/>
            <p:cNvSpPr/>
            <p:nvPr/>
          </p:nvSpPr>
          <p:spPr>
            <a:xfrm>
              <a:off x="5797648" y="2777966"/>
              <a:ext cx="65722" cy="98583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5" name="N51/notch-notifications/line/044"/>
            <p:cNvCxnSpPr/>
            <p:nvPr/>
          </p:nvCxnSpPr>
          <p:spPr>
            <a:xfrm>
              <a:off x="5808602" y="2756058"/>
              <a:ext cx="43815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N51/notch-notifications/line/045"/>
            <p:cNvCxnSpPr/>
            <p:nvPr/>
          </p:nvCxnSpPr>
          <p:spPr>
            <a:xfrm>
              <a:off x="5819555" y="2799873"/>
              <a:ext cx="0" cy="54769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N51/notch-notifications/line/046"/>
            <p:cNvCxnSpPr/>
            <p:nvPr/>
          </p:nvCxnSpPr>
          <p:spPr>
            <a:xfrm>
              <a:off x="5841463" y="2799873"/>
              <a:ext cx="0" cy="54769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N51/notch-notifications/text/047"/>
            <p:cNvSpPr txBox="1"/>
            <p:nvPr/>
          </p:nvSpPr>
          <p:spPr>
            <a:xfrm>
              <a:off x="5983862" y="2657474"/>
              <a:ext cx="777935" cy="30670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6" b="0" i="0">
                  <a:solidFill>
                    <a:srgbClr val="E5E5EA"/>
                  </a:solidFill>
                  <a:latin typeface="Arial"/>
                </a:rPr>
                <a:t>Clear all</a:t>
              </a:r>
            </a:p>
          </p:txBody>
        </p:sp>
        <p:sp>
          <p:nvSpPr>
            <p:cNvPr id="59" name="N51/notch-notifications/text/048"/>
            <p:cNvSpPr txBox="1"/>
            <p:nvPr/>
          </p:nvSpPr>
          <p:spPr>
            <a:xfrm>
              <a:off x="1197292" y="2942272"/>
              <a:ext cx="5695949" cy="19716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6" b="0" i="0">
                  <a:solidFill>
                    <a:srgbClr val="98989D"/>
                  </a:solidFill>
                  <a:latin typeface="Arial"/>
                </a:rPr>
                <a:t>Friday, October 30</a:t>
              </a:r>
            </a:p>
          </p:txBody>
        </p:sp>
        <p:sp>
          <p:nvSpPr>
            <p:cNvPr id="60" name="N51/notch-notifications/rect/049"/>
            <p:cNvSpPr/>
            <p:nvPr/>
          </p:nvSpPr>
          <p:spPr>
            <a:xfrm>
              <a:off x="1087755" y="3227069"/>
              <a:ext cx="5695949" cy="1314450"/>
            </a:xfrm>
            <a:prstGeom prst="roundRect">
              <a:avLst>
                <a:gd name="adj" fmla="val 11666"/>
              </a:avLst>
            </a:prstGeom>
            <a:solidFill>
              <a:srgbClr val="1C1C1E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N51/notch-notifications/text/050"/>
            <p:cNvSpPr txBox="1"/>
            <p:nvPr/>
          </p:nvSpPr>
          <p:spPr>
            <a:xfrm>
              <a:off x="1197292" y="3314699"/>
              <a:ext cx="5148262" cy="21907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67" b="1" i="0">
                  <a:solidFill>
                    <a:srgbClr val="F5F5F7"/>
                  </a:solidFill>
                  <a:latin typeface="Arial"/>
                </a:rPr>
                <a:t>Long notification title that ellipsizes</a:t>
              </a:r>
            </a:p>
          </p:txBody>
        </p:sp>
        <p:sp>
          <p:nvSpPr>
            <p:cNvPr id="62" name="N51/notch-notifications/text/051"/>
            <p:cNvSpPr txBox="1"/>
            <p:nvPr/>
          </p:nvSpPr>
          <p:spPr>
            <a:xfrm>
              <a:off x="1197292" y="3599497"/>
              <a:ext cx="5476875" cy="83248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7" b="0" i="0">
                  <a:solidFill>
                    <a:srgbClr val="C7C7CC"/>
                  </a:solidFill>
                  <a:latin typeface="Arial"/>
                </a:rPr>
                <a:t>Body wraps across multiple lines. The card grows to fit the text, and the list scrolls when the total height exceeds the page viewport. No body text is silently clipped.</a:t>
              </a:r>
            </a:p>
          </p:txBody>
        </p:sp>
        <p:sp>
          <p:nvSpPr>
            <p:cNvPr id="63" name="N51/notch-notifications/rect/052"/>
            <p:cNvSpPr/>
            <p:nvPr/>
          </p:nvSpPr>
          <p:spPr>
            <a:xfrm>
              <a:off x="6717982" y="3227069"/>
              <a:ext cx="43815" cy="1840230"/>
            </a:xfrm>
            <a:prstGeom prst="roundRect">
              <a:avLst>
                <a:gd name="adj" fmla="val 50000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N51/notch-notifications/rect/053"/>
            <p:cNvSpPr/>
            <p:nvPr/>
          </p:nvSpPr>
          <p:spPr>
            <a:xfrm>
              <a:off x="6717982" y="3314699"/>
              <a:ext cx="43815" cy="657225"/>
            </a:xfrm>
            <a:prstGeom prst="roundRect">
              <a:avLst>
                <a:gd name="adj" fmla="val 50000"/>
              </a:avLst>
            </a:prstGeom>
            <a:solidFill>
              <a:srgbClr val="98989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5" name="N51/text/010"/>
          <p:cNvSpPr txBox="1"/>
          <p:nvPr/>
        </p:nvSpPr>
        <p:spPr>
          <a:xfrm>
            <a:off x="868680" y="5577840"/>
            <a:ext cx="690372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Title ellipsizes; body wraps; list scrolls. Critical alerts still use native banners.</a:t>
            </a:r>
          </a:p>
        </p:txBody>
      </p:sp>
      <p:sp>
        <p:nvSpPr>
          <p:cNvPr id="66" name="N51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N51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68" name="N51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N51/text/014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Vertical scroll only</a:t>
            </a:r>
          </a:p>
        </p:txBody>
      </p:sp>
      <p:sp>
        <p:nvSpPr>
          <p:cNvPr id="70" name="N51/ellipse/015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N51/text/016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Card grows with body</a:t>
            </a:r>
          </a:p>
        </p:txBody>
      </p:sp>
      <p:sp>
        <p:nvSpPr>
          <p:cNvPr id="72" name="N51/ellipse/017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N51/text/018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Actions remain below body</a:t>
            </a:r>
          </a:p>
        </p:txBody>
      </p:sp>
      <p:sp>
        <p:nvSpPr>
          <p:cNvPr id="74" name="N51/ellipse/019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N51/text/020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Clear all affects GNOME sources</a:t>
            </a:r>
          </a:p>
        </p:txBody>
      </p:sp>
      <p:cxnSp>
        <p:nvCxnSpPr>
          <p:cNvPr id="76" name="N51/line/021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N51/text/022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78" name="N51/edit-box/023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N51/edit-note/024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Long-text density / scroll affordance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16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16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16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SYSTEM PAGE</a:t>
            </a:r>
          </a:p>
        </p:txBody>
      </p:sp>
      <p:sp>
        <p:nvSpPr>
          <p:cNvPr id="5" name="N16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System — live stats</a:t>
            </a:r>
          </a:p>
        </p:txBody>
      </p:sp>
      <p:sp>
        <p:nvSpPr>
          <p:cNvPr id="6" name="N16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640×260 · four stat cards + quick actions</a:t>
            </a:r>
          </a:p>
        </p:txBody>
      </p:sp>
      <p:cxnSp>
        <p:nvCxnSpPr>
          <p:cNvPr id="7" name="N16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16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16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N16</a:t>
            </a:r>
          </a:p>
        </p:txBody>
      </p:sp>
      <p:sp>
        <p:nvSpPr>
          <p:cNvPr id="10" name="N16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23</a:t>
            </a:r>
          </a:p>
        </p:txBody>
      </p:sp>
      <p:grpSp>
        <p:nvGrpSpPr>
          <p:cNvPr id="11" name="N16/notch-system"/>
          <p:cNvGrpSpPr/>
          <p:nvPr/>
        </p:nvGrpSpPr>
        <p:grpSpPr>
          <a:xfrm>
            <a:off x="502919" y="2051256"/>
            <a:ext cx="7818121" cy="3176111"/>
            <a:chOff x="502919" y="2051256"/>
            <a:chExt cx="7818121" cy="3176111"/>
          </a:xfrm>
        </p:grpSpPr>
        <p:sp>
          <p:nvSpPr>
            <p:cNvPr id="12" name="N16/notch-system/notch-surface-open/001"/>
            <p:cNvSpPr/>
            <p:nvPr/>
          </p:nvSpPr>
          <p:spPr>
            <a:xfrm>
              <a:off x="502919" y="2051256"/>
              <a:ext cx="7818121" cy="3176111"/>
            </a:xfrm>
            <a:custGeom>
              <a:avLst/>
              <a:gdLst/>
              <a:ahLst/>
              <a:cxnLst/>
              <a:rect l="l" t="t" r="r" b="b"/>
              <a:pathLst>
                <a:path w="7818121" h="3176111">
                  <a:moveTo>
                    <a:pt x="0" y="0"/>
                  </a:moveTo>
                  <a:lnTo>
                    <a:pt x="7818121" y="0"/>
                  </a:lnTo>
                  <a:lnTo>
                    <a:pt x="7785935" y="3626"/>
                  </a:lnTo>
                  <a:lnTo>
                    <a:pt x="7749216" y="14506"/>
                  </a:lnTo>
                  <a:lnTo>
                    <a:pt x="7710683" y="32639"/>
                  </a:lnTo>
                  <a:lnTo>
                    <a:pt x="7673058" y="58025"/>
                  </a:lnTo>
                  <a:lnTo>
                    <a:pt x="7639059" y="90664"/>
                  </a:lnTo>
                  <a:lnTo>
                    <a:pt x="7611406" y="130556"/>
                  </a:lnTo>
                  <a:lnTo>
                    <a:pt x="7592820" y="177702"/>
                  </a:lnTo>
                  <a:lnTo>
                    <a:pt x="7586020" y="232100"/>
                  </a:lnTo>
                  <a:lnTo>
                    <a:pt x="7580387" y="2940128"/>
                  </a:lnTo>
                  <a:lnTo>
                    <a:pt x="7563703" y="2995127"/>
                  </a:lnTo>
                  <a:lnTo>
                    <a:pt x="7536610" y="3045813"/>
                  </a:lnTo>
                  <a:lnTo>
                    <a:pt x="7500150" y="3090241"/>
                  </a:lnTo>
                  <a:lnTo>
                    <a:pt x="7455722" y="3126701"/>
                  </a:lnTo>
                  <a:lnTo>
                    <a:pt x="7405035" y="3153794"/>
                  </a:lnTo>
                  <a:lnTo>
                    <a:pt x="7350037" y="3170478"/>
                  </a:lnTo>
                  <a:lnTo>
                    <a:pt x="7292841" y="3176111"/>
                  </a:lnTo>
                  <a:lnTo>
                    <a:pt x="525280" y="3176111"/>
                  </a:lnTo>
                  <a:lnTo>
                    <a:pt x="468084" y="3170478"/>
                  </a:lnTo>
                  <a:lnTo>
                    <a:pt x="413086" y="3153794"/>
                  </a:lnTo>
                  <a:lnTo>
                    <a:pt x="362399" y="3126701"/>
                  </a:lnTo>
                  <a:lnTo>
                    <a:pt x="317971" y="3090241"/>
                  </a:lnTo>
                  <a:lnTo>
                    <a:pt x="281511" y="3045813"/>
                  </a:lnTo>
                  <a:lnTo>
                    <a:pt x="254418" y="2995127"/>
                  </a:lnTo>
                  <a:lnTo>
                    <a:pt x="237734" y="2940128"/>
                  </a:lnTo>
                  <a:lnTo>
                    <a:pt x="232101" y="2882932"/>
                  </a:lnTo>
                  <a:lnTo>
                    <a:pt x="232101" y="232100"/>
                  </a:lnTo>
                  <a:lnTo>
                    <a:pt x="225301" y="177702"/>
                  </a:lnTo>
                  <a:lnTo>
                    <a:pt x="206715" y="130556"/>
                  </a:lnTo>
                  <a:lnTo>
                    <a:pt x="179062" y="90664"/>
                  </a:lnTo>
                  <a:lnTo>
                    <a:pt x="145063" y="58025"/>
                  </a:lnTo>
                  <a:lnTo>
                    <a:pt x="107438" y="32639"/>
                  </a:lnTo>
                  <a:lnTo>
                    <a:pt x="68905" y="14506"/>
                  </a:lnTo>
                  <a:lnTo>
                    <a:pt x="32186" y="36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16/notch-system/button-home/002"/>
            <p:cNvSpPr/>
            <p:nvPr/>
          </p:nvSpPr>
          <p:spPr>
            <a:xfrm>
              <a:off x="747236" y="2625399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16/notch-system/poly/003"/>
            <p:cNvSpPr/>
            <p:nvPr/>
          </p:nvSpPr>
          <p:spPr>
            <a:xfrm>
              <a:off x="869394" y="2735341"/>
              <a:ext cx="146590" cy="146590"/>
            </a:xfrm>
            <a:custGeom>
              <a:avLst/>
              <a:gdLst/>
              <a:ahLst/>
              <a:cxnLst/>
              <a:rect l="l" t="t" r="r" b="b"/>
              <a:pathLst>
                <a:path w="146590" h="146590">
                  <a:moveTo>
                    <a:pt x="73295" y="0"/>
                  </a:moveTo>
                  <a:lnTo>
                    <a:pt x="0" y="61079"/>
                  </a:lnTo>
                  <a:lnTo>
                    <a:pt x="24431" y="61079"/>
                  </a:lnTo>
                  <a:lnTo>
                    <a:pt x="24431" y="146590"/>
                  </a:lnTo>
                  <a:lnTo>
                    <a:pt x="61079" y="146590"/>
                  </a:lnTo>
                  <a:lnTo>
                    <a:pt x="61079" y="97727"/>
                  </a:lnTo>
                  <a:lnTo>
                    <a:pt x="85511" y="97727"/>
                  </a:lnTo>
                  <a:lnTo>
                    <a:pt x="85511" y="146590"/>
                  </a:lnTo>
                  <a:lnTo>
                    <a:pt x="122158" y="146590"/>
                  </a:lnTo>
                  <a:lnTo>
                    <a:pt x="122158" y="61079"/>
                  </a:lnTo>
                  <a:lnTo>
                    <a:pt x="146590" y="61079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16/notch-system/button-music/004"/>
            <p:cNvSpPr/>
            <p:nvPr/>
          </p:nvSpPr>
          <p:spPr>
            <a:xfrm>
              <a:off x="1187005" y="2625399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N16/notch-system/line/005"/>
            <p:cNvCxnSpPr/>
            <p:nvPr/>
          </p:nvCxnSpPr>
          <p:spPr>
            <a:xfrm flipV="1">
              <a:off x="1358026" y="2759773"/>
              <a:ext cx="0" cy="9772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N16/notch-system/line/006"/>
            <p:cNvCxnSpPr/>
            <p:nvPr/>
          </p:nvCxnSpPr>
          <p:spPr>
            <a:xfrm flipV="1">
              <a:off x="1358026" y="2747557"/>
              <a:ext cx="85511" cy="1221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16/notch-system/line/007"/>
            <p:cNvCxnSpPr/>
            <p:nvPr/>
          </p:nvCxnSpPr>
          <p:spPr>
            <a:xfrm>
              <a:off x="1443537" y="2747557"/>
              <a:ext cx="0" cy="9772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N16/notch-system/ellipse/008"/>
            <p:cNvSpPr/>
            <p:nvPr/>
          </p:nvSpPr>
          <p:spPr>
            <a:xfrm>
              <a:off x="1321379" y="2839176"/>
              <a:ext cx="42755" cy="36647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16/notch-system/ellipse/009"/>
            <p:cNvSpPr/>
            <p:nvPr/>
          </p:nvSpPr>
          <p:spPr>
            <a:xfrm>
              <a:off x="1406890" y="2826960"/>
              <a:ext cx="42755" cy="36647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16/notch-system/button-bell/010"/>
            <p:cNvSpPr/>
            <p:nvPr/>
          </p:nvSpPr>
          <p:spPr>
            <a:xfrm>
              <a:off x="1626774" y="2625399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16/notch-system/poly/011"/>
            <p:cNvSpPr/>
            <p:nvPr/>
          </p:nvSpPr>
          <p:spPr>
            <a:xfrm>
              <a:off x="1761148" y="2735341"/>
              <a:ext cx="122158" cy="109943"/>
            </a:xfrm>
            <a:custGeom>
              <a:avLst/>
              <a:gdLst/>
              <a:ahLst/>
              <a:cxnLst/>
              <a:rect l="l" t="t" r="r" b="b"/>
              <a:pathLst>
                <a:path w="122158" h="109943">
                  <a:moveTo>
                    <a:pt x="61079" y="0"/>
                  </a:moveTo>
                  <a:lnTo>
                    <a:pt x="24432" y="24432"/>
                  </a:lnTo>
                  <a:lnTo>
                    <a:pt x="12216" y="73295"/>
                  </a:lnTo>
                  <a:lnTo>
                    <a:pt x="0" y="109943"/>
                  </a:lnTo>
                  <a:lnTo>
                    <a:pt x="122158" y="109943"/>
                  </a:lnTo>
                  <a:lnTo>
                    <a:pt x="109942" y="73295"/>
                  </a:lnTo>
                  <a:lnTo>
                    <a:pt x="97727" y="24432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N16/notch-system/line/012"/>
            <p:cNvCxnSpPr/>
            <p:nvPr/>
          </p:nvCxnSpPr>
          <p:spPr>
            <a:xfrm>
              <a:off x="1797796" y="2869715"/>
              <a:ext cx="4886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N16/notch-system/ellipse/013"/>
            <p:cNvSpPr/>
            <p:nvPr/>
          </p:nvSpPr>
          <p:spPr>
            <a:xfrm>
              <a:off x="1810011" y="2723126"/>
              <a:ext cx="24431" cy="24431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16/notch-system/button-System/014"/>
            <p:cNvSpPr/>
            <p:nvPr/>
          </p:nvSpPr>
          <p:spPr>
            <a:xfrm>
              <a:off x="2066543" y="2625399"/>
              <a:ext cx="1313444" cy="366474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N16/notch-system/line/015"/>
            <p:cNvCxnSpPr/>
            <p:nvPr/>
          </p:nvCxnSpPr>
          <p:spPr>
            <a:xfrm>
              <a:off x="2305485" y="2881931"/>
              <a:ext cx="146590" cy="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N16/notch-system/line/016"/>
            <p:cNvCxnSpPr/>
            <p:nvPr/>
          </p:nvCxnSpPr>
          <p:spPr>
            <a:xfrm flipV="1">
              <a:off x="2317701" y="2796420"/>
              <a:ext cx="36647" cy="48864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16/notch-system/line/017"/>
            <p:cNvCxnSpPr/>
            <p:nvPr/>
          </p:nvCxnSpPr>
          <p:spPr>
            <a:xfrm>
              <a:off x="2354348" y="2796420"/>
              <a:ext cx="36647" cy="24432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16/notch-system/line/018"/>
            <p:cNvCxnSpPr/>
            <p:nvPr/>
          </p:nvCxnSpPr>
          <p:spPr>
            <a:xfrm flipV="1">
              <a:off x="2390995" y="2747557"/>
              <a:ext cx="48864" cy="73295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N16/notch-system/text/019"/>
            <p:cNvSpPr txBox="1"/>
            <p:nvPr/>
          </p:nvSpPr>
          <p:spPr>
            <a:xfrm>
              <a:off x="2549801" y="2625399"/>
              <a:ext cx="805754" cy="36647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6" b="1" i="0">
                  <a:solidFill>
                    <a:srgbClr val="FFFFFF"/>
                  </a:solidFill>
                  <a:latin typeface="Arial"/>
                </a:rPr>
                <a:t>System</a:t>
              </a:r>
            </a:p>
          </p:txBody>
        </p:sp>
        <p:sp>
          <p:nvSpPr>
            <p:cNvPr id="31" name="N16/notch-system/button-folder/020"/>
            <p:cNvSpPr/>
            <p:nvPr/>
          </p:nvSpPr>
          <p:spPr>
            <a:xfrm>
              <a:off x="3428851" y="2625399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16/notch-system/poly/021"/>
            <p:cNvSpPr/>
            <p:nvPr/>
          </p:nvSpPr>
          <p:spPr>
            <a:xfrm>
              <a:off x="3551009" y="2771989"/>
              <a:ext cx="146590" cy="97726"/>
            </a:xfrm>
            <a:custGeom>
              <a:avLst/>
              <a:gdLst/>
              <a:ahLst/>
              <a:cxnLst/>
              <a:rect l="l" t="t" r="r" b="b"/>
              <a:pathLst>
                <a:path w="146590" h="97726">
                  <a:moveTo>
                    <a:pt x="0" y="0"/>
                  </a:moveTo>
                  <a:lnTo>
                    <a:pt x="48863" y="0"/>
                  </a:lnTo>
                  <a:lnTo>
                    <a:pt x="67187" y="24431"/>
                  </a:lnTo>
                  <a:lnTo>
                    <a:pt x="146590" y="24431"/>
                  </a:lnTo>
                  <a:lnTo>
                    <a:pt x="146590" y="97726"/>
                  </a:lnTo>
                  <a:lnTo>
                    <a:pt x="0" y="97726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16/notch-system/button-clipboard/022"/>
            <p:cNvSpPr/>
            <p:nvPr/>
          </p:nvSpPr>
          <p:spPr>
            <a:xfrm>
              <a:off x="3868620" y="2625399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16/notch-system/rect/023"/>
            <p:cNvSpPr/>
            <p:nvPr/>
          </p:nvSpPr>
          <p:spPr>
            <a:xfrm>
              <a:off x="4015210" y="2747557"/>
              <a:ext cx="97726" cy="134373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16/notch-system/rect/024"/>
            <p:cNvSpPr/>
            <p:nvPr/>
          </p:nvSpPr>
          <p:spPr>
            <a:xfrm>
              <a:off x="4039642" y="2729233"/>
              <a:ext cx="48863" cy="30539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N16/notch-system/line/025"/>
            <p:cNvCxnSpPr/>
            <p:nvPr/>
          </p:nvCxnSpPr>
          <p:spPr>
            <a:xfrm>
              <a:off x="4039642" y="2796420"/>
              <a:ext cx="4886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N16/notch-system/line/026"/>
            <p:cNvCxnSpPr/>
            <p:nvPr/>
          </p:nvCxnSpPr>
          <p:spPr>
            <a:xfrm>
              <a:off x="4039642" y="2826960"/>
              <a:ext cx="4886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N16/notch-system/button-gear/027"/>
            <p:cNvSpPr/>
            <p:nvPr/>
          </p:nvSpPr>
          <p:spPr>
            <a:xfrm>
              <a:off x="7221616" y="2613183"/>
              <a:ext cx="390906" cy="390906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16/notch-system/ellipse/028"/>
            <p:cNvSpPr/>
            <p:nvPr/>
          </p:nvSpPr>
          <p:spPr>
            <a:xfrm>
              <a:off x="7380422" y="2771989"/>
              <a:ext cx="73294" cy="73294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16/notch-system/line/029"/>
            <p:cNvCxnSpPr/>
            <p:nvPr/>
          </p:nvCxnSpPr>
          <p:spPr>
            <a:xfrm>
              <a:off x="7478148" y="2808636"/>
              <a:ext cx="2443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16/notch-system/line/030"/>
            <p:cNvCxnSpPr/>
            <p:nvPr/>
          </p:nvCxnSpPr>
          <p:spPr>
            <a:xfrm>
              <a:off x="7460259" y="2851826"/>
              <a:ext cx="17276" cy="1727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16/notch-system/line/031"/>
            <p:cNvCxnSpPr/>
            <p:nvPr/>
          </p:nvCxnSpPr>
          <p:spPr>
            <a:xfrm>
              <a:off x="7417069" y="2869715"/>
              <a:ext cx="0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16/notch-system/line/032"/>
            <p:cNvCxnSpPr/>
            <p:nvPr/>
          </p:nvCxnSpPr>
          <p:spPr>
            <a:xfrm flipH="1">
              <a:off x="7356604" y="2851826"/>
              <a:ext cx="17276" cy="1727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16/notch-system/line/033"/>
            <p:cNvCxnSpPr/>
            <p:nvPr/>
          </p:nvCxnSpPr>
          <p:spPr>
            <a:xfrm flipH="1">
              <a:off x="7331559" y="2808636"/>
              <a:ext cx="24431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16/notch-system/line/034"/>
            <p:cNvCxnSpPr/>
            <p:nvPr/>
          </p:nvCxnSpPr>
          <p:spPr>
            <a:xfrm flipH="1" flipV="1">
              <a:off x="7356604" y="2748171"/>
              <a:ext cx="17276" cy="1727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16/notch-system/line/035"/>
            <p:cNvCxnSpPr/>
            <p:nvPr/>
          </p:nvCxnSpPr>
          <p:spPr>
            <a:xfrm flipV="1">
              <a:off x="7417069" y="2723126"/>
              <a:ext cx="0" cy="2443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16/notch-system/line/036"/>
            <p:cNvCxnSpPr/>
            <p:nvPr/>
          </p:nvCxnSpPr>
          <p:spPr>
            <a:xfrm flipV="1">
              <a:off x="7460259" y="2748171"/>
              <a:ext cx="17276" cy="1727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16/notch-system/button-close/037"/>
            <p:cNvSpPr/>
            <p:nvPr/>
          </p:nvSpPr>
          <p:spPr>
            <a:xfrm>
              <a:off x="7685817" y="2613183"/>
              <a:ext cx="390906" cy="390906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16/notch-system/line/038"/>
            <p:cNvCxnSpPr/>
            <p:nvPr/>
          </p:nvCxnSpPr>
          <p:spPr>
            <a:xfrm>
              <a:off x="7832407" y="2759773"/>
              <a:ext cx="97727" cy="9772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16/notch-system/line/039"/>
            <p:cNvCxnSpPr/>
            <p:nvPr/>
          </p:nvCxnSpPr>
          <p:spPr>
            <a:xfrm flipH="1">
              <a:off x="7832407" y="2759773"/>
              <a:ext cx="97727" cy="9772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16/notch-system/stat-Processor/040"/>
            <p:cNvSpPr/>
            <p:nvPr/>
          </p:nvSpPr>
          <p:spPr>
            <a:xfrm>
              <a:off x="747236" y="3077384"/>
              <a:ext cx="1759077" cy="855106"/>
            </a:xfrm>
            <a:prstGeom prst="roundRect">
              <a:avLst>
                <a:gd name="adj" fmla="val 19999"/>
              </a:avLst>
            </a:prstGeom>
            <a:solidFill>
              <a:srgbClr val="1C1C1E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N16/notch-system/rect/041"/>
            <p:cNvSpPr/>
            <p:nvPr/>
          </p:nvSpPr>
          <p:spPr>
            <a:xfrm>
              <a:off x="942689" y="3248406"/>
              <a:ext cx="97726" cy="97726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N16/notch-system/rect/042"/>
            <p:cNvSpPr/>
            <p:nvPr/>
          </p:nvSpPr>
          <p:spPr>
            <a:xfrm>
              <a:off x="973228" y="3278945"/>
              <a:ext cx="36647" cy="36647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4" name="N16/notch-system/line/043"/>
            <p:cNvCxnSpPr/>
            <p:nvPr/>
          </p:nvCxnSpPr>
          <p:spPr>
            <a:xfrm>
              <a:off x="967120" y="3223974"/>
              <a:ext cx="0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N16/notch-system/line/044"/>
            <p:cNvCxnSpPr/>
            <p:nvPr/>
          </p:nvCxnSpPr>
          <p:spPr>
            <a:xfrm>
              <a:off x="967120" y="3346132"/>
              <a:ext cx="0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N16/notch-system/line/045"/>
            <p:cNvCxnSpPr/>
            <p:nvPr/>
          </p:nvCxnSpPr>
          <p:spPr>
            <a:xfrm>
              <a:off x="918257" y="3272837"/>
              <a:ext cx="2443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N16/notch-system/line/046"/>
            <p:cNvCxnSpPr/>
            <p:nvPr/>
          </p:nvCxnSpPr>
          <p:spPr>
            <a:xfrm>
              <a:off x="1040415" y="3272837"/>
              <a:ext cx="2443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N16/notch-system/line/047"/>
            <p:cNvCxnSpPr/>
            <p:nvPr/>
          </p:nvCxnSpPr>
          <p:spPr>
            <a:xfrm>
              <a:off x="991552" y="3223974"/>
              <a:ext cx="0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N16/notch-system/line/048"/>
            <p:cNvCxnSpPr/>
            <p:nvPr/>
          </p:nvCxnSpPr>
          <p:spPr>
            <a:xfrm>
              <a:off x="991552" y="3346132"/>
              <a:ext cx="0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N16/notch-system/line/049"/>
            <p:cNvCxnSpPr/>
            <p:nvPr/>
          </p:nvCxnSpPr>
          <p:spPr>
            <a:xfrm>
              <a:off x="918257" y="3297269"/>
              <a:ext cx="2443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N16/notch-system/line/050"/>
            <p:cNvCxnSpPr/>
            <p:nvPr/>
          </p:nvCxnSpPr>
          <p:spPr>
            <a:xfrm>
              <a:off x="1040415" y="3297269"/>
              <a:ext cx="2443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N16/notch-system/line/051"/>
            <p:cNvCxnSpPr/>
            <p:nvPr/>
          </p:nvCxnSpPr>
          <p:spPr>
            <a:xfrm>
              <a:off x="1015984" y="3223974"/>
              <a:ext cx="0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N16/notch-system/line/052"/>
            <p:cNvCxnSpPr/>
            <p:nvPr/>
          </p:nvCxnSpPr>
          <p:spPr>
            <a:xfrm>
              <a:off x="1015984" y="3346132"/>
              <a:ext cx="0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N16/notch-system/line/053"/>
            <p:cNvCxnSpPr/>
            <p:nvPr/>
          </p:nvCxnSpPr>
          <p:spPr>
            <a:xfrm>
              <a:off x="918257" y="3321700"/>
              <a:ext cx="2443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N16/notch-system/line/054"/>
            <p:cNvCxnSpPr/>
            <p:nvPr/>
          </p:nvCxnSpPr>
          <p:spPr>
            <a:xfrm>
              <a:off x="1040415" y="3321700"/>
              <a:ext cx="2443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N16/notch-system/text/055"/>
            <p:cNvSpPr txBox="1"/>
            <p:nvPr/>
          </p:nvSpPr>
          <p:spPr>
            <a:xfrm>
              <a:off x="1162573" y="3175111"/>
              <a:ext cx="1221581" cy="2198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98989D"/>
                  </a:solidFill>
                  <a:latin typeface="Arial"/>
                </a:rPr>
                <a:t>Processor</a:t>
              </a:r>
            </a:p>
          </p:txBody>
        </p:sp>
        <p:sp>
          <p:nvSpPr>
            <p:cNvPr id="67" name="N16/notch-system/text/056"/>
            <p:cNvSpPr txBox="1"/>
            <p:nvPr/>
          </p:nvSpPr>
          <p:spPr>
            <a:xfrm>
              <a:off x="893825" y="3419427"/>
              <a:ext cx="1465897" cy="29317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52" b="1" i="0">
                  <a:solidFill>
                    <a:srgbClr val="F5F5F7"/>
                  </a:solidFill>
                  <a:latin typeface="Arial"/>
                </a:rPr>
                <a:t>18%</a:t>
              </a:r>
            </a:p>
          </p:txBody>
        </p:sp>
        <p:sp>
          <p:nvSpPr>
            <p:cNvPr id="68" name="N16/notch-system/text/057"/>
            <p:cNvSpPr txBox="1"/>
            <p:nvPr/>
          </p:nvSpPr>
          <p:spPr>
            <a:xfrm>
              <a:off x="893825" y="3712606"/>
              <a:ext cx="1465897" cy="195453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8" b="0" i="0">
                  <a:solidFill>
                    <a:srgbClr val="98989D"/>
                  </a:solidFill>
                  <a:latin typeface="Arial"/>
                </a:rPr>
                <a:t>All logical processors</a:t>
              </a:r>
            </a:p>
          </p:txBody>
        </p:sp>
        <p:sp>
          <p:nvSpPr>
            <p:cNvPr id="69" name="N16/notch-system/stat-Memory/058"/>
            <p:cNvSpPr/>
            <p:nvPr/>
          </p:nvSpPr>
          <p:spPr>
            <a:xfrm>
              <a:off x="2604039" y="3077384"/>
              <a:ext cx="1759077" cy="855106"/>
            </a:xfrm>
            <a:prstGeom prst="roundRect">
              <a:avLst>
                <a:gd name="adj" fmla="val 19999"/>
              </a:avLst>
            </a:prstGeom>
            <a:solidFill>
              <a:srgbClr val="1C1C1E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N16/notch-system/rect/059"/>
            <p:cNvSpPr/>
            <p:nvPr/>
          </p:nvSpPr>
          <p:spPr>
            <a:xfrm>
              <a:off x="2775061" y="3260621"/>
              <a:ext cx="146589" cy="73294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N16/notch-system/rect/060"/>
            <p:cNvSpPr/>
            <p:nvPr/>
          </p:nvSpPr>
          <p:spPr>
            <a:xfrm>
              <a:off x="2799492" y="3285053"/>
              <a:ext cx="24431" cy="24431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N16/notch-system/rect/061"/>
            <p:cNvSpPr/>
            <p:nvPr/>
          </p:nvSpPr>
          <p:spPr>
            <a:xfrm>
              <a:off x="2836140" y="3285053"/>
              <a:ext cx="24431" cy="24431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N16/notch-system/rect/062"/>
            <p:cNvSpPr/>
            <p:nvPr/>
          </p:nvSpPr>
          <p:spPr>
            <a:xfrm>
              <a:off x="2872787" y="3285053"/>
              <a:ext cx="24431" cy="24431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4" name="N16/notch-system/line/063"/>
            <p:cNvCxnSpPr/>
            <p:nvPr/>
          </p:nvCxnSpPr>
          <p:spPr>
            <a:xfrm>
              <a:off x="2799492" y="3333916"/>
              <a:ext cx="0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N16/notch-system/line/064"/>
            <p:cNvCxnSpPr/>
            <p:nvPr/>
          </p:nvCxnSpPr>
          <p:spPr>
            <a:xfrm>
              <a:off x="2848356" y="3333916"/>
              <a:ext cx="0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N16/notch-system/line/065"/>
            <p:cNvCxnSpPr/>
            <p:nvPr/>
          </p:nvCxnSpPr>
          <p:spPr>
            <a:xfrm>
              <a:off x="2897219" y="3333916"/>
              <a:ext cx="0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N16/notch-system/text/066"/>
            <p:cNvSpPr txBox="1"/>
            <p:nvPr/>
          </p:nvSpPr>
          <p:spPr>
            <a:xfrm>
              <a:off x="3019377" y="3175111"/>
              <a:ext cx="1221581" cy="2198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98989D"/>
                  </a:solidFill>
                  <a:latin typeface="Arial"/>
                </a:rPr>
                <a:t>Memory</a:t>
              </a:r>
            </a:p>
          </p:txBody>
        </p:sp>
        <p:sp>
          <p:nvSpPr>
            <p:cNvPr id="78" name="N16/notch-system/text/067"/>
            <p:cNvSpPr txBox="1"/>
            <p:nvPr/>
          </p:nvSpPr>
          <p:spPr>
            <a:xfrm>
              <a:off x="2750629" y="3419427"/>
              <a:ext cx="1465897" cy="29317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52" b="1" i="0">
                  <a:solidFill>
                    <a:srgbClr val="F5F5F7"/>
                  </a:solidFill>
                  <a:latin typeface="Arial"/>
                </a:rPr>
                <a:t>42%</a:t>
              </a:r>
            </a:p>
          </p:txBody>
        </p:sp>
        <p:sp>
          <p:nvSpPr>
            <p:cNvPr id="79" name="N16/notch-system/text/068"/>
            <p:cNvSpPr txBox="1"/>
            <p:nvPr/>
          </p:nvSpPr>
          <p:spPr>
            <a:xfrm>
              <a:off x="2750629" y="3712606"/>
              <a:ext cx="1465897" cy="195453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8" b="0" i="0">
                  <a:solidFill>
                    <a:srgbClr val="98989D"/>
                  </a:solidFill>
                  <a:latin typeface="Arial"/>
                </a:rPr>
                <a:t>6.7 GB / 16.0 GB</a:t>
              </a:r>
            </a:p>
          </p:txBody>
        </p:sp>
        <p:sp>
          <p:nvSpPr>
            <p:cNvPr id="80" name="N16/notch-system/stat-Battery/069"/>
            <p:cNvSpPr/>
            <p:nvPr/>
          </p:nvSpPr>
          <p:spPr>
            <a:xfrm>
              <a:off x="4460843" y="3077384"/>
              <a:ext cx="1759077" cy="855106"/>
            </a:xfrm>
            <a:prstGeom prst="roundRect">
              <a:avLst>
                <a:gd name="adj" fmla="val 19999"/>
              </a:avLst>
            </a:prstGeom>
            <a:solidFill>
              <a:srgbClr val="1C1C1E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N16/notch-system/rect/070"/>
            <p:cNvSpPr/>
            <p:nvPr/>
          </p:nvSpPr>
          <p:spPr>
            <a:xfrm>
              <a:off x="4631864" y="3260621"/>
              <a:ext cx="134373" cy="73294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N16/notch-system/rect/071"/>
            <p:cNvSpPr/>
            <p:nvPr/>
          </p:nvSpPr>
          <p:spPr>
            <a:xfrm>
              <a:off x="4766238" y="3285053"/>
              <a:ext cx="18323" cy="24431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N16/notch-system/rect/072"/>
            <p:cNvSpPr/>
            <p:nvPr/>
          </p:nvSpPr>
          <p:spPr>
            <a:xfrm>
              <a:off x="4650188" y="3278945"/>
              <a:ext cx="73294" cy="36647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N16/notch-system/text/073"/>
            <p:cNvSpPr txBox="1"/>
            <p:nvPr/>
          </p:nvSpPr>
          <p:spPr>
            <a:xfrm>
              <a:off x="4876180" y="3175111"/>
              <a:ext cx="1221581" cy="2198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98989D"/>
                  </a:solidFill>
                  <a:latin typeface="Arial"/>
                </a:rPr>
                <a:t>Battery</a:t>
              </a:r>
            </a:p>
          </p:txBody>
        </p:sp>
        <p:sp>
          <p:nvSpPr>
            <p:cNvPr id="85" name="N16/notch-system/text/074"/>
            <p:cNvSpPr txBox="1"/>
            <p:nvPr/>
          </p:nvSpPr>
          <p:spPr>
            <a:xfrm>
              <a:off x="4607433" y="3419427"/>
              <a:ext cx="1465897" cy="29317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52" b="1" i="0">
                  <a:solidFill>
                    <a:srgbClr val="F5F5F7"/>
                  </a:solidFill>
                  <a:latin typeface="Arial"/>
                </a:rPr>
                <a:t>AC</a:t>
              </a:r>
            </a:p>
          </p:txBody>
        </p:sp>
        <p:sp>
          <p:nvSpPr>
            <p:cNvPr id="86" name="N16/notch-system/text/075"/>
            <p:cNvSpPr txBox="1"/>
            <p:nvPr/>
          </p:nvSpPr>
          <p:spPr>
            <a:xfrm>
              <a:off x="4607433" y="3712606"/>
              <a:ext cx="1465897" cy="195453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8" b="0" i="0">
                  <a:solidFill>
                    <a:srgbClr val="98989D"/>
                  </a:solidFill>
                  <a:latin typeface="Arial"/>
                </a:rPr>
                <a:t>No system battery</a:t>
              </a:r>
            </a:p>
          </p:txBody>
        </p:sp>
        <p:sp>
          <p:nvSpPr>
            <p:cNvPr id="87" name="N16/notch-system/stat-Network/076"/>
            <p:cNvSpPr/>
            <p:nvPr/>
          </p:nvSpPr>
          <p:spPr>
            <a:xfrm>
              <a:off x="6317646" y="3077384"/>
              <a:ext cx="1759077" cy="855106"/>
            </a:xfrm>
            <a:prstGeom prst="roundRect">
              <a:avLst>
                <a:gd name="adj" fmla="val 19999"/>
              </a:avLst>
            </a:prstGeom>
            <a:solidFill>
              <a:srgbClr val="1C1C1E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8" name="N16/notch-system/line/077"/>
            <p:cNvCxnSpPr/>
            <p:nvPr/>
          </p:nvCxnSpPr>
          <p:spPr>
            <a:xfrm>
              <a:off x="6561963" y="3236190"/>
              <a:ext cx="0" cy="12215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N16/notch-system/poly/078"/>
            <p:cNvSpPr/>
            <p:nvPr/>
          </p:nvSpPr>
          <p:spPr>
            <a:xfrm>
              <a:off x="6525315" y="3236190"/>
              <a:ext cx="73295" cy="36647"/>
            </a:xfrm>
            <a:custGeom>
              <a:avLst/>
              <a:gdLst/>
              <a:ahLst/>
              <a:cxnLst/>
              <a:rect l="l" t="t" r="r" b="b"/>
              <a:pathLst>
                <a:path w="73295" h="36647">
                  <a:moveTo>
                    <a:pt x="0" y="36647"/>
                  </a:moveTo>
                  <a:lnTo>
                    <a:pt x="36648" y="0"/>
                  </a:lnTo>
                  <a:lnTo>
                    <a:pt x="73295" y="36647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N16/notch-system/poly/079"/>
            <p:cNvSpPr/>
            <p:nvPr/>
          </p:nvSpPr>
          <p:spPr>
            <a:xfrm>
              <a:off x="6525315" y="3321700"/>
              <a:ext cx="73295" cy="36648"/>
            </a:xfrm>
            <a:custGeom>
              <a:avLst/>
              <a:gdLst/>
              <a:ahLst/>
              <a:cxnLst/>
              <a:rect l="l" t="t" r="r" b="b"/>
              <a:pathLst>
                <a:path w="73295" h="36648">
                  <a:moveTo>
                    <a:pt x="0" y="0"/>
                  </a:moveTo>
                  <a:lnTo>
                    <a:pt x="36648" y="36648"/>
                  </a:lnTo>
                  <a:lnTo>
                    <a:pt x="73295" y="0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N16/notch-system/text/080"/>
            <p:cNvSpPr txBox="1"/>
            <p:nvPr/>
          </p:nvSpPr>
          <p:spPr>
            <a:xfrm>
              <a:off x="6732984" y="3175111"/>
              <a:ext cx="1221581" cy="2198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98989D"/>
                  </a:solidFill>
                  <a:latin typeface="Arial"/>
                </a:rPr>
                <a:t>Network</a:t>
              </a:r>
            </a:p>
          </p:txBody>
        </p:sp>
        <p:sp>
          <p:nvSpPr>
            <p:cNvPr id="92" name="N16/notch-system/text/081"/>
            <p:cNvSpPr txBox="1"/>
            <p:nvPr/>
          </p:nvSpPr>
          <p:spPr>
            <a:xfrm>
              <a:off x="6464236" y="3419427"/>
              <a:ext cx="1465897" cy="29317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31" b="1" i="0">
                  <a:solidFill>
                    <a:srgbClr val="F5F5F7"/>
                  </a:solidFill>
                  <a:latin typeface="Arial"/>
                </a:rPr>
                <a:t>↓ 1.2 MB/s</a:t>
              </a:r>
            </a:p>
          </p:txBody>
        </p:sp>
        <p:sp>
          <p:nvSpPr>
            <p:cNvPr id="93" name="N16/notch-system/text/082"/>
            <p:cNvSpPr txBox="1"/>
            <p:nvPr/>
          </p:nvSpPr>
          <p:spPr>
            <a:xfrm>
              <a:off x="6464236" y="3712606"/>
              <a:ext cx="1465897" cy="195453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8" b="0" i="0">
                  <a:solidFill>
                    <a:srgbClr val="98989D"/>
                  </a:solidFill>
                  <a:latin typeface="Arial"/>
                </a:rPr>
                <a:t>↑ 84 kB/s · wlp2s0</a:t>
              </a:r>
            </a:p>
          </p:txBody>
        </p:sp>
        <p:sp>
          <p:nvSpPr>
            <p:cNvPr id="94" name="N16/notch-system/text/083"/>
            <p:cNvSpPr txBox="1"/>
            <p:nvPr/>
          </p:nvSpPr>
          <p:spPr>
            <a:xfrm>
              <a:off x="747236" y="4054649"/>
              <a:ext cx="7329487" cy="17102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77" b="1" i="0">
                  <a:solidFill>
                    <a:srgbClr val="8E8E93"/>
                  </a:solidFill>
                  <a:latin typeface="Arial"/>
                </a:rPr>
                <a:t>QUICK ACTIONS</a:t>
              </a:r>
            </a:p>
          </p:txBody>
        </p:sp>
        <p:sp>
          <p:nvSpPr>
            <p:cNvPr id="95" name="N16/notch-system/button-Do Not Disturb/084"/>
            <p:cNvSpPr/>
            <p:nvPr/>
          </p:nvSpPr>
          <p:spPr>
            <a:xfrm>
              <a:off x="747236" y="4274534"/>
              <a:ext cx="1832371" cy="439769"/>
            </a:xfrm>
            <a:prstGeom prst="roundRect">
              <a:avLst>
                <a:gd name="adj" fmla="val 27777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N16/notch-system/ellipse/085"/>
            <p:cNvSpPr/>
            <p:nvPr/>
          </p:nvSpPr>
          <p:spPr>
            <a:xfrm>
              <a:off x="847405" y="4433339"/>
              <a:ext cx="122158" cy="122158"/>
            </a:xfrm>
            <a:prstGeom prst="ellipse">
              <a:avLst/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7" name="N16/notch-system/line/086"/>
            <p:cNvCxnSpPr/>
            <p:nvPr/>
          </p:nvCxnSpPr>
          <p:spPr>
            <a:xfrm flipV="1">
              <a:off x="859621" y="4445555"/>
              <a:ext cx="97727" cy="97727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N16/notch-system/text/087"/>
            <p:cNvSpPr txBox="1"/>
            <p:nvPr/>
          </p:nvSpPr>
          <p:spPr>
            <a:xfrm>
              <a:off x="1079506" y="4274534"/>
              <a:ext cx="1475670" cy="43976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6" b="1" i="0">
                  <a:solidFill>
                    <a:srgbClr val="E5E5EA"/>
                  </a:solidFill>
                  <a:latin typeface="Arial"/>
                </a:rPr>
                <a:t>Do Not Disturb</a:t>
              </a:r>
            </a:p>
          </p:txBody>
        </p:sp>
        <p:sp>
          <p:nvSpPr>
            <p:cNvPr id="99" name="N16/notch-system/button-Night Light/088"/>
            <p:cNvSpPr/>
            <p:nvPr/>
          </p:nvSpPr>
          <p:spPr>
            <a:xfrm>
              <a:off x="2677334" y="4274534"/>
              <a:ext cx="1832371" cy="439769"/>
            </a:xfrm>
            <a:prstGeom prst="roundRect">
              <a:avLst>
                <a:gd name="adj" fmla="val 27777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N16/notch-system/poly/089"/>
            <p:cNvSpPr/>
            <p:nvPr/>
          </p:nvSpPr>
          <p:spPr>
            <a:xfrm>
              <a:off x="2943639" y="4421124"/>
              <a:ext cx="97726" cy="146589"/>
            </a:xfrm>
            <a:custGeom>
              <a:avLst/>
              <a:gdLst/>
              <a:ahLst/>
              <a:cxnLst/>
              <a:rect l="l" t="t" r="r" b="b"/>
              <a:pathLst>
                <a:path w="97726" h="146589">
                  <a:moveTo>
                    <a:pt x="73295" y="0"/>
                  </a:moveTo>
                  <a:lnTo>
                    <a:pt x="24431" y="12215"/>
                  </a:lnTo>
                  <a:lnTo>
                    <a:pt x="0" y="48863"/>
                  </a:lnTo>
                  <a:lnTo>
                    <a:pt x="0" y="97726"/>
                  </a:lnTo>
                  <a:lnTo>
                    <a:pt x="24431" y="134373"/>
                  </a:lnTo>
                  <a:lnTo>
                    <a:pt x="73295" y="146589"/>
                  </a:lnTo>
                  <a:lnTo>
                    <a:pt x="97726" y="122158"/>
                  </a:lnTo>
                  <a:lnTo>
                    <a:pt x="61079" y="109942"/>
                  </a:lnTo>
                  <a:lnTo>
                    <a:pt x="36647" y="73294"/>
                  </a:lnTo>
                  <a:lnTo>
                    <a:pt x="48863" y="36647"/>
                  </a:lnTo>
                  <a:close/>
                </a:path>
              </a:pathLst>
            </a:cu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N16/notch-system/text/090"/>
            <p:cNvSpPr txBox="1"/>
            <p:nvPr/>
          </p:nvSpPr>
          <p:spPr>
            <a:xfrm>
              <a:off x="3163523" y="4274534"/>
              <a:ext cx="1321750" cy="43976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6" b="1" i="0">
                  <a:solidFill>
                    <a:srgbClr val="E5E5EA"/>
                  </a:solidFill>
                  <a:latin typeface="Arial"/>
                </a:rPr>
                <a:t>Night Light</a:t>
              </a:r>
            </a:p>
          </p:txBody>
        </p:sp>
        <p:sp>
          <p:nvSpPr>
            <p:cNvPr id="102" name="N16/notch-system/button-Dark Mode/091"/>
            <p:cNvSpPr/>
            <p:nvPr/>
          </p:nvSpPr>
          <p:spPr>
            <a:xfrm>
              <a:off x="4607433" y="4274534"/>
              <a:ext cx="1832371" cy="439769"/>
            </a:xfrm>
            <a:prstGeom prst="roundRect">
              <a:avLst>
                <a:gd name="adj" fmla="val 27777"/>
              </a:avLst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N16/notch-system/ellipse/092"/>
            <p:cNvSpPr/>
            <p:nvPr/>
          </p:nvSpPr>
          <p:spPr>
            <a:xfrm>
              <a:off x="4964134" y="4433339"/>
              <a:ext cx="122158" cy="122158"/>
            </a:xfrm>
            <a:prstGeom prst="ellipse">
              <a:avLst/>
            </a:prstGeom>
            <a:noFill/>
            <a:ln w="1016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N16/notch-system/poly/093"/>
            <p:cNvSpPr/>
            <p:nvPr/>
          </p:nvSpPr>
          <p:spPr>
            <a:xfrm>
              <a:off x="5025213" y="4433339"/>
              <a:ext cx="61079" cy="122158"/>
            </a:xfrm>
            <a:custGeom>
              <a:avLst/>
              <a:gdLst/>
              <a:ahLst/>
              <a:cxnLst/>
              <a:rect l="l" t="t" r="r" b="b"/>
              <a:pathLst>
                <a:path w="61079" h="122158">
                  <a:moveTo>
                    <a:pt x="0" y="0"/>
                  </a:moveTo>
                  <a:lnTo>
                    <a:pt x="0" y="122158"/>
                  </a:lnTo>
                  <a:lnTo>
                    <a:pt x="36648" y="109943"/>
                  </a:lnTo>
                  <a:lnTo>
                    <a:pt x="61079" y="61079"/>
                  </a:lnTo>
                  <a:lnTo>
                    <a:pt x="36648" y="122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N16/notch-system/text/094"/>
            <p:cNvSpPr txBox="1"/>
            <p:nvPr/>
          </p:nvSpPr>
          <p:spPr>
            <a:xfrm>
              <a:off x="5196235" y="4274534"/>
              <a:ext cx="1219138" cy="43976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6" b="1" i="0">
                  <a:solidFill>
                    <a:srgbClr val="000000"/>
                  </a:solidFill>
                  <a:latin typeface="Arial"/>
                </a:rPr>
                <a:t>Dark Mode</a:t>
              </a:r>
            </a:p>
          </p:txBody>
        </p:sp>
        <p:sp>
          <p:nvSpPr>
            <p:cNvPr id="106" name="N16/notch-system/text/095"/>
            <p:cNvSpPr txBox="1"/>
            <p:nvPr/>
          </p:nvSpPr>
          <p:spPr>
            <a:xfrm>
              <a:off x="747236" y="4763166"/>
              <a:ext cx="7329487" cy="36647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6" b="0" i="0">
                  <a:solidFill>
                    <a:srgbClr val="98989D"/>
                  </a:solidFill>
                  <a:latin typeface="Arial"/>
                </a:rPr>
                <a:t>Sampling runs only while this page is visible. Network uses the default IPv4 interface.</a:t>
              </a:r>
            </a:p>
          </p:txBody>
        </p:sp>
      </p:grpSp>
      <p:sp>
        <p:nvSpPr>
          <p:cNvPr id="107" name="N16/text/010"/>
          <p:cNvSpPr txBox="1"/>
          <p:nvPr/>
        </p:nvSpPr>
        <p:spPr>
          <a:xfrm>
            <a:off x="502919" y="5355383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Sampling only while System visible. Network uses default IPv4 interface; battery shows AC when absent.</a:t>
            </a:r>
          </a:p>
        </p:txBody>
      </p:sp>
      <p:sp>
        <p:nvSpPr>
          <p:cNvPr id="108" name="N16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N16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110" name="N16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N16/text/014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4 columns ≥560 px content</a:t>
            </a:r>
          </a:p>
        </p:txBody>
      </p:sp>
      <p:sp>
        <p:nvSpPr>
          <p:cNvPr id="112" name="N16/ellipse/015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N16/text/016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Card radius 14 / padding 12</a:t>
            </a:r>
          </a:p>
        </p:txBody>
      </p:sp>
      <p:sp>
        <p:nvSpPr>
          <p:cNvPr id="114" name="N16/ellipse/017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N16/text/018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Value 1.45 em / 700</a:t>
            </a:r>
          </a:p>
        </p:txBody>
      </p:sp>
      <p:sp>
        <p:nvSpPr>
          <p:cNvPr id="116" name="N16/ellipse/019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N16/text/020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Full action labels on System</a:t>
            </a:r>
          </a:p>
        </p:txBody>
      </p:sp>
      <p:cxnSp>
        <p:nvCxnSpPr>
          <p:cNvPr id="118" name="N16/line/021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N16/text/022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120" name="N16/edit-box/023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N16/edit-note/024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Stat card order / value format / detail lines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17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17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17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SYSTEM PAGE</a:t>
            </a:r>
          </a:p>
        </p:txBody>
      </p:sp>
      <p:sp>
        <p:nvSpPr>
          <p:cNvPr id="5" name="N17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System — waiting / unavailable</a:t>
            </a:r>
          </a:p>
        </p:txBody>
      </p:sp>
      <p:sp>
        <p:nvSpPr>
          <p:cNvPr id="6" name="N17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Initial sample and unavailable sensors use explicit placeholders</a:t>
            </a:r>
          </a:p>
        </p:txBody>
      </p:sp>
      <p:cxnSp>
        <p:nvCxnSpPr>
          <p:cNvPr id="7" name="N17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17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17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N17</a:t>
            </a:r>
          </a:p>
        </p:txBody>
      </p:sp>
      <p:sp>
        <p:nvSpPr>
          <p:cNvPr id="10" name="N17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24</a:t>
            </a:r>
          </a:p>
        </p:txBody>
      </p:sp>
      <p:grpSp>
        <p:nvGrpSpPr>
          <p:cNvPr id="11" name="N17/notch-system"/>
          <p:cNvGrpSpPr/>
          <p:nvPr/>
        </p:nvGrpSpPr>
        <p:grpSpPr>
          <a:xfrm>
            <a:off x="502919" y="2051256"/>
            <a:ext cx="7818121" cy="3176111"/>
            <a:chOff x="502919" y="2051256"/>
            <a:chExt cx="7818121" cy="3176111"/>
          </a:xfrm>
        </p:grpSpPr>
        <p:sp>
          <p:nvSpPr>
            <p:cNvPr id="12" name="N17/notch-system/notch-surface-open/001"/>
            <p:cNvSpPr/>
            <p:nvPr/>
          </p:nvSpPr>
          <p:spPr>
            <a:xfrm>
              <a:off x="502919" y="2051256"/>
              <a:ext cx="7818121" cy="3176111"/>
            </a:xfrm>
            <a:custGeom>
              <a:avLst/>
              <a:gdLst/>
              <a:ahLst/>
              <a:cxnLst/>
              <a:rect l="l" t="t" r="r" b="b"/>
              <a:pathLst>
                <a:path w="7818121" h="3176111">
                  <a:moveTo>
                    <a:pt x="0" y="0"/>
                  </a:moveTo>
                  <a:lnTo>
                    <a:pt x="7818121" y="0"/>
                  </a:lnTo>
                  <a:lnTo>
                    <a:pt x="7785935" y="3626"/>
                  </a:lnTo>
                  <a:lnTo>
                    <a:pt x="7749216" y="14506"/>
                  </a:lnTo>
                  <a:lnTo>
                    <a:pt x="7710683" y="32639"/>
                  </a:lnTo>
                  <a:lnTo>
                    <a:pt x="7673058" y="58025"/>
                  </a:lnTo>
                  <a:lnTo>
                    <a:pt x="7639059" y="90664"/>
                  </a:lnTo>
                  <a:lnTo>
                    <a:pt x="7611406" y="130556"/>
                  </a:lnTo>
                  <a:lnTo>
                    <a:pt x="7592820" y="177702"/>
                  </a:lnTo>
                  <a:lnTo>
                    <a:pt x="7586020" y="232100"/>
                  </a:lnTo>
                  <a:lnTo>
                    <a:pt x="7580387" y="2940128"/>
                  </a:lnTo>
                  <a:lnTo>
                    <a:pt x="7563703" y="2995127"/>
                  </a:lnTo>
                  <a:lnTo>
                    <a:pt x="7536610" y="3045813"/>
                  </a:lnTo>
                  <a:lnTo>
                    <a:pt x="7500150" y="3090241"/>
                  </a:lnTo>
                  <a:lnTo>
                    <a:pt x="7455722" y="3126701"/>
                  </a:lnTo>
                  <a:lnTo>
                    <a:pt x="7405035" y="3153794"/>
                  </a:lnTo>
                  <a:lnTo>
                    <a:pt x="7350037" y="3170478"/>
                  </a:lnTo>
                  <a:lnTo>
                    <a:pt x="7292841" y="3176111"/>
                  </a:lnTo>
                  <a:lnTo>
                    <a:pt x="525280" y="3176111"/>
                  </a:lnTo>
                  <a:lnTo>
                    <a:pt x="468084" y="3170478"/>
                  </a:lnTo>
                  <a:lnTo>
                    <a:pt x="413086" y="3153794"/>
                  </a:lnTo>
                  <a:lnTo>
                    <a:pt x="362399" y="3126701"/>
                  </a:lnTo>
                  <a:lnTo>
                    <a:pt x="317971" y="3090241"/>
                  </a:lnTo>
                  <a:lnTo>
                    <a:pt x="281511" y="3045813"/>
                  </a:lnTo>
                  <a:lnTo>
                    <a:pt x="254418" y="2995127"/>
                  </a:lnTo>
                  <a:lnTo>
                    <a:pt x="237734" y="2940128"/>
                  </a:lnTo>
                  <a:lnTo>
                    <a:pt x="232101" y="2882932"/>
                  </a:lnTo>
                  <a:lnTo>
                    <a:pt x="232101" y="232100"/>
                  </a:lnTo>
                  <a:lnTo>
                    <a:pt x="225301" y="177702"/>
                  </a:lnTo>
                  <a:lnTo>
                    <a:pt x="206715" y="130556"/>
                  </a:lnTo>
                  <a:lnTo>
                    <a:pt x="179062" y="90664"/>
                  </a:lnTo>
                  <a:lnTo>
                    <a:pt x="145063" y="58025"/>
                  </a:lnTo>
                  <a:lnTo>
                    <a:pt x="107438" y="32639"/>
                  </a:lnTo>
                  <a:lnTo>
                    <a:pt x="68905" y="14506"/>
                  </a:lnTo>
                  <a:lnTo>
                    <a:pt x="32186" y="36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17/notch-system/button-home/002"/>
            <p:cNvSpPr/>
            <p:nvPr/>
          </p:nvSpPr>
          <p:spPr>
            <a:xfrm>
              <a:off x="747236" y="2625399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17/notch-system/poly/003"/>
            <p:cNvSpPr/>
            <p:nvPr/>
          </p:nvSpPr>
          <p:spPr>
            <a:xfrm>
              <a:off x="869394" y="2735341"/>
              <a:ext cx="146590" cy="146590"/>
            </a:xfrm>
            <a:custGeom>
              <a:avLst/>
              <a:gdLst/>
              <a:ahLst/>
              <a:cxnLst/>
              <a:rect l="l" t="t" r="r" b="b"/>
              <a:pathLst>
                <a:path w="146590" h="146590">
                  <a:moveTo>
                    <a:pt x="73295" y="0"/>
                  </a:moveTo>
                  <a:lnTo>
                    <a:pt x="0" y="61079"/>
                  </a:lnTo>
                  <a:lnTo>
                    <a:pt x="24431" y="61079"/>
                  </a:lnTo>
                  <a:lnTo>
                    <a:pt x="24431" y="146590"/>
                  </a:lnTo>
                  <a:lnTo>
                    <a:pt x="61079" y="146590"/>
                  </a:lnTo>
                  <a:lnTo>
                    <a:pt x="61079" y="97727"/>
                  </a:lnTo>
                  <a:lnTo>
                    <a:pt x="85511" y="97727"/>
                  </a:lnTo>
                  <a:lnTo>
                    <a:pt x="85511" y="146590"/>
                  </a:lnTo>
                  <a:lnTo>
                    <a:pt x="122158" y="146590"/>
                  </a:lnTo>
                  <a:lnTo>
                    <a:pt x="122158" y="61079"/>
                  </a:lnTo>
                  <a:lnTo>
                    <a:pt x="146590" y="61079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17/notch-system/button-music/004"/>
            <p:cNvSpPr/>
            <p:nvPr/>
          </p:nvSpPr>
          <p:spPr>
            <a:xfrm>
              <a:off x="1187005" y="2625399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N17/notch-system/line/005"/>
            <p:cNvCxnSpPr/>
            <p:nvPr/>
          </p:nvCxnSpPr>
          <p:spPr>
            <a:xfrm flipV="1">
              <a:off x="1358026" y="2759773"/>
              <a:ext cx="0" cy="9772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N17/notch-system/line/006"/>
            <p:cNvCxnSpPr/>
            <p:nvPr/>
          </p:nvCxnSpPr>
          <p:spPr>
            <a:xfrm flipV="1">
              <a:off x="1358026" y="2747557"/>
              <a:ext cx="85511" cy="1221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17/notch-system/line/007"/>
            <p:cNvCxnSpPr/>
            <p:nvPr/>
          </p:nvCxnSpPr>
          <p:spPr>
            <a:xfrm>
              <a:off x="1443537" y="2747557"/>
              <a:ext cx="0" cy="9772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N17/notch-system/ellipse/008"/>
            <p:cNvSpPr/>
            <p:nvPr/>
          </p:nvSpPr>
          <p:spPr>
            <a:xfrm>
              <a:off x="1321379" y="2839176"/>
              <a:ext cx="42755" cy="36647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17/notch-system/ellipse/009"/>
            <p:cNvSpPr/>
            <p:nvPr/>
          </p:nvSpPr>
          <p:spPr>
            <a:xfrm>
              <a:off x="1406890" y="2826960"/>
              <a:ext cx="42755" cy="36647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17/notch-system/button-bell/010"/>
            <p:cNvSpPr/>
            <p:nvPr/>
          </p:nvSpPr>
          <p:spPr>
            <a:xfrm>
              <a:off x="1626774" y="2625399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17/notch-system/poly/011"/>
            <p:cNvSpPr/>
            <p:nvPr/>
          </p:nvSpPr>
          <p:spPr>
            <a:xfrm>
              <a:off x="1761148" y="2735341"/>
              <a:ext cx="122158" cy="109943"/>
            </a:xfrm>
            <a:custGeom>
              <a:avLst/>
              <a:gdLst/>
              <a:ahLst/>
              <a:cxnLst/>
              <a:rect l="l" t="t" r="r" b="b"/>
              <a:pathLst>
                <a:path w="122158" h="109943">
                  <a:moveTo>
                    <a:pt x="61079" y="0"/>
                  </a:moveTo>
                  <a:lnTo>
                    <a:pt x="24432" y="24432"/>
                  </a:lnTo>
                  <a:lnTo>
                    <a:pt x="12216" y="73295"/>
                  </a:lnTo>
                  <a:lnTo>
                    <a:pt x="0" y="109943"/>
                  </a:lnTo>
                  <a:lnTo>
                    <a:pt x="122158" y="109943"/>
                  </a:lnTo>
                  <a:lnTo>
                    <a:pt x="109942" y="73295"/>
                  </a:lnTo>
                  <a:lnTo>
                    <a:pt x="97727" y="24432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N17/notch-system/line/012"/>
            <p:cNvCxnSpPr/>
            <p:nvPr/>
          </p:nvCxnSpPr>
          <p:spPr>
            <a:xfrm>
              <a:off x="1797796" y="2869715"/>
              <a:ext cx="4886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N17/notch-system/ellipse/013"/>
            <p:cNvSpPr/>
            <p:nvPr/>
          </p:nvSpPr>
          <p:spPr>
            <a:xfrm>
              <a:off x="1810011" y="2723126"/>
              <a:ext cx="24431" cy="24431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17/notch-system/button-System/014"/>
            <p:cNvSpPr/>
            <p:nvPr/>
          </p:nvSpPr>
          <p:spPr>
            <a:xfrm>
              <a:off x="2066543" y="2625399"/>
              <a:ext cx="1313444" cy="366474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N17/notch-system/line/015"/>
            <p:cNvCxnSpPr/>
            <p:nvPr/>
          </p:nvCxnSpPr>
          <p:spPr>
            <a:xfrm>
              <a:off x="2305485" y="2881931"/>
              <a:ext cx="146590" cy="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N17/notch-system/line/016"/>
            <p:cNvCxnSpPr/>
            <p:nvPr/>
          </p:nvCxnSpPr>
          <p:spPr>
            <a:xfrm flipV="1">
              <a:off x="2317701" y="2796420"/>
              <a:ext cx="36647" cy="48864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17/notch-system/line/017"/>
            <p:cNvCxnSpPr/>
            <p:nvPr/>
          </p:nvCxnSpPr>
          <p:spPr>
            <a:xfrm>
              <a:off x="2354348" y="2796420"/>
              <a:ext cx="36647" cy="24432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17/notch-system/line/018"/>
            <p:cNvCxnSpPr/>
            <p:nvPr/>
          </p:nvCxnSpPr>
          <p:spPr>
            <a:xfrm flipV="1">
              <a:off x="2390995" y="2747557"/>
              <a:ext cx="48864" cy="73295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N17/notch-system/text/019"/>
            <p:cNvSpPr txBox="1"/>
            <p:nvPr/>
          </p:nvSpPr>
          <p:spPr>
            <a:xfrm>
              <a:off x="2549801" y="2625399"/>
              <a:ext cx="805754" cy="36647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6" b="1" i="0">
                  <a:solidFill>
                    <a:srgbClr val="FFFFFF"/>
                  </a:solidFill>
                  <a:latin typeface="Arial"/>
                </a:rPr>
                <a:t>System</a:t>
              </a:r>
            </a:p>
          </p:txBody>
        </p:sp>
        <p:sp>
          <p:nvSpPr>
            <p:cNvPr id="31" name="N17/notch-system/button-folder/020"/>
            <p:cNvSpPr/>
            <p:nvPr/>
          </p:nvSpPr>
          <p:spPr>
            <a:xfrm>
              <a:off x="3428851" y="2625399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17/notch-system/poly/021"/>
            <p:cNvSpPr/>
            <p:nvPr/>
          </p:nvSpPr>
          <p:spPr>
            <a:xfrm>
              <a:off x="3551009" y="2771989"/>
              <a:ext cx="146590" cy="97726"/>
            </a:xfrm>
            <a:custGeom>
              <a:avLst/>
              <a:gdLst/>
              <a:ahLst/>
              <a:cxnLst/>
              <a:rect l="l" t="t" r="r" b="b"/>
              <a:pathLst>
                <a:path w="146590" h="97726">
                  <a:moveTo>
                    <a:pt x="0" y="0"/>
                  </a:moveTo>
                  <a:lnTo>
                    <a:pt x="48863" y="0"/>
                  </a:lnTo>
                  <a:lnTo>
                    <a:pt x="67187" y="24431"/>
                  </a:lnTo>
                  <a:lnTo>
                    <a:pt x="146590" y="24431"/>
                  </a:lnTo>
                  <a:lnTo>
                    <a:pt x="146590" y="97726"/>
                  </a:lnTo>
                  <a:lnTo>
                    <a:pt x="0" y="97726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17/notch-system/button-clipboard/022"/>
            <p:cNvSpPr/>
            <p:nvPr/>
          </p:nvSpPr>
          <p:spPr>
            <a:xfrm>
              <a:off x="3868620" y="2625399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17/notch-system/rect/023"/>
            <p:cNvSpPr/>
            <p:nvPr/>
          </p:nvSpPr>
          <p:spPr>
            <a:xfrm>
              <a:off x="4015210" y="2747557"/>
              <a:ext cx="97726" cy="134373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17/notch-system/rect/024"/>
            <p:cNvSpPr/>
            <p:nvPr/>
          </p:nvSpPr>
          <p:spPr>
            <a:xfrm>
              <a:off x="4039642" y="2729233"/>
              <a:ext cx="48863" cy="30539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N17/notch-system/line/025"/>
            <p:cNvCxnSpPr/>
            <p:nvPr/>
          </p:nvCxnSpPr>
          <p:spPr>
            <a:xfrm>
              <a:off x="4039642" y="2796420"/>
              <a:ext cx="4886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N17/notch-system/line/026"/>
            <p:cNvCxnSpPr/>
            <p:nvPr/>
          </p:nvCxnSpPr>
          <p:spPr>
            <a:xfrm>
              <a:off x="4039642" y="2826960"/>
              <a:ext cx="4886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N17/notch-system/button-gear/027"/>
            <p:cNvSpPr/>
            <p:nvPr/>
          </p:nvSpPr>
          <p:spPr>
            <a:xfrm>
              <a:off x="7221616" y="2613183"/>
              <a:ext cx="390906" cy="390906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17/notch-system/ellipse/028"/>
            <p:cNvSpPr/>
            <p:nvPr/>
          </p:nvSpPr>
          <p:spPr>
            <a:xfrm>
              <a:off x="7380422" y="2771989"/>
              <a:ext cx="73294" cy="73294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17/notch-system/line/029"/>
            <p:cNvCxnSpPr/>
            <p:nvPr/>
          </p:nvCxnSpPr>
          <p:spPr>
            <a:xfrm>
              <a:off x="7478148" y="2808636"/>
              <a:ext cx="2443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17/notch-system/line/030"/>
            <p:cNvCxnSpPr/>
            <p:nvPr/>
          </p:nvCxnSpPr>
          <p:spPr>
            <a:xfrm>
              <a:off x="7460259" y="2851826"/>
              <a:ext cx="17276" cy="1727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17/notch-system/line/031"/>
            <p:cNvCxnSpPr/>
            <p:nvPr/>
          </p:nvCxnSpPr>
          <p:spPr>
            <a:xfrm>
              <a:off x="7417069" y="2869715"/>
              <a:ext cx="0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17/notch-system/line/032"/>
            <p:cNvCxnSpPr/>
            <p:nvPr/>
          </p:nvCxnSpPr>
          <p:spPr>
            <a:xfrm flipH="1">
              <a:off x="7356604" y="2851826"/>
              <a:ext cx="17276" cy="1727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17/notch-system/line/033"/>
            <p:cNvCxnSpPr/>
            <p:nvPr/>
          </p:nvCxnSpPr>
          <p:spPr>
            <a:xfrm flipH="1">
              <a:off x="7331559" y="2808636"/>
              <a:ext cx="24431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17/notch-system/line/034"/>
            <p:cNvCxnSpPr/>
            <p:nvPr/>
          </p:nvCxnSpPr>
          <p:spPr>
            <a:xfrm flipH="1" flipV="1">
              <a:off x="7356604" y="2748171"/>
              <a:ext cx="17276" cy="1727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17/notch-system/line/035"/>
            <p:cNvCxnSpPr/>
            <p:nvPr/>
          </p:nvCxnSpPr>
          <p:spPr>
            <a:xfrm flipV="1">
              <a:off x="7417069" y="2723126"/>
              <a:ext cx="0" cy="2443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17/notch-system/line/036"/>
            <p:cNvCxnSpPr/>
            <p:nvPr/>
          </p:nvCxnSpPr>
          <p:spPr>
            <a:xfrm flipV="1">
              <a:off x="7460259" y="2748171"/>
              <a:ext cx="17276" cy="1727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17/notch-system/button-close/037"/>
            <p:cNvSpPr/>
            <p:nvPr/>
          </p:nvSpPr>
          <p:spPr>
            <a:xfrm>
              <a:off x="7685817" y="2613183"/>
              <a:ext cx="390906" cy="390906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17/notch-system/line/038"/>
            <p:cNvCxnSpPr/>
            <p:nvPr/>
          </p:nvCxnSpPr>
          <p:spPr>
            <a:xfrm>
              <a:off x="7832407" y="2759773"/>
              <a:ext cx="97727" cy="9772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17/notch-system/line/039"/>
            <p:cNvCxnSpPr/>
            <p:nvPr/>
          </p:nvCxnSpPr>
          <p:spPr>
            <a:xfrm flipH="1">
              <a:off x="7832407" y="2759773"/>
              <a:ext cx="97727" cy="9772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17/notch-system/stat-Processor/040"/>
            <p:cNvSpPr/>
            <p:nvPr/>
          </p:nvSpPr>
          <p:spPr>
            <a:xfrm>
              <a:off x="747236" y="3077384"/>
              <a:ext cx="1759077" cy="855106"/>
            </a:xfrm>
            <a:prstGeom prst="roundRect">
              <a:avLst>
                <a:gd name="adj" fmla="val 19999"/>
              </a:avLst>
            </a:prstGeom>
            <a:solidFill>
              <a:srgbClr val="1C1C1E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N17/notch-system/rect/041"/>
            <p:cNvSpPr/>
            <p:nvPr/>
          </p:nvSpPr>
          <p:spPr>
            <a:xfrm>
              <a:off x="942689" y="3248406"/>
              <a:ext cx="97726" cy="97726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N17/notch-system/rect/042"/>
            <p:cNvSpPr/>
            <p:nvPr/>
          </p:nvSpPr>
          <p:spPr>
            <a:xfrm>
              <a:off x="973228" y="3278945"/>
              <a:ext cx="36647" cy="36647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4" name="N17/notch-system/line/043"/>
            <p:cNvCxnSpPr/>
            <p:nvPr/>
          </p:nvCxnSpPr>
          <p:spPr>
            <a:xfrm>
              <a:off x="967120" y="3223974"/>
              <a:ext cx="0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N17/notch-system/line/044"/>
            <p:cNvCxnSpPr/>
            <p:nvPr/>
          </p:nvCxnSpPr>
          <p:spPr>
            <a:xfrm>
              <a:off x="967120" y="3346132"/>
              <a:ext cx="0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N17/notch-system/line/045"/>
            <p:cNvCxnSpPr/>
            <p:nvPr/>
          </p:nvCxnSpPr>
          <p:spPr>
            <a:xfrm>
              <a:off x="918257" y="3272837"/>
              <a:ext cx="2443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N17/notch-system/line/046"/>
            <p:cNvCxnSpPr/>
            <p:nvPr/>
          </p:nvCxnSpPr>
          <p:spPr>
            <a:xfrm>
              <a:off x="1040415" y="3272837"/>
              <a:ext cx="2443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N17/notch-system/line/047"/>
            <p:cNvCxnSpPr/>
            <p:nvPr/>
          </p:nvCxnSpPr>
          <p:spPr>
            <a:xfrm>
              <a:off x="991552" y="3223974"/>
              <a:ext cx="0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N17/notch-system/line/048"/>
            <p:cNvCxnSpPr/>
            <p:nvPr/>
          </p:nvCxnSpPr>
          <p:spPr>
            <a:xfrm>
              <a:off x="991552" y="3346132"/>
              <a:ext cx="0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N17/notch-system/line/049"/>
            <p:cNvCxnSpPr/>
            <p:nvPr/>
          </p:nvCxnSpPr>
          <p:spPr>
            <a:xfrm>
              <a:off x="918257" y="3297269"/>
              <a:ext cx="2443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N17/notch-system/line/050"/>
            <p:cNvCxnSpPr/>
            <p:nvPr/>
          </p:nvCxnSpPr>
          <p:spPr>
            <a:xfrm>
              <a:off x="1040415" y="3297269"/>
              <a:ext cx="2443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N17/notch-system/line/051"/>
            <p:cNvCxnSpPr/>
            <p:nvPr/>
          </p:nvCxnSpPr>
          <p:spPr>
            <a:xfrm>
              <a:off x="1015984" y="3223974"/>
              <a:ext cx="0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N17/notch-system/line/052"/>
            <p:cNvCxnSpPr/>
            <p:nvPr/>
          </p:nvCxnSpPr>
          <p:spPr>
            <a:xfrm>
              <a:off x="1015984" y="3346132"/>
              <a:ext cx="0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N17/notch-system/line/053"/>
            <p:cNvCxnSpPr/>
            <p:nvPr/>
          </p:nvCxnSpPr>
          <p:spPr>
            <a:xfrm>
              <a:off x="918257" y="3321700"/>
              <a:ext cx="2443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N17/notch-system/line/054"/>
            <p:cNvCxnSpPr/>
            <p:nvPr/>
          </p:nvCxnSpPr>
          <p:spPr>
            <a:xfrm>
              <a:off x="1040415" y="3321700"/>
              <a:ext cx="2443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N17/notch-system/text/055"/>
            <p:cNvSpPr txBox="1"/>
            <p:nvPr/>
          </p:nvSpPr>
          <p:spPr>
            <a:xfrm>
              <a:off x="1162573" y="3175111"/>
              <a:ext cx="1221581" cy="2198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98989D"/>
                  </a:solidFill>
                  <a:latin typeface="Arial"/>
                </a:rPr>
                <a:t>Processor</a:t>
              </a:r>
            </a:p>
          </p:txBody>
        </p:sp>
        <p:sp>
          <p:nvSpPr>
            <p:cNvPr id="67" name="N17/notch-system/text/056"/>
            <p:cNvSpPr txBox="1"/>
            <p:nvPr/>
          </p:nvSpPr>
          <p:spPr>
            <a:xfrm>
              <a:off x="893825" y="3419427"/>
              <a:ext cx="1465897" cy="29317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52" b="1" i="0">
                  <a:solidFill>
                    <a:srgbClr val="F5F5F7"/>
                  </a:solidFill>
                  <a:latin typeface="Arial"/>
                </a:rPr>
                <a:t>—</a:t>
              </a:r>
            </a:p>
          </p:txBody>
        </p:sp>
        <p:sp>
          <p:nvSpPr>
            <p:cNvPr id="68" name="N17/notch-system/text/057"/>
            <p:cNvSpPr txBox="1"/>
            <p:nvPr/>
          </p:nvSpPr>
          <p:spPr>
            <a:xfrm>
              <a:off x="893825" y="3712606"/>
              <a:ext cx="1465897" cy="195453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8" b="0" i="0">
                  <a:solidFill>
                    <a:srgbClr val="98989D"/>
                  </a:solidFill>
                  <a:latin typeface="Arial"/>
                </a:rPr>
                <a:t>Waiting for sample</a:t>
              </a:r>
            </a:p>
          </p:txBody>
        </p:sp>
        <p:sp>
          <p:nvSpPr>
            <p:cNvPr id="69" name="N17/notch-system/stat-Memory/058"/>
            <p:cNvSpPr/>
            <p:nvPr/>
          </p:nvSpPr>
          <p:spPr>
            <a:xfrm>
              <a:off x="2604039" y="3077384"/>
              <a:ext cx="1759077" cy="855106"/>
            </a:xfrm>
            <a:prstGeom prst="roundRect">
              <a:avLst>
                <a:gd name="adj" fmla="val 19999"/>
              </a:avLst>
            </a:prstGeom>
            <a:solidFill>
              <a:srgbClr val="1C1C1E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N17/notch-system/rect/059"/>
            <p:cNvSpPr/>
            <p:nvPr/>
          </p:nvSpPr>
          <p:spPr>
            <a:xfrm>
              <a:off x="2775061" y="3260621"/>
              <a:ext cx="146589" cy="73294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N17/notch-system/rect/060"/>
            <p:cNvSpPr/>
            <p:nvPr/>
          </p:nvSpPr>
          <p:spPr>
            <a:xfrm>
              <a:off x="2799492" y="3285053"/>
              <a:ext cx="24431" cy="24431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N17/notch-system/rect/061"/>
            <p:cNvSpPr/>
            <p:nvPr/>
          </p:nvSpPr>
          <p:spPr>
            <a:xfrm>
              <a:off x="2836140" y="3285053"/>
              <a:ext cx="24431" cy="24431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N17/notch-system/rect/062"/>
            <p:cNvSpPr/>
            <p:nvPr/>
          </p:nvSpPr>
          <p:spPr>
            <a:xfrm>
              <a:off x="2872787" y="3285053"/>
              <a:ext cx="24431" cy="24431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4" name="N17/notch-system/line/063"/>
            <p:cNvCxnSpPr/>
            <p:nvPr/>
          </p:nvCxnSpPr>
          <p:spPr>
            <a:xfrm>
              <a:off x="2799492" y="3333916"/>
              <a:ext cx="0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N17/notch-system/line/064"/>
            <p:cNvCxnSpPr/>
            <p:nvPr/>
          </p:nvCxnSpPr>
          <p:spPr>
            <a:xfrm>
              <a:off x="2848356" y="3333916"/>
              <a:ext cx="0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N17/notch-system/line/065"/>
            <p:cNvCxnSpPr/>
            <p:nvPr/>
          </p:nvCxnSpPr>
          <p:spPr>
            <a:xfrm>
              <a:off x="2897219" y="3333916"/>
              <a:ext cx="0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N17/notch-system/text/066"/>
            <p:cNvSpPr txBox="1"/>
            <p:nvPr/>
          </p:nvSpPr>
          <p:spPr>
            <a:xfrm>
              <a:off x="3019377" y="3175111"/>
              <a:ext cx="1221581" cy="2198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98989D"/>
                  </a:solidFill>
                  <a:latin typeface="Arial"/>
                </a:rPr>
                <a:t>Memory</a:t>
              </a:r>
            </a:p>
          </p:txBody>
        </p:sp>
        <p:sp>
          <p:nvSpPr>
            <p:cNvPr id="78" name="N17/notch-system/text/067"/>
            <p:cNvSpPr txBox="1"/>
            <p:nvPr/>
          </p:nvSpPr>
          <p:spPr>
            <a:xfrm>
              <a:off x="2750629" y="3419427"/>
              <a:ext cx="1465897" cy="29317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52" b="1" i="0">
                  <a:solidFill>
                    <a:srgbClr val="F5F5F7"/>
                  </a:solidFill>
                  <a:latin typeface="Arial"/>
                </a:rPr>
                <a:t>—</a:t>
              </a:r>
            </a:p>
          </p:txBody>
        </p:sp>
        <p:sp>
          <p:nvSpPr>
            <p:cNvPr id="79" name="N17/notch-system/text/068"/>
            <p:cNvSpPr txBox="1"/>
            <p:nvPr/>
          </p:nvSpPr>
          <p:spPr>
            <a:xfrm>
              <a:off x="2750629" y="3712606"/>
              <a:ext cx="1465897" cy="195453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8" b="0" i="0">
                  <a:solidFill>
                    <a:srgbClr val="98989D"/>
                  </a:solidFill>
                  <a:latin typeface="Arial"/>
                </a:rPr>
                <a:t>Waiting for sample</a:t>
              </a:r>
            </a:p>
          </p:txBody>
        </p:sp>
        <p:sp>
          <p:nvSpPr>
            <p:cNvPr id="80" name="N17/notch-system/stat-Battery/069"/>
            <p:cNvSpPr/>
            <p:nvPr/>
          </p:nvSpPr>
          <p:spPr>
            <a:xfrm>
              <a:off x="4460843" y="3077384"/>
              <a:ext cx="1759077" cy="855106"/>
            </a:xfrm>
            <a:prstGeom prst="roundRect">
              <a:avLst>
                <a:gd name="adj" fmla="val 19999"/>
              </a:avLst>
            </a:prstGeom>
            <a:solidFill>
              <a:srgbClr val="1C1C1E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N17/notch-system/rect/070"/>
            <p:cNvSpPr/>
            <p:nvPr/>
          </p:nvSpPr>
          <p:spPr>
            <a:xfrm>
              <a:off x="4631864" y="3260621"/>
              <a:ext cx="134373" cy="73294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N17/notch-system/rect/071"/>
            <p:cNvSpPr/>
            <p:nvPr/>
          </p:nvSpPr>
          <p:spPr>
            <a:xfrm>
              <a:off x="4766238" y="3285053"/>
              <a:ext cx="18323" cy="24431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N17/notch-system/rect/072"/>
            <p:cNvSpPr/>
            <p:nvPr/>
          </p:nvSpPr>
          <p:spPr>
            <a:xfrm>
              <a:off x="4650188" y="3278945"/>
              <a:ext cx="73294" cy="36647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N17/notch-system/text/073"/>
            <p:cNvSpPr txBox="1"/>
            <p:nvPr/>
          </p:nvSpPr>
          <p:spPr>
            <a:xfrm>
              <a:off x="4876180" y="3175111"/>
              <a:ext cx="1221581" cy="2198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98989D"/>
                  </a:solidFill>
                  <a:latin typeface="Arial"/>
                </a:rPr>
                <a:t>Battery</a:t>
              </a:r>
            </a:p>
          </p:txBody>
        </p:sp>
        <p:sp>
          <p:nvSpPr>
            <p:cNvPr id="85" name="N17/notch-system/text/074"/>
            <p:cNvSpPr txBox="1"/>
            <p:nvPr/>
          </p:nvSpPr>
          <p:spPr>
            <a:xfrm>
              <a:off x="4607433" y="3419427"/>
              <a:ext cx="1465897" cy="29317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52" b="1" i="0">
                  <a:solidFill>
                    <a:srgbClr val="F5F5F7"/>
                  </a:solidFill>
                  <a:latin typeface="Arial"/>
                </a:rPr>
                <a:t>—</a:t>
              </a:r>
            </a:p>
          </p:txBody>
        </p:sp>
        <p:sp>
          <p:nvSpPr>
            <p:cNvPr id="86" name="N17/notch-system/text/075"/>
            <p:cNvSpPr txBox="1"/>
            <p:nvPr/>
          </p:nvSpPr>
          <p:spPr>
            <a:xfrm>
              <a:off x="4607433" y="3712606"/>
              <a:ext cx="1465897" cy="195453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8" b="0" i="0">
                  <a:solidFill>
                    <a:srgbClr val="98989D"/>
                  </a:solidFill>
                  <a:latin typeface="Arial"/>
                </a:rPr>
                <a:t>Waiting for sample</a:t>
              </a:r>
            </a:p>
          </p:txBody>
        </p:sp>
        <p:sp>
          <p:nvSpPr>
            <p:cNvPr id="87" name="N17/notch-system/stat-Network/076"/>
            <p:cNvSpPr/>
            <p:nvPr/>
          </p:nvSpPr>
          <p:spPr>
            <a:xfrm>
              <a:off x="6317646" y="3077384"/>
              <a:ext cx="1759077" cy="855106"/>
            </a:xfrm>
            <a:prstGeom prst="roundRect">
              <a:avLst>
                <a:gd name="adj" fmla="val 19999"/>
              </a:avLst>
            </a:prstGeom>
            <a:solidFill>
              <a:srgbClr val="1C1C1E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8" name="N17/notch-system/line/077"/>
            <p:cNvCxnSpPr/>
            <p:nvPr/>
          </p:nvCxnSpPr>
          <p:spPr>
            <a:xfrm>
              <a:off x="6561963" y="3236190"/>
              <a:ext cx="0" cy="12215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N17/notch-system/poly/078"/>
            <p:cNvSpPr/>
            <p:nvPr/>
          </p:nvSpPr>
          <p:spPr>
            <a:xfrm>
              <a:off x="6525315" y="3236190"/>
              <a:ext cx="73295" cy="36647"/>
            </a:xfrm>
            <a:custGeom>
              <a:avLst/>
              <a:gdLst/>
              <a:ahLst/>
              <a:cxnLst/>
              <a:rect l="l" t="t" r="r" b="b"/>
              <a:pathLst>
                <a:path w="73295" h="36647">
                  <a:moveTo>
                    <a:pt x="0" y="36647"/>
                  </a:moveTo>
                  <a:lnTo>
                    <a:pt x="36648" y="0"/>
                  </a:lnTo>
                  <a:lnTo>
                    <a:pt x="73295" y="36647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N17/notch-system/poly/079"/>
            <p:cNvSpPr/>
            <p:nvPr/>
          </p:nvSpPr>
          <p:spPr>
            <a:xfrm>
              <a:off x="6525315" y="3321700"/>
              <a:ext cx="73295" cy="36648"/>
            </a:xfrm>
            <a:custGeom>
              <a:avLst/>
              <a:gdLst/>
              <a:ahLst/>
              <a:cxnLst/>
              <a:rect l="l" t="t" r="r" b="b"/>
              <a:pathLst>
                <a:path w="73295" h="36648">
                  <a:moveTo>
                    <a:pt x="0" y="0"/>
                  </a:moveTo>
                  <a:lnTo>
                    <a:pt x="36648" y="36648"/>
                  </a:lnTo>
                  <a:lnTo>
                    <a:pt x="73295" y="0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N17/notch-system/text/080"/>
            <p:cNvSpPr txBox="1"/>
            <p:nvPr/>
          </p:nvSpPr>
          <p:spPr>
            <a:xfrm>
              <a:off x="6732984" y="3175111"/>
              <a:ext cx="1221581" cy="2198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98989D"/>
                  </a:solidFill>
                  <a:latin typeface="Arial"/>
                </a:rPr>
                <a:t>Network</a:t>
              </a:r>
            </a:p>
          </p:txBody>
        </p:sp>
        <p:sp>
          <p:nvSpPr>
            <p:cNvPr id="92" name="N17/notch-system/text/081"/>
            <p:cNvSpPr txBox="1"/>
            <p:nvPr/>
          </p:nvSpPr>
          <p:spPr>
            <a:xfrm>
              <a:off x="6464236" y="3419427"/>
              <a:ext cx="1465897" cy="29317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52" b="1" i="0">
                  <a:solidFill>
                    <a:srgbClr val="F5F5F7"/>
                  </a:solidFill>
                  <a:latin typeface="Arial"/>
                </a:rPr>
                <a:t>…</a:t>
              </a:r>
            </a:p>
          </p:txBody>
        </p:sp>
        <p:sp>
          <p:nvSpPr>
            <p:cNvPr id="93" name="N17/notch-system/text/082"/>
            <p:cNvSpPr txBox="1"/>
            <p:nvPr/>
          </p:nvSpPr>
          <p:spPr>
            <a:xfrm>
              <a:off x="6464236" y="3712606"/>
              <a:ext cx="1465897" cy="195453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8" b="0" i="0">
                  <a:solidFill>
                    <a:srgbClr val="98989D"/>
                  </a:solidFill>
                  <a:latin typeface="Arial"/>
                </a:rPr>
                <a:t>Waiting for sample</a:t>
              </a:r>
            </a:p>
          </p:txBody>
        </p:sp>
        <p:sp>
          <p:nvSpPr>
            <p:cNvPr id="94" name="N17/notch-system/text/083"/>
            <p:cNvSpPr txBox="1"/>
            <p:nvPr/>
          </p:nvSpPr>
          <p:spPr>
            <a:xfrm>
              <a:off x="747236" y="4054649"/>
              <a:ext cx="7329487" cy="17102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77" b="1" i="0">
                  <a:solidFill>
                    <a:srgbClr val="8E8E93"/>
                  </a:solidFill>
                  <a:latin typeface="Arial"/>
                </a:rPr>
                <a:t>QUICK ACTIONS</a:t>
              </a:r>
            </a:p>
          </p:txBody>
        </p:sp>
        <p:sp>
          <p:nvSpPr>
            <p:cNvPr id="95" name="N17/notch-system/button-Do Not Disturb/084"/>
            <p:cNvSpPr/>
            <p:nvPr/>
          </p:nvSpPr>
          <p:spPr>
            <a:xfrm>
              <a:off x="747236" y="4274534"/>
              <a:ext cx="1832371" cy="439769"/>
            </a:xfrm>
            <a:prstGeom prst="roundRect">
              <a:avLst>
                <a:gd name="adj" fmla="val 27777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N17/notch-system/ellipse/085"/>
            <p:cNvSpPr/>
            <p:nvPr/>
          </p:nvSpPr>
          <p:spPr>
            <a:xfrm>
              <a:off x="847405" y="4433339"/>
              <a:ext cx="122158" cy="122158"/>
            </a:xfrm>
            <a:prstGeom prst="ellipse">
              <a:avLst/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7" name="N17/notch-system/line/086"/>
            <p:cNvCxnSpPr/>
            <p:nvPr/>
          </p:nvCxnSpPr>
          <p:spPr>
            <a:xfrm flipV="1">
              <a:off x="859621" y="4445555"/>
              <a:ext cx="97727" cy="97727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N17/notch-system/text/087"/>
            <p:cNvSpPr txBox="1"/>
            <p:nvPr/>
          </p:nvSpPr>
          <p:spPr>
            <a:xfrm>
              <a:off x="1079506" y="4274534"/>
              <a:ext cx="1475670" cy="43976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6" b="1" i="0">
                  <a:solidFill>
                    <a:srgbClr val="E5E5EA"/>
                  </a:solidFill>
                  <a:latin typeface="Arial"/>
                </a:rPr>
                <a:t>Do Not Disturb</a:t>
              </a:r>
            </a:p>
          </p:txBody>
        </p:sp>
        <p:sp>
          <p:nvSpPr>
            <p:cNvPr id="99" name="N17/notch-system/button-Night Light/088"/>
            <p:cNvSpPr/>
            <p:nvPr/>
          </p:nvSpPr>
          <p:spPr>
            <a:xfrm>
              <a:off x="2677334" y="4274534"/>
              <a:ext cx="1832371" cy="439769"/>
            </a:xfrm>
            <a:prstGeom prst="roundRect">
              <a:avLst>
                <a:gd name="adj" fmla="val 27777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N17/notch-system/poly/089"/>
            <p:cNvSpPr/>
            <p:nvPr/>
          </p:nvSpPr>
          <p:spPr>
            <a:xfrm>
              <a:off x="2943639" y="4421124"/>
              <a:ext cx="97726" cy="146589"/>
            </a:xfrm>
            <a:custGeom>
              <a:avLst/>
              <a:gdLst/>
              <a:ahLst/>
              <a:cxnLst/>
              <a:rect l="l" t="t" r="r" b="b"/>
              <a:pathLst>
                <a:path w="97726" h="146589">
                  <a:moveTo>
                    <a:pt x="73295" y="0"/>
                  </a:moveTo>
                  <a:lnTo>
                    <a:pt x="24431" y="12215"/>
                  </a:lnTo>
                  <a:lnTo>
                    <a:pt x="0" y="48863"/>
                  </a:lnTo>
                  <a:lnTo>
                    <a:pt x="0" y="97726"/>
                  </a:lnTo>
                  <a:lnTo>
                    <a:pt x="24431" y="134373"/>
                  </a:lnTo>
                  <a:lnTo>
                    <a:pt x="73295" y="146589"/>
                  </a:lnTo>
                  <a:lnTo>
                    <a:pt x="97726" y="122158"/>
                  </a:lnTo>
                  <a:lnTo>
                    <a:pt x="61079" y="109942"/>
                  </a:lnTo>
                  <a:lnTo>
                    <a:pt x="36647" y="73294"/>
                  </a:lnTo>
                  <a:lnTo>
                    <a:pt x="48863" y="36647"/>
                  </a:lnTo>
                  <a:close/>
                </a:path>
              </a:pathLst>
            </a:cu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N17/notch-system/text/090"/>
            <p:cNvSpPr txBox="1"/>
            <p:nvPr/>
          </p:nvSpPr>
          <p:spPr>
            <a:xfrm>
              <a:off x="3163523" y="4274534"/>
              <a:ext cx="1321750" cy="43976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6" b="1" i="0">
                  <a:solidFill>
                    <a:srgbClr val="E5E5EA"/>
                  </a:solidFill>
                  <a:latin typeface="Arial"/>
                </a:rPr>
                <a:t>Night Light</a:t>
              </a:r>
            </a:p>
          </p:txBody>
        </p:sp>
        <p:sp>
          <p:nvSpPr>
            <p:cNvPr id="102" name="N17/notch-system/button-Dark Mode/091"/>
            <p:cNvSpPr/>
            <p:nvPr/>
          </p:nvSpPr>
          <p:spPr>
            <a:xfrm>
              <a:off x="4607433" y="4274534"/>
              <a:ext cx="1832371" cy="439769"/>
            </a:xfrm>
            <a:prstGeom prst="roundRect">
              <a:avLst>
                <a:gd name="adj" fmla="val 27777"/>
              </a:avLst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N17/notch-system/ellipse/092"/>
            <p:cNvSpPr/>
            <p:nvPr/>
          </p:nvSpPr>
          <p:spPr>
            <a:xfrm>
              <a:off x="4964134" y="4433339"/>
              <a:ext cx="122158" cy="122158"/>
            </a:xfrm>
            <a:prstGeom prst="ellipse">
              <a:avLst/>
            </a:prstGeom>
            <a:noFill/>
            <a:ln w="1016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N17/notch-system/poly/093"/>
            <p:cNvSpPr/>
            <p:nvPr/>
          </p:nvSpPr>
          <p:spPr>
            <a:xfrm>
              <a:off x="5025213" y="4433339"/>
              <a:ext cx="61079" cy="122158"/>
            </a:xfrm>
            <a:custGeom>
              <a:avLst/>
              <a:gdLst/>
              <a:ahLst/>
              <a:cxnLst/>
              <a:rect l="l" t="t" r="r" b="b"/>
              <a:pathLst>
                <a:path w="61079" h="122158">
                  <a:moveTo>
                    <a:pt x="0" y="0"/>
                  </a:moveTo>
                  <a:lnTo>
                    <a:pt x="0" y="122158"/>
                  </a:lnTo>
                  <a:lnTo>
                    <a:pt x="36648" y="109943"/>
                  </a:lnTo>
                  <a:lnTo>
                    <a:pt x="61079" y="61079"/>
                  </a:lnTo>
                  <a:lnTo>
                    <a:pt x="36648" y="122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N17/notch-system/text/094"/>
            <p:cNvSpPr txBox="1"/>
            <p:nvPr/>
          </p:nvSpPr>
          <p:spPr>
            <a:xfrm>
              <a:off x="5196235" y="4274534"/>
              <a:ext cx="1219138" cy="43976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6" b="1" i="0">
                  <a:solidFill>
                    <a:srgbClr val="000000"/>
                  </a:solidFill>
                  <a:latin typeface="Arial"/>
                </a:rPr>
                <a:t>Dark Mode</a:t>
              </a:r>
            </a:p>
          </p:txBody>
        </p:sp>
        <p:sp>
          <p:nvSpPr>
            <p:cNvPr id="106" name="N17/notch-system/text/095"/>
            <p:cNvSpPr txBox="1"/>
            <p:nvPr/>
          </p:nvSpPr>
          <p:spPr>
            <a:xfrm>
              <a:off x="747236" y="4763166"/>
              <a:ext cx="7329487" cy="36647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6" b="0" i="0">
                  <a:solidFill>
                    <a:srgbClr val="98989D"/>
                  </a:solidFill>
                  <a:latin typeface="Arial"/>
                </a:rPr>
                <a:t>Sampling runs only while this page is visible. Network uses the default IPv4 interface.</a:t>
              </a:r>
            </a:p>
          </p:txBody>
        </p:sp>
      </p:grpSp>
      <p:sp>
        <p:nvSpPr>
          <p:cNvPr id="107" name="N17/text/010"/>
          <p:cNvSpPr txBox="1"/>
          <p:nvPr/>
        </p:nvSpPr>
        <p:spPr>
          <a:xfrm>
            <a:off x="502919" y="5355383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CPU/network use '…' while sampling; memory/battery use '—' when unavailable.</a:t>
            </a:r>
          </a:p>
        </p:txBody>
      </p:sp>
      <p:sp>
        <p:nvSpPr>
          <p:cNvPr id="108" name="N17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N17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110" name="N17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N17/text/014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No fake zero values</a:t>
            </a:r>
          </a:p>
        </p:txBody>
      </p:sp>
      <p:sp>
        <p:nvSpPr>
          <p:cNvPr id="112" name="N17/ellipse/015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N17/text/016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Battery absent → AC</a:t>
            </a:r>
          </a:p>
        </p:txBody>
      </p:sp>
      <p:sp>
        <p:nvSpPr>
          <p:cNvPr id="114" name="N17/ellipse/017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N17/text/018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Network absent → No interface</a:t>
            </a:r>
          </a:p>
        </p:txBody>
      </p:sp>
      <p:sp>
        <p:nvSpPr>
          <p:cNvPr id="116" name="N17/ellipse/019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N17/text/020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Quick actions remain usable</a:t>
            </a:r>
          </a:p>
        </p:txBody>
      </p:sp>
      <p:cxnSp>
        <p:nvCxnSpPr>
          <p:cNvPr id="118" name="N17/line/021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N17/text/022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120" name="N17/edit-box/023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N17/edit-note/024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Placeholder glyphs / unavailable copy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52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52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52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SYSTEM PAGE</a:t>
            </a:r>
          </a:p>
        </p:txBody>
      </p:sp>
      <p:sp>
        <p:nvSpPr>
          <p:cNvPr id="5" name="N52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System — 2-column and 1-column</a:t>
            </a:r>
          </a:p>
        </p:txBody>
      </p:sp>
      <p:sp>
        <p:nvSpPr>
          <p:cNvPr id="6" name="N52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statColumns(width): 4 ≥560 · 2 ≥320 · 1 &lt;320</a:t>
            </a:r>
          </a:p>
        </p:txBody>
      </p:sp>
      <p:cxnSp>
        <p:nvCxnSpPr>
          <p:cNvPr id="7" name="N52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52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52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N52</a:t>
            </a:r>
          </a:p>
        </p:txBody>
      </p:sp>
      <p:sp>
        <p:nvSpPr>
          <p:cNvPr id="10" name="N52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25</a:t>
            </a:r>
          </a:p>
        </p:txBody>
      </p:sp>
      <p:grpSp>
        <p:nvGrpSpPr>
          <p:cNvPr id="11" name="N52/notch-system"/>
          <p:cNvGrpSpPr/>
          <p:nvPr/>
        </p:nvGrpSpPr>
        <p:grpSpPr>
          <a:xfrm>
            <a:off x="502920" y="1828800"/>
            <a:ext cx="4343400" cy="2352674"/>
            <a:chOff x="502920" y="1828800"/>
            <a:chExt cx="4343400" cy="2352674"/>
          </a:xfrm>
        </p:grpSpPr>
        <p:sp>
          <p:nvSpPr>
            <p:cNvPr id="12" name="N52/notch-system/notch-surface-open/001"/>
            <p:cNvSpPr/>
            <p:nvPr/>
          </p:nvSpPr>
          <p:spPr>
            <a:xfrm>
              <a:off x="502920" y="1828800"/>
              <a:ext cx="4343400" cy="2352674"/>
            </a:xfrm>
            <a:custGeom>
              <a:avLst/>
              <a:gdLst/>
              <a:ahLst/>
              <a:cxnLst/>
              <a:rect l="l" t="t" r="r" b="b"/>
              <a:pathLst>
                <a:path w="4343400" h="2352674">
                  <a:moveTo>
                    <a:pt x="0" y="0"/>
                  </a:moveTo>
                  <a:lnTo>
                    <a:pt x="4343400" y="0"/>
                  </a:lnTo>
                  <a:lnTo>
                    <a:pt x="4319558" y="2686"/>
                  </a:lnTo>
                  <a:lnTo>
                    <a:pt x="4292359" y="10745"/>
                  </a:lnTo>
                  <a:lnTo>
                    <a:pt x="4263816" y="24177"/>
                  </a:lnTo>
                  <a:lnTo>
                    <a:pt x="4235946" y="42981"/>
                  </a:lnTo>
                  <a:lnTo>
                    <a:pt x="4210761" y="67158"/>
                  </a:lnTo>
                  <a:lnTo>
                    <a:pt x="4190278" y="96708"/>
                  </a:lnTo>
                  <a:lnTo>
                    <a:pt x="4176510" y="131631"/>
                  </a:lnTo>
                  <a:lnTo>
                    <a:pt x="4171473" y="171926"/>
                  </a:lnTo>
                  <a:lnTo>
                    <a:pt x="4167300" y="2177872"/>
                  </a:lnTo>
                  <a:lnTo>
                    <a:pt x="4154942" y="2218612"/>
                  </a:lnTo>
                  <a:lnTo>
                    <a:pt x="4134874" y="2256158"/>
                  </a:lnTo>
                  <a:lnTo>
                    <a:pt x="4107866" y="2289067"/>
                  </a:lnTo>
                  <a:lnTo>
                    <a:pt x="4074956" y="2316075"/>
                  </a:lnTo>
                  <a:lnTo>
                    <a:pt x="4037411" y="2336143"/>
                  </a:lnTo>
                  <a:lnTo>
                    <a:pt x="3996671" y="2348502"/>
                  </a:lnTo>
                  <a:lnTo>
                    <a:pt x="3954303" y="2352674"/>
                  </a:lnTo>
                  <a:lnTo>
                    <a:pt x="389096" y="2352674"/>
                  </a:lnTo>
                  <a:lnTo>
                    <a:pt x="346728" y="2348502"/>
                  </a:lnTo>
                  <a:lnTo>
                    <a:pt x="305988" y="2336143"/>
                  </a:lnTo>
                  <a:lnTo>
                    <a:pt x="268443" y="2316075"/>
                  </a:lnTo>
                  <a:lnTo>
                    <a:pt x="235533" y="2289067"/>
                  </a:lnTo>
                  <a:lnTo>
                    <a:pt x="208525" y="2256158"/>
                  </a:lnTo>
                  <a:lnTo>
                    <a:pt x="188457" y="2218612"/>
                  </a:lnTo>
                  <a:lnTo>
                    <a:pt x="176099" y="2177872"/>
                  </a:lnTo>
                  <a:lnTo>
                    <a:pt x="171926" y="2135504"/>
                  </a:lnTo>
                  <a:lnTo>
                    <a:pt x="171926" y="171926"/>
                  </a:lnTo>
                  <a:lnTo>
                    <a:pt x="166889" y="131631"/>
                  </a:lnTo>
                  <a:lnTo>
                    <a:pt x="153121" y="96708"/>
                  </a:lnTo>
                  <a:lnTo>
                    <a:pt x="132638" y="67158"/>
                  </a:lnTo>
                  <a:lnTo>
                    <a:pt x="107453" y="42981"/>
                  </a:lnTo>
                  <a:lnTo>
                    <a:pt x="79583" y="24177"/>
                  </a:lnTo>
                  <a:lnTo>
                    <a:pt x="51040" y="10745"/>
                  </a:lnTo>
                  <a:lnTo>
                    <a:pt x="23841" y="26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52/notch-system/button-home/002"/>
            <p:cNvSpPr/>
            <p:nvPr/>
          </p:nvSpPr>
          <p:spPr>
            <a:xfrm>
              <a:off x="683895" y="2254091"/>
              <a:ext cx="289560" cy="271462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52/notch-system/poly/003"/>
            <p:cNvSpPr/>
            <p:nvPr/>
          </p:nvSpPr>
          <p:spPr>
            <a:xfrm>
              <a:off x="774382" y="2335530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54293" y="0"/>
                  </a:moveTo>
                  <a:lnTo>
                    <a:pt x="0" y="45243"/>
                  </a:lnTo>
                  <a:lnTo>
                    <a:pt x="18098" y="45243"/>
                  </a:lnTo>
                  <a:lnTo>
                    <a:pt x="18098" y="108585"/>
                  </a:lnTo>
                  <a:lnTo>
                    <a:pt x="45244" y="108585"/>
                  </a:lnTo>
                  <a:lnTo>
                    <a:pt x="45244" y="72390"/>
                  </a:lnTo>
                  <a:lnTo>
                    <a:pt x="63341" y="72390"/>
                  </a:lnTo>
                  <a:lnTo>
                    <a:pt x="63341" y="108585"/>
                  </a:lnTo>
                  <a:lnTo>
                    <a:pt x="90488" y="108585"/>
                  </a:lnTo>
                  <a:lnTo>
                    <a:pt x="90488" y="45243"/>
                  </a:lnTo>
                  <a:lnTo>
                    <a:pt x="108585" y="45243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52/notch-system/button-music/004"/>
            <p:cNvSpPr/>
            <p:nvPr/>
          </p:nvSpPr>
          <p:spPr>
            <a:xfrm>
              <a:off x="1009649" y="2254091"/>
              <a:ext cx="289560" cy="271462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N52/notch-system/line/005"/>
            <p:cNvCxnSpPr/>
            <p:nvPr/>
          </p:nvCxnSpPr>
          <p:spPr>
            <a:xfrm flipV="1">
              <a:off x="1136332" y="2353627"/>
              <a:ext cx="0" cy="723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N52/notch-system/line/006"/>
            <p:cNvCxnSpPr/>
            <p:nvPr/>
          </p:nvCxnSpPr>
          <p:spPr>
            <a:xfrm flipV="1">
              <a:off x="1136332" y="2344578"/>
              <a:ext cx="63341" cy="904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52/notch-system/line/007"/>
            <p:cNvCxnSpPr/>
            <p:nvPr/>
          </p:nvCxnSpPr>
          <p:spPr>
            <a:xfrm>
              <a:off x="1199673" y="2344578"/>
              <a:ext cx="0" cy="723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N52/notch-system/ellipse/008"/>
            <p:cNvSpPr/>
            <p:nvPr/>
          </p:nvSpPr>
          <p:spPr>
            <a:xfrm>
              <a:off x="1109186" y="2412444"/>
              <a:ext cx="31670" cy="27146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52/notch-system/ellipse/009"/>
            <p:cNvSpPr/>
            <p:nvPr/>
          </p:nvSpPr>
          <p:spPr>
            <a:xfrm>
              <a:off x="1172527" y="2403395"/>
              <a:ext cx="31670" cy="27146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52/notch-system/button-bell/010"/>
            <p:cNvSpPr/>
            <p:nvPr/>
          </p:nvSpPr>
          <p:spPr>
            <a:xfrm>
              <a:off x="1335404" y="2254091"/>
              <a:ext cx="289560" cy="271462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52/notch-system/poly/011"/>
            <p:cNvSpPr/>
            <p:nvPr/>
          </p:nvSpPr>
          <p:spPr>
            <a:xfrm>
              <a:off x="1434941" y="2335530"/>
              <a:ext cx="90487" cy="81438"/>
            </a:xfrm>
            <a:custGeom>
              <a:avLst/>
              <a:gdLst/>
              <a:ahLst/>
              <a:cxnLst/>
              <a:rect l="l" t="t" r="r" b="b"/>
              <a:pathLst>
                <a:path w="90487" h="81438">
                  <a:moveTo>
                    <a:pt x="45243" y="0"/>
                  </a:moveTo>
                  <a:lnTo>
                    <a:pt x="18097" y="18097"/>
                  </a:lnTo>
                  <a:lnTo>
                    <a:pt x="9048" y="54292"/>
                  </a:lnTo>
                  <a:lnTo>
                    <a:pt x="0" y="81438"/>
                  </a:lnTo>
                  <a:lnTo>
                    <a:pt x="90487" y="81438"/>
                  </a:lnTo>
                  <a:lnTo>
                    <a:pt x="81438" y="54292"/>
                  </a:lnTo>
                  <a:lnTo>
                    <a:pt x="72390" y="18097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N52/notch-system/line/012"/>
            <p:cNvCxnSpPr/>
            <p:nvPr/>
          </p:nvCxnSpPr>
          <p:spPr>
            <a:xfrm>
              <a:off x="1462087" y="2435066"/>
              <a:ext cx="3619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N52/notch-system/ellipse/013"/>
            <p:cNvSpPr/>
            <p:nvPr/>
          </p:nvSpPr>
          <p:spPr>
            <a:xfrm>
              <a:off x="1471136" y="2326481"/>
              <a:ext cx="18097" cy="18097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52/notch-system/button-System/014"/>
            <p:cNvSpPr/>
            <p:nvPr/>
          </p:nvSpPr>
          <p:spPr>
            <a:xfrm>
              <a:off x="1661159" y="2254091"/>
              <a:ext cx="972921" cy="271462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N52/notch-system/line/015"/>
            <p:cNvCxnSpPr/>
            <p:nvPr/>
          </p:nvCxnSpPr>
          <p:spPr>
            <a:xfrm>
              <a:off x="1838153" y="2444115"/>
              <a:ext cx="108585" cy="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N52/notch-system/line/016"/>
            <p:cNvCxnSpPr/>
            <p:nvPr/>
          </p:nvCxnSpPr>
          <p:spPr>
            <a:xfrm flipV="1">
              <a:off x="1847202" y="2380773"/>
              <a:ext cx="27146" cy="36195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52/notch-system/line/017"/>
            <p:cNvCxnSpPr/>
            <p:nvPr/>
          </p:nvCxnSpPr>
          <p:spPr>
            <a:xfrm>
              <a:off x="1874348" y="2380773"/>
              <a:ext cx="27146" cy="18098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52/notch-system/line/018"/>
            <p:cNvCxnSpPr/>
            <p:nvPr/>
          </p:nvCxnSpPr>
          <p:spPr>
            <a:xfrm flipV="1">
              <a:off x="1901494" y="2344578"/>
              <a:ext cx="36195" cy="54293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N52/notch-system/text/019"/>
            <p:cNvSpPr txBox="1"/>
            <p:nvPr/>
          </p:nvSpPr>
          <p:spPr>
            <a:xfrm>
              <a:off x="2019128" y="2254091"/>
              <a:ext cx="596855" cy="27146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7" b="1" i="0">
                  <a:solidFill>
                    <a:srgbClr val="FFFFFF"/>
                  </a:solidFill>
                  <a:latin typeface="Arial"/>
                </a:rPr>
                <a:t>System</a:t>
              </a:r>
            </a:p>
          </p:txBody>
        </p:sp>
        <p:sp>
          <p:nvSpPr>
            <p:cNvPr id="31" name="N52/notch-system/button-folder/020"/>
            <p:cNvSpPr/>
            <p:nvPr/>
          </p:nvSpPr>
          <p:spPr>
            <a:xfrm>
              <a:off x="2670276" y="2254091"/>
              <a:ext cx="289560" cy="271462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52/notch-system/poly/021"/>
            <p:cNvSpPr/>
            <p:nvPr/>
          </p:nvSpPr>
          <p:spPr>
            <a:xfrm>
              <a:off x="2760764" y="2362676"/>
              <a:ext cx="108585" cy="72390"/>
            </a:xfrm>
            <a:custGeom>
              <a:avLst/>
              <a:gdLst/>
              <a:ahLst/>
              <a:cxnLst/>
              <a:rect l="l" t="t" r="r" b="b"/>
              <a:pathLst>
                <a:path w="108585" h="72390">
                  <a:moveTo>
                    <a:pt x="0" y="0"/>
                  </a:moveTo>
                  <a:lnTo>
                    <a:pt x="36195" y="0"/>
                  </a:lnTo>
                  <a:lnTo>
                    <a:pt x="49768" y="18097"/>
                  </a:lnTo>
                  <a:lnTo>
                    <a:pt x="108585" y="18097"/>
                  </a:lnTo>
                  <a:lnTo>
                    <a:pt x="108585" y="72390"/>
                  </a:lnTo>
                  <a:lnTo>
                    <a:pt x="0" y="72390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52/notch-system/button-clipboard/022"/>
            <p:cNvSpPr/>
            <p:nvPr/>
          </p:nvSpPr>
          <p:spPr>
            <a:xfrm>
              <a:off x="2996031" y="2254091"/>
              <a:ext cx="289560" cy="271462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52/notch-system/rect/023"/>
            <p:cNvSpPr/>
            <p:nvPr/>
          </p:nvSpPr>
          <p:spPr>
            <a:xfrm>
              <a:off x="3104616" y="2344578"/>
              <a:ext cx="72390" cy="99536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52/notch-system/rect/024"/>
            <p:cNvSpPr/>
            <p:nvPr/>
          </p:nvSpPr>
          <p:spPr>
            <a:xfrm>
              <a:off x="3122714" y="2331005"/>
              <a:ext cx="36195" cy="22621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N52/notch-system/line/025"/>
            <p:cNvCxnSpPr/>
            <p:nvPr/>
          </p:nvCxnSpPr>
          <p:spPr>
            <a:xfrm>
              <a:off x="3122714" y="2380773"/>
              <a:ext cx="3619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N52/notch-system/line/026"/>
            <p:cNvCxnSpPr/>
            <p:nvPr/>
          </p:nvCxnSpPr>
          <p:spPr>
            <a:xfrm>
              <a:off x="3122714" y="2403395"/>
              <a:ext cx="3619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N52/notch-system/button-gear/027"/>
            <p:cNvSpPr/>
            <p:nvPr/>
          </p:nvSpPr>
          <p:spPr>
            <a:xfrm>
              <a:off x="4031932" y="2245042"/>
              <a:ext cx="289560" cy="28956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52/notch-system/ellipse/028"/>
            <p:cNvSpPr/>
            <p:nvPr/>
          </p:nvSpPr>
          <p:spPr>
            <a:xfrm>
              <a:off x="4149566" y="2362676"/>
              <a:ext cx="54292" cy="54292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52/notch-system/line/029"/>
            <p:cNvCxnSpPr/>
            <p:nvPr/>
          </p:nvCxnSpPr>
          <p:spPr>
            <a:xfrm>
              <a:off x="4221956" y="2389822"/>
              <a:ext cx="18097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52/notch-system/line/030"/>
            <p:cNvCxnSpPr/>
            <p:nvPr/>
          </p:nvCxnSpPr>
          <p:spPr>
            <a:xfrm>
              <a:off x="4208704" y="2421814"/>
              <a:ext cx="12797" cy="1279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52/notch-system/line/031"/>
            <p:cNvCxnSpPr/>
            <p:nvPr/>
          </p:nvCxnSpPr>
          <p:spPr>
            <a:xfrm>
              <a:off x="4176712" y="2435066"/>
              <a:ext cx="0" cy="1809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52/notch-system/line/032"/>
            <p:cNvCxnSpPr/>
            <p:nvPr/>
          </p:nvCxnSpPr>
          <p:spPr>
            <a:xfrm flipH="1">
              <a:off x="4131923" y="2421814"/>
              <a:ext cx="12797" cy="1279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52/notch-system/line/033"/>
            <p:cNvCxnSpPr/>
            <p:nvPr/>
          </p:nvCxnSpPr>
          <p:spPr>
            <a:xfrm flipH="1">
              <a:off x="4113371" y="2389822"/>
              <a:ext cx="18097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52/notch-system/line/034"/>
            <p:cNvCxnSpPr/>
            <p:nvPr/>
          </p:nvCxnSpPr>
          <p:spPr>
            <a:xfrm flipH="1" flipV="1">
              <a:off x="4131923" y="2345033"/>
              <a:ext cx="12797" cy="1279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52/notch-system/line/035"/>
            <p:cNvCxnSpPr/>
            <p:nvPr/>
          </p:nvCxnSpPr>
          <p:spPr>
            <a:xfrm flipV="1">
              <a:off x="4176712" y="2326481"/>
              <a:ext cx="0" cy="1809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52/notch-system/line/036"/>
            <p:cNvCxnSpPr/>
            <p:nvPr/>
          </p:nvCxnSpPr>
          <p:spPr>
            <a:xfrm flipV="1">
              <a:off x="4208704" y="2345033"/>
              <a:ext cx="12797" cy="1279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52/notch-system/button-close/037"/>
            <p:cNvSpPr/>
            <p:nvPr/>
          </p:nvSpPr>
          <p:spPr>
            <a:xfrm>
              <a:off x="4375785" y="2245042"/>
              <a:ext cx="289560" cy="28956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52/notch-system/line/038"/>
            <p:cNvCxnSpPr/>
            <p:nvPr/>
          </p:nvCxnSpPr>
          <p:spPr>
            <a:xfrm>
              <a:off x="4484370" y="2353627"/>
              <a:ext cx="72390" cy="723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52/notch-system/line/039"/>
            <p:cNvCxnSpPr/>
            <p:nvPr/>
          </p:nvCxnSpPr>
          <p:spPr>
            <a:xfrm flipH="1">
              <a:off x="4484370" y="2353627"/>
              <a:ext cx="72390" cy="723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52/notch-system/rect/040"/>
            <p:cNvSpPr/>
            <p:nvPr/>
          </p:nvSpPr>
          <p:spPr>
            <a:xfrm>
              <a:off x="683895" y="2588895"/>
              <a:ext cx="1954530" cy="633412"/>
            </a:xfrm>
            <a:prstGeom prst="roundRect">
              <a:avLst>
                <a:gd name="adj" fmla="val 19999"/>
              </a:avLst>
            </a:prstGeom>
            <a:solidFill>
              <a:srgbClr val="1C1C1E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N52/notch-system/rect/041"/>
            <p:cNvSpPr/>
            <p:nvPr/>
          </p:nvSpPr>
          <p:spPr>
            <a:xfrm>
              <a:off x="828675" y="2715577"/>
              <a:ext cx="72390" cy="72390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N52/notch-system/rect/042"/>
            <p:cNvSpPr/>
            <p:nvPr/>
          </p:nvSpPr>
          <p:spPr>
            <a:xfrm>
              <a:off x="851296" y="2738199"/>
              <a:ext cx="27146" cy="27146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4" name="N52/notch-system/line/043"/>
            <p:cNvCxnSpPr/>
            <p:nvPr/>
          </p:nvCxnSpPr>
          <p:spPr>
            <a:xfrm>
              <a:off x="846772" y="2697480"/>
              <a:ext cx="0" cy="1809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N52/notch-system/line/044"/>
            <p:cNvCxnSpPr/>
            <p:nvPr/>
          </p:nvCxnSpPr>
          <p:spPr>
            <a:xfrm>
              <a:off x="846772" y="2787967"/>
              <a:ext cx="0" cy="1809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N52/notch-system/line/045"/>
            <p:cNvCxnSpPr/>
            <p:nvPr/>
          </p:nvCxnSpPr>
          <p:spPr>
            <a:xfrm>
              <a:off x="810577" y="2733675"/>
              <a:ext cx="1809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N52/notch-system/line/046"/>
            <p:cNvCxnSpPr/>
            <p:nvPr/>
          </p:nvCxnSpPr>
          <p:spPr>
            <a:xfrm>
              <a:off x="901065" y="2733675"/>
              <a:ext cx="18097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N52/notch-system/line/047"/>
            <p:cNvCxnSpPr/>
            <p:nvPr/>
          </p:nvCxnSpPr>
          <p:spPr>
            <a:xfrm>
              <a:off x="864870" y="2697480"/>
              <a:ext cx="0" cy="1809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N52/notch-system/line/048"/>
            <p:cNvCxnSpPr/>
            <p:nvPr/>
          </p:nvCxnSpPr>
          <p:spPr>
            <a:xfrm>
              <a:off x="864870" y="2787967"/>
              <a:ext cx="0" cy="1809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N52/notch-system/line/049"/>
            <p:cNvCxnSpPr/>
            <p:nvPr/>
          </p:nvCxnSpPr>
          <p:spPr>
            <a:xfrm>
              <a:off x="810577" y="2751772"/>
              <a:ext cx="1809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N52/notch-system/line/050"/>
            <p:cNvCxnSpPr/>
            <p:nvPr/>
          </p:nvCxnSpPr>
          <p:spPr>
            <a:xfrm>
              <a:off x="901065" y="2751772"/>
              <a:ext cx="18097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N52/notch-system/line/051"/>
            <p:cNvCxnSpPr/>
            <p:nvPr/>
          </p:nvCxnSpPr>
          <p:spPr>
            <a:xfrm>
              <a:off x="882967" y="2697480"/>
              <a:ext cx="0" cy="1809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N52/notch-system/line/052"/>
            <p:cNvCxnSpPr/>
            <p:nvPr/>
          </p:nvCxnSpPr>
          <p:spPr>
            <a:xfrm>
              <a:off x="882967" y="2787967"/>
              <a:ext cx="0" cy="1809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N52/notch-system/line/053"/>
            <p:cNvCxnSpPr/>
            <p:nvPr/>
          </p:nvCxnSpPr>
          <p:spPr>
            <a:xfrm>
              <a:off x="810577" y="2769870"/>
              <a:ext cx="1809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N52/notch-system/line/054"/>
            <p:cNvCxnSpPr/>
            <p:nvPr/>
          </p:nvCxnSpPr>
          <p:spPr>
            <a:xfrm>
              <a:off x="901065" y="2769870"/>
              <a:ext cx="18097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N52/notch-system/text/055"/>
            <p:cNvSpPr txBox="1"/>
            <p:nvPr/>
          </p:nvSpPr>
          <p:spPr>
            <a:xfrm>
              <a:off x="991552" y="2661285"/>
              <a:ext cx="1556385" cy="1628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7" b="0" i="0">
                  <a:solidFill>
                    <a:srgbClr val="98989D"/>
                  </a:solidFill>
                  <a:latin typeface="Arial"/>
                </a:rPr>
                <a:t>Processor</a:t>
              </a:r>
            </a:p>
          </p:txBody>
        </p:sp>
        <p:sp>
          <p:nvSpPr>
            <p:cNvPr id="67" name="N52/notch-system/text/056"/>
            <p:cNvSpPr txBox="1"/>
            <p:nvPr/>
          </p:nvSpPr>
          <p:spPr>
            <a:xfrm>
              <a:off x="792480" y="2842259"/>
              <a:ext cx="1737360" cy="21716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46" b="1" i="0">
                  <a:solidFill>
                    <a:srgbClr val="F5F5F7"/>
                  </a:solidFill>
                  <a:latin typeface="Arial"/>
                </a:rPr>
                <a:t>18%</a:t>
              </a:r>
            </a:p>
          </p:txBody>
        </p:sp>
        <p:sp>
          <p:nvSpPr>
            <p:cNvPr id="68" name="N52/notch-system/text/057"/>
            <p:cNvSpPr txBox="1"/>
            <p:nvPr/>
          </p:nvSpPr>
          <p:spPr>
            <a:xfrm>
              <a:off x="792480" y="3059430"/>
              <a:ext cx="1737360" cy="1447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3" b="0" i="0">
                  <a:solidFill>
                    <a:srgbClr val="98989D"/>
                  </a:solidFill>
                  <a:latin typeface="Arial"/>
                </a:rPr>
                <a:t>All logical processors</a:t>
              </a:r>
            </a:p>
          </p:txBody>
        </p:sp>
        <p:sp>
          <p:nvSpPr>
            <p:cNvPr id="69" name="N52/notch-system/rect/058"/>
            <p:cNvSpPr/>
            <p:nvPr/>
          </p:nvSpPr>
          <p:spPr>
            <a:xfrm>
              <a:off x="2710815" y="2588895"/>
              <a:ext cx="1954530" cy="633412"/>
            </a:xfrm>
            <a:prstGeom prst="roundRect">
              <a:avLst>
                <a:gd name="adj" fmla="val 19999"/>
              </a:avLst>
            </a:prstGeom>
            <a:solidFill>
              <a:srgbClr val="1C1C1E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N52/notch-system/rect/059"/>
            <p:cNvSpPr/>
            <p:nvPr/>
          </p:nvSpPr>
          <p:spPr>
            <a:xfrm>
              <a:off x="2837497" y="2724626"/>
              <a:ext cx="108585" cy="54292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N52/notch-system/rect/060"/>
            <p:cNvSpPr/>
            <p:nvPr/>
          </p:nvSpPr>
          <p:spPr>
            <a:xfrm>
              <a:off x="2855595" y="2742723"/>
              <a:ext cx="18097" cy="18097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N52/notch-system/rect/061"/>
            <p:cNvSpPr/>
            <p:nvPr/>
          </p:nvSpPr>
          <p:spPr>
            <a:xfrm>
              <a:off x="2882741" y="2742723"/>
              <a:ext cx="18097" cy="18097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N52/notch-system/rect/062"/>
            <p:cNvSpPr/>
            <p:nvPr/>
          </p:nvSpPr>
          <p:spPr>
            <a:xfrm>
              <a:off x="2909887" y="2742723"/>
              <a:ext cx="18097" cy="18097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4" name="N52/notch-system/line/063"/>
            <p:cNvCxnSpPr/>
            <p:nvPr/>
          </p:nvCxnSpPr>
          <p:spPr>
            <a:xfrm>
              <a:off x="2855595" y="2778918"/>
              <a:ext cx="0" cy="1809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N52/notch-system/line/064"/>
            <p:cNvCxnSpPr/>
            <p:nvPr/>
          </p:nvCxnSpPr>
          <p:spPr>
            <a:xfrm>
              <a:off x="2891790" y="2778918"/>
              <a:ext cx="0" cy="1809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N52/notch-system/line/065"/>
            <p:cNvCxnSpPr/>
            <p:nvPr/>
          </p:nvCxnSpPr>
          <p:spPr>
            <a:xfrm>
              <a:off x="2927985" y="2778918"/>
              <a:ext cx="0" cy="1809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N52/notch-system/text/066"/>
            <p:cNvSpPr txBox="1"/>
            <p:nvPr/>
          </p:nvSpPr>
          <p:spPr>
            <a:xfrm>
              <a:off x="3018472" y="2661285"/>
              <a:ext cx="1556385" cy="1628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7" b="0" i="0">
                  <a:solidFill>
                    <a:srgbClr val="98989D"/>
                  </a:solidFill>
                  <a:latin typeface="Arial"/>
                </a:rPr>
                <a:t>Memory</a:t>
              </a:r>
            </a:p>
          </p:txBody>
        </p:sp>
        <p:sp>
          <p:nvSpPr>
            <p:cNvPr id="78" name="N52/notch-system/text/067"/>
            <p:cNvSpPr txBox="1"/>
            <p:nvPr/>
          </p:nvSpPr>
          <p:spPr>
            <a:xfrm>
              <a:off x="2819400" y="2842259"/>
              <a:ext cx="1737360" cy="21716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46" b="1" i="0">
                  <a:solidFill>
                    <a:srgbClr val="F5F5F7"/>
                  </a:solidFill>
                  <a:latin typeface="Arial"/>
                </a:rPr>
                <a:t>42%</a:t>
              </a:r>
            </a:p>
          </p:txBody>
        </p:sp>
        <p:sp>
          <p:nvSpPr>
            <p:cNvPr id="79" name="N52/notch-system/text/068"/>
            <p:cNvSpPr txBox="1"/>
            <p:nvPr/>
          </p:nvSpPr>
          <p:spPr>
            <a:xfrm>
              <a:off x="2819400" y="3059430"/>
              <a:ext cx="1737360" cy="1447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3" b="0" i="0">
                  <a:solidFill>
                    <a:srgbClr val="98989D"/>
                  </a:solidFill>
                  <a:latin typeface="Arial"/>
                </a:rPr>
                <a:t>6.7 GB / 16.0 GB</a:t>
              </a:r>
            </a:p>
          </p:txBody>
        </p:sp>
        <p:sp>
          <p:nvSpPr>
            <p:cNvPr id="80" name="N52/notch-system/rect/069"/>
            <p:cNvSpPr/>
            <p:nvPr/>
          </p:nvSpPr>
          <p:spPr>
            <a:xfrm>
              <a:off x="683895" y="3294697"/>
              <a:ext cx="1954530" cy="633412"/>
            </a:xfrm>
            <a:prstGeom prst="roundRect">
              <a:avLst>
                <a:gd name="adj" fmla="val 19999"/>
              </a:avLst>
            </a:prstGeom>
            <a:solidFill>
              <a:srgbClr val="1C1C1E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N52/notch-system/rect/070"/>
            <p:cNvSpPr/>
            <p:nvPr/>
          </p:nvSpPr>
          <p:spPr>
            <a:xfrm>
              <a:off x="810577" y="3430428"/>
              <a:ext cx="99536" cy="54292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N52/notch-system/rect/071"/>
            <p:cNvSpPr/>
            <p:nvPr/>
          </p:nvSpPr>
          <p:spPr>
            <a:xfrm>
              <a:off x="910113" y="3448526"/>
              <a:ext cx="13573" cy="18097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N52/notch-system/rect/072"/>
            <p:cNvSpPr/>
            <p:nvPr/>
          </p:nvSpPr>
          <p:spPr>
            <a:xfrm>
              <a:off x="824150" y="3444001"/>
              <a:ext cx="54292" cy="27146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N52/notch-system/text/073"/>
            <p:cNvSpPr txBox="1"/>
            <p:nvPr/>
          </p:nvSpPr>
          <p:spPr>
            <a:xfrm>
              <a:off x="991552" y="3367087"/>
              <a:ext cx="1556385" cy="1628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7" b="0" i="0">
                  <a:solidFill>
                    <a:srgbClr val="98989D"/>
                  </a:solidFill>
                  <a:latin typeface="Arial"/>
                </a:rPr>
                <a:t>Battery</a:t>
              </a:r>
            </a:p>
          </p:txBody>
        </p:sp>
        <p:sp>
          <p:nvSpPr>
            <p:cNvPr id="85" name="N52/notch-system/text/074"/>
            <p:cNvSpPr txBox="1"/>
            <p:nvPr/>
          </p:nvSpPr>
          <p:spPr>
            <a:xfrm>
              <a:off x="792480" y="3548062"/>
              <a:ext cx="1737360" cy="21716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46" b="1" i="0">
                  <a:solidFill>
                    <a:srgbClr val="F5F5F7"/>
                  </a:solidFill>
                  <a:latin typeface="Arial"/>
                </a:rPr>
                <a:t>AC</a:t>
              </a:r>
            </a:p>
          </p:txBody>
        </p:sp>
        <p:sp>
          <p:nvSpPr>
            <p:cNvPr id="86" name="N52/notch-system/text/075"/>
            <p:cNvSpPr txBox="1"/>
            <p:nvPr/>
          </p:nvSpPr>
          <p:spPr>
            <a:xfrm>
              <a:off x="792480" y="3765232"/>
              <a:ext cx="1737360" cy="1447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3" b="0" i="0">
                  <a:solidFill>
                    <a:srgbClr val="98989D"/>
                  </a:solidFill>
                  <a:latin typeface="Arial"/>
                </a:rPr>
                <a:t>No system battery</a:t>
              </a:r>
            </a:p>
          </p:txBody>
        </p:sp>
        <p:sp>
          <p:nvSpPr>
            <p:cNvPr id="87" name="N52/notch-system/rect/076"/>
            <p:cNvSpPr/>
            <p:nvPr/>
          </p:nvSpPr>
          <p:spPr>
            <a:xfrm>
              <a:off x="2710815" y="3294697"/>
              <a:ext cx="1954530" cy="633412"/>
            </a:xfrm>
            <a:prstGeom prst="roundRect">
              <a:avLst>
                <a:gd name="adj" fmla="val 19999"/>
              </a:avLst>
            </a:prstGeom>
            <a:solidFill>
              <a:srgbClr val="1C1C1E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8" name="N52/notch-system/line/077"/>
            <p:cNvCxnSpPr/>
            <p:nvPr/>
          </p:nvCxnSpPr>
          <p:spPr>
            <a:xfrm>
              <a:off x="2891790" y="3412331"/>
              <a:ext cx="0" cy="9048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N52/notch-system/poly/078"/>
            <p:cNvSpPr/>
            <p:nvPr/>
          </p:nvSpPr>
          <p:spPr>
            <a:xfrm>
              <a:off x="2864643" y="3412331"/>
              <a:ext cx="54293" cy="27146"/>
            </a:xfrm>
            <a:custGeom>
              <a:avLst/>
              <a:gdLst/>
              <a:ahLst/>
              <a:cxnLst/>
              <a:rect l="l" t="t" r="r" b="b"/>
              <a:pathLst>
                <a:path w="54293" h="27146">
                  <a:moveTo>
                    <a:pt x="0" y="27146"/>
                  </a:moveTo>
                  <a:lnTo>
                    <a:pt x="27147" y="0"/>
                  </a:lnTo>
                  <a:lnTo>
                    <a:pt x="54293" y="27146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N52/notch-system/poly/079"/>
            <p:cNvSpPr/>
            <p:nvPr/>
          </p:nvSpPr>
          <p:spPr>
            <a:xfrm>
              <a:off x="2864643" y="3475672"/>
              <a:ext cx="54293" cy="27146"/>
            </a:xfrm>
            <a:custGeom>
              <a:avLst/>
              <a:gdLst/>
              <a:ahLst/>
              <a:cxnLst/>
              <a:rect l="l" t="t" r="r" b="b"/>
              <a:pathLst>
                <a:path w="54293" h="27146">
                  <a:moveTo>
                    <a:pt x="0" y="0"/>
                  </a:moveTo>
                  <a:lnTo>
                    <a:pt x="27147" y="27146"/>
                  </a:lnTo>
                  <a:lnTo>
                    <a:pt x="54293" y="0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N52/notch-system/text/080"/>
            <p:cNvSpPr txBox="1"/>
            <p:nvPr/>
          </p:nvSpPr>
          <p:spPr>
            <a:xfrm>
              <a:off x="3018472" y="3367087"/>
              <a:ext cx="1556385" cy="1628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7" b="0" i="0">
                  <a:solidFill>
                    <a:srgbClr val="98989D"/>
                  </a:solidFill>
                  <a:latin typeface="Arial"/>
                </a:rPr>
                <a:t>Network</a:t>
              </a:r>
            </a:p>
          </p:txBody>
        </p:sp>
        <p:sp>
          <p:nvSpPr>
            <p:cNvPr id="92" name="N52/notch-system/text/081"/>
            <p:cNvSpPr txBox="1"/>
            <p:nvPr/>
          </p:nvSpPr>
          <p:spPr>
            <a:xfrm>
              <a:off x="2819400" y="3548062"/>
              <a:ext cx="1737360" cy="21716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2" b="1" i="0">
                  <a:solidFill>
                    <a:srgbClr val="F5F5F7"/>
                  </a:solidFill>
                  <a:latin typeface="Arial"/>
                </a:rPr>
                <a:t>↓ 1.2 MB/s</a:t>
              </a:r>
            </a:p>
          </p:txBody>
        </p:sp>
        <p:sp>
          <p:nvSpPr>
            <p:cNvPr id="93" name="N52/notch-system/text/082"/>
            <p:cNvSpPr txBox="1"/>
            <p:nvPr/>
          </p:nvSpPr>
          <p:spPr>
            <a:xfrm>
              <a:off x="2819400" y="3765232"/>
              <a:ext cx="1737360" cy="1447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3" b="0" i="0">
                  <a:solidFill>
                    <a:srgbClr val="98989D"/>
                  </a:solidFill>
                  <a:latin typeface="Arial"/>
                </a:rPr>
                <a:t>↑ 84 kB/s · wlp2s0</a:t>
              </a:r>
            </a:p>
          </p:txBody>
        </p:sp>
        <p:sp>
          <p:nvSpPr>
            <p:cNvPr id="94" name="N52/notch-system/rect/083"/>
            <p:cNvSpPr/>
            <p:nvPr/>
          </p:nvSpPr>
          <p:spPr>
            <a:xfrm>
              <a:off x="4629150" y="2588895"/>
              <a:ext cx="27146" cy="1447800"/>
            </a:xfrm>
            <a:prstGeom prst="roundRect">
              <a:avLst>
                <a:gd name="adj" fmla="val 50000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N52/notch-system/rect/084"/>
            <p:cNvSpPr/>
            <p:nvPr/>
          </p:nvSpPr>
          <p:spPr>
            <a:xfrm>
              <a:off x="4629150" y="2643187"/>
              <a:ext cx="27146" cy="416242"/>
            </a:xfrm>
            <a:prstGeom prst="roundRect">
              <a:avLst>
                <a:gd name="adj" fmla="val 50000"/>
              </a:avLst>
            </a:prstGeom>
            <a:solidFill>
              <a:srgbClr val="98989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6" name="N52/text/010"/>
          <p:cNvSpPr txBox="1"/>
          <p:nvPr/>
        </p:nvSpPr>
        <p:spPr>
          <a:xfrm>
            <a:off x="502920" y="4526280"/>
            <a:ext cx="420624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2 columns: stats fit; quick actions scroll into view.</a:t>
            </a:r>
          </a:p>
        </p:txBody>
      </p:sp>
      <p:grpSp>
        <p:nvGrpSpPr>
          <p:cNvPr id="97" name="N52/notch-system"/>
          <p:cNvGrpSpPr/>
          <p:nvPr/>
        </p:nvGrpSpPr>
        <p:grpSpPr>
          <a:xfrm>
            <a:off x="4709160" y="1828800"/>
            <a:ext cx="3076575" cy="2352674"/>
            <a:chOff x="4709160" y="1828800"/>
            <a:chExt cx="3076575" cy="2352674"/>
          </a:xfrm>
        </p:grpSpPr>
        <p:sp>
          <p:nvSpPr>
            <p:cNvPr id="98" name="N52/notch-system/notch-surface-open/001"/>
            <p:cNvSpPr/>
            <p:nvPr/>
          </p:nvSpPr>
          <p:spPr>
            <a:xfrm>
              <a:off x="4709160" y="1828800"/>
              <a:ext cx="3076575" cy="2352674"/>
            </a:xfrm>
            <a:custGeom>
              <a:avLst/>
              <a:gdLst/>
              <a:ahLst/>
              <a:cxnLst/>
              <a:rect l="l" t="t" r="r" b="b"/>
              <a:pathLst>
                <a:path w="3076575" h="2352674">
                  <a:moveTo>
                    <a:pt x="0" y="0"/>
                  </a:moveTo>
                  <a:lnTo>
                    <a:pt x="3076575" y="0"/>
                  </a:lnTo>
                  <a:lnTo>
                    <a:pt x="3052733" y="2686"/>
                  </a:lnTo>
                  <a:lnTo>
                    <a:pt x="3025534" y="10745"/>
                  </a:lnTo>
                  <a:lnTo>
                    <a:pt x="2996991" y="24177"/>
                  </a:lnTo>
                  <a:lnTo>
                    <a:pt x="2969121" y="42981"/>
                  </a:lnTo>
                  <a:lnTo>
                    <a:pt x="2943936" y="67158"/>
                  </a:lnTo>
                  <a:lnTo>
                    <a:pt x="2923453" y="96708"/>
                  </a:lnTo>
                  <a:lnTo>
                    <a:pt x="2909685" y="131631"/>
                  </a:lnTo>
                  <a:lnTo>
                    <a:pt x="2904648" y="171926"/>
                  </a:lnTo>
                  <a:lnTo>
                    <a:pt x="2900475" y="2177872"/>
                  </a:lnTo>
                  <a:lnTo>
                    <a:pt x="2888117" y="2218612"/>
                  </a:lnTo>
                  <a:lnTo>
                    <a:pt x="2868049" y="2256158"/>
                  </a:lnTo>
                  <a:lnTo>
                    <a:pt x="2841041" y="2289067"/>
                  </a:lnTo>
                  <a:lnTo>
                    <a:pt x="2808131" y="2316075"/>
                  </a:lnTo>
                  <a:lnTo>
                    <a:pt x="2770586" y="2336143"/>
                  </a:lnTo>
                  <a:lnTo>
                    <a:pt x="2729846" y="2348502"/>
                  </a:lnTo>
                  <a:lnTo>
                    <a:pt x="2687478" y="2352674"/>
                  </a:lnTo>
                  <a:lnTo>
                    <a:pt x="389096" y="2352674"/>
                  </a:lnTo>
                  <a:lnTo>
                    <a:pt x="346728" y="2348502"/>
                  </a:lnTo>
                  <a:lnTo>
                    <a:pt x="305988" y="2336143"/>
                  </a:lnTo>
                  <a:lnTo>
                    <a:pt x="268443" y="2316075"/>
                  </a:lnTo>
                  <a:lnTo>
                    <a:pt x="235533" y="2289067"/>
                  </a:lnTo>
                  <a:lnTo>
                    <a:pt x="208525" y="2256158"/>
                  </a:lnTo>
                  <a:lnTo>
                    <a:pt x="188457" y="2218612"/>
                  </a:lnTo>
                  <a:lnTo>
                    <a:pt x="176099" y="2177872"/>
                  </a:lnTo>
                  <a:lnTo>
                    <a:pt x="171926" y="2135504"/>
                  </a:lnTo>
                  <a:lnTo>
                    <a:pt x="171926" y="171926"/>
                  </a:lnTo>
                  <a:lnTo>
                    <a:pt x="166889" y="131631"/>
                  </a:lnTo>
                  <a:lnTo>
                    <a:pt x="153121" y="96708"/>
                  </a:lnTo>
                  <a:lnTo>
                    <a:pt x="132638" y="67158"/>
                  </a:lnTo>
                  <a:lnTo>
                    <a:pt x="107453" y="42981"/>
                  </a:lnTo>
                  <a:lnTo>
                    <a:pt x="79583" y="24177"/>
                  </a:lnTo>
                  <a:lnTo>
                    <a:pt x="51040" y="10745"/>
                  </a:lnTo>
                  <a:lnTo>
                    <a:pt x="23841" y="26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N52/notch-system/button-home/002"/>
            <p:cNvSpPr/>
            <p:nvPr/>
          </p:nvSpPr>
          <p:spPr>
            <a:xfrm>
              <a:off x="4890135" y="2254091"/>
              <a:ext cx="289560" cy="271462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N52/notch-system/poly/003"/>
            <p:cNvSpPr/>
            <p:nvPr/>
          </p:nvSpPr>
          <p:spPr>
            <a:xfrm>
              <a:off x="4980622" y="2335530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54293" y="0"/>
                  </a:moveTo>
                  <a:lnTo>
                    <a:pt x="0" y="45243"/>
                  </a:lnTo>
                  <a:lnTo>
                    <a:pt x="18098" y="45243"/>
                  </a:lnTo>
                  <a:lnTo>
                    <a:pt x="18098" y="108585"/>
                  </a:lnTo>
                  <a:lnTo>
                    <a:pt x="45244" y="108585"/>
                  </a:lnTo>
                  <a:lnTo>
                    <a:pt x="45244" y="72390"/>
                  </a:lnTo>
                  <a:lnTo>
                    <a:pt x="63341" y="72390"/>
                  </a:lnTo>
                  <a:lnTo>
                    <a:pt x="63341" y="108585"/>
                  </a:lnTo>
                  <a:lnTo>
                    <a:pt x="90488" y="108585"/>
                  </a:lnTo>
                  <a:lnTo>
                    <a:pt x="90488" y="45243"/>
                  </a:lnTo>
                  <a:lnTo>
                    <a:pt x="108585" y="45243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N52/notch-system/button-music/004"/>
            <p:cNvSpPr/>
            <p:nvPr/>
          </p:nvSpPr>
          <p:spPr>
            <a:xfrm>
              <a:off x="5215890" y="2254091"/>
              <a:ext cx="289560" cy="271462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2" name="N52/notch-system/line/005"/>
            <p:cNvCxnSpPr/>
            <p:nvPr/>
          </p:nvCxnSpPr>
          <p:spPr>
            <a:xfrm flipV="1">
              <a:off x="5342572" y="2353627"/>
              <a:ext cx="0" cy="723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N52/notch-system/line/006"/>
            <p:cNvCxnSpPr/>
            <p:nvPr/>
          </p:nvCxnSpPr>
          <p:spPr>
            <a:xfrm flipV="1">
              <a:off x="5342572" y="2344578"/>
              <a:ext cx="63341" cy="904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N52/notch-system/line/007"/>
            <p:cNvCxnSpPr/>
            <p:nvPr/>
          </p:nvCxnSpPr>
          <p:spPr>
            <a:xfrm>
              <a:off x="5405913" y="2344578"/>
              <a:ext cx="0" cy="723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N52/notch-system/ellipse/008"/>
            <p:cNvSpPr/>
            <p:nvPr/>
          </p:nvSpPr>
          <p:spPr>
            <a:xfrm>
              <a:off x="5315426" y="2412444"/>
              <a:ext cx="31670" cy="27146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N52/notch-system/ellipse/009"/>
            <p:cNvSpPr/>
            <p:nvPr/>
          </p:nvSpPr>
          <p:spPr>
            <a:xfrm>
              <a:off x="5378767" y="2403395"/>
              <a:ext cx="31670" cy="27146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N52/notch-system/button-bell/010"/>
            <p:cNvSpPr/>
            <p:nvPr/>
          </p:nvSpPr>
          <p:spPr>
            <a:xfrm>
              <a:off x="5541645" y="2254091"/>
              <a:ext cx="289560" cy="271462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N52/notch-system/poly/011"/>
            <p:cNvSpPr/>
            <p:nvPr/>
          </p:nvSpPr>
          <p:spPr>
            <a:xfrm>
              <a:off x="5641181" y="2335530"/>
              <a:ext cx="90487" cy="81438"/>
            </a:xfrm>
            <a:custGeom>
              <a:avLst/>
              <a:gdLst/>
              <a:ahLst/>
              <a:cxnLst/>
              <a:rect l="l" t="t" r="r" b="b"/>
              <a:pathLst>
                <a:path w="90487" h="81438">
                  <a:moveTo>
                    <a:pt x="45244" y="0"/>
                  </a:moveTo>
                  <a:lnTo>
                    <a:pt x="18097" y="18097"/>
                  </a:lnTo>
                  <a:lnTo>
                    <a:pt x="9049" y="54292"/>
                  </a:lnTo>
                  <a:lnTo>
                    <a:pt x="0" y="81438"/>
                  </a:lnTo>
                  <a:lnTo>
                    <a:pt x="90487" y="81438"/>
                  </a:lnTo>
                  <a:lnTo>
                    <a:pt x="81439" y="54292"/>
                  </a:lnTo>
                  <a:lnTo>
                    <a:pt x="72390" y="18097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9" name="N52/notch-system/line/012"/>
            <p:cNvCxnSpPr/>
            <p:nvPr/>
          </p:nvCxnSpPr>
          <p:spPr>
            <a:xfrm>
              <a:off x="5668327" y="2435066"/>
              <a:ext cx="3619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N52/notch-system/ellipse/013"/>
            <p:cNvSpPr/>
            <p:nvPr/>
          </p:nvSpPr>
          <p:spPr>
            <a:xfrm>
              <a:off x="5677376" y="2326481"/>
              <a:ext cx="18097" cy="18097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N52/notch-system/button-chart/014"/>
            <p:cNvSpPr/>
            <p:nvPr/>
          </p:nvSpPr>
          <p:spPr>
            <a:xfrm>
              <a:off x="5867400" y="2254091"/>
              <a:ext cx="289560" cy="271462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2" name="N52/notch-system/line/015"/>
            <p:cNvCxnSpPr/>
            <p:nvPr/>
          </p:nvCxnSpPr>
          <p:spPr>
            <a:xfrm>
              <a:off x="5957887" y="2444115"/>
              <a:ext cx="108585" cy="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N52/notch-system/line/016"/>
            <p:cNvCxnSpPr/>
            <p:nvPr/>
          </p:nvCxnSpPr>
          <p:spPr>
            <a:xfrm flipV="1">
              <a:off x="5966936" y="2380773"/>
              <a:ext cx="27146" cy="36195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N52/notch-system/line/017"/>
            <p:cNvCxnSpPr/>
            <p:nvPr/>
          </p:nvCxnSpPr>
          <p:spPr>
            <a:xfrm>
              <a:off x="5994082" y="2380773"/>
              <a:ext cx="27146" cy="18098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N52/notch-system/line/018"/>
            <p:cNvCxnSpPr/>
            <p:nvPr/>
          </p:nvCxnSpPr>
          <p:spPr>
            <a:xfrm flipV="1">
              <a:off x="6021228" y="2344578"/>
              <a:ext cx="36195" cy="54293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N52/notch-system/button-folder/019"/>
            <p:cNvSpPr/>
            <p:nvPr/>
          </p:nvSpPr>
          <p:spPr>
            <a:xfrm>
              <a:off x="6193155" y="2254091"/>
              <a:ext cx="289560" cy="271462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N52/notch-system/poly/020"/>
            <p:cNvSpPr/>
            <p:nvPr/>
          </p:nvSpPr>
          <p:spPr>
            <a:xfrm>
              <a:off x="6283642" y="2362676"/>
              <a:ext cx="108585" cy="72390"/>
            </a:xfrm>
            <a:custGeom>
              <a:avLst/>
              <a:gdLst/>
              <a:ahLst/>
              <a:cxnLst/>
              <a:rect l="l" t="t" r="r" b="b"/>
              <a:pathLst>
                <a:path w="108585" h="72390">
                  <a:moveTo>
                    <a:pt x="0" y="0"/>
                  </a:moveTo>
                  <a:lnTo>
                    <a:pt x="36195" y="0"/>
                  </a:lnTo>
                  <a:lnTo>
                    <a:pt x="49768" y="18097"/>
                  </a:lnTo>
                  <a:lnTo>
                    <a:pt x="108585" y="18097"/>
                  </a:lnTo>
                  <a:lnTo>
                    <a:pt x="108585" y="72390"/>
                  </a:lnTo>
                  <a:lnTo>
                    <a:pt x="0" y="72390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N52/notch-system/button-clipboard/021"/>
            <p:cNvSpPr/>
            <p:nvPr/>
          </p:nvSpPr>
          <p:spPr>
            <a:xfrm>
              <a:off x="6518910" y="2254091"/>
              <a:ext cx="289560" cy="271462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N52/notch-system/rect/022"/>
            <p:cNvSpPr/>
            <p:nvPr/>
          </p:nvSpPr>
          <p:spPr>
            <a:xfrm>
              <a:off x="6627495" y="2344578"/>
              <a:ext cx="72390" cy="99536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N52/notch-system/rect/023"/>
            <p:cNvSpPr/>
            <p:nvPr/>
          </p:nvSpPr>
          <p:spPr>
            <a:xfrm>
              <a:off x="6645592" y="2331005"/>
              <a:ext cx="36195" cy="22621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1" name="N52/notch-system/line/024"/>
            <p:cNvCxnSpPr/>
            <p:nvPr/>
          </p:nvCxnSpPr>
          <p:spPr>
            <a:xfrm>
              <a:off x="6645592" y="2380773"/>
              <a:ext cx="3619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N52/notch-system/line/025"/>
            <p:cNvCxnSpPr/>
            <p:nvPr/>
          </p:nvCxnSpPr>
          <p:spPr>
            <a:xfrm>
              <a:off x="6645592" y="2403395"/>
              <a:ext cx="3619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N52/notch-system/button-gear/026"/>
            <p:cNvSpPr/>
            <p:nvPr/>
          </p:nvSpPr>
          <p:spPr>
            <a:xfrm>
              <a:off x="6971347" y="2245042"/>
              <a:ext cx="289560" cy="28956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N52/notch-system/ellipse/027"/>
            <p:cNvSpPr/>
            <p:nvPr/>
          </p:nvSpPr>
          <p:spPr>
            <a:xfrm>
              <a:off x="7088981" y="2362676"/>
              <a:ext cx="54292" cy="54292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5" name="N52/notch-system/line/028"/>
            <p:cNvCxnSpPr/>
            <p:nvPr/>
          </p:nvCxnSpPr>
          <p:spPr>
            <a:xfrm>
              <a:off x="7161371" y="2389822"/>
              <a:ext cx="18097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N52/notch-system/line/029"/>
            <p:cNvCxnSpPr/>
            <p:nvPr/>
          </p:nvCxnSpPr>
          <p:spPr>
            <a:xfrm>
              <a:off x="7148119" y="2421814"/>
              <a:ext cx="12797" cy="1279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N52/notch-system/line/030"/>
            <p:cNvCxnSpPr/>
            <p:nvPr/>
          </p:nvCxnSpPr>
          <p:spPr>
            <a:xfrm>
              <a:off x="7116127" y="2435066"/>
              <a:ext cx="0" cy="1809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N52/notch-system/line/031"/>
            <p:cNvCxnSpPr/>
            <p:nvPr/>
          </p:nvCxnSpPr>
          <p:spPr>
            <a:xfrm flipH="1">
              <a:off x="7071338" y="2421814"/>
              <a:ext cx="12797" cy="1279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N52/notch-system/line/032"/>
            <p:cNvCxnSpPr/>
            <p:nvPr/>
          </p:nvCxnSpPr>
          <p:spPr>
            <a:xfrm flipH="1">
              <a:off x="7052786" y="2389822"/>
              <a:ext cx="18097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N52/notch-system/line/033"/>
            <p:cNvCxnSpPr/>
            <p:nvPr/>
          </p:nvCxnSpPr>
          <p:spPr>
            <a:xfrm flipH="1" flipV="1">
              <a:off x="7071338" y="2345033"/>
              <a:ext cx="12797" cy="1279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N52/notch-system/line/034"/>
            <p:cNvCxnSpPr/>
            <p:nvPr/>
          </p:nvCxnSpPr>
          <p:spPr>
            <a:xfrm flipV="1">
              <a:off x="7116127" y="2326481"/>
              <a:ext cx="0" cy="1809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N52/notch-system/line/035"/>
            <p:cNvCxnSpPr/>
            <p:nvPr/>
          </p:nvCxnSpPr>
          <p:spPr>
            <a:xfrm flipV="1">
              <a:off x="7148119" y="2345033"/>
              <a:ext cx="12797" cy="1279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N52/notch-system/button-close/036"/>
            <p:cNvSpPr/>
            <p:nvPr/>
          </p:nvSpPr>
          <p:spPr>
            <a:xfrm>
              <a:off x="7315200" y="2245042"/>
              <a:ext cx="289560" cy="28956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4" name="N52/notch-system/line/037"/>
            <p:cNvCxnSpPr/>
            <p:nvPr/>
          </p:nvCxnSpPr>
          <p:spPr>
            <a:xfrm>
              <a:off x="7423785" y="2353627"/>
              <a:ext cx="72390" cy="723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N52/notch-system/line/038"/>
            <p:cNvCxnSpPr/>
            <p:nvPr/>
          </p:nvCxnSpPr>
          <p:spPr>
            <a:xfrm flipH="1">
              <a:off x="7423785" y="2353627"/>
              <a:ext cx="72390" cy="723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N52/notch-system/rect/039"/>
            <p:cNvSpPr/>
            <p:nvPr/>
          </p:nvSpPr>
          <p:spPr>
            <a:xfrm>
              <a:off x="4890135" y="2588895"/>
              <a:ext cx="2714625" cy="633412"/>
            </a:xfrm>
            <a:prstGeom prst="roundRect">
              <a:avLst>
                <a:gd name="adj" fmla="val 19999"/>
              </a:avLst>
            </a:prstGeom>
            <a:solidFill>
              <a:srgbClr val="1C1C1E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N52/notch-system/rect/040"/>
            <p:cNvSpPr/>
            <p:nvPr/>
          </p:nvSpPr>
          <p:spPr>
            <a:xfrm>
              <a:off x="5034915" y="2715577"/>
              <a:ext cx="72390" cy="72390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N52/notch-system/rect/041"/>
            <p:cNvSpPr/>
            <p:nvPr/>
          </p:nvSpPr>
          <p:spPr>
            <a:xfrm>
              <a:off x="5057536" y="2738199"/>
              <a:ext cx="27146" cy="27146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9" name="N52/notch-system/line/042"/>
            <p:cNvCxnSpPr/>
            <p:nvPr/>
          </p:nvCxnSpPr>
          <p:spPr>
            <a:xfrm>
              <a:off x="5053012" y="2697480"/>
              <a:ext cx="0" cy="1809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N52/notch-system/line/043"/>
            <p:cNvCxnSpPr/>
            <p:nvPr/>
          </p:nvCxnSpPr>
          <p:spPr>
            <a:xfrm>
              <a:off x="5053012" y="2787967"/>
              <a:ext cx="0" cy="1809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N52/notch-system/line/044"/>
            <p:cNvCxnSpPr/>
            <p:nvPr/>
          </p:nvCxnSpPr>
          <p:spPr>
            <a:xfrm>
              <a:off x="5016817" y="2733675"/>
              <a:ext cx="1809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N52/notch-system/line/045"/>
            <p:cNvCxnSpPr/>
            <p:nvPr/>
          </p:nvCxnSpPr>
          <p:spPr>
            <a:xfrm>
              <a:off x="5107305" y="2733675"/>
              <a:ext cx="18097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N52/notch-system/line/046"/>
            <p:cNvCxnSpPr/>
            <p:nvPr/>
          </p:nvCxnSpPr>
          <p:spPr>
            <a:xfrm>
              <a:off x="5071110" y="2697480"/>
              <a:ext cx="0" cy="1809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N52/notch-system/line/047"/>
            <p:cNvCxnSpPr/>
            <p:nvPr/>
          </p:nvCxnSpPr>
          <p:spPr>
            <a:xfrm>
              <a:off x="5071110" y="2787967"/>
              <a:ext cx="0" cy="1809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N52/notch-system/line/048"/>
            <p:cNvCxnSpPr/>
            <p:nvPr/>
          </p:nvCxnSpPr>
          <p:spPr>
            <a:xfrm>
              <a:off x="5016817" y="2751772"/>
              <a:ext cx="1809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N52/notch-system/line/049"/>
            <p:cNvCxnSpPr/>
            <p:nvPr/>
          </p:nvCxnSpPr>
          <p:spPr>
            <a:xfrm>
              <a:off x="5107305" y="2751772"/>
              <a:ext cx="18097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N52/notch-system/line/050"/>
            <p:cNvCxnSpPr/>
            <p:nvPr/>
          </p:nvCxnSpPr>
          <p:spPr>
            <a:xfrm>
              <a:off x="5089207" y="2697480"/>
              <a:ext cx="0" cy="1809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N52/notch-system/line/051"/>
            <p:cNvCxnSpPr/>
            <p:nvPr/>
          </p:nvCxnSpPr>
          <p:spPr>
            <a:xfrm>
              <a:off x="5089207" y="2787967"/>
              <a:ext cx="0" cy="1809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N52/notch-system/line/052"/>
            <p:cNvCxnSpPr/>
            <p:nvPr/>
          </p:nvCxnSpPr>
          <p:spPr>
            <a:xfrm>
              <a:off x="5016817" y="2769870"/>
              <a:ext cx="1809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N52/notch-system/line/053"/>
            <p:cNvCxnSpPr/>
            <p:nvPr/>
          </p:nvCxnSpPr>
          <p:spPr>
            <a:xfrm>
              <a:off x="5107305" y="2769870"/>
              <a:ext cx="18097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N52/notch-system/text/054"/>
            <p:cNvSpPr txBox="1"/>
            <p:nvPr/>
          </p:nvSpPr>
          <p:spPr>
            <a:xfrm>
              <a:off x="5197792" y="2661285"/>
              <a:ext cx="2316480" cy="1628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7" b="0" i="0">
                  <a:solidFill>
                    <a:srgbClr val="98989D"/>
                  </a:solidFill>
                  <a:latin typeface="Arial"/>
                </a:rPr>
                <a:t>Processor</a:t>
              </a:r>
            </a:p>
          </p:txBody>
        </p:sp>
        <p:sp>
          <p:nvSpPr>
            <p:cNvPr id="152" name="N52/notch-system/text/055"/>
            <p:cNvSpPr txBox="1"/>
            <p:nvPr/>
          </p:nvSpPr>
          <p:spPr>
            <a:xfrm>
              <a:off x="4998720" y="2842259"/>
              <a:ext cx="2497455" cy="21716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46" b="1" i="0">
                  <a:solidFill>
                    <a:srgbClr val="F5F5F7"/>
                  </a:solidFill>
                  <a:latin typeface="Arial"/>
                </a:rPr>
                <a:t>18%</a:t>
              </a:r>
            </a:p>
          </p:txBody>
        </p:sp>
        <p:sp>
          <p:nvSpPr>
            <p:cNvPr id="153" name="N52/notch-system/text/056"/>
            <p:cNvSpPr txBox="1"/>
            <p:nvPr/>
          </p:nvSpPr>
          <p:spPr>
            <a:xfrm>
              <a:off x="4998720" y="3059430"/>
              <a:ext cx="2497455" cy="1447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3" b="0" i="0">
                  <a:solidFill>
                    <a:srgbClr val="98989D"/>
                  </a:solidFill>
                  <a:latin typeface="Arial"/>
                </a:rPr>
                <a:t>All logical processors</a:t>
              </a:r>
            </a:p>
          </p:txBody>
        </p:sp>
        <p:sp>
          <p:nvSpPr>
            <p:cNvPr id="154" name="N52/notch-system/rect/057"/>
            <p:cNvSpPr/>
            <p:nvPr/>
          </p:nvSpPr>
          <p:spPr>
            <a:xfrm>
              <a:off x="4890135" y="3294697"/>
              <a:ext cx="2714625" cy="633412"/>
            </a:xfrm>
            <a:prstGeom prst="roundRect">
              <a:avLst>
                <a:gd name="adj" fmla="val 19999"/>
              </a:avLst>
            </a:prstGeom>
            <a:solidFill>
              <a:srgbClr val="1C1C1E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N52/notch-system/rect/058"/>
            <p:cNvSpPr/>
            <p:nvPr/>
          </p:nvSpPr>
          <p:spPr>
            <a:xfrm>
              <a:off x="5016817" y="3430428"/>
              <a:ext cx="108585" cy="54292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N52/notch-system/rect/059"/>
            <p:cNvSpPr/>
            <p:nvPr/>
          </p:nvSpPr>
          <p:spPr>
            <a:xfrm>
              <a:off x="5034915" y="3448526"/>
              <a:ext cx="18097" cy="18097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N52/notch-system/rect/060"/>
            <p:cNvSpPr/>
            <p:nvPr/>
          </p:nvSpPr>
          <p:spPr>
            <a:xfrm>
              <a:off x="5062061" y="3448526"/>
              <a:ext cx="18097" cy="18097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N52/notch-system/rect/061"/>
            <p:cNvSpPr/>
            <p:nvPr/>
          </p:nvSpPr>
          <p:spPr>
            <a:xfrm>
              <a:off x="5089207" y="3448526"/>
              <a:ext cx="18097" cy="18097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9" name="N52/notch-system/line/062"/>
            <p:cNvCxnSpPr/>
            <p:nvPr/>
          </p:nvCxnSpPr>
          <p:spPr>
            <a:xfrm>
              <a:off x="5034915" y="3484721"/>
              <a:ext cx="0" cy="1809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N52/notch-system/line/063"/>
            <p:cNvCxnSpPr/>
            <p:nvPr/>
          </p:nvCxnSpPr>
          <p:spPr>
            <a:xfrm>
              <a:off x="5071110" y="3484721"/>
              <a:ext cx="0" cy="1809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N52/notch-system/line/064"/>
            <p:cNvCxnSpPr/>
            <p:nvPr/>
          </p:nvCxnSpPr>
          <p:spPr>
            <a:xfrm>
              <a:off x="5107305" y="3484721"/>
              <a:ext cx="0" cy="1809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N52/notch-system/text/065"/>
            <p:cNvSpPr txBox="1"/>
            <p:nvPr/>
          </p:nvSpPr>
          <p:spPr>
            <a:xfrm>
              <a:off x="5197792" y="3367087"/>
              <a:ext cx="2316480" cy="1628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7" b="0" i="0">
                  <a:solidFill>
                    <a:srgbClr val="98989D"/>
                  </a:solidFill>
                  <a:latin typeface="Arial"/>
                </a:rPr>
                <a:t>Memory</a:t>
              </a:r>
            </a:p>
          </p:txBody>
        </p:sp>
        <p:sp>
          <p:nvSpPr>
            <p:cNvPr id="163" name="N52/notch-system/text/066"/>
            <p:cNvSpPr txBox="1"/>
            <p:nvPr/>
          </p:nvSpPr>
          <p:spPr>
            <a:xfrm>
              <a:off x="4998720" y="3548062"/>
              <a:ext cx="2497455" cy="21716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46" b="1" i="0">
                  <a:solidFill>
                    <a:srgbClr val="F5F5F7"/>
                  </a:solidFill>
                  <a:latin typeface="Arial"/>
                </a:rPr>
                <a:t>42%</a:t>
              </a:r>
            </a:p>
          </p:txBody>
        </p:sp>
        <p:sp>
          <p:nvSpPr>
            <p:cNvPr id="164" name="N52/notch-system/text/067"/>
            <p:cNvSpPr txBox="1"/>
            <p:nvPr/>
          </p:nvSpPr>
          <p:spPr>
            <a:xfrm>
              <a:off x="4998720" y="3765232"/>
              <a:ext cx="2497455" cy="1447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3" b="0" i="0">
                  <a:solidFill>
                    <a:srgbClr val="98989D"/>
                  </a:solidFill>
                  <a:latin typeface="Arial"/>
                </a:rPr>
                <a:t>6.7 GB / 16.0 GB</a:t>
              </a:r>
            </a:p>
          </p:txBody>
        </p:sp>
        <p:sp>
          <p:nvSpPr>
            <p:cNvPr id="165" name="N52/notch-system/rect/068"/>
            <p:cNvSpPr/>
            <p:nvPr/>
          </p:nvSpPr>
          <p:spPr>
            <a:xfrm>
              <a:off x="7568565" y="2588895"/>
              <a:ext cx="27146" cy="1447800"/>
            </a:xfrm>
            <a:prstGeom prst="roundRect">
              <a:avLst>
                <a:gd name="adj" fmla="val 50000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N52/notch-system/rect/069"/>
            <p:cNvSpPr/>
            <p:nvPr/>
          </p:nvSpPr>
          <p:spPr>
            <a:xfrm>
              <a:off x="7568565" y="2643187"/>
              <a:ext cx="27146" cy="416242"/>
            </a:xfrm>
            <a:prstGeom prst="roundRect">
              <a:avLst>
                <a:gd name="adj" fmla="val 50000"/>
              </a:avLst>
            </a:prstGeom>
            <a:solidFill>
              <a:srgbClr val="98989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67" name="N52/text/011"/>
          <p:cNvSpPr txBox="1"/>
          <p:nvPr/>
        </p:nvSpPr>
        <p:spPr>
          <a:xfrm>
            <a:off x="4709160" y="4526280"/>
            <a:ext cx="297180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1 column: cards stack; page scrolls.</a:t>
            </a:r>
          </a:p>
        </p:txBody>
      </p:sp>
      <p:sp>
        <p:nvSpPr>
          <p:cNvPr id="168" name="N52/spec-panel/012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N52/text/013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170" name="N52/ellipse/014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N52/text/015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Cards reparent into rows</a:t>
            </a:r>
          </a:p>
        </p:txBody>
      </p:sp>
      <p:sp>
        <p:nvSpPr>
          <p:cNvPr id="172" name="N52/ellipse/016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N52/text/017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Quick actions stack in compact</a:t>
            </a:r>
          </a:p>
        </p:txBody>
      </p:sp>
      <p:sp>
        <p:nvSpPr>
          <p:cNvPr id="174" name="N52/ellipse/018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N52/text/019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Sampling remains page-scoped</a:t>
            </a:r>
          </a:p>
        </p:txBody>
      </p:sp>
      <p:sp>
        <p:nvSpPr>
          <p:cNvPr id="176" name="N52/ellipse/020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N52/text/021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No horizontal scroll</a:t>
            </a:r>
          </a:p>
        </p:txBody>
      </p:sp>
      <p:cxnSp>
        <p:nvCxnSpPr>
          <p:cNvPr id="178" name="N52/line/022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N52/text/023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180" name="N52/edit-box/024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N52/edit-note/025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Column breakpoints / card density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18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18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18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QUICK ACTIONS</a:t>
            </a:r>
          </a:p>
        </p:txBody>
      </p:sp>
      <p:sp>
        <p:nvSpPr>
          <p:cNvPr id="5" name="N18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Off · on · locked · hidden</a:t>
            </a:r>
          </a:p>
        </p:txBody>
      </p:sp>
      <p:sp>
        <p:nvSpPr>
          <p:cNvPr id="6" name="N18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Shared by Home compact and System full labels</a:t>
            </a:r>
          </a:p>
        </p:txBody>
      </p:sp>
      <p:cxnSp>
        <p:nvCxnSpPr>
          <p:cNvPr id="7" name="N18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18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18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N18</a:t>
            </a:r>
          </a:p>
        </p:txBody>
      </p:sp>
      <p:sp>
        <p:nvSpPr>
          <p:cNvPr id="10" name="N18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26</a:t>
            </a:r>
          </a:p>
        </p:txBody>
      </p:sp>
      <p:sp>
        <p:nvSpPr>
          <p:cNvPr id="11" name="N18/text/010"/>
          <p:cNvSpPr txBox="1"/>
          <p:nvPr/>
        </p:nvSpPr>
        <p:spPr>
          <a:xfrm>
            <a:off x="502920" y="18288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5F7"/>
                </a:solidFill>
                <a:latin typeface="Arial"/>
              </a:rPr>
              <a:t>Off</a:t>
            </a:r>
          </a:p>
        </p:txBody>
      </p:sp>
      <p:sp>
        <p:nvSpPr>
          <p:cNvPr id="12" name="N18/button-Do Not Disturb/011"/>
          <p:cNvSpPr/>
          <p:nvPr/>
        </p:nvSpPr>
        <p:spPr>
          <a:xfrm>
            <a:off x="1737360" y="1828800"/>
            <a:ext cx="1643062" cy="394334"/>
          </a:xfrm>
          <a:prstGeom prst="roundRect">
            <a:avLst>
              <a:gd name="adj" fmla="val 27777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18/ellipse/012"/>
          <p:cNvSpPr/>
          <p:nvPr/>
        </p:nvSpPr>
        <p:spPr>
          <a:xfrm>
            <a:off x="1827180" y="1971198"/>
            <a:ext cx="109537" cy="109537"/>
          </a:xfrm>
          <a:prstGeom prst="ellipse">
            <a:avLst/>
          </a:prstGeom>
          <a:noFill/>
          <a:ln w="1016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N18/line/013"/>
          <p:cNvCxnSpPr/>
          <p:nvPr/>
        </p:nvCxnSpPr>
        <p:spPr>
          <a:xfrm flipV="1">
            <a:off x="1838134" y="1982152"/>
            <a:ext cx="87630" cy="87630"/>
          </a:xfrm>
          <a:prstGeom prst="line">
            <a:avLst/>
          </a:prstGeom>
          <a:ln w="10160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N18/text/014"/>
          <p:cNvSpPr txBox="1"/>
          <p:nvPr/>
        </p:nvSpPr>
        <p:spPr>
          <a:xfrm>
            <a:off x="2035302" y="1828800"/>
            <a:ext cx="1323213" cy="3943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E5E5EA"/>
                </a:solidFill>
                <a:latin typeface="Arial"/>
              </a:rPr>
              <a:t>Do Not Disturb</a:t>
            </a:r>
          </a:p>
        </p:txBody>
      </p:sp>
      <p:sp>
        <p:nvSpPr>
          <p:cNvPr id="16" name="N18/button-Night Light/015"/>
          <p:cNvSpPr/>
          <p:nvPr/>
        </p:nvSpPr>
        <p:spPr>
          <a:xfrm>
            <a:off x="3468052" y="1828800"/>
            <a:ext cx="1643062" cy="394334"/>
          </a:xfrm>
          <a:prstGeom prst="roundRect">
            <a:avLst>
              <a:gd name="adj" fmla="val 27777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18/poly/016"/>
          <p:cNvSpPr/>
          <p:nvPr/>
        </p:nvSpPr>
        <p:spPr>
          <a:xfrm>
            <a:off x="3706844" y="1960244"/>
            <a:ext cx="87630" cy="131445"/>
          </a:xfrm>
          <a:custGeom>
            <a:avLst/>
            <a:gdLst/>
            <a:ahLst/>
            <a:cxnLst/>
            <a:rect l="l" t="t" r="r" b="b"/>
            <a:pathLst>
              <a:path w="87630" h="131445">
                <a:moveTo>
                  <a:pt x="65722" y="0"/>
                </a:moveTo>
                <a:lnTo>
                  <a:pt x="21907" y="10954"/>
                </a:lnTo>
                <a:lnTo>
                  <a:pt x="0" y="43815"/>
                </a:lnTo>
                <a:lnTo>
                  <a:pt x="0" y="87630"/>
                </a:lnTo>
                <a:lnTo>
                  <a:pt x="21907" y="120492"/>
                </a:lnTo>
                <a:lnTo>
                  <a:pt x="65722" y="131445"/>
                </a:lnTo>
                <a:lnTo>
                  <a:pt x="87630" y="109538"/>
                </a:lnTo>
                <a:lnTo>
                  <a:pt x="54768" y="98584"/>
                </a:lnTo>
                <a:lnTo>
                  <a:pt x="32861" y="65723"/>
                </a:lnTo>
                <a:lnTo>
                  <a:pt x="43815" y="32862"/>
                </a:lnTo>
                <a:close/>
              </a:path>
            </a:pathLst>
          </a:cu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18/text/017"/>
          <p:cNvSpPr txBox="1"/>
          <p:nvPr/>
        </p:nvSpPr>
        <p:spPr>
          <a:xfrm>
            <a:off x="3904011" y="1828800"/>
            <a:ext cx="1185195" cy="3943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E5E5EA"/>
                </a:solidFill>
                <a:latin typeface="Arial"/>
              </a:rPr>
              <a:t>Night Light</a:t>
            </a:r>
          </a:p>
        </p:txBody>
      </p:sp>
      <p:sp>
        <p:nvSpPr>
          <p:cNvPr id="19" name="N18/button-Dark Mode/018"/>
          <p:cNvSpPr/>
          <p:nvPr/>
        </p:nvSpPr>
        <p:spPr>
          <a:xfrm>
            <a:off x="5198745" y="1828800"/>
            <a:ext cx="1643062" cy="394334"/>
          </a:xfrm>
          <a:prstGeom prst="roundRect">
            <a:avLst>
              <a:gd name="adj" fmla="val 27777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18/ellipse/019"/>
          <p:cNvSpPr/>
          <p:nvPr/>
        </p:nvSpPr>
        <p:spPr>
          <a:xfrm>
            <a:off x="5518594" y="1971198"/>
            <a:ext cx="109537" cy="109537"/>
          </a:xfrm>
          <a:prstGeom prst="ellipse">
            <a:avLst/>
          </a:prstGeom>
          <a:noFill/>
          <a:ln w="1016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18/poly/020"/>
          <p:cNvSpPr/>
          <p:nvPr/>
        </p:nvSpPr>
        <p:spPr>
          <a:xfrm>
            <a:off x="5573363" y="1971198"/>
            <a:ext cx="54769" cy="109538"/>
          </a:xfrm>
          <a:custGeom>
            <a:avLst/>
            <a:gdLst/>
            <a:ahLst/>
            <a:cxnLst/>
            <a:rect l="l" t="t" r="r" b="b"/>
            <a:pathLst>
              <a:path w="54769" h="109538">
                <a:moveTo>
                  <a:pt x="0" y="0"/>
                </a:moveTo>
                <a:lnTo>
                  <a:pt x="0" y="109538"/>
                </a:lnTo>
                <a:lnTo>
                  <a:pt x="32861" y="98584"/>
                </a:lnTo>
                <a:lnTo>
                  <a:pt x="54769" y="54769"/>
                </a:lnTo>
                <a:lnTo>
                  <a:pt x="32861" y="10954"/>
                </a:lnTo>
                <a:close/>
              </a:path>
            </a:pathLst>
          </a:cu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18/text/021"/>
          <p:cNvSpPr txBox="1"/>
          <p:nvPr/>
        </p:nvSpPr>
        <p:spPr>
          <a:xfrm>
            <a:off x="5726715" y="1828800"/>
            <a:ext cx="1093184" cy="3943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E5E5EA"/>
                </a:solidFill>
                <a:latin typeface="Arial"/>
              </a:rPr>
              <a:t>Dark Mode</a:t>
            </a:r>
          </a:p>
        </p:txBody>
      </p:sp>
      <p:sp>
        <p:nvSpPr>
          <p:cNvPr id="23" name="N18/text/022"/>
          <p:cNvSpPr txBox="1"/>
          <p:nvPr/>
        </p:nvSpPr>
        <p:spPr>
          <a:xfrm>
            <a:off x="1737360" y="2240280"/>
            <a:ext cx="621792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Control fill #2C2C2E; text #E5E5EA</a:t>
            </a:r>
          </a:p>
        </p:txBody>
      </p:sp>
      <p:sp>
        <p:nvSpPr>
          <p:cNvPr id="24" name="N18/text/023"/>
          <p:cNvSpPr txBox="1"/>
          <p:nvPr/>
        </p:nvSpPr>
        <p:spPr>
          <a:xfrm>
            <a:off x="502920" y="2788920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5F7"/>
                </a:solidFill>
                <a:latin typeface="Arial"/>
              </a:rPr>
              <a:t>On</a:t>
            </a:r>
          </a:p>
        </p:txBody>
      </p:sp>
      <p:sp>
        <p:nvSpPr>
          <p:cNvPr id="25" name="N18/button-Do Not Disturb/024"/>
          <p:cNvSpPr/>
          <p:nvPr/>
        </p:nvSpPr>
        <p:spPr>
          <a:xfrm>
            <a:off x="1737360" y="2788920"/>
            <a:ext cx="1643062" cy="394334"/>
          </a:xfrm>
          <a:prstGeom prst="roundRect">
            <a:avLst>
              <a:gd name="adj" fmla="val 27777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18/ellipse/025"/>
          <p:cNvSpPr/>
          <p:nvPr/>
        </p:nvSpPr>
        <p:spPr>
          <a:xfrm>
            <a:off x="1827180" y="2931318"/>
            <a:ext cx="109537" cy="109537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N18/line/026"/>
          <p:cNvCxnSpPr/>
          <p:nvPr/>
        </p:nvCxnSpPr>
        <p:spPr>
          <a:xfrm flipV="1">
            <a:off x="1838134" y="2942272"/>
            <a:ext cx="87630" cy="8763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N18/text/027"/>
          <p:cNvSpPr txBox="1"/>
          <p:nvPr/>
        </p:nvSpPr>
        <p:spPr>
          <a:xfrm>
            <a:off x="2035302" y="2788920"/>
            <a:ext cx="1323213" cy="3943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000000"/>
                </a:solidFill>
                <a:latin typeface="Arial"/>
              </a:rPr>
              <a:t>Do Not Disturb</a:t>
            </a:r>
          </a:p>
        </p:txBody>
      </p:sp>
      <p:sp>
        <p:nvSpPr>
          <p:cNvPr id="29" name="N18/button-Night Light/028"/>
          <p:cNvSpPr/>
          <p:nvPr/>
        </p:nvSpPr>
        <p:spPr>
          <a:xfrm>
            <a:off x="3468052" y="2788920"/>
            <a:ext cx="1643062" cy="394334"/>
          </a:xfrm>
          <a:prstGeom prst="roundRect">
            <a:avLst>
              <a:gd name="adj" fmla="val 27777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18/poly/029"/>
          <p:cNvSpPr/>
          <p:nvPr/>
        </p:nvSpPr>
        <p:spPr>
          <a:xfrm>
            <a:off x="3706844" y="2920364"/>
            <a:ext cx="87630" cy="131445"/>
          </a:xfrm>
          <a:custGeom>
            <a:avLst/>
            <a:gdLst/>
            <a:ahLst/>
            <a:cxnLst/>
            <a:rect l="l" t="t" r="r" b="b"/>
            <a:pathLst>
              <a:path w="87630" h="131445">
                <a:moveTo>
                  <a:pt x="65722" y="0"/>
                </a:moveTo>
                <a:lnTo>
                  <a:pt x="21907" y="10954"/>
                </a:lnTo>
                <a:lnTo>
                  <a:pt x="0" y="43815"/>
                </a:lnTo>
                <a:lnTo>
                  <a:pt x="0" y="87630"/>
                </a:lnTo>
                <a:lnTo>
                  <a:pt x="21907" y="120492"/>
                </a:lnTo>
                <a:lnTo>
                  <a:pt x="65722" y="131445"/>
                </a:lnTo>
                <a:lnTo>
                  <a:pt x="87630" y="109538"/>
                </a:lnTo>
                <a:lnTo>
                  <a:pt x="54768" y="98584"/>
                </a:lnTo>
                <a:lnTo>
                  <a:pt x="32861" y="65723"/>
                </a:lnTo>
                <a:lnTo>
                  <a:pt x="43815" y="3286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N18/text/030"/>
          <p:cNvSpPr txBox="1"/>
          <p:nvPr/>
        </p:nvSpPr>
        <p:spPr>
          <a:xfrm>
            <a:off x="3904011" y="2788920"/>
            <a:ext cx="1185195" cy="3943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000000"/>
                </a:solidFill>
                <a:latin typeface="Arial"/>
              </a:rPr>
              <a:t>Night Light</a:t>
            </a:r>
          </a:p>
        </p:txBody>
      </p:sp>
      <p:sp>
        <p:nvSpPr>
          <p:cNvPr id="32" name="N18/button-Dark Mode/031"/>
          <p:cNvSpPr/>
          <p:nvPr/>
        </p:nvSpPr>
        <p:spPr>
          <a:xfrm>
            <a:off x="5198745" y="2788920"/>
            <a:ext cx="1643062" cy="394334"/>
          </a:xfrm>
          <a:prstGeom prst="roundRect">
            <a:avLst>
              <a:gd name="adj" fmla="val 27777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N18/ellipse/032"/>
          <p:cNvSpPr/>
          <p:nvPr/>
        </p:nvSpPr>
        <p:spPr>
          <a:xfrm>
            <a:off x="5518594" y="2931318"/>
            <a:ext cx="109537" cy="109537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N18/poly/033"/>
          <p:cNvSpPr/>
          <p:nvPr/>
        </p:nvSpPr>
        <p:spPr>
          <a:xfrm>
            <a:off x="5573363" y="2931318"/>
            <a:ext cx="54769" cy="109538"/>
          </a:xfrm>
          <a:custGeom>
            <a:avLst/>
            <a:gdLst/>
            <a:ahLst/>
            <a:cxnLst/>
            <a:rect l="l" t="t" r="r" b="b"/>
            <a:pathLst>
              <a:path w="54769" h="109538">
                <a:moveTo>
                  <a:pt x="0" y="0"/>
                </a:moveTo>
                <a:lnTo>
                  <a:pt x="0" y="109538"/>
                </a:lnTo>
                <a:lnTo>
                  <a:pt x="32861" y="98584"/>
                </a:lnTo>
                <a:lnTo>
                  <a:pt x="54769" y="54769"/>
                </a:lnTo>
                <a:lnTo>
                  <a:pt x="32861" y="1095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N18/text/034"/>
          <p:cNvSpPr txBox="1"/>
          <p:nvPr/>
        </p:nvSpPr>
        <p:spPr>
          <a:xfrm>
            <a:off x="5726715" y="2788920"/>
            <a:ext cx="1093184" cy="3943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000000"/>
                </a:solidFill>
                <a:latin typeface="Arial"/>
              </a:rPr>
              <a:t>Dark Mode</a:t>
            </a:r>
          </a:p>
        </p:txBody>
      </p:sp>
      <p:sp>
        <p:nvSpPr>
          <p:cNvPr id="36" name="N18/text/035"/>
          <p:cNvSpPr txBox="1"/>
          <p:nvPr/>
        </p:nvSpPr>
        <p:spPr>
          <a:xfrm>
            <a:off x="1737360" y="3200400"/>
            <a:ext cx="621792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Active fill #F5F5F7; text #000000</a:t>
            </a:r>
          </a:p>
        </p:txBody>
      </p:sp>
      <p:sp>
        <p:nvSpPr>
          <p:cNvPr id="37" name="N18/text/036"/>
          <p:cNvSpPr txBox="1"/>
          <p:nvPr/>
        </p:nvSpPr>
        <p:spPr>
          <a:xfrm>
            <a:off x="502920" y="3749039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5F7"/>
                </a:solidFill>
                <a:latin typeface="Arial"/>
              </a:rPr>
              <a:t>Mixed</a:t>
            </a:r>
          </a:p>
        </p:txBody>
      </p:sp>
      <p:sp>
        <p:nvSpPr>
          <p:cNvPr id="38" name="N18/button-Do Not Disturb/037"/>
          <p:cNvSpPr/>
          <p:nvPr/>
        </p:nvSpPr>
        <p:spPr>
          <a:xfrm>
            <a:off x="1737360" y="3749039"/>
            <a:ext cx="1643062" cy="394334"/>
          </a:xfrm>
          <a:prstGeom prst="roundRect">
            <a:avLst>
              <a:gd name="adj" fmla="val 27777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18/ellipse/038"/>
          <p:cNvSpPr/>
          <p:nvPr/>
        </p:nvSpPr>
        <p:spPr>
          <a:xfrm>
            <a:off x="1827180" y="3891438"/>
            <a:ext cx="109537" cy="109537"/>
          </a:xfrm>
          <a:prstGeom prst="ellipse">
            <a:avLst/>
          </a:prstGeom>
          <a:noFill/>
          <a:ln w="1016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N18/line/039"/>
          <p:cNvCxnSpPr/>
          <p:nvPr/>
        </p:nvCxnSpPr>
        <p:spPr>
          <a:xfrm flipV="1">
            <a:off x="1838134" y="3902392"/>
            <a:ext cx="87630" cy="87630"/>
          </a:xfrm>
          <a:prstGeom prst="line">
            <a:avLst/>
          </a:prstGeom>
          <a:ln w="10160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N18/text/040"/>
          <p:cNvSpPr txBox="1"/>
          <p:nvPr/>
        </p:nvSpPr>
        <p:spPr>
          <a:xfrm>
            <a:off x="2035302" y="3749039"/>
            <a:ext cx="1323213" cy="3943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E5E5EA"/>
                </a:solidFill>
                <a:latin typeface="Arial"/>
              </a:rPr>
              <a:t>Do Not Disturb</a:t>
            </a:r>
          </a:p>
        </p:txBody>
      </p:sp>
      <p:sp>
        <p:nvSpPr>
          <p:cNvPr id="42" name="N18/button-Night Light/041"/>
          <p:cNvSpPr/>
          <p:nvPr/>
        </p:nvSpPr>
        <p:spPr>
          <a:xfrm>
            <a:off x="3468052" y="3749039"/>
            <a:ext cx="1643062" cy="394334"/>
          </a:xfrm>
          <a:prstGeom prst="roundRect">
            <a:avLst>
              <a:gd name="adj" fmla="val 27777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N18/poly/042"/>
          <p:cNvSpPr/>
          <p:nvPr/>
        </p:nvSpPr>
        <p:spPr>
          <a:xfrm>
            <a:off x="3706844" y="3880485"/>
            <a:ext cx="87630" cy="131445"/>
          </a:xfrm>
          <a:custGeom>
            <a:avLst/>
            <a:gdLst/>
            <a:ahLst/>
            <a:cxnLst/>
            <a:rect l="l" t="t" r="r" b="b"/>
            <a:pathLst>
              <a:path w="87630" h="131445">
                <a:moveTo>
                  <a:pt x="65722" y="0"/>
                </a:moveTo>
                <a:lnTo>
                  <a:pt x="21907" y="10953"/>
                </a:lnTo>
                <a:lnTo>
                  <a:pt x="0" y="43815"/>
                </a:lnTo>
                <a:lnTo>
                  <a:pt x="0" y="87630"/>
                </a:lnTo>
                <a:lnTo>
                  <a:pt x="21907" y="120491"/>
                </a:lnTo>
                <a:lnTo>
                  <a:pt x="65722" y="131445"/>
                </a:lnTo>
                <a:lnTo>
                  <a:pt x="87630" y="109537"/>
                </a:lnTo>
                <a:lnTo>
                  <a:pt x="54768" y="98583"/>
                </a:lnTo>
                <a:lnTo>
                  <a:pt x="32861" y="65722"/>
                </a:lnTo>
                <a:lnTo>
                  <a:pt x="43815" y="3286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18/text/043"/>
          <p:cNvSpPr txBox="1"/>
          <p:nvPr/>
        </p:nvSpPr>
        <p:spPr>
          <a:xfrm>
            <a:off x="3904011" y="3749039"/>
            <a:ext cx="1185195" cy="3943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000000"/>
                </a:solidFill>
                <a:latin typeface="Arial"/>
              </a:rPr>
              <a:t>Night Light</a:t>
            </a:r>
          </a:p>
        </p:txBody>
      </p:sp>
      <p:sp>
        <p:nvSpPr>
          <p:cNvPr id="45" name="N18/button-Dark Mode/044"/>
          <p:cNvSpPr/>
          <p:nvPr/>
        </p:nvSpPr>
        <p:spPr>
          <a:xfrm>
            <a:off x="5198745" y="3749039"/>
            <a:ext cx="1643062" cy="394334"/>
          </a:xfrm>
          <a:prstGeom prst="roundRect">
            <a:avLst>
              <a:gd name="adj" fmla="val 27777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N18/ellipse/045"/>
          <p:cNvSpPr/>
          <p:nvPr/>
        </p:nvSpPr>
        <p:spPr>
          <a:xfrm>
            <a:off x="5518594" y="3891438"/>
            <a:ext cx="109537" cy="109537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N18/poly/046"/>
          <p:cNvSpPr/>
          <p:nvPr/>
        </p:nvSpPr>
        <p:spPr>
          <a:xfrm>
            <a:off x="5573363" y="3891438"/>
            <a:ext cx="54769" cy="109538"/>
          </a:xfrm>
          <a:custGeom>
            <a:avLst/>
            <a:gdLst/>
            <a:ahLst/>
            <a:cxnLst/>
            <a:rect l="l" t="t" r="r" b="b"/>
            <a:pathLst>
              <a:path w="54769" h="109538">
                <a:moveTo>
                  <a:pt x="0" y="0"/>
                </a:moveTo>
                <a:lnTo>
                  <a:pt x="0" y="109538"/>
                </a:lnTo>
                <a:lnTo>
                  <a:pt x="32861" y="98584"/>
                </a:lnTo>
                <a:lnTo>
                  <a:pt x="54769" y="54769"/>
                </a:lnTo>
                <a:lnTo>
                  <a:pt x="32861" y="1095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18/text/047"/>
          <p:cNvSpPr txBox="1"/>
          <p:nvPr/>
        </p:nvSpPr>
        <p:spPr>
          <a:xfrm>
            <a:off x="5726715" y="3749039"/>
            <a:ext cx="1093184" cy="3943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000000"/>
                </a:solidFill>
                <a:latin typeface="Arial"/>
              </a:rPr>
              <a:t>Dark Mode</a:t>
            </a:r>
          </a:p>
        </p:txBody>
      </p:sp>
      <p:sp>
        <p:nvSpPr>
          <p:cNvPr id="49" name="N18/text/048"/>
          <p:cNvSpPr txBox="1"/>
          <p:nvPr/>
        </p:nvSpPr>
        <p:spPr>
          <a:xfrm>
            <a:off x="1737360" y="4160520"/>
            <a:ext cx="621792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Each toggle reflects its own GSettings key</a:t>
            </a:r>
          </a:p>
        </p:txBody>
      </p:sp>
      <p:sp>
        <p:nvSpPr>
          <p:cNvPr id="50" name="N18/text/049"/>
          <p:cNvSpPr txBox="1"/>
          <p:nvPr/>
        </p:nvSpPr>
        <p:spPr>
          <a:xfrm>
            <a:off x="502920" y="4709159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5F7"/>
                </a:solidFill>
                <a:latin typeface="Arial"/>
              </a:rPr>
              <a:t>Locked</a:t>
            </a:r>
          </a:p>
        </p:txBody>
      </p:sp>
      <p:sp>
        <p:nvSpPr>
          <p:cNvPr id="51" name="N18/button-Do Not Disturb/050"/>
          <p:cNvSpPr/>
          <p:nvPr/>
        </p:nvSpPr>
        <p:spPr>
          <a:xfrm>
            <a:off x="1737360" y="4709159"/>
            <a:ext cx="1643062" cy="394334"/>
          </a:xfrm>
          <a:prstGeom prst="roundRect">
            <a:avLst>
              <a:gd name="adj" fmla="val 27777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N18/ellipse/051"/>
          <p:cNvSpPr/>
          <p:nvPr/>
        </p:nvSpPr>
        <p:spPr>
          <a:xfrm>
            <a:off x="1827180" y="4851558"/>
            <a:ext cx="109537" cy="109537"/>
          </a:xfrm>
          <a:prstGeom prst="ellipse">
            <a:avLst/>
          </a:prstGeom>
          <a:noFill/>
          <a:ln w="1016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N18/line/052"/>
          <p:cNvCxnSpPr/>
          <p:nvPr/>
        </p:nvCxnSpPr>
        <p:spPr>
          <a:xfrm flipV="1">
            <a:off x="1838134" y="4862512"/>
            <a:ext cx="87630" cy="87630"/>
          </a:xfrm>
          <a:prstGeom prst="line">
            <a:avLst/>
          </a:prstGeom>
          <a:ln w="10160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N18/text/053"/>
          <p:cNvSpPr txBox="1"/>
          <p:nvPr/>
        </p:nvSpPr>
        <p:spPr>
          <a:xfrm>
            <a:off x="2035302" y="4709159"/>
            <a:ext cx="1323213" cy="3943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E5E5EA"/>
                </a:solidFill>
                <a:latin typeface="Arial"/>
              </a:rPr>
              <a:t>Do Not Disturb</a:t>
            </a:r>
          </a:p>
        </p:txBody>
      </p:sp>
      <p:sp>
        <p:nvSpPr>
          <p:cNvPr id="55" name="N18/button-Night Light/054"/>
          <p:cNvSpPr/>
          <p:nvPr/>
        </p:nvSpPr>
        <p:spPr>
          <a:xfrm>
            <a:off x="3468052" y="4709159"/>
            <a:ext cx="1643062" cy="394334"/>
          </a:xfrm>
          <a:prstGeom prst="roundRect">
            <a:avLst>
              <a:gd name="adj" fmla="val 27777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N18/poly/055"/>
          <p:cNvSpPr/>
          <p:nvPr/>
        </p:nvSpPr>
        <p:spPr>
          <a:xfrm>
            <a:off x="3706844" y="4840605"/>
            <a:ext cx="87630" cy="131445"/>
          </a:xfrm>
          <a:custGeom>
            <a:avLst/>
            <a:gdLst/>
            <a:ahLst/>
            <a:cxnLst/>
            <a:rect l="l" t="t" r="r" b="b"/>
            <a:pathLst>
              <a:path w="87630" h="131445">
                <a:moveTo>
                  <a:pt x="65722" y="0"/>
                </a:moveTo>
                <a:lnTo>
                  <a:pt x="21907" y="10953"/>
                </a:lnTo>
                <a:lnTo>
                  <a:pt x="0" y="43815"/>
                </a:lnTo>
                <a:lnTo>
                  <a:pt x="0" y="87630"/>
                </a:lnTo>
                <a:lnTo>
                  <a:pt x="21907" y="120491"/>
                </a:lnTo>
                <a:lnTo>
                  <a:pt x="65722" y="131445"/>
                </a:lnTo>
                <a:lnTo>
                  <a:pt x="87630" y="109537"/>
                </a:lnTo>
                <a:lnTo>
                  <a:pt x="54768" y="98583"/>
                </a:lnTo>
                <a:lnTo>
                  <a:pt x="32861" y="65722"/>
                </a:lnTo>
                <a:lnTo>
                  <a:pt x="43815" y="32861"/>
                </a:lnTo>
                <a:close/>
              </a:path>
            </a:pathLst>
          </a:cu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N18/text/056"/>
          <p:cNvSpPr txBox="1"/>
          <p:nvPr/>
        </p:nvSpPr>
        <p:spPr>
          <a:xfrm>
            <a:off x="3904011" y="4709159"/>
            <a:ext cx="1185195" cy="3943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E5E5EA"/>
                </a:solidFill>
                <a:latin typeface="Arial"/>
              </a:rPr>
              <a:t>Night Light</a:t>
            </a:r>
          </a:p>
        </p:txBody>
      </p:sp>
      <p:sp>
        <p:nvSpPr>
          <p:cNvPr id="58" name="N18/button-Dark Mode/057"/>
          <p:cNvSpPr/>
          <p:nvPr/>
        </p:nvSpPr>
        <p:spPr>
          <a:xfrm>
            <a:off x="5198745" y="4709159"/>
            <a:ext cx="1643062" cy="394334"/>
          </a:xfrm>
          <a:prstGeom prst="roundRect">
            <a:avLst>
              <a:gd name="adj" fmla="val 27777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N18/ellipse/058"/>
          <p:cNvSpPr/>
          <p:nvPr/>
        </p:nvSpPr>
        <p:spPr>
          <a:xfrm>
            <a:off x="5518594" y="4851558"/>
            <a:ext cx="109537" cy="109537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N18/poly/059"/>
          <p:cNvSpPr/>
          <p:nvPr/>
        </p:nvSpPr>
        <p:spPr>
          <a:xfrm>
            <a:off x="5573363" y="4851558"/>
            <a:ext cx="54769" cy="109538"/>
          </a:xfrm>
          <a:custGeom>
            <a:avLst/>
            <a:gdLst/>
            <a:ahLst/>
            <a:cxnLst/>
            <a:rect l="l" t="t" r="r" b="b"/>
            <a:pathLst>
              <a:path w="54769" h="109538">
                <a:moveTo>
                  <a:pt x="0" y="0"/>
                </a:moveTo>
                <a:lnTo>
                  <a:pt x="0" y="109538"/>
                </a:lnTo>
                <a:lnTo>
                  <a:pt x="32861" y="98584"/>
                </a:lnTo>
                <a:lnTo>
                  <a:pt x="54769" y="54769"/>
                </a:lnTo>
                <a:lnTo>
                  <a:pt x="32861" y="1095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N18/text/060"/>
          <p:cNvSpPr txBox="1"/>
          <p:nvPr/>
        </p:nvSpPr>
        <p:spPr>
          <a:xfrm>
            <a:off x="5726715" y="4709159"/>
            <a:ext cx="1093184" cy="3943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000000"/>
                </a:solidFill>
                <a:latin typeface="Arial"/>
              </a:rPr>
              <a:t>Dark Mode</a:t>
            </a:r>
          </a:p>
        </p:txBody>
      </p:sp>
      <p:sp>
        <p:nvSpPr>
          <p:cNvPr id="62" name="N18/text/061"/>
          <p:cNvSpPr txBox="1"/>
          <p:nvPr/>
        </p:nvSpPr>
        <p:spPr>
          <a:xfrm>
            <a:off x="1737360" y="5120640"/>
            <a:ext cx="621792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Policy-locked keys are non-reactive; error explains lock</a:t>
            </a:r>
          </a:p>
        </p:txBody>
      </p:sp>
      <p:sp>
        <p:nvSpPr>
          <p:cNvPr id="63" name="N18/text/062"/>
          <p:cNvSpPr txBox="1"/>
          <p:nvPr/>
        </p:nvSpPr>
        <p:spPr>
          <a:xfrm>
            <a:off x="502920" y="5760720"/>
            <a:ext cx="758952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Arial"/>
              </a:rPr>
              <a:t>Hidden: Settings → Behavior → Quick actions removes the button from both pages.</a:t>
            </a:r>
          </a:p>
        </p:txBody>
      </p:sp>
      <p:sp>
        <p:nvSpPr>
          <p:cNvPr id="64" name="N18/spec-panel/063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N18/text/064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66" name="N18/ellipse/065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N18/text/066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Focus = inverted show-banners</a:t>
            </a:r>
          </a:p>
        </p:txBody>
      </p:sp>
      <p:sp>
        <p:nvSpPr>
          <p:cNvPr id="68" name="N18/ellipse/067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N18/text/068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Night = night-light-enabled</a:t>
            </a:r>
          </a:p>
        </p:txBody>
      </p:sp>
      <p:sp>
        <p:nvSpPr>
          <p:cNvPr id="70" name="N18/ellipse/069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N18/text/070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Dark = color-scheme prefer-dark</a:t>
            </a:r>
          </a:p>
        </p:txBody>
      </p:sp>
      <p:sp>
        <p:nvSpPr>
          <p:cNvPr id="72" name="N18/ellipse/071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N18/text/072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Locked → '… is locked by system policy.'</a:t>
            </a:r>
          </a:p>
        </p:txBody>
      </p:sp>
      <p:cxnSp>
        <p:nvCxnSpPr>
          <p:cNvPr id="74" name="N18/line/073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N18/text/074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76" name="N18/edit-box/075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N18/edit-note/076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Label length / active contrast / locked style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19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19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19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SHELF PAGE</a:t>
            </a:r>
          </a:p>
        </p:txBody>
      </p:sp>
      <p:sp>
        <p:nvSpPr>
          <p:cNvPr id="5" name="N19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Shelf — ready, empty</a:t>
            </a:r>
          </a:p>
        </p:txBody>
      </p:sp>
      <p:sp>
        <p:nvSpPr>
          <p:cNvPr id="6" name="N19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640×260 · helper connected · no references yet</a:t>
            </a:r>
          </a:p>
        </p:txBody>
      </p:sp>
      <p:cxnSp>
        <p:nvCxnSpPr>
          <p:cNvPr id="7" name="N19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19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19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N19</a:t>
            </a:r>
          </a:p>
        </p:txBody>
      </p:sp>
      <p:sp>
        <p:nvSpPr>
          <p:cNvPr id="10" name="N19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27</a:t>
            </a:r>
          </a:p>
        </p:txBody>
      </p:sp>
      <p:grpSp>
        <p:nvGrpSpPr>
          <p:cNvPr id="11" name="N19/notch-shelf"/>
          <p:cNvGrpSpPr/>
          <p:nvPr/>
        </p:nvGrpSpPr>
        <p:grpSpPr>
          <a:xfrm>
            <a:off x="502919" y="2051256"/>
            <a:ext cx="7818121" cy="3176111"/>
            <a:chOff x="502919" y="2051256"/>
            <a:chExt cx="7818121" cy="3176111"/>
          </a:xfrm>
        </p:grpSpPr>
        <p:sp>
          <p:nvSpPr>
            <p:cNvPr id="12" name="N19/notch-shelf/notch-surface-open/001"/>
            <p:cNvSpPr/>
            <p:nvPr/>
          </p:nvSpPr>
          <p:spPr>
            <a:xfrm>
              <a:off x="502919" y="2051256"/>
              <a:ext cx="7818121" cy="3176111"/>
            </a:xfrm>
            <a:custGeom>
              <a:avLst/>
              <a:gdLst/>
              <a:ahLst/>
              <a:cxnLst/>
              <a:rect l="l" t="t" r="r" b="b"/>
              <a:pathLst>
                <a:path w="7818121" h="3176111">
                  <a:moveTo>
                    <a:pt x="0" y="0"/>
                  </a:moveTo>
                  <a:lnTo>
                    <a:pt x="7818121" y="0"/>
                  </a:lnTo>
                  <a:lnTo>
                    <a:pt x="7785935" y="3626"/>
                  </a:lnTo>
                  <a:lnTo>
                    <a:pt x="7749216" y="14506"/>
                  </a:lnTo>
                  <a:lnTo>
                    <a:pt x="7710683" y="32639"/>
                  </a:lnTo>
                  <a:lnTo>
                    <a:pt x="7673058" y="58025"/>
                  </a:lnTo>
                  <a:lnTo>
                    <a:pt x="7639059" y="90664"/>
                  </a:lnTo>
                  <a:lnTo>
                    <a:pt x="7611406" y="130556"/>
                  </a:lnTo>
                  <a:lnTo>
                    <a:pt x="7592820" y="177702"/>
                  </a:lnTo>
                  <a:lnTo>
                    <a:pt x="7586020" y="232100"/>
                  </a:lnTo>
                  <a:lnTo>
                    <a:pt x="7580387" y="2940128"/>
                  </a:lnTo>
                  <a:lnTo>
                    <a:pt x="7563703" y="2995127"/>
                  </a:lnTo>
                  <a:lnTo>
                    <a:pt x="7536610" y="3045813"/>
                  </a:lnTo>
                  <a:lnTo>
                    <a:pt x="7500150" y="3090241"/>
                  </a:lnTo>
                  <a:lnTo>
                    <a:pt x="7455722" y="3126701"/>
                  </a:lnTo>
                  <a:lnTo>
                    <a:pt x="7405035" y="3153794"/>
                  </a:lnTo>
                  <a:lnTo>
                    <a:pt x="7350037" y="3170478"/>
                  </a:lnTo>
                  <a:lnTo>
                    <a:pt x="7292841" y="3176111"/>
                  </a:lnTo>
                  <a:lnTo>
                    <a:pt x="525280" y="3176111"/>
                  </a:lnTo>
                  <a:lnTo>
                    <a:pt x="468084" y="3170478"/>
                  </a:lnTo>
                  <a:lnTo>
                    <a:pt x="413086" y="3153794"/>
                  </a:lnTo>
                  <a:lnTo>
                    <a:pt x="362399" y="3126701"/>
                  </a:lnTo>
                  <a:lnTo>
                    <a:pt x="317971" y="3090241"/>
                  </a:lnTo>
                  <a:lnTo>
                    <a:pt x="281511" y="3045813"/>
                  </a:lnTo>
                  <a:lnTo>
                    <a:pt x="254418" y="2995127"/>
                  </a:lnTo>
                  <a:lnTo>
                    <a:pt x="237734" y="2940128"/>
                  </a:lnTo>
                  <a:lnTo>
                    <a:pt x="232101" y="2882932"/>
                  </a:lnTo>
                  <a:lnTo>
                    <a:pt x="232101" y="232100"/>
                  </a:lnTo>
                  <a:lnTo>
                    <a:pt x="225301" y="177702"/>
                  </a:lnTo>
                  <a:lnTo>
                    <a:pt x="206715" y="130556"/>
                  </a:lnTo>
                  <a:lnTo>
                    <a:pt x="179062" y="90664"/>
                  </a:lnTo>
                  <a:lnTo>
                    <a:pt x="145063" y="58025"/>
                  </a:lnTo>
                  <a:lnTo>
                    <a:pt x="107438" y="32639"/>
                  </a:lnTo>
                  <a:lnTo>
                    <a:pt x="68905" y="14506"/>
                  </a:lnTo>
                  <a:lnTo>
                    <a:pt x="32186" y="36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19/notch-shelf/button-home/002"/>
            <p:cNvSpPr/>
            <p:nvPr/>
          </p:nvSpPr>
          <p:spPr>
            <a:xfrm>
              <a:off x="747236" y="2625399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19/notch-shelf/poly/003"/>
            <p:cNvSpPr/>
            <p:nvPr/>
          </p:nvSpPr>
          <p:spPr>
            <a:xfrm>
              <a:off x="869394" y="2735341"/>
              <a:ext cx="146590" cy="146590"/>
            </a:xfrm>
            <a:custGeom>
              <a:avLst/>
              <a:gdLst/>
              <a:ahLst/>
              <a:cxnLst/>
              <a:rect l="l" t="t" r="r" b="b"/>
              <a:pathLst>
                <a:path w="146590" h="146590">
                  <a:moveTo>
                    <a:pt x="73295" y="0"/>
                  </a:moveTo>
                  <a:lnTo>
                    <a:pt x="0" y="61079"/>
                  </a:lnTo>
                  <a:lnTo>
                    <a:pt x="24431" y="61079"/>
                  </a:lnTo>
                  <a:lnTo>
                    <a:pt x="24431" y="146590"/>
                  </a:lnTo>
                  <a:lnTo>
                    <a:pt x="61079" y="146590"/>
                  </a:lnTo>
                  <a:lnTo>
                    <a:pt x="61079" y="97727"/>
                  </a:lnTo>
                  <a:lnTo>
                    <a:pt x="85511" y="97727"/>
                  </a:lnTo>
                  <a:lnTo>
                    <a:pt x="85511" y="146590"/>
                  </a:lnTo>
                  <a:lnTo>
                    <a:pt x="122158" y="146590"/>
                  </a:lnTo>
                  <a:lnTo>
                    <a:pt x="122158" y="61079"/>
                  </a:lnTo>
                  <a:lnTo>
                    <a:pt x="146590" y="61079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19/notch-shelf/button-music/004"/>
            <p:cNvSpPr/>
            <p:nvPr/>
          </p:nvSpPr>
          <p:spPr>
            <a:xfrm>
              <a:off x="1187005" y="2625399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N19/notch-shelf/line/005"/>
            <p:cNvCxnSpPr/>
            <p:nvPr/>
          </p:nvCxnSpPr>
          <p:spPr>
            <a:xfrm flipV="1">
              <a:off x="1358026" y="2759773"/>
              <a:ext cx="0" cy="9772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N19/notch-shelf/line/006"/>
            <p:cNvCxnSpPr/>
            <p:nvPr/>
          </p:nvCxnSpPr>
          <p:spPr>
            <a:xfrm flipV="1">
              <a:off x="1358026" y="2747557"/>
              <a:ext cx="85511" cy="1221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19/notch-shelf/line/007"/>
            <p:cNvCxnSpPr/>
            <p:nvPr/>
          </p:nvCxnSpPr>
          <p:spPr>
            <a:xfrm>
              <a:off x="1443537" y="2747557"/>
              <a:ext cx="0" cy="9772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N19/notch-shelf/ellipse/008"/>
            <p:cNvSpPr/>
            <p:nvPr/>
          </p:nvSpPr>
          <p:spPr>
            <a:xfrm>
              <a:off x="1321379" y="2839176"/>
              <a:ext cx="42755" cy="36647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19/notch-shelf/ellipse/009"/>
            <p:cNvSpPr/>
            <p:nvPr/>
          </p:nvSpPr>
          <p:spPr>
            <a:xfrm>
              <a:off x="1406890" y="2826960"/>
              <a:ext cx="42755" cy="36647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19/notch-shelf/button-bell/010"/>
            <p:cNvSpPr/>
            <p:nvPr/>
          </p:nvSpPr>
          <p:spPr>
            <a:xfrm>
              <a:off x="1626774" y="2625399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19/notch-shelf/poly/011"/>
            <p:cNvSpPr/>
            <p:nvPr/>
          </p:nvSpPr>
          <p:spPr>
            <a:xfrm>
              <a:off x="1761148" y="2735341"/>
              <a:ext cx="122158" cy="109943"/>
            </a:xfrm>
            <a:custGeom>
              <a:avLst/>
              <a:gdLst/>
              <a:ahLst/>
              <a:cxnLst/>
              <a:rect l="l" t="t" r="r" b="b"/>
              <a:pathLst>
                <a:path w="122158" h="109943">
                  <a:moveTo>
                    <a:pt x="61079" y="0"/>
                  </a:moveTo>
                  <a:lnTo>
                    <a:pt x="24432" y="24432"/>
                  </a:lnTo>
                  <a:lnTo>
                    <a:pt x="12216" y="73295"/>
                  </a:lnTo>
                  <a:lnTo>
                    <a:pt x="0" y="109943"/>
                  </a:lnTo>
                  <a:lnTo>
                    <a:pt x="122158" y="109943"/>
                  </a:lnTo>
                  <a:lnTo>
                    <a:pt x="109942" y="73295"/>
                  </a:lnTo>
                  <a:lnTo>
                    <a:pt x="97727" y="24432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N19/notch-shelf/line/012"/>
            <p:cNvCxnSpPr/>
            <p:nvPr/>
          </p:nvCxnSpPr>
          <p:spPr>
            <a:xfrm>
              <a:off x="1797796" y="2869715"/>
              <a:ext cx="4886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N19/notch-shelf/ellipse/013"/>
            <p:cNvSpPr/>
            <p:nvPr/>
          </p:nvSpPr>
          <p:spPr>
            <a:xfrm>
              <a:off x="1810011" y="2723126"/>
              <a:ext cx="24431" cy="24431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19/notch-shelf/button-chart/014"/>
            <p:cNvSpPr/>
            <p:nvPr/>
          </p:nvSpPr>
          <p:spPr>
            <a:xfrm>
              <a:off x="2066543" y="2625399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N19/notch-shelf/line/015"/>
            <p:cNvCxnSpPr/>
            <p:nvPr/>
          </p:nvCxnSpPr>
          <p:spPr>
            <a:xfrm>
              <a:off x="2188702" y="2881931"/>
              <a:ext cx="146589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N19/notch-shelf/line/016"/>
            <p:cNvCxnSpPr/>
            <p:nvPr/>
          </p:nvCxnSpPr>
          <p:spPr>
            <a:xfrm flipV="1">
              <a:off x="2200917" y="2796420"/>
              <a:ext cx="36648" cy="4886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19/notch-shelf/line/017"/>
            <p:cNvCxnSpPr/>
            <p:nvPr/>
          </p:nvCxnSpPr>
          <p:spPr>
            <a:xfrm>
              <a:off x="2237565" y="2796420"/>
              <a:ext cx="36647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19/notch-shelf/line/018"/>
            <p:cNvCxnSpPr/>
            <p:nvPr/>
          </p:nvCxnSpPr>
          <p:spPr>
            <a:xfrm flipV="1">
              <a:off x="2274212" y="2747557"/>
              <a:ext cx="48864" cy="7329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N19/notch-shelf/button-Shelf/019"/>
            <p:cNvSpPr/>
            <p:nvPr/>
          </p:nvSpPr>
          <p:spPr>
            <a:xfrm>
              <a:off x="2506313" y="2625399"/>
              <a:ext cx="1180047" cy="366474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N19/notch-shelf/poly/020"/>
            <p:cNvSpPr/>
            <p:nvPr/>
          </p:nvSpPr>
          <p:spPr>
            <a:xfrm>
              <a:off x="2729862" y="2771989"/>
              <a:ext cx="146590" cy="97726"/>
            </a:xfrm>
            <a:custGeom>
              <a:avLst/>
              <a:gdLst/>
              <a:ahLst/>
              <a:cxnLst/>
              <a:rect l="l" t="t" r="r" b="b"/>
              <a:pathLst>
                <a:path w="146590" h="97726">
                  <a:moveTo>
                    <a:pt x="0" y="0"/>
                  </a:moveTo>
                  <a:lnTo>
                    <a:pt x="48863" y="0"/>
                  </a:lnTo>
                  <a:lnTo>
                    <a:pt x="67187" y="24431"/>
                  </a:lnTo>
                  <a:lnTo>
                    <a:pt x="146590" y="24431"/>
                  </a:lnTo>
                  <a:lnTo>
                    <a:pt x="146590" y="97726"/>
                  </a:lnTo>
                  <a:lnTo>
                    <a:pt x="0" y="97726"/>
                  </a:lnTo>
                  <a:close/>
                </a:path>
              </a:pathLst>
            </a:custGeom>
            <a:noFill/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19/notch-shelf/text/021"/>
            <p:cNvSpPr txBox="1"/>
            <p:nvPr/>
          </p:nvSpPr>
          <p:spPr>
            <a:xfrm>
              <a:off x="2974178" y="2625399"/>
              <a:ext cx="687750" cy="36647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6" b="1" i="0">
                  <a:solidFill>
                    <a:srgbClr val="FFFFFF"/>
                  </a:solidFill>
                  <a:latin typeface="Arial"/>
                </a:rPr>
                <a:t>Shelf</a:t>
              </a:r>
            </a:p>
          </p:txBody>
        </p:sp>
        <p:sp>
          <p:nvSpPr>
            <p:cNvPr id="33" name="N19/notch-shelf/button-clipboard/022"/>
            <p:cNvSpPr/>
            <p:nvPr/>
          </p:nvSpPr>
          <p:spPr>
            <a:xfrm>
              <a:off x="3735223" y="2625399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19/notch-shelf/rect/023"/>
            <p:cNvSpPr/>
            <p:nvPr/>
          </p:nvSpPr>
          <p:spPr>
            <a:xfrm>
              <a:off x="3881813" y="2747557"/>
              <a:ext cx="97726" cy="134373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19/notch-shelf/rect/024"/>
            <p:cNvSpPr/>
            <p:nvPr/>
          </p:nvSpPr>
          <p:spPr>
            <a:xfrm>
              <a:off x="3906245" y="2729233"/>
              <a:ext cx="48863" cy="30539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N19/notch-shelf/line/025"/>
            <p:cNvCxnSpPr/>
            <p:nvPr/>
          </p:nvCxnSpPr>
          <p:spPr>
            <a:xfrm>
              <a:off x="3906245" y="2796420"/>
              <a:ext cx="4886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N19/notch-shelf/line/026"/>
            <p:cNvCxnSpPr/>
            <p:nvPr/>
          </p:nvCxnSpPr>
          <p:spPr>
            <a:xfrm>
              <a:off x="3906245" y="2826960"/>
              <a:ext cx="4886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N19/notch-shelf/button-gear/027"/>
            <p:cNvSpPr/>
            <p:nvPr/>
          </p:nvSpPr>
          <p:spPr>
            <a:xfrm>
              <a:off x="7221616" y="2613183"/>
              <a:ext cx="390906" cy="390906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19/notch-shelf/ellipse/028"/>
            <p:cNvSpPr/>
            <p:nvPr/>
          </p:nvSpPr>
          <p:spPr>
            <a:xfrm>
              <a:off x="7380422" y="2771989"/>
              <a:ext cx="73294" cy="73294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19/notch-shelf/line/029"/>
            <p:cNvCxnSpPr/>
            <p:nvPr/>
          </p:nvCxnSpPr>
          <p:spPr>
            <a:xfrm>
              <a:off x="7478148" y="2808636"/>
              <a:ext cx="2443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19/notch-shelf/line/030"/>
            <p:cNvCxnSpPr/>
            <p:nvPr/>
          </p:nvCxnSpPr>
          <p:spPr>
            <a:xfrm>
              <a:off x="7460259" y="2851826"/>
              <a:ext cx="17276" cy="1727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19/notch-shelf/line/031"/>
            <p:cNvCxnSpPr/>
            <p:nvPr/>
          </p:nvCxnSpPr>
          <p:spPr>
            <a:xfrm>
              <a:off x="7417069" y="2869715"/>
              <a:ext cx="0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19/notch-shelf/line/032"/>
            <p:cNvCxnSpPr/>
            <p:nvPr/>
          </p:nvCxnSpPr>
          <p:spPr>
            <a:xfrm flipH="1">
              <a:off x="7356604" y="2851826"/>
              <a:ext cx="17276" cy="1727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19/notch-shelf/line/033"/>
            <p:cNvCxnSpPr/>
            <p:nvPr/>
          </p:nvCxnSpPr>
          <p:spPr>
            <a:xfrm flipH="1">
              <a:off x="7331559" y="2808636"/>
              <a:ext cx="24431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19/notch-shelf/line/034"/>
            <p:cNvCxnSpPr/>
            <p:nvPr/>
          </p:nvCxnSpPr>
          <p:spPr>
            <a:xfrm flipH="1" flipV="1">
              <a:off x="7356604" y="2748171"/>
              <a:ext cx="17276" cy="1727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19/notch-shelf/line/035"/>
            <p:cNvCxnSpPr/>
            <p:nvPr/>
          </p:nvCxnSpPr>
          <p:spPr>
            <a:xfrm flipV="1">
              <a:off x="7417069" y="2723126"/>
              <a:ext cx="0" cy="2443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19/notch-shelf/line/036"/>
            <p:cNvCxnSpPr/>
            <p:nvPr/>
          </p:nvCxnSpPr>
          <p:spPr>
            <a:xfrm flipV="1">
              <a:off x="7460259" y="2748171"/>
              <a:ext cx="17276" cy="1727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19/notch-shelf/button-close/037"/>
            <p:cNvSpPr/>
            <p:nvPr/>
          </p:nvSpPr>
          <p:spPr>
            <a:xfrm>
              <a:off x="7685817" y="2613183"/>
              <a:ext cx="390906" cy="390906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19/notch-shelf/line/038"/>
            <p:cNvCxnSpPr/>
            <p:nvPr/>
          </p:nvCxnSpPr>
          <p:spPr>
            <a:xfrm>
              <a:off x="7832407" y="2759773"/>
              <a:ext cx="97727" cy="9772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19/notch-shelf/line/039"/>
            <p:cNvCxnSpPr/>
            <p:nvPr/>
          </p:nvCxnSpPr>
          <p:spPr>
            <a:xfrm flipH="1">
              <a:off x="7832407" y="2759773"/>
              <a:ext cx="97727" cy="9772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19/notch-shelf/text/040"/>
            <p:cNvSpPr txBox="1"/>
            <p:nvPr/>
          </p:nvSpPr>
          <p:spPr>
            <a:xfrm>
              <a:off x="747236" y="3077384"/>
              <a:ext cx="2931795" cy="26874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13" b="1" i="0">
                  <a:solidFill>
                    <a:srgbClr val="F5F5F7"/>
                  </a:solidFill>
                  <a:latin typeface="Arial"/>
                </a:rPr>
                <a:t>Quick stash</a:t>
              </a:r>
            </a:p>
          </p:txBody>
        </p:sp>
        <p:sp>
          <p:nvSpPr>
            <p:cNvPr id="52" name="N19/notch-shelf/button-Add files/041"/>
            <p:cNvSpPr/>
            <p:nvPr/>
          </p:nvSpPr>
          <p:spPr>
            <a:xfrm>
              <a:off x="6073330" y="3052952"/>
              <a:ext cx="1123854" cy="342042"/>
            </a:xfrm>
            <a:prstGeom prst="roundRect">
              <a:avLst>
                <a:gd name="adj" fmla="val 35714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3" name="N19/notch-shelf/line/042"/>
            <p:cNvCxnSpPr/>
            <p:nvPr/>
          </p:nvCxnSpPr>
          <p:spPr>
            <a:xfrm>
              <a:off x="6219920" y="3162895"/>
              <a:ext cx="0" cy="122158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N19/notch-shelf/line/043"/>
            <p:cNvCxnSpPr/>
            <p:nvPr/>
          </p:nvCxnSpPr>
          <p:spPr>
            <a:xfrm>
              <a:off x="6158841" y="3223974"/>
              <a:ext cx="122158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N19/notch-shelf/text/044"/>
            <p:cNvSpPr txBox="1"/>
            <p:nvPr/>
          </p:nvSpPr>
          <p:spPr>
            <a:xfrm>
              <a:off x="6390941" y="3052952"/>
              <a:ext cx="781811" cy="34204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E5E5EA"/>
                  </a:solidFill>
                  <a:latin typeface="Arial"/>
                </a:rPr>
                <a:t>Add files</a:t>
              </a:r>
            </a:p>
          </p:txBody>
        </p:sp>
        <p:sp>
          <p:nvSpPr>
            <p:cNvPr id="56" name="N19/notch-shelf/button-Clear/045"/>
            <p:cNvSpPr/>
            <p:nvPr/>
          </p:nvSpPr>
          <p:spPr>
            <a:xfrm>
              <a:off x="7294911" y="3052952"/>
              <a:ext cx="781812" cy="342042"/>
            </a:xfrm>
            <a:prstGeom prst="roundRect">
              <a:avLst>
                <a:gd name="adj" fmla="val 35714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7" name="N19/notch-shelf/line/046"/>
            <p:cNvCxnSpPr/>
            <p:nvPr/>
          </p:nvCxnSpPr>
          <p:spPr>
            <a:xfrm>
              <a:off x="7380422" y="3187326"/>
              <a:ext cx="122158" cy="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N19/notch-shelf/rect/047"/>
            <p:cNvSpPr/>
            <p:nvPr/>
          </p:nvSpPr>
          <p:spPr>
            <a:xfrm>
              <a:off x="7404854" y="3187326"/>
              <a:ext cx="73294" cy="109942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6363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9" name="N19/notch-shelf/line/048"/>
            <p:cNvCxnSpPr/>
            <p:nvPr/>
          </p:nvCxnSpPr>
          <p:spPr>
            <a:xfrm>
              <a:off x="7417069" y="3162895"/>
              <a:ext cx="48864" cy="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N19/notch-shelf/line/049"/>
            <p:cNvCxnSpPr/>
            <p:nvPr/>
          </p:nvCxnSpPr>
          <p:spPr>
            <a:xfrm>
              <a:off x="7429285" y="3211758"/>
              <a:ext cx="0" cy="61079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N19/notch-shelf/line/050"/>
            <p:cNvCxnSpPr/>
            <p:nvPr/>
          </p:nvCxnSpPr>
          <p:spPr>
            <a:xfrm>
              <a:off x="7453717" y="3211758"/>
              <a:ext cx="0" cy="61079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N19/notch-shelf/text/051"/>
            <p:cNvSpPr txBox="1"/>
            <p:nvPr/>
          </p:nvSpPr>
          <p:spPr>
            <a:xfrm>
              <a:off x="7612522" y="3052952"/>
              <a:ext cx="439769" cy="34204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636366"/>
                  </a:solidFill>
                  <a:latin typeface="Arial"/>
                </a:rPr>
                <a:t>Clear</a:t>
              </a:r>
            </a:p>
          </p:txBody>
        </p:sp>
        <p:sp>
          <p:nvSpPr>
            <p:cNvPr id="63" name="N19/notch-shelf/text/052"/>
            <p:cNvSpPr txBox="1"/>
            <p:nvPr/>
          </p:nvSpPr>
          <p:spPr>
            <a:xfrm>
              <a:off x="747236" y="3394995"/>
              <a:ext cx="7329487" cy="29317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98989D"/>
                  </a:solidFill>
                  <a:latin typeface="Arial"/>
                </a:rPr>
                <a:t>Drop files near the notch, or add them here. Originals stay in place.</a:t>
              </a:r>
            </a:p>
          </p:txBody>
        </p:sp>
        <p:sp>
          <p:nvSpPr>
            <p:cNvPr id="64" name="N19/notch-shelf/empty-state/053"/>
            <p:cNvSpPr/>
            <p:nvPr/>
          </p:nvSpPr>
          <p:spPr>
            <a:xfrm>
              <a:off x="747236" y="3737038"/>
              <a:ext cx="7329487" cy="806243"/>
            </a:xfrm>
            <a:prstGeom prst="roundRect">
              <a:avLst>
                <a:gd name="adj" fmla="val 21212"/>
              </a:avLst>
            </a:prstGeom>
            <a:solidFill>
              <a:srgbClr val="0A0A0B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N19/notch-shelf/poly/054"/>
            <p:cNvSpPr/>
            <p:nvPr/>
          </p:nvSpPr>
          <p:spPr>
            <a:xfrm>
              <a:off x="4311199" y="3894317"/>
              <a:ext cx="201561" cy="134374"/>
            </a:xfrm>
            <a:custGeom>
              <a:avLst/>
              <a:gdLst/>
              <a:ahLst/>
              <a:cxnLst/>
              <a:rect l="l" t="t" r="r" b="b"/>
              <a:pathLst>
                <a:path w="201561" h="134374">
                  <a:moveTo>
                    <a:pt x="0" y="0"/>
                  </a:moveTo>
                  <a:lnTo>
                    <a:pt x="67187" y="0"/>
                  </a:lnTo>
                  <a:lnTo>
                    <a:pt x="92382" y="33593"/>
                  </a:lnTo>
                  <a:lnTo>
                    <a:pt x="201561" y="33593"/>
                  </a:lnTo>
                  <a:lnTo>
                    <a:pt x="201561" y="134374"/>
                  </a:lnTo>
                  <a:lnTo>
                    <a:pt x="0" y="134374"/>
                  </a:lnTo>
                  <a:close/>
                </a:path>
              </a:pathLst>
            </a:custGeom>
            <a:noFill/>
            <a:ln w="12700">
              <a:solidFill>
                <a:srgbClr val="8E8E9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N19/notch-shelf/text/055"/>
            <p:cNvSpPr txBox="1"/>
            <p:nvPr/>
          </p:nvSpPr>
          <p:spPr>
            <a:xfrm>
              <a:off x="869394" y="4103512"/>
              <a:ext cx="7085171" cy="2198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1" i="0">
                  <a:solidFill>
                    <a:srgbClr val="F5F5F7"/>
                  </a:solidFill>
                  <a:latin typeface="Arial"/>
                </a:rPr>
                <a:t>Shelf is empty</a:t>
              </a:r>
            </a:p>
          </p:txBody>
        </p:sp>
        <p:sp>
          <p:nvSpPr>
            <p:cNvPr id="67" name="N19/notch-shelf/text/056"/>
            <p:cNvSpPr txBox="1"/>
            <p:nvPr/>
          </p:nvSpPr>
          <p:spPr>
            <a:xfrm>
              <a:off x="918257" y="4347829"/>
              <a:ext cx="6987444" cy="17102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8" b="0" i="0">
                  <a:solidFill>
                    <a:srgbClr val="98989D"/>
                  </a:solidFill>
                  <a:latin typeface="Arial"/>
                </a:rPr>
                <a:t>Stash a few files for later. Originals stay in place.</a:t>
              </a:r>
            </a:p>
          </p:txBody>
        </p:sp>
        <p:sp>
          <p:nvSpPr>
            <p:cNvPr id="68" name="N19/notch-shelf/drop-hint/057"/>
            <p:cNvSpPr/>
            <p:nvPr/>
          </p:nvSpPr>
          <p:spPr>
            <a:xfrm>
              <a:off x="747236" y="4641008"/>
              <a:ext cx="7329487" cy="390906"/>
            </a:xfrm>
            <a:prstGeom prst="roundRect">
              <a:avLst>
                <a:gd name="adj" fmla="val 43750"/>
              </a:avLst>
            </a:prstGeom>
            <a:solidFill>
              <a:srgbClr val="111112"/>
            </a:solidFill>
            <a:ln w="15240">
              <a:solidFill>
                <a:srgbClr val="48484A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N19/notch-shelf/text/058"/>
            <p:cNvSpPr txBox="1"/>
            <p:nvPr/>
          </p:nvSpPr>
          <p:spPr>
            <a:xfrm>
              <a:off x="869394" y="4641008"/>
              <a:ext cx="7085171" cy="39090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98989D"/>
                  </a:solidFill>
                  <a:latin typeface="Arial"/>
                </a:rPr>
                <a:t>Drop files when the GTK target appears. Only references are saved.</a:t>
              </a:r>
            </a:p>
          </p:txBody>
        </p:sp>
      </p:grpSp>
      <p:sp>
        <p:nvSpPr>
          <p:cNvPr id="70" name="N19/text/010"/>
          <p:cNvSpPr txBox="1"/>
          <p:nvPr/>
        </p:nvSpPr>
        <p:spPr>
          <a:xfrm>
            <a:off x="502919" y="5355383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Add files opens GTK file chooser. Clear disabled when empty.</a:t>
            </a:r>
          </a:p>
        </p:txBody>
      </p:sp>
      <p:sp>
        <p:nvSpPr>
          <p:cNvPr id="71" name="N19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N19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73" name="N19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N19/text/014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Header: Quick stash / Add / Clear</a:t>
            </a:r>
          </a:p>
        </p:txBody>
      </p:sp>
      <p:sp>
        <p:nvSpPr>
          <p:cNvPr id="75" name="N19/ellipse/015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N19/text/016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Retry hidden when ready</a:t>
            </a:r>
          </a:p>
        </p:txBody>
      </p:sp>
      <p:sp>
        <p:nvSpPr>
          <p:cNvPr id="77" name="N19/ellipse/017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N19/text/018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Empty state centered</a:t>
            </a:r>
          </a:p>
        </p:txBody>
      </p:sp>
      <p:sp>
        <p:nvSpPr>
          <p:cNvPr id="79" name="N19/ellipse/019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N19/text/020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Dashed drop hint radius 14</a:t>
            </a:r>
          </a:p>
        </p:txBody>
      </p:sp>
      <p:cxnSp>
        <p:nvCxnSpPr>
          <p:cNvPr id="81" name="N19/line/021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N19/text/022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83" name="N19/edit-box/023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N19/edit-note/024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Header buttons / empty copy / drop hint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20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20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20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SHELF PAGE</a:t>
            </a:r>
          </a:p>
        </p:txBody>
      </p:sp>
      <p:sp>
        <p:nvSpPr>
          <p:cNvPr id="5" name="N20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Shelf — with files</a:t>
            </a:r>
          </a:p>
        </p:txBody>
      </p:sp>
      <p:sp>
        <p:nvSpPr>
          <p:cNvPr id="6" name="N20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Rows store references only; originals are never moved or deleted</a:t>
            </a:r>
          </a:p>
        </p:txBody>
      </p:sp>
      <p:cxnSp>
        <p:nvCxnSpPr>
          <p:cNvPr id="7" name="N20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20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20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N20</a:t>
            </a:r>
          </a:p>
        </p:txBody>
      </p:sp>
      <p:sp>
        <p:nvSpPr>
          <p:cNvPr id="10" name="N20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28</a:t>
            </a:r>
          </a:p>
        </p:txBody>
      </p:sp>
      <p:grpSp>
        <p:nvGrpSpPr>
          <p:cNvPr id="11" name="N20/notch-shelf"/>
          <p:cNvGrpSpPr/>
          <p:nvPr/>
        </p:nvGrpSpPr>
        <p:grpSpPr>
          <a:xfrm>
            <a:off x="502919" y="2051256"/>
            <a:ext cx="7818121" cy="3176111"/>
            <a:chOff x="502919" y="2051256"/>
            <a:chExt cx="7818121" cy="3176111"/>
          </a:xfrm>
        </p:grpSpPr>
        <p:sp>
          <p:nvSpPr>
            <p:cNvPr id="12" name="N20/notch-shelf/notch-surface-open/001"/>
            <p:cNvSpPr/>
            <p:nvPr/>
          </p:nvSpPr>
          <p:spPr>
            <a:xfrm>
              <a:off x="502919" y="2051256"/>
              <a:ext cx="7818121" cy="3176111"/>
            </a:xfrm>
            <a:custGeom>
              <a:avLst/>
              <a:gdLst/>
              <a:ahLst/>
              <a:cxnLst/>
              <a:rect l="l" t="t" r="r" b="b"/>
              <a:pathLst>
                <a:path w="7818121" h="3176111">
                  <a:moveTo>
                    <a:pt x="0" y="0"/>
                  </a:moveTo>
                  <a:lnTo>
                    <a:pt x="7818121" y="0"/>
                  </a:lnTo>
                  <a:lnTo>
                    <a:pt x="7785935" y="3626"/>
                  </a:lnTo>
                  <a:lnTo>
                    <a:pt x="7749216" y="14506"/>
                  </a:lnTo>
                  <a:lnTo>
                    <a:pt x="7710683" y="32639"/>
                  </a:lnTo>
                  <a:lnTo>
                    <a:pt x="7673058" y="58025"/>
                  </a:lnTo>
                  <a:lnTo>
                    <a:pt x="7639059" y="90664"/>
                  </a:lnTo>
                  <a:lnTo>
                    <a:pt x="7611406" y="130556"/>
                  </a:lnTo>
                  <a:lnTo>
                    <a:pt x="7592820" y="177702"/>
                  </a:lnTo>
                  <a:lnTo>
                    <a:pt x="7586020" y="232100"/>
                  </a:lnTo>
                  <a:lnTo>
                    <a:pt x="7580387" y="2940128"/>
                  </a:lnTo>
                  <a:lnTo>
                    <a:pt x="7563703" y="2995127"/>
                  </a:lnTo>
                  <a:lnTo>
                    <a:pt x="7536610" y="3045813"/>
                  </a:lnTo>
                  <a:lnTo>
                    <a:pt x="7500150" y="3090241"/>
                  </a:lnTo>
                  <a:lnTo>
                    <a:pt x="7455722" y="3126701"/>
                  </a:lnTo>
                  <a:lnTo>
                    <a:pt x="7405035" y="3153794"/>
                  </a:lnTo>
                  <a:lnTo>
                    <a:pt x="7350037" y="3170478"/>
                  </a:lnTo>
                  <a:lnTo>
                    <a:pt x="7292841" y="3176111"/>
                  </a:lnTo>
                  <a:lnTo>
                    <a:pt x="525280" y="3176111"/>
                  </a:lnTo>
                  <a:lnTo>
                    <a:pt x="468084" y="3170478"/>
                  </a:lnTo>
                  <a:lnTo>
                    <a:pt x="413086" y="3153794"/>
                  </a:lnTo>
                  <a:lnTo>
                    <a:pt x="362399" y="3126701"/>
                  </a:lnTo>
                  <a:lnTo>
                    <a:pt x="317971" y="3090241"/>
                  </a:lnTo>
                  <a:lnTo>
                    <a:pt x="281511" y="3045813"/>
                  </a:lnTo>
                  <a:lnTo>
                    <a:pt x="254418" y="2995127"/>
                  </a:lnTo>
                  <a:lnTo>
                    <a:pt x="237734" y="2940128"/>
                  </a:lnTo>
                  <a:lnTo>
                    <a:pt x="232101" y="2882932"/>
                  </a:lnTo>
                  <a:lnTo>
                    <a:pt x="232101" y="232100"/>
                  </a:lnTo>
                  <a:lnTo>
                    <a:pt x="225301" y="177702"/>
                  </a:lnTo>
                  <a:lnTo>
                    <a:pt x="206715" y="130556"/>
                  </a:lnTo>
                  <a:lnTo>
                    <a:pt x="179062" y="90664"/>
                  </a:lnTo>
                  <a:lnTo>
                    <a:pt x="145063" y="58025"/>
                  </a:lnTo>
                  <a:lnTo>
                    <a:pt x="107438" y="32639"/>
                  </a:lnTo>
                  <a:lnTo>
                    <a:pt x="68905" y="14506"/>
                  </a:lnTo>
                  <a:lnTo>
                    <a:pt x="32186" y="36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20/notch-shelf/button-home/002"/>
            <p:cNvSpPr/>
            <p:nvPr/>
          </p:nvSpPr>
          <p:spPr>
            <a:xfrm>
              <a:off x="747236" y="2625399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20/notch-shelf/poly/003"/>
            <p:cNvSpPr/>
            <p:nvPr/>
          </p:nvSpPr>
          <p:spPr>
            <a:xfrm>
              <a:off x="869394" y="2735341"/>
              <a:ext cx="146590" cy="146590"/>
            </a:xfrm>
            <a:custGeom>
              <a:avLst/>
              <a:gdLst/>
              <a:ahLst/>
              <a:cxnLst/>
              <a:rect l="l" t="t" r="r" b="b"/>
              <a:pathLst>
                <a:path w="146590" h="146590">
                  <a:moveTo>
                    <a:pt x="73295" y="0"/>
                  </a:moveTo>
                  <a:lnTo>
                    <a:pt x="0" y="61079"/>
                  </a:lnTo>
                  <a:lnTo>
                    <a:pt x="24431" y="61079"/>
                  </a:lnTo>
                  <a:lnTo>
                    <a:pt x="24431" y="146590"/>
                  </a:lnTo>
                  <a:lnTo>
                    <a:pt x="61079" y="146590"/>
                  </a:lnTo>
                  <a:lnTo>
                    <a:pt x="61079" y="97727"/>
                  </a:lnTo>
                  <a:lnTo>
                    <a:pt x="85511" y="97727"/>
                  </a:lnTo>
                  <a:lnTo>
                    <a:pt x="85511" y="146590"/>
                  </a:lnTo>
                  <a:lnTo>
                    <a:pt x="122158" y="146590"/>
                  </a:lnTo>
                  <a:lnTo>
                    <a:pt x="122158" y="61079"/>
                  </a:lnTo>
                  <a:lnTo>
                    <a:pt x="146590" y="61079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20/notch-shelf/button-music/004"/>
            <p:cNvSpPr/>
            <p:nvPr/>
          </p:nvSpPr>
          <p:spPr>
            <a:xfrm>
              <a:off x="1187005" y="2625399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N20/notch-shelf/line/005"/>
            <p:cNvCxnSpPr/>
            <p:nvPr/>
          </p:nvCxnSpPr>
          <p:spPr>
            <a:xfrm flipV="1">
              <a:off x="1358026" y="2759773"/>
              <a:ext cx="0" cy="9772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N20/notch-shelf/line/006"/>
            <p:cNvCxnSpPr/>
            <p:nvPr/>
          </p:nvCxnSpPr>
          <p:spPr>
            <a:xfrm flipV="1">
              <a:off x="1358026" y="2747557"/>
              <a:ext cx="85511" cy="1221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20/notch-shelf/line/007"/>
            <p:cNvCxnSpPr/>
            <p:nvPr/>
          </p:nvCxnSpPr>
          <p:spPr>
            <a:xfrm>
              <a:off x="1443537" y="2747557"/>
              <a:ext cx="0" cy="9772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N20/notch-shelf/ellipse/008"/>
            <p:cNvSpPr/>
            <p:nvPr/>
          </p:nvSpPr>
          <p:spPr>
            <a:xfrm>
              <a:off x="1321379" y="2839176"/>
              <a:ext cx="42755" cy="36647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20/notch-shelf/ellipse/009"/>
            <p:cNvSpPr/>
            <p:nvPr/>
          </p:nvSpPr>
          <p:spPr>
            <a:xfrm>
              <a:off x="1406890" y="2826960"/>
              <a:ext cx="42755" cy="36647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20/notch-shelf/button-bell/010"/>
            <p:cNvSpPr/>
            <p:nvPr/>
          </p:nvSpPr>
          <p:spPr>
            <a:xfrm>
              <a:off x="1626774" y="2625399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20/notch-shelf/poly/011"/>
            <p:cNvSpPr/>
            <p:nvPr/>
          </p:nvSpPr>
          <p:spPr>
            <a:xfrm>
              <a:off x="1761148" y="2735341"/>
              <a:ext cx="122158" cy="109943"/>
            </a:xfrm>
            <a:custGeom>
              <a:avLst/>
              <a:gdLst/>
              <a:ahLst/>
              <a:cxnLst/>
              <a:rect l="l" t="t" r="r" b="b"/>
              <a:pathLst>
                <a:path w="122158" h="109943">
                  <a:moveTo>
                    <a:pt x="61079" y="0"/>
                  </a:moveTo>
                  <a:lnTo>
                    <a:pt x="24432" y="24432"/>
                  </a:lnTo>
                  <a:lnTo>
                    <a:pt x="12216" y="73295"/>
                  </a:lnTo>
                  <a:lnTo>
                    <a:pt x="0" y="109943"/>
                  </a:lnTo>
                  <a:lnTo>
                    <a:pt x="122158" y="109943"/>
                  </a:lnTo>
                  <a:lnTo>
                    <a:pt x="109942" y="73295"/>
                  </a:lnTo>
                  <a:lnTo>
                    <a:pt x="97727" y="24432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N20/notch-shelf/line/012"/>
            <p:cNvCxnSpPr/>
            <p:nvPr/>
          </p:nvCxnSpPr>
          <p:spPr>
            <a:xfrm>
              <a:off x="1797796" y="2869715"/>
              <a:ext cx="4886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N20/notch-shelf/ellipse/013"/>
            <p:cNvSpPr/>
            <p:nvPr/>
          </p:nvSpPr>
          <p:spPr>
            <a:xfrm>
              <a:off x="1810011" y="2723126"/>
              <a:ext cx="24431" cy="24431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20/notch-shelf/button-chart/014"/>
            <p:cNvSpPr/>
            <p:nvPr/>
          </p:nvSpPr>
          <p:spPr>
            <a:xfrm>
              <a:off x="2066543" y="2625399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N20/notch-shelf/line/015"/>
            <p:cNvCxnSpPr/>
            <p:nvPr/>
          </p:nvCxnSpPr>
          <p:spPr>
            <a:xfrm>
              <a:off x="2188702" y="2881931"/>
              <a:ext cx="146589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N20/notch-shelf/line/016"/>
            <p:cNvCxnSpPr/>
            <p:nvPr/>
          </p:nvCxnSpPr>
          <p:spPr>
            <a:xfrm flipV="1">
              <a:off x="2200917" y="2796420"/>
              <a:ext cx="36648" cy="4886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20/notch-shelf/line/017"/>
            <p:cNvCxnSpPr/>
            <p:nvPr/>
          </p:nvCxnSpPr>
          <p:spPr>
            <a:xfrm>
              <a:off x="2237565" y="2796420"/>
              <a:ext cx="36647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20/notch-shelf/line/018"/>
            <p:cNvCxnSpPr/>
            <p:nvPr/>
          </p:nvCxnSpPr>
          <p:spPr>
            <a:xfrm flipV="1">
              <a:off x="2274212" y="2747557"/>
              <a:ext cx="48864" cy="7329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N20/notch-shelf/button-Shelf/019"/>
            <p:cNvSpPr/>
            <p:nvPr/>
          </p:nvSpPr>
          <p:spPr>
            <a:xfrm>
              <a:off x="2506313" y="2625399"/>
              <a:ext cx="1180047" cy="366474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N20/notch-shelf/poly/020"/>
            <p:cNvSpPr/>
            <p:nvPr/>
          </p:nvSpPr>
          <p:spPr>
            <a:xfrm>
              <a:off x="2729862" y="2771989"/>
              <a:ext cx="146590" cy="97726"/>
            </a:xfrm>
            <a:custGeom>
              <a:avLst/>
              <a:gdLst/>
              <a:ahLst/>
              <a:cxnLst/>
              <a:rect l="l" t="t" r="r" b="b"/>
              <a:pathLst>
                <a:path w="146590" h="97726">
                  <a:moveTo>
                    <a:pt x="0" y="0"/>
                  </a:moveTo>
                  <a:lnTo>
                    <a:pt x="48863" y="0"/>
                  </a:lnTo>
                  <a:lnTo>
                    <a:pt x="67187" y="24431"/>
                  </a:lnTo>
                  <a:lnTo>
                    <a:pt x="146590" y="24431"/>
                  </a:lnTo>
                  <a:lnTo>
                    <a:pt x="146590" y="97726"/>
                  </a:lnTo>
                  <a:lnTo>
                    <a:pt x="0" y="97726"/>
                  </a:lnTo>
                  <a:close/>
                </a:path>
              </a:pathLst>
            </a:custGeom>
            <a:noFill/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20/notch-shelf/text/021"/>
            <p:cNvSpPr txBox="1"/>
            <p:nvPr/>
          </p:nvSpPr>
          <p:spPr>
            <a:xfrm>
              <a:off x="2974178" y="2625399"/>
              <a:ext cx="687750" cy="36647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6" b="1" i="0">
                  <a:solidFill>
                    <a:srgbClr val="FFFFFF"/>
                  </a:solidFill>
                  <a:latin typeface="Arial"/>
                </a:rPr>
                <a:t>Shelf</a:t>
              </a:r>
            </a:p>
          </p:txBody>
        </p:sp>
        <p:sp>
          <p:nvSpPr>
            <p:cNvPr id="33" name="N20/notch-shelf/button-clipboard/022"/>
            <p:cNvSpPr/>
            <p:nvPr/>
          </p:nvSpPr>
          <p:spPr>
            <a:xfrm>
              <a:off x="3735223" y="2625399"/>
              <a:ext cx="390906" cy="36647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20/notch-shelf/rect/023"/>
            <p:cNvSpPr/>
            <p:nvPr/>
          </p:nvSpPr>
          <p:spPr>
            <a:xfrm>
              <a:off x="3881813" y="2747557"/>
              <a:ext cx="97726" cy="134373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20/notch-shelf/rect/024"/>
            <p:cNvSpPr/>
            <p:nvPr/>
          </p:nvSpPr>
          <p:spPr>
            <a:xfrm>
              <a:off x="3906245" y="2729233"/>
              <a:ext cx="48863" cy="30539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N20/notch-shelf/line/025"/>
            <p:cNvCxnSpPr/>
            <p:nvPr/>
          </p:nvCxnSpPr>
          <p:spPr>
            <a:xfrm>
              <a:off x="3906245" y="2796420"/>
              <a:ext cx="4886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N20/notch-shelf/line/026"/>
            <p:cNvCxnSpPr/>
            <p:nvPr/>
          </p:nvCxnSpPr>
          <p:spPr>
            <a:xfrm>
              <a:off x="3906245" y="2826960"/>
              <a:ext cx="4886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N20/notch-shelf/button-gear/027"/>
            <p:cNvSpPr/>
            <p:nvPr/>
          </p:nvSpPr>
          <p:spPr>
            <a:xfrm>
              <a:off x="7221616" y="2613183"/>
              <a:ext cx="390906" cy="390906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20/notch-shelf/ellipse/028"/>
            <p:cNvSpPr/>
            <p:nvPr/>
          </p:nvSpPr>
          <p:spPr>
            <a:xfrm>
              <a:off x="7380422" y="2771989"/>
              <a:ext cx="73294" cy="73294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20/notch-shelf/line/029"/>
            <p:cNvCxnSpPr/>
            <p:nvPr/>
          </p:nvCxnSpPr>
          <p:spPr>
            <a:xfrm>
              <a:off x="7478148" y="2808636"/>
              <a:ext cx="2443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20/notch-shelf/line/030"/>
            <p:cNvCxnSpPr/>
            <p:nvPr/>
          </p:nvCxnSpPr>
          <p:spPr>
            <a:xfrm>
              <a:off x="7460259" y="2851826"/>
              <a:ext cx="17276" cy="1727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20/notch-shelf/line/031"/>
            <p:cNvCxnSpPr/>
            <p:nvPr/>
          </p:nvCxnSpPr>
          <p:spPr>
            <a:xfrm>
              <a:off x="7417069" y="2869715"/>
              <a:ext cx="0" cy="2443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20/notch-shelf/line/032"/>
            <p:cNvCxnSpPr/>
            <p:nvPr/>
          </p:nvCxnSpPr>
          <p:spPr>
            <a:xfrm flipH="1">
              <a:off x="7356604" y="2851826"/>
              <a:ext cx="17276" cy="1727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20/notch-shelf/line/033"/>
            <p:cNvCxnSpPr/>
            <p:nvPr/>
          </p:nvCxnSpPr>
          <p:spPr>
            <a:xfrm flipH="1">
              <a:off x="7331559" y="2808636"/>
              <a:ext cx="24431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20/notch-shelf/line/034"/>
            <p:cNvCxnSpPr/>
            <p:nvPr/>
          </p:nvCxnSpPr>
          <p:spPr>
            <a:xfrm flipH="1" flipV="1">
              <a:off x="7356604" y="2748171"/>
              <a:ext cx="17276" cy="1727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20/notch-shelf/line/035"/>
            <p:cNvCxnSpPr/>
            <p:nvPr/>
          </p:nvCxnSpPr>
          <p:spPr>
            <a:xfrm flipV="1">
              <a:off x="7417069" y="2723126"/>
              <a:ext cx="0" cy="2443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20/notch-shelf/line/036"/>
            <p:cNvCxnSpPr/>
            <p:nvPr/>
          </p:nvCxnSpPr>
          <p:spPr>
            <a:xfrm flipV="1">
              <a:off x="7460259" y="2748171"/>
              <a:ext cx="17276" cy="1727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20/notch-shelf/button-close/037"/>
            <p:cNvSpPr/>
            <p:nvPr/>
          </p:nvSpPr>
          <p:spPr>
            <a:xfrm>
              <a:off x="7685817" y="2613183"/>
              <a:ext cx="390906" cy="390906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20/notch-shelf/line/038"/>
            <p:cNvCxnSpPr/>
            <p:nvPr/>
          </p:nvCxnSpPr>
          <p:spPr>
            <a:xfrm>
              <a:off x="7832407" y="2759773"/>
              <a:ext cx="97727" cy="9772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20/notch-shelf/line/039"/>
            <p:cNvCxnSpPr/>
            <p:nvPr/>
          </p:nvCxnSpPr>
          <p:spPr>
            <a:xfrm flipH="1">
              <a:off x="7832407" y="2759773"/>
              <a:ext cx="97727" cy="9772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20/notch-shelf/text/040"/>
            <p:cNvSpPr txBox="1"/>
            <p:nvPr/>
          </p:nvSpPr>
          <p:spPr>
            <a:xfrm>
              <a:off x="747236" y="3077384"/>
              <a:ext cx="2931795" cy="26874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13" b="1" i="0">
                  <a:solidFill>
                    <a:srgbClr val="F5F5F7"/>
                  </a:solidFill>
                  <a:latin typeface="Arial"/>
                </a:rPr>
                <a:t>Quick stash</a:t>
              </a:r>
            </a:p>
          </p:txBody>
        </p:sp>
        <p:sp>
          <p:nvSpPr>
            <p:cNvPr id="52" name="N20/notch-shelf/button-Add files/041"/>
            <p:cNvSpPr/>
            <p:nvPr/>
          </p:nvSpPr>
          <p:spPr>
            <a:xfrm>
              <a:off x="6073330" y="3052952"/>
              <a:ext cx="1123854" cy="342042"/>
            </a:xfrm>
            <a:prstGeom prst="roundRect">
              <a:avLst>
                <a:gd name="adj" fmla="val 35714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3" name="N20/notch-shelf/line/042"/>
            <p:cNvCxnSpPr/>
            <p:nvPr/>
          </p:nvCxnSpPr>
          <p:spPr>
            <a:xfrm>
              <a:off x="6219920" y="3162895"/>
              <a:ext cx="0" cy="122158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N20/notch-shelf/line/043"/>
            <p:cNvCxnSpPr/>
            <p:nvPr/>
          </p:nvCxnSpPr>
          <p:spPr>
            <a:xfrm>
              <a:off x="6158841" y="3223974"/>
              <a:ext cx="122158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N20/notch-shelf/text/044"/>
            <p:cNvSpPr txBox="1"/>
            <p:nvPr/>
          </p:nvSpPr>
          <p:spPr>
            <a:xfrm>
              <a:off x="6390941" y="3052952"/>
              <a:ext cx="781811" cy="34204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E5E5EA"/>
                  </a:solidFill>
                  <a:latin typeface="Arial"/>
                </a:rPr>
                <a:t>Add files</a:t>
              </a:r>
            </a:p>
          </p:txBody>
        </p:sp>
        <p:sp>
          <p:nvSpPr>
            <p:cNvPr id="56" name="N20/notch-shelf/button-Clear/045"/>
            <p:cNvSpPr/>
            <p:nvPr/>
          </p:nvSpPr>
          <p:spPr>
            <a:xfrm>
              <a:off x="7294911" y="3052952"/>
              <a:ext cx="781812" cy="342042"/>
            </a:xfrm>
            <a:prstGeom prst="roundRect">
              <a:avLst>
                <a:gd name="adj" fmla="val 35714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7" name="N20/notch-shelf/line/046"/>
            <p:cNvCxnSpPr/>
            <p:nvPr/>
          </p:nvCxnSpPr>
          <p:spPr>
            <a:xfrm>
              <a:off x="7380422" y="3187326"/>
              <a:ext cx="122158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N20/notch-shelf/rect/047"/>
            <p:cNvSpPr/>
            <p:nvPr/>
          </p:nvSpPr>
          <p:spPr>
            <a:xfrm>
              <a:off x="7404854" y="3187326"/>
              <a:ext cx="73294" cy="109942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9" name="N20/notch-shelf/line/048"/>
            <p:cNvCxnSpPr/>
            <p:nvPr/>
          </p:nvCxnSpPr>
          <p:spPr>
            <a:xfrm>
              <a:off x="7417069" y="3162895"/>
              <a:ext cx="48864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N20/notch-shelf/line/049"/>
            <p:cNvCxnSpPr/>
            <p:nvPr/>
          </p:nvCxnSpPr>
          <p:spPr>
            <a:xfrm>
              <a:off x="7429285" y="3211758"/>
              <a:ext cx="0" cy="61079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N20/notch-shelf/line/050"/>
            <p:cNvCxnSpPr/>
            <p:nvPr/>
          </p:nvCxnSpPr>
          <p:spPr>
            <a:xfrm>
              <a:off x="7453717" y="3211758"/>
              <a:ext cx="0" cy="61079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N20/notch-shelf/text/051"/>
            <p:cNvSpPr txBox="1"/>
            <p:nvPr/>
          </p:nvSpPr>
          <p:spPr>
            <a:xfrm>
              <a:off x="7612522" y="3052952"/>
              <a:ext cx="439769" cy="34204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E5E5EA"/>
                  </a:solidFill>
                  <a:latin typeface="Arial"/>
                </a:rPr>
                <a:t>Clear</a:t>
              </a:r>
            </a:p>
          </p:txBody>
        </p:sp>
        <p:sp>
          <p:nvSpPr>
            <p:cNvPr id="63" name="N20/notch-shelf/text/052"/>
            <p:cNvSpPr txBox="1"/>
            <p:nvPr/>
          </p:nvSpPr>
          <p:spPr>
            <a:xfrm>
              <a:off x="747236" y="3394995"/>
              <a:ext cx="7329487" cy="29317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98989D"/>
                  </a:solidFill>
                  <a:latin typeface="Arial"/>
                </a:rPr>
                <a:t>Drop files near the notch, or add them here. Originals stay in place.</a:t>
              </a:r>
            </a:p>
          </p:txBody>
        </p:sp>
        <p:sp>
          <p:nvSpPr>
            <p:cNvPr id="64" name="N20/notch-shelf/shelf-row/053"/>
            <p:cNvSpPr/>
            <p:nvPr/>
          </p:nvSpPr>
          <p:spPr>
            <a:xfrm>
              <a:off x="747236" y="3737038"/>
              <a:ext cx="7329487" cy="342042"/>
            </a:xfrm>
            <a:prstGeom prst="roundRect">
              <a:avLst>
                <a:gd name="adj" fmla="val 42857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N20/notch-shelf/button-Fedora-Workstation-44.iso/054"/>
            <p:cNvSpPr/>
            <p:nvPr/>
          </p:nvSpPr>
          <p:spPr>
            <a:xfrm>
              <a:off x="820531" y="3773685"/>
              <a:ext cx="5961316" cy="293179"/>
            </a:xfrm>
            <a:prstGeom prst="roundRect">
              <a:avLst>
                <a:gd name="adj" fmla="val 41666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N20/notch-shelf/poly/055"/>
            <p:cNvSpPr/>
            <p:nvPr/>
          </p:nvSpPr>
          <p:spPr>
            <a:xfrm>
              <a:off x="991552" y="3846980"/>
              <a:ext cx="97726" cy="146590"/>
            </a:xfrm>
            <a:custGeom>
              <a:avLst/>
              <a:gdLst/>
              <a:ahLst/>
              <a:cxnLst/>
              <a:rect l="l" t="t" r="r" b="b"/>
              <a:pathLst>
                <a:path w="97726" h="146590">
                  <a:moveTo>
                    <a:pt x="0" y="0"/>
                  </a:moveTo>
                  <a:lnTo>
                    <a:pt x="61079" y="0"/>
                  </a:lnTo>
                  <a:lnTo>
                    <a:pt x="97726" y="36648"/>
                  </a:lnTo>
                  <a:lnTo>
                    <a:pt x="97726" y="146590"/>
                  </a:lnTo>
                  <a:lnTo>
                    <a:pt x="0" y="146590"/>
                  </a:lnTo>
                  <a:close/>
                </a:path>
              </a:pathLst>
            </a:custGeom>
            <a:noFill/>
            <a:ln w="1270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7" name="N20/notch-shelf/line/056"/>
            <p:cNvCxnSpPr/>
            <p:nvPr/>
          </p:nvCxnSpPr>
          <p:spPr>
            <a:xfrm>
              <a:off x="1052631" y="3846980"/>
              <a:ext cx="0" cy="36648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N20/notch-shelf/line/057"/>
            <p:cNvCxnSpPr/>
            <p:nvPr/>
          </p:nvCxnSpPr>
          <p:spPr>
            <a:xfrm>
              <a:off x="1052631" y="3883628"/>
              <a:ext cx="36647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N20/notch-shelf/text/058"/>
            <p:cNvSpPr txBox="1"/>
            <p:nvPr/>
          </p:nvSpPr>
          <p:spPr>
            <a:xfrm>
              <a:off x="1211437" y="3773685"/>
              <a:ext cx="5545978" cy="29317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6" b="0" i="0">
                  <a:solidFill>
                    <a:srgbClr val="E5E5EA"/>
                  </a:solidFill>
                  <a:latin typeface="Arial"/>
                </a:rPr>
                <a:t>Fedora-Workstation-44.iso</a:t>
              </a:r>
            </a:p>
          </p:txBody>
        </p:sp>
        <p:sp>
          <p:nvSpPr>
            <p:cNvPr id="70" name="N20/notch-shelf/button-copy/059"/>
            <p:cNvSpPr/>
            <p:nvPr/>
          </p:nvSpPr>
          <p:spPr>
            <a:xfrm>
              <a:off x="6904005" y="3773685"/>
              <a:ext cx="293179" cy="293179"/>
            </a:xfrm>
            <a:prstGeom prst="roundRect">
              <a:avLst>
                <a:gd name="adj" fmla="val 41666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N20/notch-shelf/rect/060"/>
            <p:cNvSpPr/>
            <p:nvPr/>
          </p:nvSpPr>
          <p:spPr>
            <a:xfrm>
              <a:off x="7013948" y="3883628"/>
              <a:ext cx="97726" cy="109942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N20/notch-shelf/rect/061"/>
            <p:cNvSpPr/>
            <p:nvPr/>
          </p:nvSpPr>
          <p:spPr>
            <a:xfrm>
              <a:off x="6989516" y="3846980"/>
              <a:ext cx="97726" cy="109942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N20/notch-shelf/button-folder/062"/>
            <p:cNvSpPr/>
            <p:nvPr/>
          </p:nvSpPr>
          <p:spPr>
            <a:xfrm>
              <a:off x="7270480" y="3773685"/>
              <a:ext cx="293179" cy="293179"/>
            </a:xfrm>
            <a:prstGeom prst="roundRect">
              <a:avLst>
                <a:gd name="adj" fmla="val 41666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N20/notch-shelf/poly/063"/>
            <p:cNvSpPr/>
            <p:nvPr/>
          </p:nvSpPr>
          <p:spPr>
            <a:xfrm>
              <a:off x="7343775" y="3883628"/>
              <a:ext cx="146589" cy="97726"/>
            </a:xfrm>
            <a:custGeom>
              <a:avLst/>
              <a:gdLst/>
              <a:ahLst/>
              <a:cxnLst/>
              <a:rect l="l" t="t" r="r" b="b"/>
              <a:pathLst>
                <a:path w="146589" h="97726">
                  <a:moveTo>
                    <a:pt x="0" y="0"/>
                  </a:moveTo>
                  <a:lnTo>
                    <a:pt x="48863" y="0"/>
                  </a:lnTo>
                  <a:lnTo>
                    <a:pt x="67186" y="24431"/>
                  </a:lnTo>
                  <a:lnTo>
                    <a:pt x="146589" y="24431"/>
                  </a:lnTo>
                  <a:lnTo>
                    <a:pt x="146589" y="97726"/>
                  </a:lnTo>
                  <a:lnTo>
                    <a:pt x="0" y="97726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N20/notch-shelf/button-trash/064"/>
            <p:cNvSpPr/>
            <p:nvPr/>
          </p:nvSpPr>
          <p:spPr>
            <a:xfrm>
              <a:off x="7636954" y="3773685"/>
              <a:ext cx="293179" cy="293179"/>
            </a:xfrm>
            <a:prstGeom prst="roundRect">
              <a:avLst>
                <a:gd name="adj" fmla="val 41666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6" name="N20/notch-shelf/line/065"/>
            <p:cNvCxnSpPr/>
            <p:nvPr/>
          </p:nvCxnSpPr>
          <p:spPr>
            <a:xfrm>
              <a:off x="7722465" y="3883628"/>
              <a:ext cx="12215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N20/notch-shelf/rect/066"/>
            <p:cNvSpPr/>
            <p:nvPr/>
          </p:nvSpPr>
          <p:spPr>
            <a:xfrm>
              <a:off x="7746896" y="3883628"/>
              <a:ext cx="73294" cy="109942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8" name="N20/notch-shelf/line/067"/>
            <p:cNvCxnSpPr/>
            <p:nvPr/>
          </p:nvCxnSpPr>
          <p:spPr>
            <a:xfrm>
              <a:off x="7759112" y="3859196"/>
              <a:ext cx="4886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N20/notch-shelf/line/068"/>
            <p:cNvCxnSpPr/>
            <p:nvPr/>
          </p:nvCxnSpPr>
          <p:spPr>
            <a:xfrm>
              <a:off x="7771328" y="3908059"/>
              <a:ext cx="0" cy="6107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N20/notch-shelf/line/069"/>
            <p:cNvCxnSpPr/>
            <p:nvPr/>
          </p:nvCxnSpPr>
          <p:spPr>
            <a:xfrm>
              <a:off x="7795760" y="3908059"/>
              <a:ext cx="0" cy="6107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N20/notch-shelf/shelf-row/070"/>
            <p:cNvSpPr/>
            <p:nvPr/>
          </p:nvSpPr>
          <p:spPr>
            <a:xfrm>
              <a:off x="747236" y="4127944"/>
              <a:ext cx="7329487" cy="342042"/>
            </a:xfrm>
            <a:prstGeom prst="roundRect">
              <a:avLst>
                <a:gd name="adj" fmla="val 42857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N20/notch-shelf/button-design-review.pptx/071"/>
            <p:cNvSpPr/>
            <p:nvPr/>
          </p:nvSpPr>
          <p:spPr>
            <a:xfrm>
              <a:off x="820531" y="4164591"/>
              <a:ext cx="5961316" cy="293179"/>
            </a:xfrm>
            <a:prstGeom prst="roundRect">
              <a:avLst>
                <a:gd name="adj" fmla="val 41666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N20/notch-shelf/poly/072"/>
            <p:cNvSpPr/>
            <p:nvPr/>
          </p:nvSpPr>
          <p:spPr>
            <a:xfrm>
              <a:off x="991552" y="4237886"/>
              <a:ext cx="97726" cy="146590"/>
            </a:xfrm>
            <a:custGeom>
              <a:avLst/>
              <a:gdLst/>
              <a:ahLst/>
              <a:cxnLst/>
              <a:rect l="l" t="t" r="r" b="b"/>
              <a:pathLst>
                <a:path w="97726" h="146590">
                  <a:moveTo>
                    <a:pt x="0" y="0"/>
                  </a:moveTo>
                  <a:lnTo>
                    <a:pt x="61079" y="0"/>
                  </a:lnTo>
                  <a:lnTo>
                    <a:pt x="97726" y="36648"/>
                  </a:lnTo>
                  <a:lnTo>
                    <a:pt x="97726" y="146590"/>
                  </a:lnTo>
                  <a:lnTo>
                    <a:pt x="0" y="146590"/>
                  </a:lnTo>
                  <a:close/>
                </a:path>
              </a:pathLst>
            </a:custGeom>
            <a:noFill/>
            <a:ln w="1270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4" name="N20/notch-shelf/line/073"/>
            <p:cNvCxnSpPr/>
            <p:nvPr/>
          </p:nvCxnSpPr>
          <p:spPr>
            <a:xfrm>
              <a:off x="1052631" y="4237886"/>
              <a:ext cx="0" cy="36648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N20/notch-shelf/line/074"/>
            <p:cNvCxnSpPr/>
            <p:nvPr/>
          </p:nvCxnSpPr>
          <p:spPr>
            <a:xfrm>
              <a:off x="1052631" y="4274534"/>
              <a:ext cx="36647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N20/notch-shelf/text/075"/>
            <p:cNvSpPr txBox="1"/>
            <p:nvPr/>
          </p:nvSpPr>
          <p:spPr>
            <a:xfrm>
              <a:off x="1211437" y="4164591"/>
              <a:ext cx="5545978" cy="29317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6" b="0" i="0">
                  <a:solidFill>
                    <a:srgbClr val="E5E5EA"/>
                  </a:solidFill>
                  <a:latin typeface="Arial"/>
                </a:rPr>
                <a:t>design-review.pptx</a:t>
              </a:r>
            </a:p>
          </p:txBody>
        </p:sp>
        <p:sp>
          <p:nvSpPr>
            <p:cNvPr id="87" name="N20/notch-shelf/button-copy/076"/>
            <p:cNvSpPr/>
            <p:nvPr/>
          </p:nvSpPr>
          <p:spPr>
            <a:xfrm>
              <a:off x="6904005" y="4164591"/>
              <a:ext cx="293179" cy="293179"/>
            </a:xfrm>
            <a:prstGeom prst="roundRect">
              <a:avLst>
                <a:gd name="adj" fmla="val 41666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N20/notch-shelf/rect/077"/>
            <p:cNvSpPr/>
            <p:nvPr/>
          </p:nvSpPr>
          <p:spPr>
            <a:xfrm>
              <a:off x="7013948" y="4274534"/>
              <a:ext cx="97726" cy="109942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N20/notch-shelf/rect/078"/>
            <p:cNvSpPr/>
            <p:nvPr/>
          </p:nvSpPr>
          <p:spPr>
            <a:xfrm>
              <a:off x="6989516" y="4237886"/>
              <a:ext cx="97726" cy="109942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N20/notch-shelf/button-folder/079"/>
            <p:cNvSpPr/>
            <p:nvPr/>
          </p:nvSpPr>
          <p:spPr>
            <a:xfrm>
              <a:off x="7270480" y="4164591"/>
              <a:ext cx="293179" cy="293179"/>
            </a:xfrm>
            <a:prstGeom prst="roundRect">
              <a:avLst>
                <a:gd name="adj" fmla="val 41666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N20/notch-shelf/poly/080"/>
            <p:cNvSpPr/>
            <p:nvPr/>
          </p:nvSpPr>
          <p:spPr>
            <a:xfrm>
              <a:off x="7343775" y="4274534"/>
              <a:ext cx="146589" cy="97726"/>
            </a:xfrm>
            <a:custGeom>
              <a:avLst/>
              <a:gdLst/>
              <a:ahLst/>
              <a:cxnLst/>
              <a:rect l="l" t="t" r="r" b="b"/>
              <a:pathLst>
                <a:path w="146589" h="97726">
                  <a:moveTo>
                    <a:pt x="0" y="0"/>
                  </a:moveTo>
                  <a:lnTo>
                    <a:pt x="48863" y="0"/>
                  </a:lnTo>
                  <a:lnTo>
                    <a:pt x="67186" y="24431"/>
                  </a:lnTo>
                  <a:lnTo>
                    <a:pt x="146589" y="24431"/>
                  </a:lnTo>
                  <a:lnTo>
                    <a:pt x="146589" y="97726"/>
                  </a:lnTo>
                  <a:lnTo>
                    <a:pt x="0" y="97726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N20/notch-shelf/button-trash/081"/>
            <p:cNvSpPr/>
            <p:nvPr/>
          </p:nvSpPr>
          <p:spPr>
            <a:xfrm>
              <a:off x="7636954" y="4164591"/>
              <a:ext cx="293179" cy="293179"/>
            </a:xfrm>
            <a:prstGeom prst="roundRect">
              <a:avLst>
                <a:gd name="adj" fmla="val 41666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3" name="N20/notch-shelf/line/082"/>
            <p:cNvCxnSpPr/>
            <p:nvPr/>
          </p:nvCxnSpPr>
          <p:spPr>
            <a:xfrm>
              <a:off x="7722465" y="4274534"/>
              <a:ext cx="12215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N20/notch-shelf/rect/083"/>
            <p:cNvSpPr/>
            <p:nvPr/>
          </p:nvSpPr>
          <p:spPr>
            <a:xfrm>
              <a:off x="7746896" y="4274534"/>
              <a:ext cx="73294" cy="109942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5" name="N20/notch-shelf/line/084"/>
            <p:cNvCxnSpPr/>
            <p:nvPr/>
          </p:nvCxnSpPr>
          <p:spPr>
            <a:xfrm>
              <a:off x="7759112" y="4250102"/>
              <a:ext cx="4886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N20/notch-shelf/line/085"/>
            <p:cNvCxnSpPr/>
            <p:nvPr/>
          </p:nvCxnSpPr>
          <p:spPr>
            <a:xfrm>
              <a:off x="7771328" y="4298965"/>
              <a:ext cx="0" cy="6107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N20/notch-shelf/line/086"/>
            <p:cNvCxnSpPr/>
            <p:nvPr/>
          </p:nvCxnSpPr>
          <p:spPr>
            <a:xfrm>
              <a:off x="7795760" y="4298965"/>
              <a:ext cx="0" cy="6107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N20/notch-shelf/text/087"/>
            <p:cNvSpPr txBox="1"/>
            <p:nvPr/>
          </p:nvSpPr>
          <p:spPr>
            <a:xfrm>
              <a:off x="747236" y="4518850"/>
              <a:ext cx="7329487" cy="14658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9" b="0" i="0">
                  <a:solidFill>
                    <a:srgbClr val="98989D"/>
                  </a:solidFill>
                  <a:latin typeface="Arial"/>
                </a:rPr>
                <a:t>+1 more · scroll</a:t>
              </a:r>
            </a:p>
          </p:txBody>
        </p:sp>
        <p:sp>
          <p:nvSpPr>
            <p:cNvPr id="99" name="N20/notch-shelf/drop-hint/088"/>
            <p:cNvSpPr/>
            <p:nvPr/>
          </p:nvSpPr>
          <p:spPr>
            <a:xfrm>
              <a:off x="747236" y="4641008"/>
              <a:ext cx="7329487" cy="390906"/>
            </a:xfrm>
            <a:prstGeom prst="roundRect">
              <a:avLst>
                <a:gd name="adj" fmla="val 43750"/>
              </a:avLst>
            </a:prstGeom>
            <a:solidFill>
              <a:srgbClr val="111112"/>
            </a:solidFill>
            <a:ln w="15240">
              <a:solidFill>
                <a:srgbClr val="48484A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N20/notch-shelf/text/089"/>
            <p:cNvSpPr txBox="1"/>
            <p:nvPr/>
          </p:nvSpPr>
          <p:spPr>
            <a:xfrm>
              <a:off x="869394" y="4641008"/>
              <a:ext cx="7085171" cy="39090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11" b="0" i="0">
                  <a:solidFill>
                    <a:srgbClr val="98989D"/>
                  </a:solidFill>
                  <a:latin typeface="Arial"/>
                </a:rPr>
                <a:t>Drop files when the GTK target appears. Only references are saved.</a:t>
              </a:r>
            </a:p>
          </p:txBody>
        </p:sp>
      </p:grpSp>
      <p:sp>
        <p:nvSpPr>
          <p:cNvPr id="101" name="N20/text/010"/>
          <p:cNvSpPr txBox="1"/>
          <p:nvPr/>
        </p:nvSpPr>
        <p:spPr>
          <a:xfrm>
            <a:off x="502919" y="5355383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Row actions: open · copy URI · reveal in Files · remove reference.</a:t>
            </a:r>
          </a:p>
        </p:txBody>
      </p:sp>
      <p:sp>
        <p:nvSpPr>
          <p:cNvPr id="102" name="N20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N20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104" name="N20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N20/text/014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Row radius 12 / padding 8×10</a:t>
            </a:r>
          </a:p>
        </p:txBody>
      </p:sp>
      <p:sp>
        <p:nvSpPr>
          <p:cNvPr id="106" name="N20/ellipse/015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N20/text/016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Filename button expands</a:t>
            </a:r>
          </a:p>
        </p:txBody>
      </p:sp>
      <p:sp>
        <p:nvSpPr>
          <p:cNvPr id="108" name="N20/ellipse/017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N20/text/018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Three icon actions at right</a:t>
            </a:r>
          </a:p>
        </p:txBody>
      </p:sp>
      <p:sp>
        <p:nvSpPr>
          <p:cNvPr id="110" name="N20/ellipse/019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N20/text/020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Clear removes references only</a:t>
            </a:r>
          </a:p>
        </p:txBody>
      </p:sp>
      <p:cxnSp>
        <p:nvCxnSpPr>
          <p:cNvPr id="112" name="N20/line/021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N20/text/022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114" name="N20/edit-box/023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N20/edit-note/024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Row height / filename truncation / icon order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21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21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21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SHELF PAGE</a:t>
            </a:r>
          </a:p>
        </p:txBody>
      </p:sp>
      <p:sp>
        <p:nvSpPr>
          <p:cNvPr id="5" name="N21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Shelf — starting / offline</a:t>
            </a:r>
          </a:p>
        </p:txBody>
      </p:sp>
      <p:sp>
        <p:nvSpPr>
          <p:cNvPr id="6" name="N21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Retry is visible whenever helper state is not ready</a:t>
            </a:r>
          </a:p>
        </p:txBody>
      </p:sp>
      <p:cxnSp>
        <p:nvCxnSpPr>
          <p:cNvPr id="7" name="N21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21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21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N21</a:t>
            </a:r>
          </a:p>
        </p:txBody>
      </p:sp>
      <p:sp>
        <p:nvSpPr>
          <p:cNvPr id="10" name="N21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29</a:t>
            </a:r>
          </a:p>
        </p:txBody>
      </p:sp>
      <p:grpSp>
        <p:nvGrpSpPr>
          <p:cNvPr id="11" name="N21/notch-shelf"/>
          <p:cNvGrpSpPr/>
          <p:nvPr/>
        </p:nvGrpSpPr>
        <p:grpSpPr>
          <a:xfrm>
            <a:off x="502920" y="1737360"/>
            <a:ext cx="7193279" cy="2922270"/>
            <a:chOff x="502920" y="1737360"/>
            <a:chExt cx="7193279" cy="2922270"/>
          </a:xfrm>
        </p:grpSpPr>
        <p:sp>
          <p:nvSpPr>
            <p:cNvPr id="12" name="N21/notch-shelf/notch-surface-open/001"/>
            <p:cNvSpPr/>
            <p:nvPr/>
          </p:nvSpPr>
          <p:spPr>
            <a:xfrm>
              <a:off x="502920" y="1737360"/>
              <a:ext cx="7193279" cy="2922270"/>
            </a:xfrm>
            <a:custGeom>
              <a:avLst/>
              <a:gdLst/>
              <a:ahLst/>
              <a:cxnLst/>
              <a:rect l="l" t="t" r="r" b="b"/>
              <a:pathLst>
                <a:path w="7193279" h="2922270">
                  <a:moveTo>
                    <a:pt x="0" y="0"/>
                  </a:moveTo>
                  <a:lnTo>
                    <a:pt x="7193279" y="0"/>
                  </a:lnTo>
                  <a:lnTo>
                    <a:pt x="7163666" y="3336"/>
                  </a:lnTo>
                  <a:lnTo>
                    <a:pt x="7129882" y="13346"/>
                  </a:lnTo>
                  <a:lnTo>
                    <a:pt x="7094429" y="30030"/>
                  </a:lnTo>
                  <a:lnTo>
                    <a:pt x="7059810" y="53387"/>
                  </a:lnTo>
                  <a:lnTo>
                    <a:pt x="7028529" y="83418"/>
                  </a:lnTo>
                  <a:lnTo>
                    <a:pt x="7003086" y="120122"/>
                  </a:lnTo>
                  <a:lnTo>
                    <a:pt x="6985985" y="163499"/>
                  </a:lnTo>
                  <a:lnTo>
                    <a:pt x="6979729" y="213550"/>
                  </a:lnTo>
                  <a:lnTo>
                    <a:pt x="6974546" y="2705147"/>
                  </a:lnTo>
                  <a:lnTo>
                    <a:pt x="6959196" y="2755750"/>
                  </a:lnTo>
                  <a:lnTo>
                    <a:pt x="6934268" y="2802385"/>
                  </a:lnTo>
                  <a:lnTo>
                    <a:pt x="6900722" y="2843262"/>
                  </a:lnTo>
                  <a:lnTo>
                    <a:pt x="6859845" y="2876809"/>
                  </a:lnTo>
                  <a:lnTo>
                    <a:pt x="6813209" y="2901736"/>
                  </a:lnTo>
                  <a:lnTo>
                    <a:pt x="6762606" y="2917086"/>
                  </a:lnTo>
                  <a:lnTo>
                    <a:pt x="6709981" y="2922270"/>
                  </a:lnTo>
                  <a:lnTo>
                    <a:pt x="483298" y="2922270"/>
                  </a:lnTo>
                  <a:lnTo>
                    <a:pt x="430673" y="2917086"/>
                  </a:lnTo>
                  <a:lnTo>
                    <a:pt x="380070" y="2901736"/>
                  </a:lnTo>
                  <a:lnTo>
                    <a:pt x="333434" y="2876809"/>
                  </a:lnTo>
                  <a:lnTo>
                    <a:pt x="292557" y="2843262"/>
                  </a:lnTo>
                  <a:lnTo>
                    <a:pt x="259011" y="2802385"/>
                  </a:lnTo>
                  <a:lnTo>
                    <a:pt x="234083" y="2755750"/>
                  </a:lnTo>
                  <a:lnTo>
                    <a:pt x="218733" y="2705147"/>
                  </a:lnTo>
                  <a:lnTo>
                    <a:pt x="213550" y="2652522"/>
                  </a:lnTo>
                  <a:lnTo>
                    <a:pt x="213550" y="213550"/>
                  </a:lnTo>
                  <a:lnTo>
                    <a:pt x="207294" y="163499"/>
                  </a:lnTo>
                  <a:lnTo>
                    <a:pt x="190193" y="120122"/>
                  </a:lnTo>
                  <a:lnTo>
                    <a:pt x="164750" y="83418"/>
                  </a:lnTo>
                  <a:lnTo>
                    <a:pt x="133469" y="53387"/>
                  </a:lnTo>
                  <a:lnTo>
                    <a:pt x="98850" y="30030"/>
                  </a:lnTo>
                  <a:lnTo>
                    <a:pt x="63397" y="13346"/>
                  </a:lnTo>
                  <a:lnTo>
                    <a:pt x="29613" y="33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21/notch-shelf/button-home/002"/>
            <p:cNvSpPr/>
            <p:nvPr/>
          </p:nvSpPr>
          <p:spPr>
            <a:xfrm>
              <a:off x="727710" y="2265616"/>
              <a:ext cx="359664" cy="33718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21/notch-shelf/poly/003"/>
            <p:cNvSpPr/>
            <p:nvPr/>
          </p:nvSpPr>
          <p:spPr>
            <a:xfrm>
              <a:off x="840105" y="2366771"/>
              <a:ext cx="134874" cy="134874"/>
            </a:xfrm>
            <a:custGeom>
              <a:avLst/>
              <a:gdLst/>
              <a:ahLst/>
              <a:cxnLst/>
              <a:rect l="l" t="t" r="r" b="b"/>
              <a:pathLst>
                <a:path w="134874" h="134874">
                  <a:moveTo>
                    <a:pt x="67437" y="0"/>
                  </a:moveTo>
                  <a:lnTo>
                    <a:pt x="0" y="56198"/>
                  </a:lnTo>
                  <a:lnTo>
                    <a:pt x="22479" y="56198"/>
                  </a:lnTo>
                  <a:lnTo>
                    <a:pt x="22479" y="134874"/>
                  </a:lnTo>
                  <a:lnTo>
                    <a:pt x="56197" y="134874"/>
                  </a:lnTo>
                  <a:lnTo>
                    <a:pt x="56197" y="89916"/>
                  </a:lnTo>
                  <a:lnTo>
                    <a:pt x="78676" y="89916"/>
                  </a:lnTo>
                  <a:lnTo>
                    <a:pt x="78676" y="134874"/>
                  </a:lnTo>
                  <a:lnTo>
                    <a:pt x="112395" y="134874"/>
                  </a:lnTo>
                  <a:lnTo>
                    <a:pt x="112395" y="56198"/>
                  </a:lnTo>
                  <a:lnTo>
                    <a:pt x="134874" y="56198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21/notch-shelf/button-music/004"/>
            <p:cNvSpPr/>
            <p:nvPr/>
          </p:nvSpPr>
          <p:spPr>
            <a:xfrm>
              <a:off x="1132332" y="2265616"/>
              <a:ext cx="359664" cy="33718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N21/notch-shelf/line/005"/>
            <p:cNvCxnSpPr/>
            <p:nvPr/>
          </p:nvCxnSpPr>
          <p:spPr>
            <a:xfrm flipV="1">
              <a:off x="1289685" y="2389250"/>
              <a:ext cx="0" cy="8991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N21/notch-shelf/line/006"/>
            <p:cNvCxnSpPr/>
            <p:nvPr/>
          </p:nvCxnSpPr>
          <p:spPr>
            <a:xfrm flipV="1">
              <a:off x="1289685" y="2378011"/>
              <a:ext cx="78676" cy="1123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21/notch-shelf/line/007"/>
            <p:cNvCxnSpPr/>
            <p:nvPr/>
          </p:nvCxnSpPr>
          <p:spPr>
            <a:xfrm>
              <a:off x="1368361" y="2378011"/>
              <a:ext cx="0" cy="8991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N21/notch-shelf/ellipse/008"/>
            <p:cNvSpPr/>
            <p:nvPr/>
          </p:nvSpPr>
          <p:spPr>
            <a:xfrm>
              <a:off x="1255966" y="2462307"/>
              <a:ext cx="39338" cy="33718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21/notch-shelf/ellipse/009"/>
            <p:cNvSpPr/>
            <p:nvPr/>
          </p:nvSpPr>
          <p:spPr>
            <a:xfrm>
              <a:off x="1334643" y="2451068"/>
              <a:ext cx="39338" cy="33718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21/notch-shelf/button-bell/010"/>
            <p:cNvSpPr/>
            <p:nvPr/>
          </p:nvSpPr>
          <p:spPr>
            <a:xfrm>
              <a:off x="1536953" y="2265616"/>
              <a:ext cx="359664" cy="33718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21/notch-shelf/poly/011"/>
            <p:cNvSpPr/>
            <p:nvPr/>
          </p:nvSpPr>
          <p:spPr>
            <a:xfrm>
              <a:off x="1660588" y="2366771"/>
              <a:ext cx="112395" cy="101156"/>
            </a:xfrm>
            <a:custGeom>
              <a:avLst/>
              <a:gdLst/>
              <a:ahLst/>
              <a:cxnLst/>
              <a:rect l="l" t="t" r="r" b="b"/>
              <a:pathLst>
                <a:path w="112395" h="101156">
                  <a:moveTo>
                    <a:pt x="56198" y="0"/>
                  </a:moveTo>
                  <a:lnTo>
                    <a:pt x="22479" y="22479"/>
                  </a:lnTo>
                  <a:lnTo>
                    <a:pt x="11239" y="67437"/>
                  </a:lnTo>
                  <a:lnTo>
                    <a:pt x="0" y="101156"/>
                  </a:lnTo>
                  <a:lnTo>
                    <a:pt x="112395" y="101156"/>
                  </a:lnTo>
                  <a:lnTo>
                    <a:pt x="101155" y="67437"/>
                  </a:lnTo>
                  <a:lnTo>
                    <a:pt x="89916" y="22479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N21/notch-shelf/line/012"/>
            <p:cNvCxnSpPr/>
            <p:nvPr/>
          </p:nvCxnSpPr>
          <p:spPr>
            <a:xfrm>
              <a:off x="1694307" y="2490406"/>
              <a:ext cx="44957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N21/notch-shelf/ellipse/013"/>
            <p:cNvSpPr/>
            <p:nvPr/>
          </p:nvSpPr>
          <p:spPr>
            <a:xfrm>
              <a:off x="1705546" y="2355532"/>
              <a:ext cx="22479" cy="22479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21/notch-shelf/button-chart/014"/>
            <p:cNvSpPr/>
            <p:nvPr/>
          </p:nvSpPr>
          <p:spPr>
            <a:xfrm>
              <a:off x="1941575" y="2265616"/>
              <a:ext cx="359664" cy="33718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N21/notch-shelf/line/015"/>
            <p:cNvCxnSpPr/>
            <p:nvPr/>
          </p:nvCxnSpPr>
          <p:spPr>
            <a:xfrm>
              <a:off x="2053970" y="2501645"/>
              <a:ext cx="13487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N21/notch-shelf/line/016"/>
            <p:cNvCxnSpPr/>
            <p:nvPr/>
          </p:nvCxnSpPr>
          <p:spPr>
            <a:xfrm flipV="1">
              <a:off x="2065210" y="2422969"/>
              <a:ext cx="33718" cy="4495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21/notch-shelf/line/017"/>
            <p:cNvCxnSpPr/>
            <p:nvPr/>
          </p:nvCxnSpPr>
          <p:spPr>
            <a:xfrm>
              <a:off x="2098928" y="2422969"/>
              <a:ext cx="33719" cy="2247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21/notch-shelf/line/018"/>
            <p:cNvCxnSpPr/>
            <p:nvPr/>
          </p:nvCxnSpPr>
          <p:spPr>
            <a:xfrm flipV="1">
              <a:off x="2132647" y="2378011"/>
              <a:ext cx="44958" cy="6743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N21/notch-shelf/button-Shelf/019"/>
            <p:cNvSpPr/>
            <p:nvPr/>
          </p:nvSpPr>
          <p:spPr>
            <a:xfrm>
              <a:off x="2346197" y="2265616"/>
              <a:ext cx="1085735" cy="337184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N21/notch-shelf/poly/020"/>
            <p:cNvSpPr/>
            <p:nvPr/>
          </p:nvSpPr>
          <p:spPr>
            <a:xfrm>
              <a:off x="2551880" y="2400490"/>
              <a:ext cx="134874" cy="89916"/>
            </a:xfrm>
            <a:custGeom>
              <a:avLst/>
              <a:gdLst/>
              <a:ahLst/>
              <a:cxnLst/>
              <a:rect l="l" t="t" r="r" b="b"/>
              <a:pathLst>
                <a:path w="134874" h="89916">
                  <a:moveTo>
                    <a:pt x="0" y="0"/>
                  </a:moveTo>
                  <a:lnTo>
                    <a:pt x="44958" y="0"/>
                  </a:lnTo>
                  <a:lnTo>
                    <a:pt x="61818" y="22479"/>
                  </a:lnTo>
                  <a:lnTo>
                    <a:pt x="134874" y="22479"/>
                  </a:lnTo>
                  <a:lnTo>
                    <a:pt x="134874" y="89916"/>
                  </a:lnTo>
                  <a:lnTo>
                    <a:pt x="0" y="89916"/>
                  </a:lnTo>
                  <a:close/>
                </a:path>
              </a:pathLst>
            </a:custGeom>
            <a:noFill/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21/notch-shelf/text/021"/>
            <p:cNvSpPr txBox="1"/>
            <p:nvPr/>
          </p:nvSpPr>
          <p:spPr>
            <a:xfrm>
              <a:off x="2776670" y="2265616"/>
              <a:ext cx="632783" cy="3371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39" b="1" i="0">
                  <a:solidFill>
                    <a:srgbClr val="FFFFFF"/>
                  </a:solidFill>
                  <a:latin typeface="Arial"/>
                </a:rPr>
                <a:t>Shelf</a:t>
              </a:r>
            </a:p>
          </p:txBody>
        </p:sp>
        <p:sp>
          <p:nvSpPr>
            <p:cNvPr id="33" name="N21/notch-shelf/button-clipboard/022"/>
            <p:cNvSpPr/>
            <p:nvPr/>
          </p:nvSpPr>
          <p:spPr>
            <a:xfrm>
              <a:off x="3476891" y="2265616"/>
              <a:ext cx="359664" cy="33718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21/notch-shelf/rect/023"/>
            <p:cNvSpPr/>
            <p:nvPr/>
          </p:nvSpPr>
          <p:spPr>
            <a:xfrm>
              <a:off x="3611765" y="2378011"/>
              <a:ext cx="89916" cy="123634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21/notch-shelf/rect/024"/>
            <p:cNvSpPr/>
            <p:nvPr/>
          </p:nvSpPr>
          <p:spPr>
            <a:xfrm>
              <a:off x="3634244" y="2361152"/>
              <a:ext cx="44958" cy="28098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N21/notch-shelf/line/025"/>
            <p:cNvCxnSpPr/>
            <p:nvPr/>
          </p:nvCxnSpPr>
          <p:spPr>
            <a:xfrm>
              <a:off x="3634244" y="2422969"/>
              <a:ext cx="4495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N21/notch-shelf/line/026"/>
            <p:cNvCxnSpPr/>
            <p:nvPr/>
          </p:nvCxnSpPr>
          <p:spPr>
            <a:xfrm>
              <a:off x="3634244" y="2451068"/>
              <a:ext cx="4495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N21/notch-shelf/button-gear/027"/>
            <p:cNvSpPr/>
            <p:nvPr/>
          </p:nvSpPr>
          <p:spPr>
            <a:xfrm>
              <a:off x="6684645" y="2254376"/>
              <a:ext cx="359664" cy="35966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21/notch-shelf/ellipse/028"/>
            <p:cNvSpPr/>
            <p:nvPr/>
          </p:nvSpPr>
          <p:spPr>
            <a:xfrm>
              <a:off x="6830758" y="2400490"/>
              <a:ext cx="67437" cy="67437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21/notch-shelf/line/029"/>
            <p:cNvCxnSpPr/>
            <p:nvPr/>
          </p:nvCxnSpPr>
          <p:spPr>
            <a:xfrm>
              <a:off x="6920674" y="2434208"/>
              <a:ext cx="22479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21/notch-shelf/line/030"/>
            <p:cNvCxnSpPr/>
            <p:nvPr/>
          </p:nvCxnSpPr>
          <p:spPr>
            <a:xfrm>
              <a:off x="6904214" y="2473946"/>
              <a:ext cx="15895" cy="1589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21/notch-shelf/line/031"/>
            <p:cNvCxnSpPr/>
            <p:nvPr/>
          </p:nvCxnSpPr>
          <p:spPr>
            <a:xfrm>
              <a:off x="6864477" y="2490406"/>
              <a:ext cx="0" cy="2247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21/notch-shelf/line/032"/>
            <p:cNvCxnSpPr/>
            <p:nvPr/>
          </p:nvCxnSpPr>
          <p:spPr>
            <a:xfrm flipH="1">
              <a:off x="6808844" y="2473946"/>
              <a:ext cx="15895" cy="1589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21/notch-shelf/line/033"/>
            <p:cNvCxnSpPr/>
            <p:nvPr/>
          </p:nvCxnSpPr>
          <p:spPr>
            <a:xfrm flipH="1">
              <a:off x="6785800" y="2434208"/>
              <a:ext cx="22479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21/notch-shelf/line/034"/>
            <p:cNvCxnSpPr/>
            <p:nvPr/>
          </p:nvCxnSpPr>
          <p:spPr>
            <a:xfrm flipH="1" flipV="1">
              <a:off x="6808844" y="2378576"/>
              <a:ext cx="15895" cy="1589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21/notch-shelf/line/035"/>
            <p:cNvCxnSpPr/>
            <p:nvPr/>
          </p:nvCxnSpPr>
          <p:spPr>
            <a:xfrm flipV="1">
              <a:off x="6864477" y="2355532"/>
              <a:ext cx="0" cy="2247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21/notch-shelf/line/036"/>
            <p:cNvCxnSpPr/>
            <p:nvPr/>
          </p:nvCxnSpPr>
          <p:spPr>
            <a:xfrm flipV="1">
              <a:off x="6904214" y="2378576"/>
              <a:ext cx="15895" cy="1589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21/notch-shelf/button-close/037"/>
            <p:cNvSpPr/>
            <p:nvPr/>
          </p:nvSpPr>
          <p:spPr>
            <a:xfrm>
              <a:off x="7111746" y="2254376"/>
              <a:ext cx="359664" cy="35966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21/notch-shelf/line/038"/>
            <p:cNvCxnSpPr/>
            <p:nvPr/>
          </p:nvCxnSpPr>
          <p:spPr>
            <a:xfrm>
              <a:off x="7246620" y="2389250"/>
              <a:ext cx="89916" cy="8991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21/notch-shelf/line/039"/>
            <p:cNvCxnSpPr/>
            <p:nvPr/>
          </p:nvCxnSpPr>
          <p:spPr>
            <a:xfrm flipH="1">
              <a:off x="7246620" y="2389250"/>
              <a:ext cx="89916" cy="8991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21/notch-shelf/text/040"/>
            <p:cNvSpPr txBox="1"/>
            <p:nvPr/>
          </p:nvSpPr>
          <p:spPr>
            <a:xfrm>
              <a:off x="727710" y="2681477"/>
              <a:ext cx="2697480" cy="2472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 i="0">
                  <a:solidFill>
                    <a:srgbClr val="F5F5F7"/>
                  </a:solidFill>
                  <a:latin typeface="Arial"/>
                </a:rPr>
                <a:t>Quick stash</a:t>
              </a:r>
            </a:p>
          </p:txBody>
        </p:sp>
        <p:sp>
          <p:nvSpPr>
            <p:cNvPr id="52" name="N21/notch-shelf/button-Add files/041"/>
            <p:cNvSpPr/>
            <p:nvPr/>
          </p:nvSpPr>
          <p:spPr>
            <a:xfrm>
              <a:off x="4684014" y="2658998"/>
              <a:ext cx="1034033" cy="314706"/>
            </a:xfrm>
            <a:prstGeom prst="roundRect">
              <a:avLst>
                <a:gd name="adj" fmla="val 35714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3" name="N21/notch-shelf/line/042"/>
            <p:cNvCxnSpPr/>
            <p:nvPr/>
          </p:nvCxnSpPr>
          <p:spPr>
            <a:xfrm>
              <a:off x="4818888" y="2760154"/>
              <a:ext cx="0" cy="112395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N21/notch-shelf/line/043"/>
            <p:cNvCxnSpPr/>
            <p:nvPr/>
          </p:nvCxnSpPr>
          <p:spPr>
            <a:xfrm>
              <a:off x="4762690" y="2816351"/>
              <a:ext cx="112395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N21/notch-shelf/text/044"/>
            <p:cNvSpPr txBox="1"/>
            <p:nvPr/>
          </p:nvSpPr>
          <p:spPr>
            <a:xfrm>
              <a:off x="4976241" y="2658998"/>
              <a:ext cx="719328" cy="3147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15" b="0" i="0">
                  <a:solidFill>
                    <a:srgbClr val="E5E5EA"/>
                  </a:solidFill>
                  <a:latin typeface="Arial"/>
                </a:rPr>
                <a:t>Add files</a:t>
              </a:r>
            </a:p>
          </p:txBody>
        </p:sp>
        <p:sp>
          <p:nvSpPr>
            <p:cNvPr id="56" name="N21/notch-shelf/button-Clear/045"/>
            <p:cNvSpPr/>
            <p:nvPr/>
          </p:nvSpPr>
          <p:spPr>
            <a:xfrm>
              <a:off x="5807964" y="2658998"/>
              <a:ext cx="719328" cy="314706"/>
            </a:xfrm>
            <a:prstGeom prst="roundRect">
              <a:avLst>
                <a:gd name="adj" fmla="val 35714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7" name="N21/notch-shelf/line/046"/>
            <p:cNvCxnSpPr/>
            <p:nvPr/>
          </p:nvCxnSpPr>
          <p:spPr>
            <a:xfrm>
              <a:off x="5886640" y="2782633"/>
              <a:ext cx="112395" cy="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N21/notch-shelf/rect/047"/>
            <p:cNvSpPr/>
            <p:nvPr/>
          </p:nvSpPr>
          <p:spPr>
            <a:xfrm>
              <a:off x="5909119" y="2782633"/>
              <a:ext cx="67437" cy="101155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6363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9" name="N21/notch-shelf/line/048"/>
            <p:cNvCxnSpPr/>
            <p:nvPr/>
          </p:nvCxnSpPr>
          <p:spPr>
            <a:xfrm>
              <a:off x="5920359" y="2760154"/>
              <a:ext cx="44958" cy="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N21/notch-shelf/line/049"/>
            <p:cNvCxnSpPr/>
            <p:nvPr/>
          </p:nvCxnSpPr>
          <p:spPr>
            <a:xfrm>
              <a:off x="5931598" y="2805112"/>
              <a:ext cx="0" cy="56197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N21/notch-shelf/line/050"/>
            <p:cNvCxnSpPr/>
            <p:nvPr/>
          </p:nvCxnSpPr>
          <p:spPr>
            <a:xfrm>
              <a:off x="5954077" y="2805112"/>
              <a:ext cx="0" cy="56197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N21/notch-shelf/text/051"/>
            <p:cNvSpPr txBox="1"/>
            <p:nvPr/>
          </p:nvSpPr>
          <p:spPr>
            <a:xfrm>
              <a:off x="6100191" y="2658998"/>
              <a:ext cx="404622" cy="3147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15" b="0" i="0">
                  <a:solidFill>
                    <a:srgbClr val="636366"/>
                  </a:solidFill>
                  <a:latin typeface="Arial"/>
                </a:rPr>
                <a:t>Clear</a:t>
              </a:r>
            </a:p>
          </p:txBody>
        </p:sp>
        <p:sp>
          <p:nvSpPr>
            <p:cNvPr id="63" name="N21/notch-shelf/button-Retry/052"/>
            <p:cNvSpPr/>
            <p:nvPr/>
          </p:nvSpPr>
          <p:spPr>
            <a:xfrm>
              <a:off x="6617208" y="2658998"/>
              <a:ext cx="854201" cy="314706"/>
            </a:xfrm>
            <a:prstGeom prst="roundRect">
              <a:avLst>
                <a:gd name="adj" fmla="val 35714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N21/notch-shelf/ellipse/053"/>
            <p:cNvSpPr/>
            <p:nvPr/>
          </p:nvSpPr>
          <p:spPr>
            <a:xfrm>
              <a:off x="6741966" y="2760154"/>
              <a:ext cx="112395" cy="112395"/>
            </a:xfrm>
            <a:prstGeom prst="ellipse">
              <a:avLst/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N21/notch-shelf/poly/054"/>
            <p:cNvSpPr/>
            <p:nvPr/>
          </p:nvSpPr>
          <p:spPr>
            <a:xfrm>
              <a:off x="6820642" y="2748914"/>
              <a:ext cx="44958" cy="44958"/>
            </a:xfrm>
            <a:custGeom>
              <a:avLst/>
              <a:gdLst/>
              <a:ahLst/>
              <a:cxnLst/>
              <a:rect l="l" t="t" r="r" b="b"/>
              <a:pathLst>
                <a:path w="44958" h="44958">
                  <a:moveTo>
                    <a:pt x="22479" y="0"/>
                  </a:moveTo>
                  <a:lnTo>
                    <a:pt x="44958" y="44958"/>
                  </a:lnTo>
                  <a:lnTo>
                    <a:pt x="0" y="44958"/>
                  </a:lnTo>
                  <a:close/>
                </a:path>
              </a:pathLst>
            </a:cu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N21/notch-shelf/text/055"/>
            <p:cNvSpPr txBox="1"/>
            <p:nvPr/>
          </p:nvSpPr>
          <p:spPr>
            <a:xfrm>
              <a:off x="6955516" y="2658998"/>
              <a:ext cx="493414" cy="3147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15" b="0" i="0">
                  <a:solidFill>
                    <a:srgbClr val="E5E5EA"/>
                  </a:solidFill>
                  <a:latin typeface="Arial"/>
                </a:rPr>
                <a:t>Retry</a:t>
              </a:r>
            </a:p>
          </p:txBody>
        </p:sp>
        <p:sp>
          <p:nvSpPr>
            <p:cNvPr id="67" name="N21/notch-shelf/text/056"/>
            <p:cNvSpPr txBox="1"/>
            <p:nvPr/>
          </p:nvSpPr>
          <p:spPr>
            <a:xfrm>
              <a:off x="727710" y="2973704"/>
              <a:ext cx="6743700" cy="2697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15" b="0" i="0">
                  <a:solidFill>
                    <a:srgbClr val="98989D"/>
                  </a:solidFill>
                  <a:latin typeface="Arial"/>
                </a:rPr>
                <a:t>File shelf helper is offline. Press Retry to start it.</a:t>
              </a:r>
            </a:p>
          </p:txBody>
        </p:sp>
        <p:sp>
          <p:nvSpPr>
            <p:cNvPr id="68" name="N21/notch-shelf/text/057"/>
            <p:cNvSpPr txBox="1"/>
            <p:nvPr/>
          </p:nvSpPr>
          <p:spPr>
            <a:xfrm>
              <a:off x="727710" y="3288410"/>
              <a:ext cx="6743700" cy="22479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7" b="0" i="0">
                  <a:solidFill>
                    <a:srgbClr val="98989D"/>
                  </a:solidFill>
                  <a:latin typeface="Arial"/>
                </a:rPr>
                <a:t>Shelf is empty — files appear once the helper is connected.</a:t>
              </a:r>
            </a:p>
          </p:txBody>
        </p:sp>
        <p:sp>
          <p:nvSpPr>
            <p:cNvPr id="69" name="N21/notch-shelf/drop-hint/058"/>
            <p:cNvSpPr/>
            <p:nvPr/>
          </p:nvSpPr>
          <p:spPr>
            <a:xfrm>
              <a:off x="727710" y="3603117"/>
              <a:ext cx="6743700" cy="359664"/>
            </a:xfrm>
            <a:prstGeom prst="roundRect">
              <a:avLst>
                <a:gd name="adj" fmla="val 43750"/>
              </a:avLst>
            </a:prstGeom>
            <a:solidFill>
              <a:srgbClr val="111112"/>
            </a:solidFill>
            <a:ln w="15240">
              <a:solidFill>
                <a:srgbClr val="48484A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N21/notch-shelf/text/059"/>
            <p:cNvSpPr txBox="1"/>
            <p:nvPr/>
          </p:nvSpPr>
          <p:spPr>
            <a:xfrm>
              <a:off x="840105" y="3603117"/>
              <a:ext cx="6518910" cy="3596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15" b="0" i="0">
                  <a:solidFill>
                    <a:srgbClr val="98989D"/>
                  </a:solidFill>
                  <a:latin typeface="Arial"/>
                </a:rPr>
                <a:t>Drop files when the GTK target appears. Only references are saved.</a:t>
              </a:r>
            </a:p>
          </p:txBody>
        </p:sp>
        <p:sp>
          <p:nvSpPr>
            <p:cNvPr id="71" name="N21/notch-shelf/text/060"/>
            <p:cNvSpPr txBox="1"/>
            <p:nvPr/>
          </p:nvSpPr>
          <p:spPr>
            <a:xfrm>
              <a:off x="727710" y="4052697"/>
              <a:ext cx="5394960" cy="4271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3" b="0" i="0">
                  <a:solidFill>
                    <a:srgbClr val="FF9F0A"/>
                  </a:solidFill>
                  <a:latin typeface="Arial"/>
                </a:rPr>
                <a:t>File shelf helper is offline. Press Retry to start it.</a:t>
              </a:r>
            </a:p>
          </p:txBody>
        </p:sp>
        <p:sp>
          <p:nvSpPr>
            <p:cNvPr id="72" name="N21/notch-shelf/button-Retry/061"/>
            <p:cNvSpPr/>
            <p:nvPr/>
          </p:nvSpPr>
          <p:spPr>
            <a:xfrm>
              <a:off x="6257544" y="4030218"/>
              <a:ext cx="719328" cy="292227"/>
            </a:xfrm>
            <a:prstGeom prst="roundRect">
              <a:avLst>
                <a:gd name="adj" fmla="val 38461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N21/notch-shelf/text/062"/>
            <p:cNvSpPr txBox="1"/>
            <p:nvPr/>
          </p:nvSpPr>
          <p:spPr>
            <a:xfrm>
              <a:off x="6324981" y="4030218"/>
              <a:ext cx="584454" cy="29222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15" b="0" i="0">
                  <a:solidFill>
                    <a:srgbClr val="E5E5EA"/>
                  </a:solidFill>
                  <a:latin typeface="Arial"/>
                </a:rPr>
                <a:t>Retry</a:t>
              </a:r>
            </a:p>
          </p:txBody>
        </p:sp>
        <p:sp>
          <p:nvSpPr>
            <p:cNvPr id="74" name="N21/notch-shelf/button-close/063"/>
            <p:cNvSpPr/>
            <p:nvPr/>
          </p:nvSpPr>
          <p:spPr>
            <a:xfrm>
              <a:off x="7066788" y="4030218"/>
              <a:ext cx="314706" cy="292227"/>
            </a:xfrm>
            <a:prstGeom prst="roundRect">
              <a:avLst>
                <a:gd name="adj" fmla="val 38461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5" name="N21/notch-shelf/line/064"/>
            <p:cNvCxnSpPr/>
            <p:nvPr/>
          </p:nvCxnSpPr>
          <p:spPr>
            <a:xfrm>
              <a:off x="7179183" y="4131373"/>
              <a:ext cx="89916" cy="8991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N21/notch-shelf/line/065"/>
            <p:cNvCxnSpPr/>
            <p:nvPr/>
          </p:nvCxnSpPr>
          <p:spPr>
            <a:xfrm flipH="1">
              <a:off x="7179183" y="4131373"/>
              <a:ext cx="89916" cy="8991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N21/text/010"/>
          <p:cNvSpPr txBox="1"/>
          <p:nvPr/>
        </p:nvSpPr>
        <p:spPr>
          <a:xfrm>
            <a:off x="502920" y="5074920"/>
            <a:ext cx="763524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Starting: Retry becomes 'Starting…' and is disabled. Offline: Retry re-activates the helper.</a:t>
            </a:r>
          </a:p>
        </p:txBody>
      </p:sp>
      <p:grpSp>
        <p:nvGrpSpPr>
          <p:cNvPr id="78" name="N21/shelf-starting-mini"/>
          <p:cNvGrpSpPr/>
          <p:nvPr/>
        </p:nvGrpSpPr>
        <p:grpSpPr>
          <a:xfrm>
            <a:off x="502920" y="5486400"/>
            <a:ext cx="3566160" cy="640080"/>
            <a:chOff x="502920" y="5486400"/>
            <a:chExt cx="3566160" cy="640080"/>
          </a:xfrm>
        </p:grpSpPr>
        <p:sp>
          <p:nvSpPr>
            <p:cNvPr id="79" name="N21/shelf-starting-mini/notch-surface-open/001"/>
            <p:cNvSpPr/>
            <p:nvPr/>
          </p:nvSpPr>
          <p:spPr>
            <a:xfrm>
              <a:off x="502920" y="5486400"/>
              <a:ext cx="3566160" cy="640080"/>
            </a:xfrm>
            <a:custGeom>
              <a:avLst/>
              <a:gdLst/>
              <a:ahLst/>
              <a:cxnLst/>
              <a:rect l="l" t="t" r="r" b="b"/>
              <a:pathLst>
                <a:path w="3566160" h="640080">
                  <a:moveTo>
                    <a:pt x="0" y="0"/>
                  </a:moveTo>
                  <a:lnTo>
                    <a:pt x="3566160" y="0"/>
                  </a:lnTo>
                  <a:lnTo>
                    <a:pt x="3552357" y="1555"/>
                  </a:lnTo>
                  <a:lnTo>
                    <a:pt x="3536610" y="6221"/>
                  </a:lnTo>
                  <a:lnTo>
                    <a:pt x="3520085" y="13997"/>
                  </a:lnTo>
                  <a:lnTo>
                    <a:pt x="3503949" y="24884"/>
                  </a:lnTo>
                  <a:lnTo>
                    <a:pt x="3489369" y="38881"/>
                  </a:lnTo>
                  <a:lnTo>
                    <a:pt x="3477510" y="55989"/>
                  </a:lnTo>
                  <a:lnTo>
                    <a:pt x="3469539" y="76207"/>
                  </a:lnTo>
                  <a:lnTo>
                    <a:pt x="3466623" y="99536"/>
                  </a:lnTo>
                  <a:lnTo>
                    <a:pt x="3464207" y="538878"/>
                  </a:lnTo>
                  <a:lnTo>
                    <a:pt x="3457053" y="562464"/>
                  </a:lnTo>
                  <a:lnTo>
                    <a:pt x="3445434" y="584201"/>
                  </a:lnTo>
                  <a:lnTo>
                    <a:pt x="3429798" y="603254"/>
                  </a:lnTo>
                  <a:lnTo>
                    <a:pt x="3410745" y="618890"/>
                  </a:lnTo>
                  <a:lnTo>
                    <a:pt x="3389008" y="630509"/>
                  </a:lnTo>
                  <a:lnTo>
                    <a:pt x="3365422" y="637664"/>
                  </a:lnTo>
                  <a:lnTo>
                    <a:pt x="3340893" y="640080"/>
                  </a:lnTo>
                  <a:lnTo>
                    <a:pt x="225266" y="640080"/>
                  </a:lnTo>
                  <a:lnTo>
                    <a:pt x="200737" y="637664"/>
                  </a:lnTo>
                  <a:lnTo>
                    <a:pt x="177151" y="630509"/>
                  </a:lnTo>
                  <a:lnTo>
                    <a:pt x="155414" y="618890"/>
                  </a:lnTo>
                  <a:lnTo>
                    <a:pt x="136361" y="603254"/>
                  </a:lnTo>
                  <a:lnTo>
                    <a:pt x="120725" y="584201"/>
                  </a:lnTo>
                  <a:lnTo>
                    <a:pt x="109106" y="562464"/>
                  </a:lnTo>
                  <a:lnTo>
                    <a:pt x="101952" y="538878"/>
                  </a:lnTo>
                  <a:lnTo>
                    <a:pt x="99536" y="514350"/>
                  </a:lnTo>
                  <a:lnTo>
                    <a:pt x="99536" y="99536"/>
                  </a:lnTo>
                  <a:lnTo>
                    <a:pt x="96620" y="76207"/>
                  </a:lnTo>
                  <a:lnTo>
                    <a:pt x="88649" y="55989"/>
                  </a:lnTo>
                  <a:lnTo>
                    <a:pt x="76790" y="38881"/>
                  </a:lnTo>
                  <a:lnTo>
                    <a:pt x="62210" y="24884"/>
                  </a:lnTo>
                  <a:lnTo>
                    <a:pt x="46074" y="13997"/>
                  </a:lnTo>
                  <a:lnTo>
                    <a:pt x="29549" y="6221"/>
                  </a:lnTo>
                  <a:lnTo>
                    <a:pt x="13802" y="15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N21/shelf-starting-mini/text/002"/>
            <p:cNvSpPr txBox="1"/>
            <p:nvPr/>
          </p:nvSpPr>
          <p:spPr>
            <a:xfrm>
              <a:off x="685800" y="5596128"/>
              <a:ext cx="320040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98989D"/>
                  </a:solidFill>
                  <a:latin typeface="Arial"/>
                </a:rPr>
                <a:t>Starting file shelf helper…</a:t>
              </a:r>
            </a:p>
          </p:txBody>
        </p:sp>
        <p:sp>
          <p:nvSpPr>
            <p:cNvPr id="81" name="N21/shelf-starting-mini/button-Starting…/003"/>
            <p:cNvSpPr/>
            <p:nvPr/>
          </p:nvSpPr>
          <p:spPr>
            <a:xfrm>
              <a:off x="3246120" y="5596128"/>
              <a:ext cx="640080" cy="228600"/>
            </a:xfrm>
            <a:prstGeom prst="roundRect">
              <a:avLst>
                <a:gd name="adj" fmla="val 20833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N21/shelf-starting-mini/text/004"/>
            <p:cNvSpPr txBox="1"/>
            <p:nvPr/>
          </p:nvSpPr>
          <p:spPr>
            <a:xfrm>
              <a:off x="3274695" y="5596128"/>
              <a:ext cx="582930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2" b="0" i="0">
                  <a:solidFill>
                    <a:srgbClr val="636366"/>
                  </a:solidFill>
                  <a:latin typeface="Arial"/>
                </a:rPr>
                <a:t>Starting…</a:t>
              </a:r>
            </a:p>
          </p:txBody>
        </p:sp>
      </p:grpSp>
      <p:sp>
        <p:nvSpPr>
          <p:cNvPr id="83" name="N21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N21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85" name="N21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N21/text/014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State: ready / starting / offline</a:t>
            </a:r>
          </a:p>
        </p:txBody>
      </p:sp>
      <p:sp>
        <p:nvSpPr>
          <p:cNvPr id="87" name="N21/ellipse/015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N21/text/016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Status footer wraps + Retry</a:t>
            </a:r>
          </a:p>
        </p:txBody>
      </p:sp>
      <p:sp>
        <p:nvSpPr>
          <p:cNvPr id="89" name="N21/ellipse/017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N21/text/018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Error color #FF9F0A</a:t>
            </a:r>
          </a:p>
        </p:txBody>
      </p:sp>
      <p:sp>
        <p:nvSpPr>
          <p:cNvPr id="91" name="N21/ellipse/019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N21/text/020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Helper idle exit after 5 min is normal</a:t>
            </a:r>
          </a:p>
        </p:txBody>
      </p:sp>
      <p:cxnSp>
        <p:nvCxnSpPr>
          <p:cNvPr id="93" name="N21/line/021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N21/text/022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95" name="N21/edit-box/023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N21/edit-note/024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Offline copy / retry placement / footer height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22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22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22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SHELF PAGE</a:t>
            </a:r>
          </a:p>
        </p:txBody>
      </p:sp>
      <p:sp>
        <p:nvSpPr>
          <p:cNvPr id="5" name="N22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External GTK drop target</a:t>
            </a:r>
          </a:p>
        </p:txBody>
      </p:sp>
      <p:sp>
        <p:nvSpPr>
          <p:cNvPr id="6" name="N22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Drag files near the notch → temporary GTK4 surface positioned by Mutter</a:t>
            </a:r>
          </a:p>
        </p:txBody>
      </p:sp>
      <p:cxnSp>
        <p:nvCxnSpPr>
          <p:cNvPr id="7" name="N22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22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22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N22</a:t>
            </a:r>
          </a:p>
        </p:txBody>
      </p:sp>
      <p:sp>
        <p:nvSpPr>
          <p:cNvPr id="10" name="N22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30</a:t>
            </a:r>
          </a:p>
        </p:txBody>
      </p:sp>
      <p:sp>
        <p:nvSpPr>
          <p:cNvPr id="11" name="N22/gnome-panel/010"/>
          <p:cNvSpPr/>
          <p:nvPr/>
        </p:nvSpPr>
        <p:spPr>
          <a:xfrm>
            <a:off x="502920" y="1783080"/>
            <a:ext cx="7635240" cy="36576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22/text/011"/>
          <p:cNvSpPr txBox="1"/>
          <p:nvPr/>
        </p:nvSpPr>
        <p:spPr>
          <a:xfrm>
            <a:off x="649224" y="1783080"/>
            <a:ext cx="1097280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7"/>
                </a:solidFill>
                <a:latin typeface="Arial"/>
              </a:rPr>
              <a:t>Activities</a:t>
            </a:r>
          </a:p>
        </p:txBody>
      </p:sp>
      <p:cxnSp>
        <p:nvCxnSpPr>
          <p:cNvPr id="13" name="N22/line/012"/>
          <p:cNvCxnSpPr/>
          <p:nvPr/>
        </p:nvCxnSpPr>
        <p:spPr>
          <a:xfrm>
            <a:off x="7150608" y="1925955"/>
            <a:ext cx="0" cy="80010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22/poly/013"/>
          <p:cNvSpPr/>
          <p:nvPr/>
        </p:nvSpPr>
        <p:spPr>
          <a:xfrm>
            <a:off x="7126605" y="1925955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24003"/>
                </a:moveTo>
                <a:lnTo>
                  <a:pt x="24003" y="0"/>
                </a:lnTo>
                <a:lnTo>
                  <a:pt x="48006" y="24003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22/poly/014"/>
          <p:cNvSpPr/>
          <p:nvPr/>
        </p:nvSpPr>
        <p:spPr>
          <a:xfrm>
            <a:off x="7126605" y="1981962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0"/>
                </a:moveTo>
                <a:lnTo>
                  <a:pt x="24003" y="24003"/>
                </a:lnTo>
                <a:lnTo>
                  <a:pt x="48006" y="0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22/poly/015"/>
          <p:cNvSpPr/>
          <p:nvPr/>
        </p:nvSpPr>
        <p:spPr>
          <a:xfrm>
            <a:off x="7339202" y="1925955"/>
            <a:ext cx="48006" cy="80010"/>
          </a:xfrm>
          <a:custGeom>
            <a:avLst/>
            <a:gdLst/>
            <a:ahLst/>
            <a:cxnLst/>
            <a:rect l="l" t="t" r="r" b="b"/>
            <a:pathLst>
              <a:path w="48006" h="80010">
                <a:moveTo>
                  <a:pt x="0" y="24003"/>
                </a:moveTo>
                <a:lnTo>
                  <a:pt x="24004" y="24003"/>
                </a:lnTo>
                <a:lnTo>
                  <a:pt x="48006" y="0"/>
                </a:lnTo>
                <a:lnTo>
                  <a:pt x="48006" y="80010"/>
                </a:lnTo>
                <a:lnTo>
                  <a:pt x="24004" y="56007"/>
                </a:lnTo>
                <a:lnTo>
                  <a:pt x="0" y="56007"/>
                </a:lnTo>
                <a:close/>
              </a:path>
            </a:pathLst>
          </a:cu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N22/line/016"/>
          <p:cNvCxnSpPr/>
          <p:nvPr/>
        </p:nvCxnSpPr>
        <p:spPr>
          <a:xfrm>
            <a:off x="7403211" y="1941957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N22/line/017"/>
          <p:cNvCxnSpPr/>
          <p:nvPr/>
        </p:nvCxnSpPr>
        <p:spPr>
          <a:xfrm flipH="1">
            <a:off x="7403211" y="1965960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N22/rect/018"/>
          <p:cNvSpPr/>
          <p:nvPr/>
        </p:nvSpPr>
        <p:spPr>
          <a:xfrm>
            <a:off x="7559802" y="1941957"/>
            <a:ext cx="88011" cy="48006"/>
          </a:xfrm>
          <a:prstGeom prst="roundRect">
            <a:avLst>
              <a:gd name="adj" fmla="val 16666"/>
            </a:avLst>
          </a:prstGeom>
          <a:noFill/>
          <a:ln w="1016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22/rect/019"/>
          <p:cNvSpPr/>
          <p:nvPr/>
        </p:nvSpPr>
        <p:spPr>
          <a:xfrm>
            <a:off x="7647813" y="1957959"/>
            <a:ext cx="12001" cy="1600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22/rect/020"/>
          <p:cNvSpPr/>
          <p:nvPr/>
        </p:nvSpPr>
        <p:spPr>
          <a:xfrm>
            <a:off x="7571803" y="1953958"/>
            <a:ext cx="48006" cy="24003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22/text/021"/>
          <p:cNvSpPr txBox="1"/>
          <p:nvPr/>
        </p:nvSpPr>
        <p:spPr>
          <a:xfrm>
            <a:off x="7754112" y="1783080"/>
            <a:ext cx="274320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F5F7"/>
                </a:solidFill>
                <a:latin typeface="Arial"/>
              </a:rPr>
              <a:t>⏻</a:t>
            </a:r>
          </a:p>
        </p:txBody>
      </p:sp>
      <p:grpSp>
        <p:nvGrpSpPr>
          <p:cNvPr id="23" name="N22/gtk-drop"/>
          <p:cNvGrpSpPr/>
          <p:nvPr/>
        </p:nvGrpSpPr>
        <p:grpSpPr>
          <a:xfrm>
            <a:off x="914400" y="2286000"/>
            <a:ext cx="6812280" cy="2926080"/>
            <a:chOff x="914400" y="2286000"/>
            <a:chExt cx="6812280" cy="2926080"/>
          </a:xfrm>
        </p:grpSpPr>
        <p:sp>
          <p:nvSpPr>
            <p:cNvPr id="24" name="N22/gtk-drop/rect/001"/>
            <p:cNvSpPr/>
            <p:nvPr/>
          </p:nvSpPr>
          <p:spPr>
            <a:xfrm>
              <a:off x="914400" y="2286000"/>
              <a:ext cx="6812280" cy="2926080"/>
            </a:xfrm>
            <a:prstGeom prst="roundRect">
              <a:avLst>
                <a:gd name="adj" fmla="val 7187"/>
              </a:avLst>
            </a:prstGeom>
            <a:solidFill>
              <a:srgbClr val="14231D"/>
            </a:solidFill>
            <a:ln w="25400">
              <a:solidFill>
                <a:srgbClr val="8EE4C0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N22/gtk-drop/line/002"/>
            <p:cNvCxnSpPr/>
            <p:nvPr/>
          </p:nvCxnSpPr>
          <p:spPr>
            <a:xfrm>
              <a:off x="4297680" y="2754630"/>
              <a:ext cx="0" cy="228600"/>
            </a:xfrm>
            <a:prstGeom prst="line">
              <a:avLst/>
            </a:prstGeom>
            <a:ln w="10160">
              <a:solidFill>
                <a:srgbClr val="E4FF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N22/gtk-drop/poly/003"/>
            <p:cNvSpPr/>
            <p:nvPr/>
          </p:nvSpPr>
          <p:spPr>
            <a:xfrm>
              <a:off x="4211955" y="2897505"/>
              <a:ext cx="171450" cy="85725"/>
            </a:xfrm>
            <a:custGeom>
              <a:avLst/>
              <a:gdLst/>
              <a:ahLst/>
              <a:cxnLst/>
              <a:rect l="l" t="t" r="r" b="b"/>
              <a:pathLst>
                <a:path w="171450" h="85725">
                  <a:moveTo>
                    <a:pt x="0" y="0"/>
                  </a:moveTo>
                  <a:lnTo>
                    <a:pt x="85725" y="85725"/>
                  </a:lnTo>
                  <a:lnTo>
                    <a:pt x="171450" y="0"/>
                  </a:lnTo>
                  <a:close/>
                </a:path>
              </a:pathLst>
            </a:custGeom>
            <a:noFill/>
            <a:ln w="12700">
              <a:solidFill>
                <a:srgbClr val="E4FFF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N22/gtk-drop/line/004"/>
            <p:cNvCxnSpPr/>
            <p:nvPr/>
          </p:nvCxnSpPr>
          <p:spPr>
            <a:xfrm>
              <a:off x="4154805" y="3068955"/>
              <a:ext cx="285750" cy="0"/>
            </a:xfrm>
            <a:prstGeom prst="line">
              <a:avLst/>
            </a:prstGeom>
            <a:ln w="10160">
              <a:solidFill>
                <a:srgbClr val="E4FF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N22/gtk-drop/text/005"/>
            <p:cNvSpPr txBox="1"/>
            <p:nvPr/>
          </p:nvSpPr>
          <p:spPr>
            <a:xfrm>
              <a:off x="1097280" y="3291840"/>
              <a:ext cx="6446520" cy="3657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 i="0">
                  <a:solidFill>
                    <a:srgbClr val="E4FFF1"/>
                  </a:solidFill>
                  <a:latin typeface="Arial"/>
                </a:rPr>
                <a:t>Drop files to stash</a:t>
              </a:r>
            </a:p>
          </p:txBody>
        </p:sp>
        <p:sp>
          <p:nvSpPr>
            <p:cNvPr id="29" name="N22/gtk-drop/text/006"/>
            <p:cNvSpPr txBox="1"/>
            <p:nvPr/>
          </p:nvSpPr>
          <p:spPr>
            <a:xfrm>
              <a:off x="1371600" y="3794760"/>
              <a:ext cx="5897880" cy="5486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ACD5BE"/>
                  </a:solidFill>
                  <a:latin typeface="Arial"/>
                </a:rPr>
                <a:t>Only shelf references are saved. Originals stay where they are.</a:t>
              </a:r>
            </a:p>
          </p:txBody>
        </p:sp>
      </p:grpSp>
      <p:sp>
        <p:nvSpPr>
          <p:cNvPr id="30" name="N22/text/022"/>
          <p:cNvSpPr txBox="1"/>
          <p:nvPr/>
        </p:nvSpPr>
        <p:spPr>
          <a:xfrm>
            <a:off x="502920" y="5440680"/>
            <a:ext cx="763524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Default target ≈600×232 at 640×320 open geometry. After drop: 'Files stashed. You can release the drag.'</a:t>
            </a:r>
          </a:p>
        </p:txBody>
      </p:sp>
      <p:sp>
        <p:nvSpPr>
          <p:cNvPr id="31" name="N22/spec-panel/023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22/text/024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33" name="N22/ellipse/025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N22/text/026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BG #14231D · text #E4FFF1</a:t>
            </a:r>
          </a:p>
        </p:txBody>
      </p:sp>
      <p:sp>
        <p:nvSpPr>
          <p:cNvPr id="35" name="N22/ellipse/027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N22/text/028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Dashed 2 px #8EE4C0</a:t>
            </a:r>
          </a:p>
        </p:txBody>
      </p:sp>
      <p:sp>
        <p:nvSpPr>
          <p:cNvPr id="37" name="N22/ellipse/029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22/text/030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Radius 22 · title 20 px bold</a:t>
            </a:r>
          </a:p>
        </p:txBody>
      </p:sp>
      <p:sp>
        <p:nvSpPr>
          <p:cNvPr id="39" name="N22/ellipse/031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N22/text/032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Detail #ACD5BE · icon 48 px</a:t>
            </a:r>
          </a:p>
        </p:txBody>
      </p:sp>
      <p:cxnSp>
        <p:nvCxnSpPr>
          <p:cNvPr id="41" name="N22/line/033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N22/text/034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43" name="N22/edit-box/035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22/edit-note/036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Target colors / copy / size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53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53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53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SHELF PAGE</a:t>
            </a:r>
          </a:p>
        </p:txBody>
      </p:sp>
      <p:sp>
        <p:nvSpPr>
          <p:cNvPr id="5" name="N53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Drop result and file chooser</a:t>
            </a:r>
          </a:p>
        </p:txBody>
      </p:sp>
      <p:sp>
        <p:nvSpPr>
          <p:cNvPr id="6" name="N53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Success feedback · invalid drop · GTK FileDialog</a:t>
            </a:r>
          </a:p>
        </p:txBody>
      </p:sp>
      <p:cxnSp>
        <p:nvCxnSpPr>
          <p:cNvPr id="7" name="N53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53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53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N53</a:t>
            </a:r>
          </a:p>
        </p:txBody>
      </p:sp>
      <p:sp>
        <p:nvSpPr>
          <p:cNvPr id="10" name="N53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31</a:t>
            </a:r>
          </a:p>
        </p:txBody>
      </p:sp>
      <p:sp>
        <p:nvSpPr>
          <p:cNvPr id="11" name="N53/rect/010"/>
          <p:cNvSpPr/>
          <p:nvPr/>
        </p:nvSpPr>
        <p:spPr>
          <a:xfrm>
            <a:off x="502920" y="1783080"/>
            <a:ext cx="3657600" cy="1371600"/>
          </a:xfrm>
          <a:prstGeom prst="roundRect">
            <a:avLst>
              <a:gd name="adj" fmla="val 12000"/>
            </a:avLst>
          </a:prstGeom>
          <a:solidFill>
            <a:srgbClr val="14231D"/>
          </a:solidFill>
          <a:ln w="19050">
            <a:solidFill>
              <a:srgbClr val="8EE4C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53/text/011"/>
          <p:cNvSpPr txBox="1"/>
          <p:nvPr/>
        </p:nvSpPr>
        <p:spPr>
          <a:xfrm>
            <a:off x="685800" y="1965960"/>
            <a:ext cx="329184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FFF1"/>
                </a:solidFill>
                <a:latin typeface="Arial"/>
              </a:rPr>
              <a:t>Drop success</a:t>
            </a:r>
          </a:p>
        </p:txBody>
      </p:sp>
      <p:sp>
        <p:nvSpPr>
          <p:cNvPr id="13" name="N53/text/012"/>
          <p:cNvSpPr txBox="1"/>
          <p:nvPr/>
        </p:nvSpPr>
        <p:spPr>
          <a:xfrm>
            <a:off x="685800" y="23317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CD5BE"/>
                </a:solidFill>
                <a:latin typeface="Arial"/>
              </a:rPr>
              <a:t>Files stashed. You can release the drag.</a:t>
            </a:r>
          </a:p>
        </p:txBody>
      </p:sp>
      <p:sp>
        <p:nvSpPr>
          <p:cNvPr id="14" name="N53/rect/013"/>
          <p:cNvSpPr/>
          <p:nvPr/>
        </p:nvSpPr>
        <p:spPr>
          <a:xfrm>
            <a:off x="502920" y="3429000"/>
            <a:ext cx="3657600" cy="1371600"/>
          </a:xfrm>
          <a:prstGeom prst="roundRect">
            <a:avLst>
              <a:gd name="adj" fmla="val 12000"/>
            </a:avLst>
          </a:prstGeom>
          <a:solidFill>
            <a:srgbClr val="2A1D12"/>
          </a:solidFill>
          <a:ln w="19050">
            <a:solidFill>
              <a:srgbClr val="FF9F0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53/text/014"/>
          <p:cNvSpPr txBox="1"/>
          <p:nvPr/>
        </p:nvSpPr>
        <p:spPr>
          <a:xfrm>
            <a:off x="685800" y="3611880"/>
            <a:ext cx="329184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9F0A"/>
                </a:solidFill>
                <a:latin typeface="Arial"/>
              </a:rPr>
              <a:t>Invalid / failed drop</a:t>
            </a:r>
          </a:p>
        </p:txBody>
      </p:sp>
      <p:sp>
        <p:nvSpPr>
          <p:cNvPr id="16" name="N53/text/015"/>
          <p:cNvSpPr txBox="1"/>
          <p:nvPr/>
        </p:nvSpPr>
        <p:spPr>
          <a:xfrm>
            <a:off x="685800" y="3977639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D0A9"/>
                </a:solidFill>
                <a:latin typeface="Arial"/>
              </a:rPr>
              <a:t>Helper shows the error text; target stays until drag leaves or retry.</a:t>
            </a:r>
          </a:p>
        </p:txBody>
      </p:sp>
      <p:grpSp>
        <p:nvGrpSpPr>
          <p:cNvPr id="17" name="N53/gtk-file-chooser"/>
          <p:cNvGrpSpPr/>
          <p:nvPr/>
        </p:nvGrpSpPr>
        <p:grpSpPr>
          <a:xfrm>
            <a:off x="4434840" y="1783080"/>
            <a:ext cx="3703320" cy="3017520"/>
            <a:chOff x="4434840" y="1783080"/>
            <a:chExt cx="3703320" cy="3017520"/>
          </a:xfrm>
        </p:grpSpPr>
        <p:sp>
          <p:nvSpPr>
            <p:cNvPr id="18" name="N53/gtk-file-chooser/rect/001"/>
            <p:cNvSpPr/>
            <p:nvPr/>
          </p:nvSpPr>
          <p:spPr>
            <a:xfrm>
              <a:off x="4434840" y="1783080"/>
              <a:ext cx="3703320" cy="3017520"/>
            </a:xfrm>
            <a:prstGeom prst="roundRect">
              <a:avLst>
                <a:gd name="adj" fmla="val 3636"/>
              </a:avLst>
            </a:prstGeom>
            <a:solidFill>
              <a:srgbClr val="242428"/>
            </a:solidFill>
            <a:ln w="12700">
              <a:solidFill>
                <a:srgbClr val="45454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N53/gtk-file-chooser/rect/002"/>
            <p:cNvSpPr/>
            <p:nvPr/>
          </p:nvSpPr>
          <p:spPr>
            <a:xfrm>
              <a:off x="4434840" y="1783080"/>
              <a:ext cx="3703320" cy="402336"/>
            </a:xfrm>
            <a:prstGeom prst="roundRect">
              <a:avLst>
                <a:gd name="adj" fmla="val 27272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53/gtk-file-chooser/text/003"/>
            <p:cNvSpPr txBox="1"/>
            <p:nvPr/>
          </p:nvSpPr>
          <p:spPr>
            <a:xfrm>
              <a:off x="4617720" y="1783080"/>
              <a:ext cx="3337560" cy="40233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FFFFF"/>
                  </a:solidFill>
                  <a:latin typeface="Arial"/>
                </a:rPr>
                <a:t>Add files to Notch</a:t>
              </a:r>
            </a:p>
          </p:txBody>
        </p:sp>
        <p:sp>
          <p:nvSpPr>
            <p:cNvPr id="21" name="N53/gtk-file-chooser/rect/004"/>
            <p:cNvSpPr/>
            <p:nvPr/>
          </p:nvSpPr>
          <p:spPr>
            <a:xfrm>
              <a:off x="4617720" y="2350008"/>
              <a:ext cx="1371600" cy="2249424"/>
            </a:xfrm>
            <a:prstGeom prst="roundRect">
              <a:avLst>
                <a:gd name="adj" fmla="val 5333"/>
              </a:avLst>
            </a:prstGeom>
            <a:solidFill>
              <a:srgbClr val="2A2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53/gtk-file-chooser/text/005"/>
            <p:cNvSpPr txBox="1"/>
            <p:nvPr/>
          </p:nvSpPr>
          <p:spPr>
            <a:xfrm>
              <a:off x="4754879" y="2496312"/>
              <a:ext cx="11430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Recent</a:t>
              </a:r>
            </a:p>
          </p:txBody>
        </p:sp>
        <p:sp>
          <p:nvSpPr>
            <p:cNvPr id="23" name="N53/gtk-file-chooser/text/006"/>
            <p:cNvSpPr txBox="1"/>
            <p:nvPr/>
          </p:nvSpPr>
          <p:spPr>
            <a:xfrm>
              <a:off x="4754879" y="2825496"/>
              <a:ext cx="11430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Home</a:t>
              </a:r>
            </a:p>
          </p:txBody>
        </p:sp>
        <p:sp>
          <p:nvSpPr>
            <p:cNvPr id="24" name="N53/gtk-file-chooser/text/007"/>
            <p:cNvSpPr txBox="1"/>
            <p:nvPr/>
          </p:nvSpPr>
          <p:spPr>
            <a:xfrm>
              <a:off x="4754879" y="3154680"/>
              <a:ext cx="11430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Documents</a:t>
              </a:r>
            </a:p>
          </p:txBody>
        </p:sp>
        <p:sp>
          <p:nvSpPr>
            <p:cNvPr id="25" name="N53/gtk-file-chooser/text/008"/>
            <p:cNvSpPr txBox="1"/>
            <p:nvPr/>
          </p:nvSpPr>
          <p:spPr>
            <a:xfrm>
              <a:off x="4754879" y="3483864"/>
              <a:ext cx="11430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Downloads</a:t>
              </a:r>
            </a:p>
          </p:txBody>
        </p:sp>
        <p:sp>
          <p:nvSpPr>
            <p:cNvPr id="26" name="N53/gtk-file-chooser/text/009"/>
            <p:cNvSpPr txBox="1"/>
            <p:nvPr/>
          </p:nvSpPr>
          <p:spPr>
            <a:xfrm>
              <a:off x="4754879" y="3813048"/>
              <a:ext cx="11430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Other Locations</a:t>
              </a:r>
            </a:p>
          </p:txBody>
        </p:sp>
        <p:sp>
          <p:nvSpPr>
            <p:cNvPr id="27" name="N53/gtk-file-chooser/rect/010"/>
            <p:cNvSpPr/>
            <p:nvPr/>
          </p:nvSpPr>
          <p:spPr>
            <a:xfrm>
              <a:off x="6172200" y="2350008"/>
              <a:ext cx="1783079" cy="310896"/>
            </a:xfrm>
            <a:prstGeom prst="roundRect">
              <a:avLst>
                <a:gd name="adj" fmla="val 17647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N53/gtk-file-chooser/text/011"/>
            <p:cNvSpPr txBox="1"/>
            <p:nvPr/>
          </p:nvSpPr>
          <p:spPr>
            <a:xfrm>
              <a:off x="6309359" y="2350008"/>
              <a:ext cx="150876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Downloads</a:t>
              </a:r>
            </a:p>
          </p:txBody>
        </p:sp>
        <p:sp>
          <p:nvSpPr>
            <p:cNvPr id="29" name="N53/gtk-file-chooser/rect/012"/>
            <p:cNvSpPr/>
            <p:nvPr/>
          </p:nvSpPr>
          <p:spPr>
            <a:xfrm>
              <a:off x="6172200" y="2788920"/>
              <a:ext cx="1783079" cy="347472"/>
            </a:xfrm>
            <a:prstGeom prst="roundRect">
              <a:avLst>
                <a:gd name="adj" fmla="val 1578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N53/gtk-file-chooser/poly/013"/>
            <p:cNvSpPr/>
            <p:nvPr/>
          </p:nvSpPr>
          <p:spPr>
            <a:xfrm>
              <a:off x="6327647" y="2884932"/>
              <a:ext cx="91441" cy="137159"/>
            </a:xfrm>
            <a:custGeom>
              <a:avLst/>
              <a:gdLst/>
              <a:ahLst/>
              <a:cxnLst/>
              <a:rect l="l" t="t" r="r" b="b"/>
              <a:pathLst>
                <a:path w="91441" h="137159">
                  <a:moveTo>
                    <a:pt x="0" y="0"/>
                  </a:moveTo>
                  <a:lnTo>
                    <a:pt x="57150" y="0"/>
                  </a:lnTo>
                  <a:lnTo>
                    <a:pt x="91441" y="34290"/>
                  </a:lnTo>
                  <a:lnTo>
                    <a:pt x="91441" y="137159"/>
                  </a:lnTo>
                  <a:lnTo>
                    <a:pt x="0" y="137159"/>
                  </a:lnTo>
                  <a:close/>
                </a:path>
              </a:pathLst>
            </a:custGeom>
            <a:noFill/>
            <a:ln w="12700">
              <a:solidFill>
                <a:srgbClr val="C0BFB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N53/gtk-file-chooser/line/014"/>
            <p:cNvCxnSpPr/>
            <p:nvPr/>
          </p:nvCxnSpPr>
          <p:spPr>
            <a:xfrm>
              <a:off x="6384797" y="2884932"/>
              <a:ext cx="0" cy="34290"/>
            </a:xfrm>
            <a:prstGeom prst="line">
              <a:avLst/>
            </a:prstGeom>
            <a:ln w="10160">
              <a:solidFill>
                <a:srgbClr val="C0BFB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N53/gtk-file-chooser/line/015"/>
            <p:cNvCxnSpPr/>
            <p:nvPr/>
          </p:nvCxnSpPr>
          <p:spPr>
            <a:xfrm>
              <a:off x="6384797" y="2919222"/>
              <a:ext cx="34291" cy="0"/>
            </a:xfrm>
            <a:prstGeom prst="line">
              <a:avLst/>
            </a:prstGeom>
            <a:ln w="10160">
              <a:solidFill>
                <a:srgbClr val="C0BFB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N53/gtk-file-chooser/text/016"/>
            <p:cNvSpPr txBox="1"/>
            <p:nvPr/>
          </p:nvSpPr>
          <p:spPr>
            <a:xfrm>
              <a:off x="6556248" y="2788920"/>
              <a:ext cx="914400" cy="34747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Fedora-44.iso</a:t>
              </a:r>
            </a:p>
          </p:txBody>
        </p:sp>
        <p:sp>
          <p:nvSpPr>
            <p:cNvPr id="34" name="N53/gtk-file-chooser/text/017"/>
            <p:cNvSpPr txBox="1"/>
            <p:nvPr/>
          </p:nvSpPr>
          <p:spPr>
            <a:xfrm>
              <a:off x="7269479" y="2788920"/>
              <a:ext cx="640080" cy="34747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i="0">
                  <a:solidFill>
                    <a:srgbClr val="C0BFBC"/>
                  </a:solidFill>
                  <a:latin typeface="Arial"/>
                </a:rPr>
                <a:t>2.1 GB</a:t>
              </a:r>
            </a:p>
          </p:txBody>
        </p:sp>
        <p:sp>
          <p:nvSpPr>
            <p:cNvPr id="35" name="N53/gtk-file-chooser/rect/018"/>
            <p:cNvSpPr/>
            <p:nvPr/>
          </p:nvSpPr>
          <p:spPr>
            <a:xfrm>
              <a:off x="6172200" y="3191256"/>
              <a:ext cx="1783079" cy="347472"/>
            </a:xfrm>
            <a:prstGeom prst="roundRect">
              <a:avLst>
                <a:gd name="adj" fmla="val 15789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N53/gtk-file-chooser/poly/019"/>
            <p:cNvSpPr/>
            <p:nvPr/>
          </p:nvSpPr>
          <p:spPr>
            <a:xfrm>
              <a:off x="6327647" y="3287268"/>
              <a:ext cx="91441" cy="137159"/>
            </a:xfrm>
            <a:custGeom>
              <a:avLst/>
              <a:gdLst/>
              <a:ahLst/>
              <a:cxnLst/>
              <a:rect l="l" t="t" r="r" b="b"/>
              <a:pathLst>
                <a:path w="91441" h="137159">
                  <a:moveTo>
                    <a:pt x="0" y="0"/>
                  </a:moveTo>
                  <a:lnTo>
                    <a:pt x="57150" y="0"/>
                  </a:lnTo>
                  <a:lnTo>
                    <a:pt x="91441" y="34290"/>
                  </a:lnTo>
                  <a:lnTo>
                    <a:pt x="91441" y="137159"/>
                  </a:lnTo>
                  <a:lnTo>
                    <a:pt x="0" y="137159"/>
                  </a:lnTo>
                  <a:close/>
                </a:path>
              </a:pathLst>
            </a:custGeom>
            <a:noFill/>
            <a:ln w="12700">
              <a:solidFill>
                <a:srgbClr val="C0BFB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7" name="N53/gtk-file-chooser/line/020"/>
            <p:cNvCxnSpPr/>
            <p:nvPr/>
          </p:nvCxnSpPr>
          <p:spPr>
            <a:xfrm>
              <a:off x="6384797" y="3287268"/>
              <a:ext cx="0" cy="34290"/>
            </a:xfrm>
            <a:prstGeom prst="line">
              <a:avLst/>
            </a:prstGeom>
            <a:ln w="10160">
              <a:solidFill>
                <a:srgbClr val="C0BFB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N53/gtk-file-chooser/line/021"/>
            <p:cNvCxnSpPr/>
            <p:nvPr/>
          </p:nvCxnSpPr>
          <p:spPr>
            <a:xfrm>
              <a:off x="6384797" y="3321558"/>
              <a:ext cx="34291" cy="0"/>
            </a:xfrm>
            <a:prstGeom prst="line">
              <a:avLst/>
            </a:prstGeom>
            <a:ln w="10160">
              <a:solidFill>
                <a:srgbClr val="C0BFB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N53/gtk-file-chooser/text/022"/>
            <p:cNvSpPr txBox="1"/>
            <p:nvPr/>
          </p:nvSpPr>
          <p:spPr>
            <a:xfrm>
              <a:off x="6556248" y="3191256"/>
              <a:ext cx="914400" cy="34747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design.pptx</a:t>
              </a:r>
            </a:p>
          </p:txBody>
        </p:sp>
        <p:sp>
          <p:nvSpPr>
            <p:cNvPr id="40" name="N53/gtk-file-chooser/text/023"/>
            <p:cNvSpPr txBox="1"/>
            <p:nvPr/>
          </p:nvSpPr>
          <p:spPr>
            <a:xfrm>
              <a:off x="7269479" y="3191256"/>
              <a:ext cx="640080" cy="34747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i="0">
                  <a:solidFill>
                    <a:srgbClr val="C0BFBC"/>
                  </a:solidFill>
                  <a:latin typeface="Arial"/>
                </a:rPr>
                <a:t>318 KB</a:t>
              </a:r>
            </a:p>
          </p:txBody>
        </p:sp>
        <p:sp>
          <p:nvSpPr>
            <p:cNvPr id="41" name="N53/gtk-file-chooser/rect/024"/>
            <p:cNvSpPr/>
            <p:nvPr/>
          </p:nvSpPr>
          <p:spPr>
            <a:xfrm>
              <a:off x="6172200" y="3593591"/>
              <a:ext cx="1783079" cy="347472"/>
            </a:xfrm>
            <a:prstGeom prst="roundRect">
              <a:avLst>
                <a:gd name="adj" fmla="val 1578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N53/gtk-file-chooser/poly/025"/>
            <p:cNvSpPr/>
            <p:nvPr/>
          </p:nvSpPr>
          <p:spPr>
            <a:xfrm>
              <a:off x="6327647" y="3689604"/>
              <a:ext cx="91441" cy="137159"/>
            </a:xfrm>
            <a:custGeom>
              <a:avLst/>
              <a:gdLst/>
              <a:ahLst/>
              <a:cxnLst/>
              <a:rect l="l" t="t" r="r" b="b"/>
              <a:pathLst>
                <a:path w="91441" h="137159">
                  <a:moveTo>
                    <a:pt x="0" y="0"/>
                  </a:moveTo>
                  <a:lnTo>
                    <a:pt x="57150" y="0"/>
                  </a:lnTo>
                  <a:lnTo>
                    <a:pt x="91441" y="34290"/>
                  </a:lnTo>
                  <a:lnTo>
                    <a:pt x="91441" y="137159"/>
                  </a:lnTo>
                  <a:lnTo>
                    <a:pt x="0" y="137159"/>
                  </a:lnTo>
                  <a:close/>
                </a:path>
              </a:pathLst>
            </a:custGeom>
            <a:noFill/>
            <a:ln w="12700">
              <a:solidFill>
                <a:srgbClr val="C0BFB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3" name="N53/gtk-file-chooser/line/026"/>
            <p:cNvCxnSpPr/>
            <p:nvPr/>
          </p:nvCxnSpPr>
          <p:spPr>
            <a:xfrm>
              <a:off x="6384797" y="3689604"/>
              <a:ext cx="0" cy="34290"/>
            </a:xfrm>
            <a:prstGeom prst="line">
              <a:avLst/>
            </a:prstGeom>
            <a:ln w="10160">
              <a:solidFill>
                <a:srgbClr val="C0BFB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53/gtk-file-chooser/line/027"/>
            <p:cNvCxnSpPr/>
            <p:nvPr/>
          </p:nvCxnSpPr>
          <p:spPr>
            <a:xfrm>
              <a:off x="6384797" y="3723894"/>
              <a:ext cx="34291" cy="0"/>
            </a:xfrm>
            <a:prstGeom prst="line">
              <a:avLst/>
            </a:prstGeom>
            <a:ln w="10160">
              <a:solidFill>
                <a:srgbClr val="C0BFB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N53/gtk-file-chooser/text/028"/>
            <p:cNvSpPr txBox="1"/>
            <p:nvPr/>
          </p:nvSpPr>
          <p:spPr>
            <a:xfrm>
              <a:off x="6556248" y="3593591"/>
              <a:ext cx="914400" cy="34747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notes.md</a:t>
              </a:r>
            </a:p>
          </p:txBody>
        </p:sp>
        <p:sp>
          <p:nvSpPr>
            <p:cNvPr id="46" name="N53/gtk-file-chooser/text/029"/>
            <p:cNvSpPr txBox="1"/>
            <p:nvPr/>
          </p:nvSpPr>
          <p:spPr>
            <a:xfrm>
              <a:off x="7269479" y="3593591"/>
              <a:ext cx="640080" cy="34747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i="0">
                  <a:solidFill>
                    <a:srgbClr val="C0BFBC"/>
                  </a:solidFill>
                  <a:latin typeface="Arial"/>
                </a:rPr>
                <a:t>4 KB</a:t>
              </a:r>
            </a:p>
          </p:txBody>
        </p:sp>
        <p:sp>
          <p:nvSpPr>
            <p:cNvPr id="47" name="N53/gtk-file-chooser/rect/030"/>
            <p:cNvSpPr/>
            <p:nvPr/>
          </p:nvSpPr>
          <p:spPr>
            <a:xfrm>
              <a:off x="7132319" y="4343400"/>
              <a:ext cx="822960" cy="292608"/>
            </a:xfrm>
            <a:prstGeom prst="roundRect">
              <a:avLst>
                <a:gd name="adj" fmla="val 18750"/>
              </a:avLst>
            </a:prstGeom>
            <a:solidFill>
              <a:srgbClr val="78AE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N53/gtk-file-chooser/text/031"/>
            <p:cNvSpPr txBox="1"/>
            <p:nvPr/>
          </p:nvSpPr>
          <p:spPr>
            <a:xfrm>
              <a:off x="7132319" y="4343400"/>
              <a:ext cx="822960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i="0">
                  <a:solidFill>
                    <a:srgbClr val="000000"/>
                  </a:solidFill>
                  <a:latin typeface="Arial"/>
                </a:rPr>
                <a:t>Stash</a:t>
              </a:r>
            </a:p>
          </p:txBody>
        </p:sp>
      </p:grpSp>
      <p:sp>
        <p:nvSpPr>
          <p:cNvPr id="49" name="N53/text/016"/>
          <p:cNvSpPr txBox="1"/>
          <p:nvPr/>
        </p:nvSpPr>
        <p:spPr>
          <a:xfrm>
            <a:off x="4434840" y="4983480"/>
            <a:ext cx="370332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Add files → GTK FileDialog / portal · accept label 'Stash'.</a:t>
            </a:r>
          </a:p>
        </p:txBody>
      </p:sp>
      <p:sp>
        <p:nvSpPr>
          <p:cNvPr id="50" name="N53/spec-panel/017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N53/text/018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52" name="N53/ellipse/019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N53/text/020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Only file:// references accepted</a:t>
            </a:r>
          </a:p>
        </p:txBody>
      </p:sp>
      <p:sp>
        <p:nvSpPr>
          <p:cNvPr id="54" name="N53/ellipse/021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N53/text/022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Originals never moved/deleted</a:t>
            </a:r>
          </a:p>
        </p:txBody>
      </p:sp>
      <p:sp>
        <p:nvSpPr>
          <p:cNvPr id="56" name="N53/ellipse/023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N53/text/024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Chooser can select multiple files</a:t>
            </a:r>
          </a:p>
        </p:txBody>
      </p:sp>
      <p:sp>
        <p:nvSpPr>
          <p:cNvPr id="58" name="N53/ellipse/025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N53/text/026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Helper exits after idle timeout</a:t>
            </a:r>
          </a:p>
        </p:txBody>
      </p:sp>
      <p:cxnSp>
        <p:nvCxnSpPr>
          <p:cNvPr id="60" name="N53/line/027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N53/text/028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62" name="N53/edit-box/029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N53/edit-note/030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Drop feedback / chooser labels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23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23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23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CLIPS PAGE</a:t>
            </a:r>
          </a:p>
        </p:txBody>
      </p:sp>
      <p:sp>
        <p:nvSpPr>
          <p:cNvPr id="5" name="N23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Clips — manual only / empty</a:t>
            </a:r>
          </a:p>
        </p:txBody>
      </p:sp>
      <p:sp>
        <p:nvSpPr>
          <p:cNvPr id="6" name="N23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clipboard-enabled=false by default · explicit Capture now still works</a:t>
            </a:r>
          </a:p>
        </p:txBody>
      </p:sp>
      <p:cxnSp>
        <p:nvCxnSpPr>
          <p:cNvPr id="7" name="N23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23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23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N23</a:t>
            </a:r>
          </a:p>
        </p:txBody>
      </p:sp>
      <p:sp>
        <p:nvSpPr>
          <p:cNvPr id="10" name="N23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32</a:t>
            </a:r>
          </a:p>
        </p:txBody>
      </p:sp>
      <p:grpSp>
        <p:nvGrpSpPr>
          <p:cNvPr id="11" name="N23/notch-clipboard"/>
          <p:cNvGrpSpPr/>
          <p:nvPr/>
        </p:nvGrpSpPr>
        <p:grpSpPr>
          <a:xfrm>
            <a:off x="682942" y="1710499"/>
            <a:ext cx="7458075" cy="3857625"/>
            <a:chOff x="682942" y="1710499"/>
            <a:chExt cx="7458075" cy="3857625"/>
          </a:xfrm>
        </p:grpSpPr>
        <p:sp>
          <p:nvSpPr>
            <p:cNvPr id="12" name="N23/notch-clipboard/notch-surface-open/001"/>
            <p:cNvSpPr/>
            <p:nvPr/>
          </p:nvSpPr>
          <p:spPr>
            <a:xfrm>
              <a:off x="682942" y="1710499"/>
              <a:ext cx="7458075" cy="3857625"/>
            </a:xfrm>
            <a:custGeom>
              <a:avLst/>
              <a:gdLst/>
              <a:ahLst/>
              <a:cxnLst/>
              <a:rect l="l" t="t" r="r" b="b"/>
              <a:pathLst>
                <a:path w="7458075" h="3857625">
                  <a:moveTo>
                    <a:pt x="0" y="0"/>
                  </a:moveTo>
                  <a:lnTo>
                    <a:pt x="7458075" y="0"/>
                  </a:lnTo>
                  <a:lnTo>
                    <a:pt x="7424195" y="3817"/>
                  </a:lnTo>
                  <a:lnTo>
                    <a:pt x="7385544" y="15270"/>
                  </a:lnTo>
                  <a:lnTo>
                    <a:pt x="7344983" y="34357"/>
                  </a:lnTo>
                  <a:lnTo>
                    <a:pt x="7305377" y="61079"/>
                  </a:lnTo>
                  <a:lnTo>
                    <a:pt x="7269589" y="95436"/>
                  </a:lnTo>
                  <a:lnTo>
                    <a:pt x="7240481" y="137428"/>
                  </a:lnTo>
                  <a:lnTo>
                    <a:pt x="7220916" y="187055"/>
                  </a:lnTo>
                  <a:lnTo>
                    <a:pt x="7213759" y="244316"/>
                  </a:lnTo>
                  <a:lnTo>
                    <a:pt x="7207829" y="3609222"/>
                  </a:lnTo>
                  <a:lnTo>
                    <a:pt x="7190267" y="3667115"/>
                  </a:lnTo>
                  <a:lnTo>
                    <a:pt x="7161749" y="3720470"/>
                  </a:lnTo>
                  <a:lnTo>
                    <a:pt x="7123369" y="3767235"/>
                  </a:lnTo>
                  <a:lnTo>
                    <a:pt x="7076603" y="3805615"/>
                  </a:lnTo>
                  <a:lnTo>
                    <a:pt x="7023249" y="3834133"/>
                  </a:lnTo>
                  <a:lnTo>
                    <a:pt x="6965356" y="3851695"/>
                  </a:lnTo>
                  <a:lnTo>
                    <a:pt x="6905149" y="3857625"/>
                  </a:lnTo>
                  <a:lnTo>
                    <a:pt x="552926" y="3857625"/>
                  </a:lnTo>
                  <a:lnTo>
                    <a:pt x="492719" y="3851695"/>
                  </a:lnTo>
                  <a:lnTo>
                    <a:pt x="434826" y="3834133"/>
                  </a:lnTo>
                  <a:lnTo>
                    <a:pt x="381472" y="3805615"/>
                  </a:lnTo>
                  <a:lnTo>
                    <a:pt x="334706" y="3767235"/>
                  </a:lnTo>
                  <a:lnTo>
                    <a:pt x="296326" y="3720470"/>
                  </a:lnTo>
                  <a:lnTo>
                    <a:pt x="267808" y="3667115"/>
                  </a:lnTo>
                  <a:lnTo>
                    <a:pt x="250246" y="3609222"/>
                  </a:lnTo>
                  <a:lnTo>
                    <a:pt x="244316" y="3549015"/>
                  </a:lnTo>
                  <a:lnTo>
                    <a:pt x="244316" y="244316"/>
                  </a:lnTo>
                  <a:lnTo>
                    <a:pt x="237159" y="187055"/>
                  </a:lnTo>
                  <a:lnTo>
                    <a:pt x="217594" y="137428"/>
                  </a:lnTo>
                  <a:lnTo>
                    <a:pt x="188486" y="95436"/>
                  </a:lnTo>
                  <a:lnTo>
                    <a:pt x="152698" y="61079"/>
                  </a:lnTo>
                  <a:lnTo>
                    <a:pt x="113092" y="34357"/>
                  </a:lnTo>
                  <a:lnTo>
                    <a:pt x="72531" y="15270"/>
                  </a:lnTo>
                  <a:lnTo>
                    <a:pt x="33880" y="38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23/notch-clipboard/button-home/002"/>
            <p:cNvSpPr/>
            <p:nvPr/>
          </p:nvSpPr>
          <p:spPr>
            <a:xfrm>
              <a:off x="940117" y="2314860"/>
              <a:ext cx="411480" cy="385762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23/notch-clipboard/poly/003"/>
            <p:cNvSpPr/>
            <p:nvPr/>
          </p:nvSpPr>
          <p:spPr>
            <a:xfrm>
              <a:off x="1068705" y="2430589"/>
              <a:ext cx="154305" cy="154305"/>
            </a:xfrm>
            <a:custGeom>
              <a:avLst/>
              <a:gdLst/>
              <a:ahLst/>
              <a:cxnLst/>
              <a:rect l="l" t="t" r="r" b="b"/>
              <a:pathLst>
                <a:path w="154305" h="154305">
                  <a:moveTo>
                    <a:pt x="77152" y="0"/>
                  </a:moveTo>
                  <a:lnTo>
                    <a:pt x="0" y="64294"/>
                  </a:lnTo>
                  <a:lnTo>
                    <a:pt x="25717" y="64294"/>
                  </a:lnTo>
                  <a:lnTo>
                    <a:pt x="25717" y="154305"/>
                  </a:lnTo>
                  <a:lnTo>
                    <a:pt x="64293" y="154305"/>
                  </a:lnTo>
                  <a:lnTo>
                    <a:pt x="64293" y="102870"/>
                  </a:lnTo>
                  <a:lnTo>
                    <a:pt x="90011" y="102870"/>
                  </a:lnTo>
                  <a:lnTo>
                    <a:pt x="90011" y="154305"/>
                  </a:lnTo>
                  <a:lnTo>
                    <a:pt x="128587" y="154305"/>
                  </a:lnTo>
                  <a:lnTo>
                    <a:pt x="128587" y="64294"/>
                  </a:lnTo>
                  <a:lnTo>
                    <a:pt x="154305" y="64294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23/notch-clipboard/button-music/004"/>
            <p:cNvSpPr/>
            <p:nvPr/>
          </p:nvSpPr>
          <p:spPr>
            <a:xfrm>
              <a:off x="1403032" y="2314860"/>
              <a:ext cx="411480" cy="385762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N23/notch-clipboard/line/005"/>
            <p:cNvCxnSpPr/>
            <p:nvPr/>
          </p:nvCxnSpPr>
          <p:spPr>
            <a:xfrm flipV="1">
              <a:off x="1583055" y="2456307"/>
              <a:ext cx="0" cy="1028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N23/notch-clipboard/line/006"/>
            <p:cNvCxnSpPr/>
            <p:nvPr/>
          </p:nvCxnSpPr>
          <p:spPr>
            <a:xfrm flipV="1">
              <a:off x="1583055" y="2443448"/>
              <a:ext cx="90011" cy="1285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23/notch-clipboard/line/007"/>
            <p:cNvCxnSpPr/>
            <p:nvPr/>
          </p:nvCxnSpPr>
          <p:spPr>
            <a:xfrm>
              <a:off x="1673066" y="2443448"/>
              <a:ext cx="0" cy="1028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N23/notch-clipboard/ellipse/008"/>
            <p:cNvSpPr/>
            <p:nvPr/>
          </p:nvSpPr>
          <p:spPr>
            <a:xfrm>
              <a:off x="1544478" y="2539888"/>
              <a:ext cx="45005" cy="38576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23/notch-clipboard/ellipse/009"/>
            <p:cNvSpPr/>
            <p:nvPr/>
          </p:nvSpPr>
          <p:spPr>
            <a:xfrm>
              <a:off x="1634490" y="2527030"/>
              <a:ext cx="45005" cy="38576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23/notch-clipboard/button-bell/010"/>
            <p:cNvSpPr/>
            <p:nvPr/>
          </p:nvSpPr>
          <p:spPr>
            <a:xfrm>
              <a:off x="1865947" y="2314860"/>
              <a:ext cx="411480" cy="385762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23/notch-clipboard/poly/011"/>
            <p:cNvSpPr/>
            <p:nvPr/>
          </p:nvSpPr>
          <p:spPr>
            <a:xfrm>
              <a:off x="2007393" y="2430589"/>
              <a:ext cx="128588" cy="115729"/>
            </a:xfrm>
            <a:custGeom>
              <a:avLst/>
              <a:gdLst/>
              <a:ahLst/>
              <a:cxnLst/>
              <a:rect l="l" t="t" r="r" b="b"/>
              <a:pathLst>
                <a:path w="128588" h="115729">
                  <a:moveTo>
                    <a:pt x="64294" y="0"/>
                  </a:moveTo>
                  <a:lnTo>
                    <a:pt x="25718" y="25718"/>
                  </a:lnTo>
                  <a:lnTo>
                    <a:pt x="12859" y="77152"/>
                  </a:lnTo>
                  <a:lnTo>
                    <a:pt x="0" y="115729"/>
                  </a:lnTo>
                  <a:lnTo>
                    <a:pt x="128588" y="115729"/>
                  </a:lnTo>
                  <a:lnTo>
                    <a:pt x="115729" y="77152"/>
                  </a:lnTo>
                  <a:lnTo>
                    <a:pt x="102870" y="25718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N23/notch-clipboard/line/012"/>
            <p:cNvCxnSpPr/>
            <p:nvPr/>
          </p:nvCxnSpPr>
          <p:spPr>
            <a:xfrm>
              <a:off x="2045970" y="2572035"/>
              <a:ext cx="5143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N23/notch-clipboard/ellipse/013"/>
            <p:cNvSpPr/>
            <p:nvPr/>
          </p:nvSpPr>
          <p:spPr>
            <a:xfrm>
              <a:off x="2058828" y="2417730"/>
              <a:ext cx="25717" cy="25717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23/notch-clipboard/button-chart/014"/>
            <p:cNvSpPr/>
            <p:nvPr/>
          </p:nvSpPr>
          <p:spPr>
            <a:xfrm>
              <a:off x="2328862" y="2314860"/>
              <a:ext cx="411480" cy="385762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N23/notch-clipboard/line/015"/>
            <p:cNvCxnSpPr/>
            <p:nvPr/>
          </p:nvCxnSpPr>
          <p:spPr>
            <a:xfrm>
              <a:off x="2457450" y="2584894"/>
              <a:ext cx="15430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N23/notch-clipboard/line/016"/>
            <p:cNvCxnSpPr/>
            <p:nvPr/>
          </p:nvCxnSpPr>
          <p:spPr>
            <a:xfrm flipV="1">
              <a:off x="2470308" y="2494883"/>
              <a:ext cx="38577" cy="5143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23/notch-clipboard/line/017"/>
            <p:cNvCxnSpPr/>
            <p:nvPr/>
          </p:nvCxnSpPr>
          <p:spPr>
            <a:xfrm>
              <a:off x="2508885" y="2494883"/>
              <a:ext cx="38576" cy="2571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23/notch-clipboard/line/018"/>
            <p:cNvCxnSpPr/>
            <p:nvPr/>
          </p:nvCxnSpPr>
          <p:spPr>
            <a:xfrm flipV="1">
              <a:off x="2547461" y="2443448"/>
              <a:ext cx="51435" cy="7715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N23/notch-clipboard/button-folder/019"/>
            <p:cNvSpPr/>
            <p:nvPr/>
          </p:nvSpPr>
          <p:spPr>
            <a:xfrm>
              <a:off x="2791777" y="2314860"/>
              <a:ext cx="411480" cy="385762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N23/notch-clipboard/poly/020"/>
            <p:cNvSpPr/>
            <p:nvPr/>
          </p:nvSpPr>
          <p:spPr>
            <a:xfrm>
              <a:off x="2920365" y="2469165"/>
              <a:ext cx="154305" cy="102870"/>
            </a:xfrm>
            <a:custGeom>
              <a:avLst/>
              <a:gdLst/>
              <a:ahLst/>
              <a:cxnLst/>
              <a:rect l="l" t="t" r="r" b="b"/>
              <a:pathLst>
                <a:path w="154305" h="102870">
                  <a:moveTo>
                    <a:pt x="0" y="0"/>
                  </a:moveTo>
                  <a:lnTo>
                    <a:pt x="51435" y="0"/>
                  </a:lnTo>
                  <a:lnTo>
                    <a:pt x="70723" y="25718"/>
                  </a:lnTo>
                  <a:lnTo>
                    <a:pt x="154305" y="25718"/>
                  </a:lnTo>
                  <a:lnTo>
                    <a:pt x="154305" y="102870"/>
                  </a:lnTo>
                  <a:lnTo>
                    <a:pt x="0" y="102870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23/notch-clipboard/button-Clips/021"/>
            <p:cNvSpPr/>
            <p:nvPr/>
          </p:nvSpPr>
          <p:spPr>
            <a:xfrm>
              <a:off x="3254692" y="2314860"/>
              <a:ext cx="1242155" cy="385762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23/notch-clipboard/rect/022"/>
            <p:cNvSpPr/>
            <p:nvPr/>
          </p:nvSpPr>
          <p:spPr>
            <a:xfrm>
              <a:off x="3515725" y="2443448"/>
              <a:ext cx="102870" cy="141446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23/notch-clipboard/rect/023"/>
            <p:cNvSpPr/>
            <p:nvPr/>
          </p:nvSpPr>
          <p:spPr>
            <a:xfrm>
              <a:off x="3541442" y="2424160"/>
              <a:ext cx="51435" cy="32146"/>
            </a:xfrm>
            <a:prstGeom prst="roundRect">
              <a:avLst>
                <a:gd name="adj" fmla="val 24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5" name="N23/notch-clipboard/line/024"/>
            <p:cNvCxnSpPr/>
            <p:nvPr/>
          </p:nvCxnSpPr>
          <p:spPr>
            <a:xfrm>
              <a:off x="3541442" y="2494883"/>
              <a:ext cx="51435" cy="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N23/notch-clipboard/line/025"/>
            <p:cNvCxnSpPr/>
            <p:nvPr/>
          </p:nvCxnSpPr>
          <p:spPr>
            <a:xfrm>
              <a:off x="3541442" y="2527030"/>
              <a:ext cx="51435" cy="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N23/notch-clipboard/text/026"/>
            <p:cNvSpPr txBox="1"/>
            <p:nvPr/>
          </p:nvSpPr>
          <p:spPr>
            <a:xfrm>
              <a:off x="3747182" y="2314860"/>
              <a:ext cx="723947" cy="38576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17" b="1" i="0">
                  <a:solidFill>
                    <a:srgbClr val="FFFFFF"/>
                  </a:solidFill>
                  <a:latin typeface="Arial"/>
                </a:rPr>
                <a:t>Clips</a:t>
              </a:r>
            </a:p>
          </p:txBody>
        </p:sp>
        <p:sp>
          <p:nvSpPr>
            <p:cNvPr id="38" name="N23/notch-clipboard/button-gear/027"/>
            <p:cNvSpPr/>
            <p:nvPr/>
          </p:nvSpPr>
          <p:spPr>
            <a:xfrm>
              <a:off x="6983730" y="2302001"/>
              <a:ext cx="411480" cy="41148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23/notch-clipboard/ellipse/028"/>
            <p:cNvSpPr/>
            <p:nvPr/>
          </p:nvSpPr>
          <p:spPr>
            <a:xfrm>
              <a:off x="7150893" y="2469165"/>
              <a:ext cx="77152" cy="77152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23/notch-clipboard/line/029"/>
            <p:cNvCxnSpPr/>
            <p:nvPr/>
          </p:nvCxnSpPr>
          <p:spPr>
            <a:xfrm>
              <a:off x="7253763" y="2507741"/>
              <a:ext cx="2571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23/notch-clipboard/line/030"/>
            <p:cNvCxnSpPr/>
            <p:nvPr/>
          </p:nvCxnSpPr>
          <p:spPr>
            <a:xfrm>
              <a:off x="7234932" y="2553204"/>
              <a:ext cx="18185" cy="1818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23/notch-clipboard/line/031"/>
            <p:cNvCxnSpPr/>
            <p:nvPr/>
          </p:nvCxnSpPr>
          <p:spPr>
            <a:xfrm>
              <a:off x="7189470" y="2572035"/>
              <a:ext cx="0" cy="2571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23/notch-clipboard/line/032"/>
            <p:cNvCxnSpPr/>
            <p:nvPr/>
          </p:nvCxnSpPr>
          <p:spPr>
            <a:xfrm flipH="1">
              <a:off x="7125822" y="2553204"/>
              <a:ext cx="18185" cy="1818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23/notch-clipboard/line/033"/>
            <p:cNvCxnSpPr/>
            <p:nvPr/>
          </p:nvCxnSpPr>
          <p:spPr>
            <a:xfrm flipH="1">
              <a:off x="7099458" y="2507741"/>
              <a:ext cx="2571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23/notch-clipboard/line/034"/>
            <p:cNvCxnSpPr/>
            <p:nvPr/>
          </p:nvCxnSpPr>
          <p:spPr>
            <a:xfrm flipH="1" flipV="1">
              <a:off x="7125822" y="2444094"/>
              <a:ext cx="18185" cy="1818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23/notch-clipboard/line/035"/>
            <p:cNvCxnSpPr/>
            <p:nvPr/>
          </p:nvCxnSpPr>
          <p:spPr>
            <a:xfrm flipV="1">
              <a:off x="7189470" y="2417730"/>
              <a:ext cx="0" cy="2571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23/notch-clipboard/line/036"/>
            <p:cNvCxnSpPr/>
            <p:nvPr/>
          </p:nvCxnSpPr>
          <p:spPr>
            <a:xfrm flipV="1">
              <a:off x="7234932" y="2444094"/>
              <a:ext cx="18185" cy="1818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23/notch-clipboard/button-close/037"/>
            <p:cNvSpPr/>
            <p:nvPr/>
          </p:nvSpPr>
          <p:spPr>
            <a:xfrm>
              <a:off x="7472362" y="2302001"/>
              <a:ext cx="411480" cy="41148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23/notch-clipboard/line/038"/>
            <p:cNvCxnSpPr/>
            <p:nvPr/>
          </p:nvCxnSpPr>
          <p:spPr>
            <a:xfrm>
              <a:off x="7626667" y="2456306"/>
              <a:ext cx="102870" cy="1028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23/notch-clipboard/line/039"/>
            <p:cNvCxnSpPr/>
            <p:nvPr/>
          </p:nvCxnSpPr>
          <p:spPr>
            <a:xfrm flipH="1">
              <a:off x="7626667" y="2456306"/>
              <a:ext cx="102870" cy="1028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23/notch-clipboard/text/040"/>
            <p:cNvSpPr txBox="1"/>
            <p:nvPr/>
          </p:nvSpPr>
          <p:spPr>
            <a:xfrm>
              <a:off x="940117" y="2790634"/>
              <a:ext cx="3960494" cy="2828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36" b="1" i="0">
                  <a:solidFill>
                    <a:srgbClr val="F5F5F7"/>
                  </a:solidFill>
                  <a:latin typeface="Arial"/>
                </a:rPr>
                <a:t>Clipboard history · manual only</a:t>
              </a:r>
            </a:p>
          </p:txBody>
        </p:sp>
        <p:sp>
          <p:nvSpPr>
            <p:cNvPr id="52" name="N23/notch-clipboard/button-Capture now/041"/>
            <p:cNvSpPr/>
            <p:nvPr/>
          </p:nvSpPr>
          <p:spPr>
            <a:xfrm>
              <a:off x="4900612" y="2764916"/>
              <a:ext cx="1440180" cy="360045"/>
            </a:xfrm>
            <a:prstGeom prst="roundRect">
              <a:avLst>
                <a:gd name="adj" fmla="val 35714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N23/notch-clipboard/rect/042"/>
            <p:cNvSpPr/>
            <p:nvPr/>
          </p:nvSpPr>
          <p:spPr>
            <a:xfrm>
              <a:off x="5003482" y="2880645"/>
              <a:ext cx="102870" cy="141446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N23/notch-clipboard/rect/043"/>
            <p:cNvSpPr/>
            <p:nvPr/>
          </p:nvSpPr>
          <p:spPr>
            <a:xfrm>
              <a:off x="5029200" y="2861357"/>
              <a:ext cx="51435" cy="32146"/>
            </a:xfrm>
            <a:prstGeom prst="roundRect">
              <a:avLst>
                <a:gd name="adj" fmla="val 24000"/>
              </a:avLst>
            </a:pr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5" name="N23/notch-clipboard/line/044"/>
            <p:cNvCxnSpPr/>
            <p:nvPr/>
          </p:nvCxnSpPr>
          <p:spPr>
            <a:xfrm>
              <a:off x="5029200" y="2932080"/>
              <a:ext cx="51435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N23/notch-clipboard/line/045"/>
            <p:cNvCxnSpPr/>
            <p:nvPr/>
          </p:nvCxnSpPr>
          <p:spPr>
            <a:xfrm>
              <a:off x="5029200" y="2964227"/>
              <a:ext cx="51435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N23/notch-clipboard/text/046"/>
            <p:cNvSpPr txBox="1"/>
            <p:nvPr/>
          </p:nvSpPr>
          <p:spPr>
            <a:xfrm>
              <a:off x="5234940" y="2764916"/>
              <a:ext cx="1080134" cy="3600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75" b="0" i="0">
                  <a:solidFill>
                    <a:srgbClr val="E5E5EA"/>
                  </a:solidFill>
                  <a:latin typeface="Arial"/>
                </a:rPr>
                <a:t>Capture now</a:t>
              </a:r>
            </a:p>
          </p:txBody>
        </p:sp>
        <p:sp>
          <p:nvSpPr>
            <p:cNvPr id="58" name="N23/notch-clipboard/button-Clear history/047"/>
            <p:cNvSpPr/>
            <p:nvPr/>
          </p:nvSpPr>
          <p:spPr>
            <a:xfrm>
              <a:off x="6443662" y="2764916"/>
              <a:ext cx="1440180" cy="360045"/>
            </a:xfrm>
            <a:prstGeom prst="roundRect">
              <a:avLst>
                <a:gd name="adj" fmla="val 35714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9" name="N23/notch-clipboard/line/048"/>
            <p:cNvCxnSpPr/>
            <p:nvPr/>
          </p:nvCxnSpPr>
          <p:spPr>
            <a:xfrm>
              <a:off x="6533673" y="2906363"/>
              <a:ext cx="128588" cy="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N23/notch-clipboard/rect/049"/>
            <p:cNvSpPr/>
            <p:nvPr/>
          </p:nvSpPr>
          <p:spPr>
            <a:xfrm>
              <a:off x="6559391" y="2906363"/>
              <a:ext cx="77152" cy="115728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6363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1" name="N23/notch-clipboard/line/050"/>
            <p:cNvCxnSpPr/>
            <p:nvPr/>
          </p:nvCxnSpPr>
          <p:spPr>
            <a:xfrm>
              <a:off x="6572250" y="2880645"/>
              <a:ext cx="51435" cy="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N23/notch-clipboard/line/051"/>
            <p:cNvCxnSpPr/>
            <p:nvPr/>
          </p:nvCxnSpPr>
          <p:spPr>
            <a:xfrm>
              <a:off x="6585108" y="2932080"/>
              <a:ext cx="0" cy="64294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N23/notch-clipboard/line/052"/>
            <p:cNvCxnSpPr/>
            <p:nvPr/>
          </p:nvCxnSpPr>
          <p:spPr>
            <a:xfrm>
              <a:off x="6610826" y="2932080"/>
              <a:ext cx="0" cy="64294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N23/notch-clipboard/text/053"/>
            <p:cNvSpPr txBox="1"/>
            <p:nvPr/>
          </p:nvSpPr>
          <p:spPr>
            <a:xfrm>
              <a:off x="6777990" y="2764916"/>
              <a:ext cx="1080134" cy="3600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75" b="0" i="0">
                  <a:solidFill>
                    <a:srgbClr val="636366"/>
                  </a:solidFill>
                  <a:latin typeface="Arial"/>
                </a:rPr>
                <a:t>Clear history</a:t>
              </a:r>
            </a:p>
          </p:txBody>
        </p:sp>
        <p:sp>
          <p:nvSpPr>
            <p:cNvPr id="65" name="N23/notch-clipboard/text/054"/>
            <p:cNvSpPr txBox="1"/>
            <p:nvPr/>
          </p:nvSpPr>
          <p:spPr>
            <a:xfrm>
              <a:off x="940117" y="3150679"/>
              <a:ext cx="6943725" cy="4114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75" b="0" i="0">
                  <a:solidFill>
                    <a:srgbClr val="98989D"/>
                  </a:solidFill>
                  <a:latin typeface="Arial"/>
                </a:rPr>
                <a:t>RAM only. Cleared on lock/logout. Mixed-format and known password-manager clips are skipped.</a:t>
              </a:r>
            </a:p>
          </p:txBody>
        </p:sp>
        <p:sp>
          <p:nvSpPr>
            <p:cNvPr id="66" name="N23/notch-clipboard/empty-state/055"/>
            <p:cNvSpPr/>
            <p:nvPr/>
          </p:nvSpPr>
          <p:spPr>
            <a:xfrm>
              <a:off x="940117" y="3639311"/>
              <a:ext cx="6943725" cy="1723072"/>
            </a:xfrm>
            <a:prstGeom prst="roundRect">
              <a:avLst>
                <a:gd name="adj" fmla="val 10447"/>
              </a:avLst>
            </a:prstGeom>
            <a:solidFill>
              <a:srgbClr val="0A0A0B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N23/notch-clipboard/rect/056"/>
            <p:cNvSpPr/>
            <p:nvPr/>
          </p:nvSpPr>
          <p:spPr>
            <a:xfrm>
              <a:off x="4309110" y="3922204"/>
              <a:ext cx="205740" cy="282892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8E8E9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N23/notch-clipboard/rect/057"/>
            <p:cNvSpPr/>
            <p:nvPr/>
          </p:nvSpPr>
          <p:spPr>
            <a:xfrm>
              <a:off x="4360545" y="3883628"/>
              <a:ext cx="102870" cy="64293"/>
            </a:xfrm>
            <a:prstGeom prst="roundRect">
              <a:avLst>
                <a:gd name="adj" fmla="val 24000"/>
              </a:avLst>
            </a:prstGeom>
            <a:solidFill>
              <a:srgbClr val="8E8E9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9" name="N23/notch-clipboard/line/058"/>
            <p:cNvCxnSpPr/>
            <p:nvPr/>
          </p:nvCxnSpPr>
          <p:spPr>
            <a:xfrm>
              <a:off x="4360545" y="4025074"/>
              <a:ext cx="102870" cy="0"/>
            </a:xfrm>
            <a:prstGeom prst="line">
              <a:avLst/>
            </a:prstGeom>
            <a:ln w="10160">
              <a:solidFill>
                <a:srgbClr val="8E8E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N23/notch-clipboard/line/059"/>
            <p:cNvCxnSpPr/>
            <p:nvPr/>
          </p:nvCxnSpPr>
          <p:spPr>
            <a:xfrm>
              <a:off x="4360545" y="4089368"/>
              <a:ext cx="102870" cy="0"/>
            </a:xfrm>
            <a:prstGeom prst="line">
              <a:avLst/>
            </a:prstGeom>
            <a:ln w="10160">
              <a:solidFill>
                <a:srgbClr val="8E8E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N23/notch-clipboard/text/060"/>
            <p:cNvSpPr txBox="1"/>
            <p:nvPr/>
          </p:nvSpPr>
          <p:spPr>
            <a:xfrm>
              <a:off x="1094422" y="4333684"/>
              <a:ext cx="6635115" cy="25717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17" b="1" i="0">
                  <a:solidFill>
                    <a:srgbClr val="F5F5F7"/>
                  </a:solidFill>
                  <a:latin typeface="Arial"/>
                </a:rPr>
                <a:t>No clipboard history</a:t>
              </a:r>
            </a:p>
          </p:txBody>
        </p:sp>
        <p:sp>
          <p:nvSpPr>
            <p:cNvPr id="72" name="N23/notch-clipboard/text/061"/>
            <p:cNvSpPr txBox="1"/>
            <p:nvPr/>
          </p:nvSpPr>
          <p:spPr>
            <a:xfrm>
              <a:off x="1171575" y="4642294"/>
              <a:ext cx="6480810" cy="61721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75" b="0" i="0">
                  <a:solidFill>
                    <a:srgbClr val="98989D"/>
                  </a:solidFill>
                  <a:latin typeface="Arial"/>
                </a:rPr>
                <a:t>Enable automatic history in Settings, or capture the current text explicitly.</a:t>
              </a:r>
            </a:p>
          </p:txBody>
        </p:sp>
      </p:grpSp>
      <p:sp>
        <p:nvSpPr>
          <p:cNvPr id="73" name="N23/text/010"/>
          <p:cNvSpPr txBox="1"/>
          <p:nvPr/>
        </p:nvSpPr>
        <p:spPr>
          <a:xfrm>
            <a:off x="682942" y="5696140"/>
            <a:ext cx="7458075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Privacy note always visible. Clear history disabled until an item exists.</a:t>
            </a:r>
          </a:p>
        </p:txBody>
      </p:sp>
      <p:sp>
        <p:nvSpPr>
          <p:cNvPr id="74" name="N23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N23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76" name="N23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N23/text/014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Title: 'Clipboard history · manual only'</a:t>
            </a:r>
          </a:p>
        </p:txBody>
      </p:sp>
      <p:sp>
        <p:nvSpPr>
          <p:cNvPr id="78" name="N23/ellipse/015"/>
          <p:cNvSpPr/>
          <p:nvPr/>
        </p:nvSpPr>
        <p:spPr>
          <a:xfrm>
            <a:off x="8659368" y="255117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N23/text/016"/>
          <p:cNvSpPr txBox="1"/>
          <p:nvPr/>
        </p:nvSpPr>
        <p:spPr>
          <a:xfrm>
            <a:off x="8805672" y="248716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Capture now / Clear history</a:t>
            </a:r>
          </a:p>
        </p:txBody>
      </p:sp>
      <p:sp>
        <p:nvSpPr>
          <p:cNvPr id="80" name="N23/ellipse/017"/>
          <p:cNvSpPr/>
          <p:nvPr/>
        </p:nvSpPr>
        <p:spPr>
          <a:xfrm>
            <a:off x="8659368" y="283464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N23/text/018"/>
          <p:cNvSpPr txBox="1"/>
          <p:nvPr/>
        </p:nvSpPr>
        <p:spPr>
          <a:xfrm>
            <a:off x="8805672" y="277063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RAM-only privacy note</a:t>
            </a:r>
          </a:p>
        </p:txBody>
      </p:sp>
      <p:sp>
        <p:nvSpPr>
          <p:cNvPr id="82" name="N23/ellipse/019"/>
          <p:cNvSpPr/>
          <p:nvPr/>
        </p:nvSpPr>
        <p:spPr>
          <a:xfrm>
            <a:off x="8659368" y="311810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N23/text/020"/>
          <p:cNvSpPr txBox="1"/>
          <p:nvPr/>
        </p:nvSpPr>
        <p:spPr>
          <a:xfrm>
            <a:off x="8805672" y="3054096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Empty state explains opt-in</a:t>
            </a:r>
          </a:p>
        </p:txBody>
      </p:sp>
      <p:cxnSp>
        <p:nvCxnSpPr>
          <p:cNvPr id="84" name="N23/line/021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N23/text/022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86" name="N23/edit-box/023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N23/edit-note/024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Privacy copy / empty state / button labels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24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24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24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CLIPS PAGE</a:t>
            </a:r>
          </a:p>
        </p:txBody>
      </p:sp>
      <p:sp>
        <p:nvSpPr>
          <p:cNvPr id="5" name="N24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Clips — history on</a:t>
            </a:r>
          </a:p>
        </p:txBody>
      </p:sp>
      <p:sp>
        <p:nvSpPr>
          <p:cNvPr id="6" name="N24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Bounded RAM-only history · click a row to restore it</a:t>
            </a:r>
          </a:p>
        </p:txBody>
      </p:sp>
      <p:cxnSp>
        <p:nvCxnSpPr>
          <p:cNvPr id="7" name="N24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24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24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N24</a:t>
            </a:r>
          </a:p>
        </p:txBody>
      </p:sp>
      <p:sp>
        <p:nvSpPr>
          <p:cNvPr id="10" name="N24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33</a:t>
            </a:r>
          </a:p>
        </p:txBody>
      </p:sp>
      <p:grpSp>
        <p:nvGrpSpPr>
          <p:cNvPr id="11" name="N24/notch-clipboard"/>
          <p:cNvGrpSpPr/>
          <p:nvPr/>
        </p:nvGrpSpPr>
        <p:grpSpPr>
          <a:xfrm>
            <a:off x="682942" y="1710499"/>
            <a:ext cx="7458075" cy="3857625"/>
            <a:chOff x="682942" y="1710499"/>
            <a:chExt cx="7458075" cy="3857625"/>
          </a:xfrm>
        </p:grpSpPr>
        <p:sp>
          <p:nvSpPr>
            <p:cNvPr id="12" name="N24/notch-clipboard/notch-surface-open/001"/>
            <p:cNvSpPr/>
            <p:nvPr/>
          </p:nvSpPr>
          <p:spPr>
            <a:xfrm>
              <a:off x="682942" y="1710499"/>
              <a:ext cx="7458075" cy="3857625"/>
            </a:xfrm>
            <a:custGeom>
              <a:avLst/>
              <a:gdLst/>
              <a:ahLst/>
              <a:cxnLst/>
              <a:rect l="l" t="t" r="r" b="b"/>
              <a:pathLst>
                <a:path w="7458075" h="3857625">
                  <a:moveTo>
                    <a:pt x="0" y="0"/>
                  </a:moveTo>
                  <a:lnTo>
                    <a:pt x="7458075" y="0"/>
                  </a:lnTo>
                  <a:lnTo>
                    <a:pt x="7424195" y="3817"/>
                  </a:lnTo>
                  <a:lnTo>
                    <a:pt x="7385544" y="15270"/>
                  </a:lnTo>
                  <a:lnTo>
                    <a:pt x="7344983" y="34357"/>
                  </a:lnTo>
                  <a:lnTo>
                    <a:pt x="7305377" y="61079"/>
                  </a:lnTo>
                  <a:lnTo>
                    <a:pt x="7269589" y="95436"/>
                  </a:lnTo>
                  <a:lnTo>
                    <a:pt x="7240481" y="137428"/>
                  </a:lnTo>
                  <a:lnTo>
                    <a:pt x="7220916" y="187055"/>
                  </a:lnTo>
                  <a:lnTo>
                    <a:pt x="7213759" y="244316"/>
                  </a:lnTo>
                  <a:lnTo>
                    <a:pt x="7207829" y="3609222"/>
                  </a:lnTo>
                  <a:lnTo>
                    <a:pt x="7190267" y="3667115"/>
                  </a:lnTo>
                  <a:lnTo>
                    <a:pt x="7161749" y="3720470"/>
                  </a:lnTo>
                  <a:lnTo>
                    <a:pt x="7123369" y="3767235"/>
                  </a:lnTo>
                  <a:lnTo>
                    <a:pt x="7076603" y="3805615"/>
                  </a:lnTo>
                  <a:lnTo>
                    <a:pt x="7023249" y="3834133"/>
                  </a:lnTo>
                  <a:lnTo>
                    <a:pt x="6965356" y="3851695"/>
                  </a:lnTo>
                  <a:lnTo>
                    <a:pt x="6905149" y="3857625"/>
                  </a:lnTo>
                  <a:lnTo>
                    <a:pt x="552926" y="3857625"/>
                  </a:lnTo>
                  <a:lnTo>
                    <a:pt x="492719" y="3851695"/>
                  </a:lnTo>
                  <a:lnTo>
                    <a:pt x="434826" y="3834133"/>
                  </a:lnTo>
                  <a:lnTo>
                    <a:pt x="381472" y="3805615"/>
                  </a:lnTo>
                  <a:lnTo>
                    <a:pt x="334706" y="3767235"/>
                  </a:lnTo>
                  <a:lnTo>
                    <a:pt x="296326" y="3720470"/>
                  </a:lnTo>
                  <a:lnTo>
                    <a:pt x="267808" y="3667115"/>
                  </a:lnTo>
                  <a:lnTo>
                    <a:pt x="250246" y="3609222"/>
                  </a:lnTo>
                  <a:lnTo>
                    <a:pt x="244316" y="3549015"/>
                  </a:lnTo>
                  <a:lnTo>
                    <a:pt x="244316" y="244316"/>
                  </a:lnTo>
                  <a:lnTo>
                    <a:pt x="237159" y="187055"/>
                  </a:lnTo>
                  <a:lnTo>
                    <a:pt x="217594" y="137428"/>
                  </a:lnTo>
                  <a:lnTo>
                    <a:pt x="188486" y="95436"/>
                  </a:lnTo>
                  <a:lnTo>
                    <a:pt x="152698" y="61079"/>
                  </a:lnTo>
                  <a:lnTo>
                    <a:pt x="113092" y="34357"/>
                  </a:lnTo>
                  <a:lnTo>
                    <a:pt x="72531" y="15270"/>
                  </a:lnTo>
                  <a:lnTo>
                    <a:pt x="33880" y="38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24/notch-clipboard/button-home/002"/>
            <p:cNvSpPr/>
            <p:nvPr/>
          </p:nvSpPr>
          <p:spPr>
            <a:xfrm>
              <a:off x="940117" y="2314860"/>
              <a:ext cx="411480" cy="385762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24/notch-clipboard/poly/003"/>
            <p:cNvSpPr/>
            <p:nvPr/>
          </p:nvSpPr>
          <p:spPr>
            <a:xfrm>
              <a:off x="1068705" y="2430589"/>
              <a:ext cx="154305" cy="154305"/>
            </a:xfrm>
            <a:custGeom>
              <a:avLst/>
              <a:gdLst/>
              <a:ahLst/>
              <a:cxnLst/>
              <a:rect l="l" t="t" r="r" b="b"/>
              <a:pathLst>
                <a:path w="154305" h="154305">
                  <a:moveTo>
                    <a:pt x="77152" y="0"/>
                  </a:moveTo>
                  <a:lnTo>
                    <a:pt x="0" y="64294"/>
                  </a:lnTo>
                  <a:lnTo>
                    <a:pt x="25717" y="64294"/>
                  </a:lnTo>
                  <a:lnTo>
                    <a:pt x="25717" y="154305"/>
                  </a:lnTo>
                  <a:lnTo>
                    <a:pt x="64293" y="154305"/>
                  </a:lnTo>
                  <a:lnTo>
                    <a:pt x="64293" y="102870"/>
                  </a:lnTo>
                  <a:lnTo>
                    <a:pt x="90011" y="102870"/>
                  </a:lnTo>
                  <a:lnTo>
                    <a:pt x="90011" y="154305"/>
                  </a:lnTo>
                  <a:lnTo>
                    <a:pt x="128587" y="154305"/>
                  </a:lnTo>
                  <a:lnTo>
                    <a:pt x="128587" y="64294"/>
                  </a:lnTo>
                  <a:lnTo>
                    <a:pt x="154305" y="64294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24/notch-clipboard/button-music/004"/>
            <p:cNvSpPr/>
            <p:nvPr/>
          </p:nvSpPr>
          <p:spPr>
            <a:xfrm>
              <a:off x="1403032" y="2314860"/>
              <a:ext cx="411480" cy="385762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N24/notch-clipboard/line/005"/>
            <p:cNvCxnSpPr/>
            <p:nvPr/>
          </p:nvCxnSpPr>
          <p:spPr>
            <a:xfrm flipV="1">
              <a:off x="1583055" y="2456307"/>
              <a:ext cx="0" cy="1028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N24/notch-clipboard/line/006"/>
            <p:cNvCxnSpPr/>
            <p:nvPr/>
          </p:nvCxnSpPr>
          <p:spPr>
            <a:xfrm flipV="1">
              <a:off x="1583055" y="2443448"/>
              <a:ext cx="90011" cy="1285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24/notch-clipboard/line/007"/>
            <p:cNvCxnSpPr/>
            <p:nvPr/>
          </p:nvCxnSpPr>
          <p:spPr>
            <a:xfrm>
              <a:off x="1673066" y="2443448"/>
              <a:ext cx="0" cy="1028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N24/notch-clipboard/ellipse/008"/>
            <p:cNvSpPr/>
            <p:nvPr/>
          </p:nvSpPr>
          <p:spPr>
            <a:xfrm>
              <a:off x="1544478" y="2539888"/>
              <a:ext cx="45005" cy="38576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24/notch-clipboard/ellipse/009"/>
            <p:cNvSpPr/>
            <p:nvPr/>
          </p:nvSpPr>
          <p:spPr>
            <a:xfrm>
              <a:off x="1634490" y="2527030"/>
              <a:ext cx="45005" cy="38576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24/notch-clipboard/button-bell/010"/>
            <p:cNvSpPr/>
            <p:nvPr/>
          </p:nvSpPr>
          <p:spPr>
            <a:xfrm>
              <a:off x="1865947" y="2314860"/>
              <a:ext cx="411480" cy="385762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24/notch-clipboard/poly/011"/>
            <p:cNvSpPr/>
            <p:nvPr/>
          </p:nvSpPr>
          <p:spPr>
            <a:xfrm>
              <a:off x="2007393" y="2430589"/>
              <a:ext cx="128588" cy="115729"/>
            </a:xfrm>
            <a:custGeom>
              <a:avLst/>
              <a:gdLst/>
              <a:ahLst/>
              <a:cxnLst/>
              <a:rect l="l" t="t" r="r" b="b"/>
              <a:pathLst>
                <a:path w="128588" h="115729">
                  <a:moveTo>
                    <a:pt x="64294" y="0"/>
                  </a:moveTo>
                  <a:lnTo>
                    <a:pt x="25718" y="25718"/>
                  </a:lnTo>
                  <a:lnTo>
                    <a:pt x="12859" y="77152"/>
                  </a:lnTo>
                  <a:lnTo>
                    <a:pt x="0" y="115729"/>
                  </a:lnTo>
                  <a:lnTo>
                    <a:pt x="128588" y="115729"/>
                  </a:lnTo>
                  <a:lnTo>
                    <a:pt x="115729" y="77152"/>
                  </a:lnTo>
                  <a:lnTo>
                    <a:pt x="102870" y="25718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N24/notch-clipboard/line/012"/>
            <p:cNvCxnSpPr/>
            <p:nvPr/>
          </p:nvCxnSpPr>
          <p:spPr>
            <a:xfrm>
              <a:off x="2045970" y="2572035"/>
              <a:ext cx="5143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N24/notch-clipboard/ellipse/013"/>
            <p:cNvSpPr/>
            <p:nvPr/>
          </p:nvSpPr>
          <p:spPr>
            <a:xfrm>
              <a:off x="2058828" y="2417730"/>
              <a:ext cx="25717" cy="25717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24/notch-clipboard/button-chart/014"/>
            <p:cNvSpPr/>
            <p:nvPr/>
          </p:nvSpPr>
          <p:spPr>
            <a:xfrm>
              <a:off x="2328862" y="2314860"/>
              <a:ext cx="411480" cy="385762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N24/notch-clipboard/line/015"/>
            <p:cNvCxnSpPr/>
            <p:nvPr/>
          </p:nvCxnSpPr>
          <p:spPr>
            <a:xfrm>
              <a:off x="2457450" y="2584894"/>
              <a:ext cx="15430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N24/notch-clipboard/line/016"/>
            <p:cNvCxnSpPr/>
            <p:nvPr/>
          </p:nvCxnSpPr>
          <p:spPr>
            <a:xfrm flipV="1">
              <a:off x="2470308" y="2494883"/>
              <a:ext cx="38577" cy="5143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24/notch-clipboard/line/017"/>
            <p:cNvCxnSpPr/>
            <p:nvPr/>
          </p:nvCxnSpPr>
          <p:spPr>
            <a:xfrm>
              <a:off x="2508885" y="2494883"/>
              <a:ext cx="38576" cy="2571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24/notch-clipboard/line/018"/>
            <p:cNvCxnSpPr/>
            <p:nvPr/>
          </p:nvCxnSpPr>
          <p:spPr>
            <a:xfrm flipV="1">
              <a:off x="2547461" y="2443448"/>
              <a:ext cx="51435" cy="7715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N24/notch-clipboard/button-folder/019"/>
            <p:cNvSpPr/>
            <p:nvPr/>
          </p:nvSpPr>
          <p:spPr>
            <a:xfrm>
              <a:off x="2791777" y="2314860"/>
              <a:ext cx="411480" cy="385762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N24/notch-clipboard/poly/020"/>
            <p:cNvSpPr/>
            <p:nvPr/>
          </p:nvSpPr>
          <p:spPr>
            <a:xfrm>
              <a:off x="2920365" y="2469165"/>
              <a:ext cx="154305" cy="102870"/>
            </a:xfrm>
            <a:custGeom>
              <a:avLst/>
              <a:gdLst/>
              <a:ahLst/>
              <a:cxnLst/>
              <a:rect l="l" t="t" r="r" b="b"/>
              <a:pathLst>
                <a:path w="154305" h="102870">
                  <a:moveTo>
                    <a:pt x="0" y="0"/>
                  </a:moveTo>
                  <a:lnTo>
                    <a:pt x="51435" y="0"/>
                  </a:lnTo>
                  <a:lnTo>
                    <a:pt x="70723" y="25718"/>
                  </a:lnTo>
                  <a:lnTo>
                    <a:pt x="154305" y="25718"/>
                  </a:lnTo>
                  <a:lnTo>
                    <a:pt x="154305" y="102870"/>
                  </a:lnTo>
                  <a:lnTo>
                    <a:pt x="0" y="102870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24/notch-clipboard/button-Clips/021"/>
            <p:cNvSpPr/>
            <p:nvPr/>
          </p:nvSpPr>
          <p:spPr>
            <a:xfrm>
              <a:off x="3254692" y="2314860"/>
              <a:ext cx="1242155" cy="385762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24/notch-clipboard/rect/022"/>
            <p:cNvSpPr/>
            <p:nvPr/>
          </p:nvSpPr>
          <p:spPr>
            <a:xfrm>
              <a:off x="3515725" y="2443448"/>
              <a:ext cx="102870" cy="141446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24/notch-clipboard/rect/023"/>
            <p:cNvSpPr/>
            <p:nvPr/>
          </p:nvSpPr>
          <p:spPr>
            <a:xfrm>
              <a:off x="3541442" y="2424160"/>
              <a:ext cx="51435" cy="32146"/>
            </a:xfrm>
            <a:prstGeom prst="roundRect">
              <a:avLst>
                <a:gd name="adj" fmla="val 24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5" name="N24/notch-clipboard/line/024"/>
            <p:cNvCxnSpPr/>
            <p:nvPr/>
          </p:nvCxnSpPr>
          <p:spPr>
            <a:xfrm>
              <a:off x="3541442" y="2494883"/>
              <a:ext cx="51435" cy="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N24/notch-clipboard/line/025"/>
            <p:cNvCxnSpPr/>
            <p:nvPr/>
          </p:nvCxnSpPr>
          <p:spPr>
            <a:xfrm>
              <a:off x="3541442" y="2527030"/>
              <a:ext cx="51435" cy="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N24/notch-clipboard/text/026"/>
            <p:cNvSpPr txBox="1"/>
            <p:nvPr/>
          </p:nvSpPr>
          <p:spPr>
            <a:xfrm>
              <a:off x="3747182" y="2314860"/>
              <a:ext cx="723947" cy="38576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17" b="1" i="0">
                  <a:solidFill>
                    <a:srgbClr val="FFFFFF"/>
                  </a:solidFill>
                  <a:latin typeface="Arial"/>
                </a:rPr>
                <a:t>Clips</a:t>
              </a:r>
            </a:p>
          </p:txBody>
        </p:sp>
        <p:sp>
          <p:nvSpPr>
            <p:cNvPr id="38" name="N24/notch-clipboard/button-gear/027"/>
            <p:cNvSpPr/>
            <p:nvPr/>
          </p:nvSpPr>
          <p:spPr>
            <a:xfrm>
              <a:off x="6983730" y="2302001"/>
              <a:ext cx="411480" cy="41148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24/notch-clipboard/ellipse/028"/>
            <p:cNvSpPr/>
            <p:nvPr/>
          </p:nvSpPr>
          <p:spPr>
            <a:xfrm>
              <a:off x="7150893" y="2469165"/>
              <a:ext cx="77152" cy="77152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24/notch-clipboard/line/029"/>
            <p:cNvCxnSpPr/>
            <p:nvPr/>
          </p:nvCxnSpPr>
          <p:spPr>
            <a:xfrm>
              <a:off x="7253763" y="2507741"/>
              <a:ext cx="2571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24/notch-clipboard/line/030"/>
            <p:cNvCxnSpPr/>
            <p:nvPr/>
          </p:nvCxnSpPr>
          <p:spPr>
            <a:xfrm>
              <a:off x="7234932" y="2553204"/>
              <a:ext cx="18185" cy="1818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24/notch-clipboard/line/031"/>
            <p:cNvCxnSpPr/>
            <p:nvPr/>
          </p:nvCxnSpPr>
          <p:spPr>
            <a:xfrm>
              <a:off x="7189470" y="2572035"/>
              <a:ext cx="0" cy="2571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24/notch-clipboard/line/032"/>
            <p:cNvCxnSpPr/>
            <p:nvPr/>
          </p:nvCxnSpPr>
          <p:spPr>
            <a:xfrm flipH="1">
              <a:off x="7125822" y="2553204"/>
              <a:ext cx="18185" cy="1818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24/notch-clipboard/line/033"/>
            <p:cNvCxnSpPr/>
            <p:nvPr/>
          </p:nvCxnSpPr>
          <p:spPr>
            <a:xfrm flipH="1">
              <a:off x="7099458" y="2507741"/>
              <a:ext cx="2571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24/notch-clipboard/line/034"/>
            <p:cNvCxnSpPr/>
            <p:nvPr/>
          </p:nvCxnSpPr>
          <p:spPr>
            <a:xfrm flipH="1" flipV="1">
              <a:off x="7125822" y="2444094"/>
              <a:ext cx="18185" cy="1818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24/notch-clipboard/line/035"/>
            <p:cNvCxnSpPr/>
            <p:nvPr/>
          </p:nvCxnSpPr>
          <p:spPr>
            <a:xfrm flipV="1">
              <a:off x="7189470" y="2417730"/>
              <a:ext cx="0" cy="2571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24/notch-clipboard/line/036"/>
            <p:cNvCxnSpPr/>
            <p:nvPr/>
          </p:nvCxnSpPr>
          <p:spPr>
            <a:xfrm flipV="1">
              <a:off x="7234932" y="2444094"/>
              <a:ext cx="18185" cy="1818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24/notch-clipboard/button-close/037"/>
            <p:cNvSpPr/>
            <p:nvPr/>
          </p:nvSpPr>
          <p:spPr>
            <a:xfrm>
              <a:off x="7472362" y="2302001"/>
              <a:ext cx="411480" cy="41148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24/notch-clipboard/line/038"/>
            <p:cNvCxnSpPr/>
            <p:nvPr/>
          </p:nvCxnSpPr>
          <p:spPr>
            <a:xfrm>
              <a:off x="7626667" y="2456306"/>
              <a:ext cx="102870" cy="1028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24/notch-clipboard/line/039"/>
            <p:cNvCxnSpPr/>
            <p:nvPr/>
          </p:nvCxnSpPr>
          <p:spPr>
            <a:xfrm flipH="1">
              <a:off x="7626667" y="2456306"/>
              <a:ext cx="102870" cy="1028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24/notch-clipboard/text/040"/>
            <p:cNvSpPr txBox="1"/>
            <p:nvPr/>
          </p:nvSpPr>
          <p:spPr>
            <a:xfrm>
              <a:off x="940117" y="2790634"/>
              <a:ext cx="3960494" cy="2828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36" b="1" i="0">
                  <a:solidFill>
                    <a:srgbClr val="F5F5F7"/>
                  </a:solidFill>
                  <a:latin typeface="Arial"/>
                </a:rPr>
                <a:t>Clipboard history · on</a:t>
              </a:r>
            </a:p>
          </p:txBody>
        </p:sp>
        <p:sp>
          <p:nvSpPr>
            <p:cNvPr id="52" name="N24/notch-clipboard/button-Capture now/041"/>
            <p:cNvSpPr/>
            <p:nvPr/>
          </p:nvSpPr>
          <p:spPr>
            <a:xfrm>
              <a:off x="4900612" y="2764916"/>
              <a:ext cx="1440180" cy="360045"/>
            </a:xfrm>
            <a:prstGeom prst="roundRect">
              <a:avLst>
                <a:gd name="adj" fmla="val 35714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N24/notch-clipboard/rect/042"/>
            <p:cNvSpPr/>
            <p:nvPr/>
          </p:nvSpPr>
          <p:spPr>
            <a:xfrm>
              <a:off x="5003482" y="2880645"/>
              <a:ext cx="102870" cy="141446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N24/notch-clipboard/rect/043"/>
            <p:cNvSpPr/>
            <p:nvPr/>
          </p:nvSpPr>
          <p:spPr>
            <a:xfrm>
              <a:off x="5029200" y="2861357"/>
              <a:ext cx="51435" cy="32146"/>
            </a:xfrm>
            <a:prstGeom prst="roundRect">
              <a:avLst>
                <a:gd name="adj" fmla="val 24000"/>
              </a:avLst>
            </a:pr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5" name="N24/notch-clipboard/line/044"/>
            <p:cNvCxnSpPr/>
            <p:nvPr/>
          </p:nvCxnSpPr>
          <p:spPr>
            <a:xfrm>
              <a:off x="5029200" y="2932080"/>
              <a:ext cx="51435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N24/notch-clipboard/line/045"/>
            <p:cNvCxnSpPr/>
            <p:nvPr/>
          </p:nvCxnSpPr>
          <p:spPr>
            <a:xfrm>
              <a:off x="5029200" y="2964227"/>
              <a:ext cx="51435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N24/notch-clipboard/text/046"/>
            <p:cNvSpPr txBox="1"/>
            <p:nvPr/>
          </p:nvSpPr>
          <p:spPr>
            <a:xfrm>
              <a:off x="5234940" y="2764916"/>
              <a:ext cx="1080134" cy="3600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75" b="0" i="0">
                  <a:solidFill>
                    <a:srgbClr val="E5E5EA"/>
                  </a:solidFill>
                  <a:latin typeface="Arial"/>
                </a:rPr>
                <a:t>Capture now</a:t>
              </a:r>
            </a:p>
          </p:txBody>
        </p:sp>
        <p:sp>
          <p:nvSpPr>
            <p:cNvPr id="58" name="N24/notch-clipboard/button-Clear history/047"/>
            <p:cNvSpPr/>
            <p:nvPr/>
          </p:nvSpPr>
          <p:spPr>
            <a:xfrm>
              <a:off x="6443662" y="2764916"/>
              <a:ext cx="1440180" cy="360045"/>
            </a:xfrm>
            <a:prstGeom prst="roundRect">
              <a:avLst>
                <a:gd name="adj" fmla="val 35714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9" name="N24/notch-clipboard/line/048"/>
            <p:cNvCxnSpPr/>
            <p:nvPr/>
          </p:nvCxnSpPr>
          <p:spPr>
            <a:xfrm>
              <a:off x="6533673" y="2906363"/>
              <a:ext cx="128588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N24/notch-clipboard/rect/049"/>
            <p:cNvSpPr/>
            <p:nvPr/>
          </p:nvSpPr>
          <p:spPr>
            <a:xfrm>
              <a:off x="6559391" y="2906363"/>
              <a:ext cx="77152" cy="115728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1" name="N24/notch-clipboard/line/050"/>
            <p:cNvCxnSpPr/>
            <p:nvPr/>
          </p:nvCxnSpPr>
          <p:spPr>
            <a:xfrm>
              <a:off x="6572250" y="2880645"/>
              <a:ext cx="51435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N24/notch-clipboard/line/051"/>
            <p:cNvCxnSpPr/>
            <p:nvPr/>
          </p:nvCxnSpPr>
          <p:spPr>
            <a:xfrm>
              <a:off x="6585108" y="2932080"/>
              <a:ext cx="0" cy="64294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N24/notch-clipboard/line/052"/>
            <p:cNvCxnSpPr/>
            <p:nvPr/>
          </p:nvCxnSpPr>
          <p:spPr>
            <a:xfrm>
              <a:off x="6610826" y="2932080"/>
              <a:ext cx="0" cy="64294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N24/notch-clipboard/text/053"/>
            <p:cNvSpPr txBox="1"/>
            <p:nvPr/>
          </p:nvSpPr>
          <p:spPr>
            <a:xfrm>
              <a:off x="6777990" y="2764916"/>
              <a:ext cx="1080134" cy="3600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75" b="0" i="0">
                  <a:solidFill>
                    <a:srgbClr val="E5E5EA"/>
                  </a:solidFill>
                  <a:latin typeface="Arial"/>
                </a:rPr>
                <a:t>Clear history</a:t>
              </a:r>
            </a:p>
          </p:txBody>
        </p:sp>
        <p:sp>
          <p:nvSpPr>
            <p:cNvPr id="65" name="N24/notch-clipboard/text/054"/>
            <p:cNvSpPr txBox="1"/>
            <p:nvPr/>
          </p:nvSpPr>
          <p:spPr>
            <a:xfrm>
              <a:off x="940117" y="3150679"/>
              <a:ext cx="6943725" cy="4114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75" b="0" i="0">
                  <a:solidFill>
                    <a:srgbClr val="98989D"/>
                  </a:solidFill>
                  <a:latin typeface="Arial"/>
                </a:rPr>
                <a:t>RAM only. Cleared on lock/logout. Mixed-format and known password-manager clips are skipped.</a:t>
              </a:r>
            </a:p>
          </p:txBody>
        </p:sp>
        <p:sp>
          <p:nvSpPr>
            <p:cNvPr id="66" name="N24/notch-clipboard/clipboard-row/055"/>
            <p:cNvSpPr/>
            <p:nvPr/>
          </p:nvSpPr>
          <p:spPr>
            <a:xfrm>
              <a:off x="940117" y="3639311"/>
              <a:ext cx="6943725" cy="462915"/>
            </a:xfrm>
            <a:prstGeom prst="roundRect">
              <a:avLst>
                <a:gd name="adj" fmla="val 33333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N24/notch-clipboard/button-https://github.com/pavit12301611/notch/056"/>
            <p:cNvSpPr/>
            <p:nvPr/>
          </p:nvSpPr>
          <p:spPr>
            <a:xfrm>
              <a:off x="1017270" y="3703605"/>
              <a:ext cx="5915025" cy="360045"/>
            </a:xfrm>
            <a:prstGeom prst="roundRect">
              <a:avLst>
                <a:gd name="adj" fmla="val 35714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N24/notch-clipboard/rect/057"/>
            <p:cNvSpPr/>
            <p:nvPr/>
          </p:nvSpPr>
          <p:spPr>
            <a:xfrm>
              <a:off x="1197292" y="3819334"/>
              <a:ext cx="102870" cy="141446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N24/notch-clipboard/rect/058"/>
            <p:cNvSpPr/>
            <p:nvPr/>
          </p:nvSpPr>
          <p:spPr>
            <a:xfrm>
              <a:off x="1223010" y="3800046"/>
              <a:ext cx="51435" cy="32146"/>
            </a:xfrm>
            <a:prstGeom prst="roundRect">
              <a:avLst>
                <a:gd name="adj" fmla="val 24000"/>
              </a:avLst>
            </a:pr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0" name="N24/notch-clipboard/line/059"/>
            <p:cNvCxnSpPr/>
            <p:nvPr/>
          </p:nvCxnSpPr>
          <p:spPr>
            <a:xfrm>
              <a:off x="1223010" y="3870769"/>
              <a:ext cx="51435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N24/notch-clipboard/line/060"/>
            <p:cNvCxnSpPr/>
            <p:nvPr/>
          </p:nvCxnSpPr>
          <p:spPr>
            <a:xfrm>
              <a:off x="1223010" y="3902916"/>
              <a:ext cx="51435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N24/notch-clipboard/text/061"/>
            <p:cNvSpPr txBox="1"/>
            <p:nvPr/>
          </p:nvSpPr>
          <p:spPr>
            <a:xfrm>
              <a:off x="1428750" y="3703605"/>
              <a:ext cx="5477827" cy="3600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17" b="0" i="0">
                  <a:solidFill>
                    <a:srgbClr val="E5E5EA"/>
                  </a:solidFill>
                  <a:latin typeface="Arial"/>
                </a:rPr>
                <a:t>https://github.com/pavit12301611/notch</a:t>
              </a:r>
            </a:p>
          </p:txBody>
        </p:sp>
        <p:sp>
          <p:nvSpPr>
            <p:cNvPr id="73" name="N24/notch-clipboard/text/062"/>
            <p:cNvSpPr txBox="1"/>
            <p:nvPr/>
          </p:nvSpPr>
          <p:spPr>
            <a:xfrm>
              <a:off x="7035165" y="3639311"/>
              <a:ext cx="694372" cy="46291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4" b="0" i="0">
                  <a:solidFill>
                    <a:srgbClr val="98989D"/>
                  </a:solidFill>
                  <a:latin typeface="Arial"/>
                </a:rPr>
                <a:t>14:30</a:t>
              </a:r>
            </a:p>
          </p:txBody>
        </p:sp>
        <p:sp>
          <p:nvSpPr>
            <p:cNvPr id="74" name="N24/notch-clipboard/clipboard-row/063"/>
            <p:cNvSpPr/>
            <p:nvPr/>
          </p:nvSpPr>
          <p:spPr>
            <a:xfrm>
              <a:off x="940117" y="4179379"/>
              <a:ext cx="6943725" cy="462915"/>
            </a:xfrm>
            <a:prstGeom prst="roundRect">
              <a:avLst>
                <a:gd name="adj" fmla="val 33333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N24/notch-clipboard/button-Design review notes: spacing, icons, empty states/064"/>
            <p:cNvSpPr/>
            <p:nvPr/>
          </p:nvSpPr>
          <p:spPr>
            <a:xfrm>
              <a:off x="1017270" y="4243673"/>
              <a:ext cx="5915025" cy="360045"/>
            </a:xfrm>
            <a:prstGeom prst="roundRect">
              <a:avLst>
                <a:gd name="adj" fmla="val 35714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N24/notch-clipboard/rect/065"/>
            <p:cNvSpPr/>
            <p:nvPr/>
          </p:nvSpPr>
          <p:spPr>
            <a:xfrm>
              <a:off x="1197292" y="4359401"/>
              <a:ext cx="102870" cy="141446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N24/notch-clipboard/rect/066"/>
            <p:cNvSpPr/>
            <p:nvPr/>
          </p:nvSpPr>
          <p:spPr>
            <a:xfrm>
              <a:off x="1223010" y="4340113"/>
              <a:ext cx="51435" cy="32146"/>
            </a:xfrm>
            <a:prstGeom prst="roundRect">
              <a:avLst>
                <a:gd name="adj" fmla="val 24000"/>
              </a:avLst>
            </a:pr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8" name="N24/notch-clipboard/line/067"/>
            <p:cNvCxnSpPr/>
            <p:nvPr/>
          </p:nvCxnSpPr>
          <p:spPr>
            <a:xfrm>
              <a:off x="1223010" y="4410837"/>
              <a:ext cx="51435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N24/notch-clipboard/line/068"/>
            <p:cNvCxnSpPr/>
            <p:nvPr/>
          </p:nvCxnSpPr>
          <p:spPr>
            <a:xfrm>
              <a:off x="1223010" y="4442983"/>
              <a:ext cx="51435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N24/notch-clipboard/text/069"/>
            <p:cNvSpPr txBox="1"/>
            <p:nvPr/>
          </p:nvSpPr>
          <p:spPr>
            <a:xfrm>
              <a:off x="1428750" y="4243673"/>
              <a:ext cx="5477827" cy="3600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17" b="0" i="0">
                  <a:solidFill>
                    <a:srgbClr val="E5E5EA"/>
                  </a:solidFill>
                  <a:latin typeface="Arial"/>
                </a:rPr>
                <a:t>Design review notes: spacing, icons, empty states</a:t>
              </a:r>
            </a:p>
          </p:txBody>
        </p:sp>
        <p:sp>
          <p:nvSpPr>
            <p:cNvPr id="81" name="N24/notch-clipboard/text/070"/>
            <p:cNvSpPr txBox="1"/>
            <p:nvPr/>
          </p:nvSpPr>
          <p:spPr>
            <a:xfrm>
              <a:off x="7035165" y="4179379"/>
              <a:ext cx="694372" cy="46291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4" b="0" i="0">
                  <a:solidFill>
                    <a:srgbClr val="98989D"/>
                  </a:solidFill>
                  <a:latin typeface="Arial"/>
                </a:rPr>
                <a:t>14:22</a:t>
              </a:r>
            </a:p>
          </p:txBody>
        </p:sp>
        <p:sp>
          <p:nvSpPr>
            <p:cNvPr id="82" name="N24/notch-clipboard/clipboard-row/071"/>
            <p:cNvSpPr/>
            <p:nvPr/>
          </p:nvSpPr>
          <p:spPr>
            <a:xfrm>
              <a:off x="940117" y="4719446"/>
              <a:ext cx="6943725" cy="462915"/>
            </a:xfrm>
            <a:prstGeom prst="roundRect">
              <a:avLst>
                <a:gd name="adj" fmla="val 33333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N24/notch-clipboard/button-sudo dnf install gnome-extensions-app/072"/>
            <p:cNvSpPr/>
            <p:nvPr/>
          </p:nvSpPr>
          <p:spPr>
            <a:xfrm>
              <a:off x="1017270" y="4783740"/>
              <a:ext cx="5915025" cy="360045"/>
            </a:xfrm>
            <a:prstGeom prst="roundRect">
              <a:avLst>
                <a:gd name="adj" fmla="val 35714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N24/notch-clipboard/rect/073"/>
            <p:cNvSpPr/>
            <p:nvPr/>
          </p:nvSpPr>
          <p:spPr>
            <a:xfrm>
              <a:off x="1197292" y="4899469"/>
              <a:ext cx="102870" cy="141446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N24/notch-clipboard/rect/074"/>
            <p:cNvSpPr/>
            <p:nvPr/>
          </p:nvSpPr>
          <p:spPr>
            <a:xfrm>
              <a:off x="1223010" y="4880181"/>
              <a:ext cx="51435" cy="32146"/>
            </a:xfrm>
            <a:prstGeom prst="roundRect">
              <a:avLst>
                <a:gd name="adj" fmla="val 24000"/>
              </a:avLst>
            </a:pr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6" name="N24/notch-clipboard/line/075"/>
            <p:cNvCxnSpPr/>
            <p:nvPr/>
          </p:nvCxnSpPr>
          <p:spPr>
            <a:xfrm>
              <a:off x="1223010" y="4950904"/>
              <a:ext cx="51435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N24/notch-clipboard/line/076"/>
            <p:cNvCxnSpPr/>
            <p:nvPr/>
          </p:nvCxnSpPr>
          <p:spPr>
            <a:xfrm>
              <a:off x="1223010" y="4983051"/>
              <a:ext cx="51435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N24/notch-clipboard/text/077"/>
            <p:cNvSpPr txBox="1"/>
            <p:nvPr/>
          </p:nvSpPr>
          <p:spPr>
            <a:xfrm>
              <a:off x="1428750" y="4783740"/>
              <a:ext cx="5477827" cy="3600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17" b="0" i="0">
                  <a:solidFill>
                    <a:srgbClr val="E5E5EA"/>
                  </a:solidFill>
                  <a:latin typeface="Arial"/>
                </a:rPr>
                <a:t>sudo dnf install gnome-extensions-app</a:t>
              </a:r>
            </a:p>
          </p:txBody>
        </p:sp>
        <p:sp>
          <p:nvSpPr>
            <p:cNvPr id="89" name="N24/notch-clipboard/text/078"/>
            <p:cNvSpPr txBox="1"/>
            <p:nvPr/>
          </p:nvSpPr>
          <p:spPr>
            <a:xfrm>
              <a:off x="7035165" y="4719446"/>
              <a:ext cx="694372" cy="46291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4" b="0" i="0">
                  <a:solidFill>
                    <a:srgbClr val="98989D"/>
                  </a:solidFill>
                  <a:latin typeface="Arial"/>
                </a:rPr>
                <a:t>13:58</a:t>
              </a:r>
            </a:p>
          </p:txBody>
        </p:sp>
      </p:grpSp>
      <p:sp>
        <p:nvSpPr>
          <p:cNvPr id="90" name="N24/text/010"/>
          <p:cNvSpPr txBox="1"/>
          <p:nvPr/>
        </p:nvSpPr>
        <p:spPr>
          <a:xfrm>
            <a:off x="682942" y="5696140"/>
            <a:ext cx="7458075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Preview: flattened whitespace, max 160 chars. Time: locale HH:MM.</a:t>
            </a:r>
          </a:p>
        </p:txBody>
      </p:sp>
      <p:sp>
        <p:nvSpPr>
          <p:cNvPr id="91" name="N24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N24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93" name="N24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N24/text/014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Default limit 20; range 5–50</a:t>
            </a:r>
          </a:p>
        </p:txBody>
      </p:sp>
      <p:sp>
        <p:nvSpPr>
          <p:cNvPr id="95" name="N24/ellipse/015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N24/text/016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64 KiB per item; RAM only</a:t>
            </a:r>
          </a:p>
        </p:txBody>
      </p:sp>
      <p:sp>
        <p:nvSpPr>
          <p:cNvPr id="97" name="N24/ellipse/017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N24/text/018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Cleared on lock/logout/disable</a:t>
            </a:r>
          </a:p>
        </p:txBody>
      </p:sp>
      <p:sp>
        <p:nvSpPr>
          <p:cNvPr id="99" name="N24/ellipse/019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N24/text/020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Password hints / mixed formats skipped</a:t>
            </a:r>
          </a:p>
        </p:txBody>
      </p:sp>
      <p:cxnSp>
        <p:nvCxnSpPr>
          <p:cNvPr id="101" name="N24/line/021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N24/text/022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103" name="N24/edit-box/023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N24/edit-note/024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Row density / preview length / time alignment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54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54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54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CLIPS PAGE</a:t>
            </a:r>
          </a:p>
        </p:txBody>
      </p:sp>
      <p:sp>
        <p:nvSpPr>
          <p:cNvPr id="5" name="N54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Clips — enabled empty, long text, narrow</a:t>
            </a:r>
          </a:p>
        </p:txBody>
      </p:sp>
      <p:sp>
        <p:nvSpPr>
          <p:cNvPr id="6" name="N54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Opt-in empty state · 160-char preview · stacked timestamp</a:t>
            </a:r>
          </a:p>
        </p:txBody>
      </p:sp>
      <p:cxnSp>
        <p:nvCxnSpPr>
          <p:cNvPr id="7" name="N54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54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54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N54</a:t>
            </a:r>
          </a:p>
        </p:txBody>
      </p:sp>
      <p:sp>
        <p:nvSpPr>
          <p:cNvPr id="10" name="N54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34</a:t>
            </a:r>
          </a:p>
        </p:txBody>
      </p:sp>
      <p:grpSp>
        <p:nvGrpSpPr>
          <p:cNvPr id="11" name="N54/notch-clipboard"/>
          <p:cNvGrpSpPr/>
          <p:nvPr/>
        </p:nvGrpSpPr>
        <p:grpSpPr>
          <a:xfrm>
            <a:off x="502920" y="1783080"/>
            <a:ext cx="3943350" cy="2571750"/>
            <a:chOff x="502920" y="1783080"/>
            <a:chExt cx="3943350" cy="2571750"/>
          </a:xfrm>
        </p:grpSpPr>
        <p:sp>
          <p:nvSpPr>
            <p:cNvPr id="12" name="N54/notch-clipboard/notch-surface-open/001"/>
            <p:cNvSpPr/>
            <p:nvPr/>
          </p:nvSpPr>
          <p:spPr>
            <a:xfrm>
              <a:off x="502920" y="1783080"/>
              <a:ext cx="3943350" cy="2571750"/>
            </a:xfrm>
            <a:custGeom>
              <a:avLst/>
              <a:gdLst/>
              <a:ahLst/>
              <a:cxnLst/>
              <a:rect l="l" t="t" r="r" b="b"/>
              <a:pathLst>
                <a:path w="3943350" h="2571750">
                  <a:moveTo>
                    <a:pt x="0" y="0"/>
                  </a:moveTo>
                  <a:lnTo>
                    <a:pt x="3943350" y="0"/>
                  </a:lnTo>
                  <a:lnTo>
                    <a:pt x="3920763" y="2544"/>
                  </a:lnTo>
                  <a:lnTo>
                    <a:pt x="3894995" y="10179"/>
                  </a:lnTo>
                  <a:lnTo>
                    <a:pt x="3867955" y="22904"/>
                  </a:lnTo>
                  <a:lnTo>
                    <a:pt x="3841551" y="40719"/>
                  </a:lnTo>
                  <a:lnTo>
                    <a:pt x="3817692" y="63624"/>
                  </a:lnTo>
                  <a:lnTo>
                    <a:pt x="3798287" y="91618"/>
                  </a:lnTo>
                  <a:lnTo>
                    <a:pt x="3785244" y="124703"/>
                  </a:lnTo>
                  <a:lnTo>
                    <a:pt x="3780472" y="162877"/>
                  </a:lnTo>
                  <a:lnTo>
                    <a:pt x="3776519" y="2406147"/>
                  </a:lnTo>
                  <a:lnTo>
                    <a:pt x="3764811" y="2444743"/>
                  </a:lnTo>
                  <a:lnTo>
                    <a:pt x="3745799" y="2480313"/>
                  </a:lnTo>
                  <a:lnTo>
                    <a:pt x="3720212" y="2511490"/>
                  </a:lnTo>
                  <a:lnTo>
                    <a:pt x="3689035" y="2537076"/>
                  </a:lnTo>
                  <a:lnTo>
                    <a:pt x="3653465" y="2556088"/>
                  </a:lnTo>
                  <a:lnTo>
                    <a:pt x="3614870" y="2567796"/>
                  </a:lnTo>
                  <a:lnTo>
                    <a:pt x="3574732" y="2571750"/>
                  </a:lnTo>
                  <a:lnTo>
                    <a:pt x="368617" y="2571750"/>
                  </a:lnTo>
                  <a:lnTo>
                    <a:pt x="328479" y="2567796"/>
                  </a:lnTo>
                  <a:lnTo>
                    <a:pt x="289884" y="2556088"/>
                  </a:lnTo>
                  <a:lnTo>
                    <a:pt x="254314" y="2537076"/>
                  </a:lnTo>
                  <a:lnTo>
                    <a:pt x="223137" y="2511490"/>
                  </a:lnTo>
                  <a:lnTo>
                    <a:pt x="197550" y="2480313"/>
                  </a:lnTo>
                  <a:lnTo>
                    <a:pt x="178538" y="2444743"/>
                  </a:lnTo>
                  <a:lnTo>
                    <a:pt x="166830" y="2406147"/>
                  </a:lnTo>
                  <a:lnTo>
                    <a:pt x="162877" y="2366010"/>
                  </a:lnTo>
                  <a:lnTo>
                    <a:pt x="162877" y="162877"/>
                  </a:lnTo>
                  <a:lnTo>
                    <a:pt x="158105" y="124703"/>
                  </a:lnTo>
                  <a:lnTo>
                    <a:pt x="145062" y="91618"/>
                  </a:lnTo>
                  <a:lnTo>
                    <a:pt x="125657" y="63624"/>
                  </a:lnTo>
                  <a:lnTo>
                    <a:pt x="101798" y="40719"/>
                  </a:lnTo>
                  <a:lnTo>
                    <a:pt x="75394" y="22904"/>
                  </a:lnTo>
                  <a:lnTo>
                    <a:pt x="48354" y="10179"/>
                  </a:lnTo>
                  <a:lnTo>
                    <a:pt x="22586" y="25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54/notch-clipboard/button-home/002"/>
            <p:cNvSpPr/>
            <p:nvPr/>
          </p:nvSpPr>
          <p:spPr>
            <a:xfrm>
              <a:off x="674370" y="2185987"/>
              <a:ext cx="274320" cy="25717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54/notch-clipboard/poly/003"/>
            <p:cNvSpPr/>
            <p:nvPr/>
          </p:nvSpPr>
          <p:spPr>
            <a:xfrm>
              <a:off x="760095" y="2263139"/>
              <a:ext cx="102870" cy="102871"/>
            </a:xfrm>
            <a:custGeom>
              <a:avLst/>
              <a:gdLst/>
              <a:ahLst/>
              <a:cxnLst/>
              <a:rect l="l" t="t" r="r" b="b"/>
              <a:pathLst>
                <a:path w="102870" h="102871">
                  <a:moveTo>
                    <a:pt x="51435" y="0"/>
                  </a:moveTo>
                  <a:lnTo>
                    <a:pt x="0" y="42863"/>
                  </a:lnTo>
                  <a:lnTo>
                    <a:pt x="17145" y="42863"/>
                  </a:lnTo>
                  <a:lnTo>
                    <a:pt x="17145" y="102871"/>
                  </a:lnTo>
                  <a:lnTo>
                    <a:pt x="42862" y="102871"/>
                  </a:lnTo>
                  <a:lnTo>
                    <a:pt x="42862" y="68581"/>
                  </a:lnTo>
                  <a:lnTo>
                    <a:pt x="60007" y="68581"/>
                  </a:lnTo>
                  <a:lnTo>
                    <a:pt x="60007" y="102871"/>
                  </a:lnTo>
                  <a:lnTo>
                    <a:pt x="85725" y="102871"/>
                  </a:lnTo>
                  <a:lnTo>
                    <a:pt x="85725" y="42863"/>
                  </a:lnTo>
                  <a:lnTo>
                    <a:pt x="102870" y="42863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54/notch-clipboard/button-music/004"/>
            <p:cNvSpPr/>
            <p:nvPr/>
          </p:nvSpPr>
          <p:spPr>
            <a:xfrm>
              <a:off x="982980" y="2185987"/>
              <a:ext cx="274320" cy="25717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N54/notch-clipboard/line/005"/>
            <p:cNvCxnSpPr/>
            <p:nvPr/>
          </p:nvCxnSpPr>
          <p:spPr>
            <a:xfrm flipV="1">
              <a:off x="1102994" y="2280285"/>
              <a:ext cx="0" cy="6857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N54/notch-clipboard/line/006"/>
            <p:cNvCxnSpPr/>
            <p:nvPr/>
          </p:nvCxnSpPr>
          <p:spPr>
            <a:xfrm flipV="1">
              <a:off x="1102994" y="2271712"/>
              <a:ext cx="60008" cy="857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54/notch-clipboard/line/007"/>
            <p:cNvCxnSpPr/>
            <p:nvPr/>
          </p:nvCxnSpPr>
          <p:spPr>
            <a:xfrm>
              <a:off x="1163002" y="2271712"/>
              <a:ext cx="0" cy="6858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N54/notch-clipboard/ellipse/008"/>
            <p:cNvSpPr/>
            <p:nvPr/>
          </p:nvSpPr>
          <p:spPr>
            <a:xfrm>
              <a:off x="1077277" y="2336006"/>
              <a:ext cx="30003" cy="25717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54/notch-clipboard/ellipse/009"/>
            <p:cNvSpPr/>
            <p:nvPr/>
          </p:nvSpPr>
          <p:spPr>
            <a:xfrm>
              <a:off x="1137285" y="2327433"/>
              <a:ext cx="30003" cy="25717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54/notch-clipboard/button-bell/010"/>
            <p:cNvSpPr/>
            <p:nvPr/>
          </p:nvSpPr>
          <p:spPr>
            <a:xfrm>
              <a:off x="1291589" y="2185987"/>
              <a:ext cx="274320" cy="25717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54/notch-clipboard/poly/011"/>
            <p:cNvSpPr/>
            <p:nvPr/>
          </p:nvSpPr>
          <p:spPr>
            <a:xfrm>
              <a:off x="1385887" y="2263139"/>
              <a:ext cx="85725" cy="77153"/>
            </a:xfrm>
            <a:custGeom>
              <a:avLst/>
              <a:gdLst/>
              <a:ahLst/>
              <a:cxnLst/>
              <a:rect l="l" t="t" r="r" b="b"/>
              <a:pathLst>
                <a:path w="85725" h="77153">
                  <a:moveTo>
                    <a:pt x="42862" y="0"/>
                  </a:moveTo>
                  <a:lnTo>
                    <a:pt x="17145" y="17146"/>
                  </a:lnTo>
                  <a:lnTo>
                    <a:pt x="8573" y="51436"/>
                  </a:lnTo>
                  <a:lnTo>
                    <a:pt x="0" y="77153"/>
                  </a:lnTo>
                  <a:lnTo>
                    <a:pt x="85725" y="77153"/>
                  </a:lnTo>
                  <a:lnTo>
                    <a:pt x="77152" y="51436"/>
                  </a:lnTo>
                  <a:lnTo>
                    <a:pt x="68580" y="17146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N54/notch-clipboard/line/012"/>
            <p:cNvCxnSpPr/>
            <p:nvPr/>
          </p:nvCxnSpPr>
          <p:spPr>
            <a:xfrm>
              <a:off x="1411604" y="2357437"/>
              <a:ext cx="34290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N54/notch-clipboard/ellipse/013"/>
            <p:cNvSpPr/>
            <p:nvPr/>
          </p:nvSpPr>
          <p:spPr>
            <a:xfrm>
              <a:off x="1420177" y="2254567"/>
              <a:ext cx="17145" cy="17145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54/notch-clipboard/button-chart/014"/>
            <p:cNvSpPr/>
            <p:nvPr/>
          </p:nvSpPr>
          <p:spPr>
            <a:xfrm>
              <a:off x="1600199" y="2185987"/>
              <a:ext cx="274320" cy="25717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N54/notch-clipboard/line/015"/>
            <p:cNvCxnSpPr/>
            <p:nvPr/>
          </p:nvCxnSpPr>
          <p:spPr>
            <a:xfrm>
              <a:off x="1685924" y="2366010"/>
              <a:ext cx="102870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N54/notch-clipboard/line/016"/>
            <p:cNvCxnSpPr/>
            <p:nvPr/>
          </p:nvCxnSpPr>
          <p:spPr>
            <a:xfrm flipV="1">
              <a:off x="1694497" y="2306002"/>
              <a:ext cx="25717" cy="342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54/notch-clipboard/line/017"/>
            <p:cNvCxnSpPr/>
            <p:nvPr/>
          </p:nvCxnSpPr>
          <p:spPr>
            <a:xfrm>
              <a:off x="1720214" y="2306002"/>
              <a:ext cx="25718" cy="1714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54/notch-clipboard/line/018"/>
            <p:cNvCxnSpPr/>
            <p:nvPr/>
          </p:nvCxnSpPr>
          <p:spPr>
            <a:xfrm flipV="1">
              <a:off x="1745932" y="2271712"/>
              <a:ext cx="34290" cy="5143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N54/notch-clipboard/button-folder/019"/>
            <p:cNvSpPr/>
            <p:nvPr/>
          </p:nvSpPr>
          <p:spPr>
            <a:xfrm>
              <a:off x="1908810" y="2185987"/>
              <a:ext cx="274320" cy="25717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N54/notch-clipboard/poly/020"/>
            <p:cNvSpPr/>
            <p:nvPr/>
          </p:nvSpPr>
          <p:spPr>
            <a:xfrm>
              <a:off x="1994535" y="2288857"/>
              <a:ext cx="102870" cy="68580"/>
            </a:xfrm>
            <a:custGeom>
              <a:avLst/>
              <a:gdLst/>
              <a:ahLst/>
              <a:cxnLst/>
              <a:rect l="l" t="t" r="r" b="b"/>
              <a:pathLst>
                <a:path w="102870" h="68580">
                  <a:moveTo>
                    <a:pt x="0" y="0"/>
                  </a:moveTo>
                  <a:lnTo>
                    <a:pt x="34290" y="0"/>
                  </a:lnTo>
                  <a:lnTo>
                    <a:pt x="47148" y="17145"/>
                  </a:lnTo>
                  <a:lnTo>
                    <a:pt x="102870" y="17145"/>
                  </a:lnTo>
                  <a:lnTo>
                    <a:pt x="102870" y="68580"/>
                  </a:lnTo>
                  <a:lnTo>
                    <a:pt x="0" y="68580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54/notch-clipboard/button-Clips/021"/>
            <p:cNvSpPr/>
            <p:nvPr/>
          </p:nvSpPr>
          <p:spPr>
            <a:xfrm>
              <a:off x="2217420" y="2185987"/>
              <a:ext cx="828103" cy="257175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54/notch-clipboard/rect/022"/>
            <p:cNvSpPr/>
            <p:nvPr/>
          </p:nvSpPr>
          <p:spPr>
            <a:xfrm>
              <a:off x="2391441" y="2271712"/>
              <a:ext cx="68580" cy="94297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54/notch-clipboard/rect/023"/>
            <p:cNvSpPr/>
            <p:nvPr/>
          </p:nvSpPr>
          <p:spPr>
            <a:xfrm>
              <a:off x="2408586" y="2258853"/>
              <a:ext cx="34290" cy="21431"/>
            </a:xfrm>
            <a:prstGeom prst="roundRect">
              <a:avLst>
                <a:gd name="adj" fmla="val 24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5" name="N54/notch-clipboard/line/024"/>
            <p:cNvCxnSpPr/>
            <p:nvPr/>
          </p:nvCxnSpPr>
          <p:spPr>
            <a:xfrm>
              <a:off x="2408586" y="2306002"/>
              <a:ext cx="34290" cy="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N54/notch-clipboard/line/025"/>
            <p:cNvCxnSpPr/>
            <p:nvPr/>
          </p:nvCxnSpPr>
          <p:spPr>
            <a:xfrm>
              <a:off x="2408586" y="2327433"/>
              <a:ext cx="34290" cy="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N54/notch-clipboard/text/026"/>
            <p:cNvSpPr txBox="1"/>
            <p:nvPr/>
          </p:nvSpPr>
          <p:spPr>
            <a:xfrm>
              <a:off x="2545746" y="2185987"/>
              <a:ext cx="482631" cy="25717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44" b="1" i="0">
                  <a:solidFill>
                    <a:srgbClr val="FFFFFF"/>
                  </a:solidFill>
                  <a:latin typeface="Arial"/>
                </a:rPr>
                <a:t>Clips</a:t>
              </a:r>
            </a:p>
          </p:txBody>
        </p:sp>
        <p:sp>
          <p:nvSpPr>
            <p:cNvPr id="38" name="N54/notch-clipboard/button-gear/027"/>
            <p:cNvSpPr/>
            <p:nvPr/>
          </p:nvSpPr>
          <p:spPr>
            <a:xfrm>
              <a:off x="3674745" y="2177415"/>
              <a:ext cx="274320" cy="27432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54/notch-clipboard/ellipse/028"/>
            <p:cNvSpPr/>
            <p:nvPr/>
          </p:nvSpPr>
          <p:spPr>
            <a:xfrm>
              <a:off x="3786187" y="2288857"/>
              <a:ext cx="51434" cy="51434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54/notch-clipboard/line/029"/>
            <p:cNvCxnSpPr/>
            <p:nvPr/>
          </p:nvCxnSpPr>
          <p:spPr>
            <a:xfrm>
              <a:off x="3854767" y="2314575"/>
              <a:ext cx="1714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54/notch-clipboard/line/030"/>
            <p:cNvCxnSpPr/>
            <p:nvPr/>
          </p:nvCxnSpPr>
          <p:spPr>
            <a:xfrm>
              <a:off x="3842213" y="2344883"/>
              <a:ext cx="12123" cy="1212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54/notch-clipboard/line/031"/>
            <p:cNvCxnSpPr/>
            <p:nvPr/>
          </p:nvCxnSpPr>
          <p:spPr>
            <a:xfrm>
              <a:off x="3811905" y="2357437"/>
              <a:ext cx="0" cy="1714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54/notch-clipboard/line/032"/>
            <p:cNvCxnSpPr/>
            <p:nvPr/>
          </p:nvCxnSpPr>
          <p:spPr>
            <a:xfrm flipH="1">
              <a:off x="3769473" y="2344883"/>
              <a:ext cx="12123" cy="1212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54/notch-clipboard/line/033"/>
            <p:cNvCxnSpPr/>
            <p:nvPr/>
          </p:nvCxnSpPr>
          <p:spPr>
            <a:xfrm flipH="1">
              <a:off x="3751897" y="2314575"/>
              <a:ext cx="1714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54/notch-clipboard/line/034"/>
            <p:cNvCxnSpPr/>
            <p:nvPr/>
          </p:nvCxnSpPr>
          <p:spPr>
            <a:xfrm flipH="1" flipV="1">
              <a:off x="3769473" y="2272143"/>
              <a:ext cx="12123" cy="1212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54/notch-clipboard/line/035"/>
            <p:cNvCxnSpPr/>
            <p:nvPr/>
          </p:nvCxnSpPr>
          <p:spPr>
            <a:xfrm flipV="1">
              <a:off x="3811905" y="2254567"/>
              <a:ext cx="0" cy="1714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54/notch-clipboard/line/036"/>
            <p:cNvCxnSpPr/>
            <p:nvPr/>
          </p:nvCxnSpPr>
          <p:spPr>
            <a:xfrm flipV="1">
              <a:off x="3842213" y="2272143"/>
              <a:ext cx="12123" cy="1212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54/notch-clipboard/button-close/037"/>
            <p:cNvSpPr/>
            <p:nvPr/>
          </p:nvSpPr>
          <p:spPr>
            <a:xfrm>
              <a:off x="4000500" y="2177415"/>
              <a:ext cx="274320" cy="27432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54/notch-clipboard/line/038"/>
            <p:cNvCxnSpPr/>
            <p:nvPr/>
          </p:nvCxnSpPr>
          <p:spPr>
            <a:xfrm>
              <a:off x="4103370" y="2280285"/>
              <a:ext cx="68580" cy="6858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54/notch-clipboard/line/039"/>
            <p:cNvCxnSpPr/>
            <p:nvPr/>
          </p:nvCxnSpPr>
          <p:spPr>
            <a:xfrm flipH="1">
              <a:off x="4103370" y="2280285"/>
              <a:ext cx="68580" cy="6858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54/notch-clipboard/text/040"/>
            <p:cNvSpPr txBox="1"/>
            <p:nvPr/>
          </p:nvSpPr>
          <p:spPr>
            <a:xfrm>
              <a:off x="674370" y="2503170"/>
              <a:ext cx="1501140" cy="19907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40" b="1" i="0">
                  <a:solidFill>
                    <a:srgbClr val="F5F5F7"/>
                  </a:solidFill>
                  <a:latin typeface="Arial"/>
                </a:rPr>
                <a:t>Clipboard history · on</a:t>
              </a:r>
            </a:p>
          </p:txBody>
        </p:sp>
        <p:sp>
          <p:nvSpPr>
            <p:cNvPr id="52" name="N54/notch-clipboard/button-Capture now/041"/>
            <p:cNvSpPr/>
            <p:nvPr/>
          </p:nvSpPr>
          <p:spPr>
            <a:xfrm>
              <a:off x="2175510" y="2485072"/>
              <a:ext cx="1013459" cy="253364"/>
            </a:xfrm>
            <a:prstGeom prst="roundRect">
              <a:avLst>
                <a:gd name="adj" fmla="val 35714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N54/notch-clipboard/rect/042"/>
            <p:cNvSpPr/>
            <p:nvPr/>
          </p:nvSpPr>
          <p:spPr>
            <a:xfrm>
              <a:off x="2247900" y="2566511"/>
              <a:ext cx="72390" cy="99536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N54/notch-clipboard/rect/043"/>
            <p:cNvSpPr/>
            <p:nvPr/>
          </p:nvSpPr>
          <p:spPr>
            <a:xfrm>
              <a:off x="2265997" y="2552938"/>
              <a:ext cx="36195" cy="22621"/>
            </a:xfrm>
            <a:prstGeom prst="roundRect">
              <a:avLst>
                <a:gd name="adj" fmla="val 24000"/>
              </a:avLst>
            </a:pr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5" name="N54/notch-clipboard/line/044"/>
            <p:cNvCxnSpPr/>
            <p:nvPr/>
          </p:nvCxnSpPr>
          <p:spPr>
            <a:xfrm>
              <a:off x="2265997" y="2602706"/>
              <a:ext cx="36195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N54/notch-clipboard/line/045"/>
            <p:cNvCxnSpPr/>
            <p:nvPr/>
          </p:nvCxnSpPr>
          <p:spPr>
            <a:xfrm>
              <a:off x="2265997" y="2625328"/>
              <a:ext cx="36195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N54/notch-clipboard/text/046"/>
            <p:cNvSpPr txBox="1"/>
            <p:nvPr/>
          </p:nvSpPr>
          <p:spPr>
            <a:xfrm>
              <a:off x="2410777" y="2485072"/>
              <a:ext cx="760094" cy="25336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7" b="0" i="0">
                  <a:solidFill>
                    <a:srgbClr val="E5E5EA"/>
                  </a:solidFill>
                  <a:latin typeface="Arial"/>
                </a:rPr>
                <a:t>Capture now</a:t>
              </a:r>
            </a:p>
          </p:txBody>
        </p:sp>
        <p:sp>
          <p:nvSpPr>
            <p:cNvPr id="58" name="N54/notch-clipboard/button-Clear history/047"/>
            <p:cNvSpPr/>
            <p:nvPr/>
          </p:nvSpPr>
          <p:spPr>
            <a:xfrm>
              <a:off x="3261360" y="2485072"/>
              <a:ext cx="1013459" cy="253364"/>
            </a:xfrm>
            <a:prstGeom prst="roundRect">
              <a:avLst>
                <a:gd name="adj" fmla="val 35714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9" name="N54/notch-clipboard/line/048"/>
            <p:cNvCxnSpPr/>
            <p:nvPr/>
          </p:nvCxnSpPr>
          <p:spPr>
            <a:xfrm>
              <a:off x="3324701" y="2584608"/>
              <a:ext cx="90487" cy="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N54/notch-clipboard/rect/049"/>
            <p:cNvSpPr/>
            <p:nvPr/>
          </p:nvSpPr>
          <p:spPr>
            <a:xfrm>
              <a:off x="3342798" y="2584608"/>
              <a:ext cx="54292" cy="81438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6363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1" name="N54/notch-clipboard/line/050"/>
            <p:cNvCxnSpPr/>
            <p:nvPr/>
          </p:nvCxnSpPr>
          <p:spPr>
            <a:xfrm>
              <a:off x="3351847" y="2566511"/>
              <a:ext cx="36195" cy="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N54/notch-clipboard/line/051"/>
            <p:cNvCxnSpPr/>
            <p:nvPr/>
          </p:nvCxnSpPr>
          <p:spPr>
            <a:xfrm>
              <a:off x="3360896" y="2602706"/>
              <a:ext cx="0" cy="45244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N54/notch-clipboard/line/052"/>
            <p:cNvCxnSpPr/>
            <p:nvPr/>
          </p:nvCxnSpPr>
          <p:spPr>
            <a:xfrm>
              <a:off x="3378993" y="2602706"/>
              <a:ext cx="0" cy="45244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N54/notch-clipboard/text/053"/>
            <p:cNvSpPr txBox="1"/>
            <p:nvPr/>
          </p:nvSpPr>
          <p:spPr>
            <a:xfrm>
              <a:off x="3496627" y="2485072"/>
              <a:ext cx="760094" cy="25336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7" b="0" i="0">
                  <a:solidFill>
                    <a:srgbClr val="636366"/>
                  </a:solidFill>
                  <a:latin typeface="Arial"/>
                </a:rPr>
                <a:t>Clear history</a:t>
              </a:r>
            </a:p>
          </p:txBody>
        </p:sp>
        <p:sp>
          <p:nvSpPr>
            <p:cNvPr id="65" name="N54/notch-clipboard/text/054"/>
            <p:cNvSpPr txBox="1"/>
            <p:nvPr/>
          </p:nvSpPr>
          <p:spPr>
            <a:xfrm>
              <a:off x="674370" y="2756535"/>
              <a:ext cx="3600450" cy="2895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7" b="0" i="0">
                  <a:solidFill>
                    <a:srgbClr val="98989D"/>
                  </a:solidFill>
                  <a:latin typeface="Arial"/>
                </a:rPr>
                <a:t>RAM only. Cleared on lock/logout. Mixed-format and known password-manager clips are skipped.</a:t>
              </a:r>
            </a:p>
          </p:txBody>
        </p:sp>
        <p:sp>
          <p:nvSpPr>
            <p:cNvPr id="66" name="N54/notch-clipboard/empty-state/055"/>
            <p:cNvSpPr/>
            <p:nvPr/>
          </p:nvSpPr>
          <p:spPr>
            <a:xfrm>
              <a:off x="674370" y="3100387"/>
              <a:ext cx="3600450" cy="1117282"/>
            </a:xfrm>
            <a:prstGeom prst="roundRect">
              <a:avLst>
                <a:gd name="adj" fmla="val 11338"/>
              </a:avLst>
            </a:prstGeom>
            <a:solidFill>
              <a:srgbClr val="0A0A0B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N54/notch-clipboard/rect/056"/>
            <p:cNvSpPr/>
            <p:nvPr/>
          </p:nvSpPr>
          <p:spPr>
            <a:xfrm>
              <a:off x="2402205" y="3299460"/>
              <a:ext cx="144780" cy="199072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8E8E9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N54/notch-clipboard/rect/057"/>
            <p:cNvSpPr/>
            <p:nvPr/>
          </p:nvSpPr>
          <p:spPr>
            <a:xfrm>
              <a:off x="2438400" y="3272313"/>
              <a:ext cx="72390" cy="45243"/>
            </a:xfrm>
            <a:prstGeom prst="roundRect">
              <a:avLst>
                <a:gd name="adj" fmla="val 24000"/>
              </a:avLst>
            </a:prstGeom>
            <a:solidFill>
              <a:srgbClr val="8E8E9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9" name="N54/notch-clipboard/line/058"/>
            <p:cNvCxnSpPr/>
            <p:nvPr/>
          </p:nvCxnSpPr>
          <p:spPr>
            <a:xfrm>
              <a:off x="2438400" y="3371850"/>
              <a:ext cx="72390" cy="0"/>
            </a:xfrm>
            <a:prstGeom prst="line">
              <a:avLst/>
            </a:prstGeom>
            <a:ln w="10160">
              <a:solidFill>
                <a:srgbClr val="8E8E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N54/notch-clipboard/line/059"/>
            <p:cNvCxnSpPr/>
            <p:nvPr/>
          </p:nvCxnSpPr>
          <p:spPr>
            <a:xfrm>
              <a:off x="2438400" y="3417093"/>
              <a:ext cx="72390" cy="0"/>
            </a:xfrm>
            <a:prstGeom prst="line">
              <a:avLst/>
            </a:prstGeom>
            <a:ln w="10160">
              <a:solidFill>
                <a:srgbClr val="8E8E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N54/notch-clipboard/text/060"/>
            <p:cNvSpPr txBox="1"/>
            <p:nvPr/>
          </p:nvSpPr>
          <p:spPr>
            <a:xfrm>
              <a:off x="782955" y="3589020"/>
              <a:ext cx="3383280" cy="18097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7" b="1" i="0">
                  <a:solidFill>
                    <a:srgbClr val="F5F5F7"/>
                  </a:solidFill>
                  <a:latin typeface="Arial"/>
                </a:rPr>
                <a:t>No clipboard history</a:t>
              </a:r>
            </a:p>
          </p:txBody>
        </p:sp>
        <p:sp>
          <p:nvSpPr>
            <p:cNvPr id="72" name="N54/notch-clipboard/text/061"/>
            <p:cNvSpPr txBox="1"/>
            <p:nvPr/>
          </p:nvSpPr>
          <p:spPr>
            <a:xfrm>
              <a:off x="837247" y="3806189"/>
              <a:ext cx="3274695" cy="33909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7" b="0" i="0">
                  <a:solidFill>
                    <a:srgbClr val="98989D"/>
                  </a:solidFill>
                  <a:latin typeface="Arial"/>
                </a:rPr>
                <a:t>Copy plain text to begin.</a:t>
              </a:r>
            </a:p>
          </p:txBody>
        </p:sp>
      </p:grpSp>
      <p:sp>
        <p:nvSpPr>
          <p:cNvPr id="73" name="N54/text/010"/>
          <p:cNvSpPr txBox="1"/>
          <p:nvPr/>
        </p:nvSpPr>
        <p:spPr>
          <a:xfrm>
            <a:off x="502920" y="4572000"/>
            <a:ext cx="3977639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Enabled but empty: 'Copy plain text to begin.'</a:t>
            </a:r>
          </a:p>
        </p:txBody>
      </p:sp>
      <p:grpSp>
        <p:nvGrpSpPr>
          <p:cNvPr id="74" name="N54/notch-clipboard"/>
          <p:cNvGrpSpPr/>
          <p:nvPr/>
        </p:nvGrpSpPr>
        <p:grpSpPr>
          <a:xfrm>
            <a:off x="4709160" y="1783080"/>
            <a:ext cx="2914650" cy="2571750"/>
            <a:chOff x="4709160" y="1783080"/>
            <a:chExt cx="2914650" cy="2571750"/>
          </a:xfrm>
        </p:grpSpPr>
        <p:sp>
          <p:nvSpPr>
            <p:cNvPr id="75" name="N54/notch-clipboard/notch-surface-open/001"/>
            <p:cNvSpPr/>
            <p:nvPr/>
          </p:nvSpPr>
          <p:spPr>
            <a:xfrm>
              <a:off x="4709160" y="1783080"/>
              <a:ext cx="2914650" cy="2571750"/>
            </a:xfrm>
            <a:custGeom>
              <a:avLst/>
              <a:gdLst/>
              <a:ahLst/>
              <a:cxnLst/>
              <a:rect l="l" t="t" r="r" b="b"/>
              <a:pathLst>
                <a:path w="2914650" h="2571750">
                  <a:moveTo>
                    <a:pt x="0" y="0"/>
                  </a:moveTo>
                  <a:lnTo>
                    <a:pt x="2914650" y="0"/>
                  </a:lnTo>
                  <a:lnTo>
                    <a:pt x="2892063" y="2544"/>
                  </a:lnTo>
                  <a:lnTo>
                    <a:pt x="2866295" y="10179"/>
                  </a:lnTo>
                  <a:lnTo>
                    <a:pt x="2839255" y="22904"/>
                  </a:lnTo>
                  <a:lnTo>
                    <a:pt x="2812851" y="40719"/>
                  </a:lnTo>
                  <a:lnTo>
                    <a:pt x="2788992" y="63624"/>
                  </a:lnTo>
                  <a:lnTo>
                    <a:pt x="2769587" y="91618"/>
                  </a:lnTo>
                  <a:lnTo>
                    <a:pt x="2756544" y="124703"/>
                  </a:lnTo>
                  <a:lnTo>
                    <a:pt x="2751772" y="162877"/>
                  </a:lnTo>
                  <a:lnTo>
                    <a:pt x="2747819" y="2406147"/>
                  </a:lnTo>
                  <a:lnTo>
                    <a:pt x="2736111" y="2444743"/>
                  </a:lnTo>
                  <a:lnTo>
                    <a:pt x="2717099" y="2480313"/>
                  </a:lnTo>
                  <a:lnTo>
                    <a:pt x="2691512" y="2511490"/>
                  </a:lnTo>
                  <a:lnTo>
                    <a:pt x="2660335" y="2537076"/>
                  </a:lnTo>
                  <a:lnTo>
                    <a:pt x="2624765" y="2556088"/>
                  </a:lnTo>
                  <a:lnTo>
                    <a:pt x="2586170" y="2567796"/>
                  </a:lnTo>
                  <a:lnTo>
                    <a:pt x="2546032" y="2571750"/>
                  </a:lnTo>
                  <a:lnTo>
                    <a:pt x="368617" y="2571750"/>
                  </a:lnTo>
                  <a:lnTo>
                    <a:pt x="328479" y="2567796"/>
                  </a:lnTo>
                  <a:lnTo>
                    <a:pt x="289884" y="2556088"/>
                  </a:lnTo>
                  <a:lnTo>
                    <a:pt x="254314" y="2537076"/>
                  </a:lnTo>
                  <a:lnTo>
                    <a:pt x="223137" y="2511490"/>
                  </a:lnTo>
                  <a:lnTo>
                    <a:pt x="197550" y="2480313"/>
                  </a:lnTo>
                  <a:lnTo>
                    <a:pt x="178538" y="2444743"/>
                  </a:lnTo>
                  <a:lnTo>
                    <a:pt x="166830" y="2406147"/>
                  </a:lnTo>
                  <a:lnTo>
                    <a:pt x="162877" y="2366010"/>
                  </a:lnTo>
                  <a:lnTo>
                    <a:pt x="162877" y="162877"/>
                  </a:lnTo>
                  <a:lnTo>
                    <a:pt x="158105" y="124703"/>
                  </a:lnTo>
                  <a:lnTo>
                    <a:pt x="145062" y="91618"/>
                  </a:lnTo>
                  <a:lnTo>
                    <a:pt x="125657" y="63624"/>
                  </a:lnTo>
                  <a:lnTo>
                    <a:pt x="101798" y="40719"/>
                  </a:lnTo>
                  <a:lnTo>
                    <a:pt x="75394" y="22904"/>
                  </a:lnTo>
                  <a:lnTo>
                    <a:pt x="48354" y="10179"/>
                  </a:lnTo>
                  <a:lnTo>
                    <a:pt x="22586" y="25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N54/notch-clipboard/button-home/002"/>
            <p:cNvSpPr/>
            <p:nvPr/>
          </p:nvSpPr>
          <p:spPr>
            <a:xfrm>
              <a:off x="4880610" y="2185987"/>
              <a:ext cx="274320" cy="25717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N54/notch-clipboard/poly/003"/>
            <p:cNvSpPr/>
            <p:nvPr/>
          </p:nvSpPr>
          <p:spPr>
            <a:xfrm>
              <a:off x="4966335" y="2263139"/>
              <a:ext cx="102870" cy="102871"/>
            </a:xfrm>
            <a:custGeom>
              <a:avLst/>
              <a:gdLst/>
              <a:ahLst/>
              <a:cxnLst/>
              <a:rect l="l" t="t" r="r" b="b"/>
              <a:pathLst>
                <a:path w="102870" h="102871">
                  <a:moveTo>
                    <a:pt x="51435" y="0"/>
                  </a:moveTo>
                  <a:lnTo>
                    <a:pt x="0" y="42863"/>
                  </a:lnTo>
                  <a:lnTo>
                    <a:pt x="17145" y="42863"/>
                  </a:lnTo>
                  <a:lnTo>
                    <a:pt x="17145" y="102871"/>
                  </a:lnTo>
                  <a:lnTo>
                    <a:pt x="42862" y="102871"/>
                  </a:lnTo>
                  <a:lnTo>
                    <a:pt x="42862" y="68581"/>
                  </a:lnTo>
                  <a:lnTo>
                    <a:pt x="60007" y="68581"/>
                  </a:lnTo>
                  <a:lnTo>
                    <a:pt x="60007" y="102871"/>
                  </a:lnTo>
                  <a:lnTo>
                    <a:pt x="85725" y="102871"/>
                  </a:lnTo>
                  <a:lnTo>
                    <a:pt x="85725" y="42863"/>
                  </a:lnTo>
                  <a:lnTo>
                    <a:pt x="102870" y="42863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N54/notch-clipboard/button-music/004"/>
            <p:cNvSpPr/>
            <p:nvPr/>
          </p:nvSpPr>
          <p:spPr>
            <a:xfrm>
              <a:off x="5189220" y="2185987"/>
              <a:ext cx="274320" cy="25717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9" name="N54/notch-clipboard/line/005"/>
            <p:cNvCxnSpPr/>
            <p:nvPr/>
          </p:nvCxnSpPr>
          <p:spPr>
            <a:xfrm flipV="1">
              <a:off x="5309235" y="2280285"/>
              <a:ext cx="0" cy="6857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N54/notch-clipboard/line/006"/>
            <p:cNvCxnSpPr/>
            <p:nvPr/>
          </p:nvCxnSpPr>
          <p:spPr>
            <a:xfrm flipV="1">
              <a:off x="5309235" y="2271712"/>
              <a:ext cx="60007" cy="857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N54/notch-clipboard/line/007"/>
            <p:cNvCxnSpPr/>
            <p:nvPr/>
          </p:nvCxnSpPr>
          <p:spPr>
            <a:xfrm>
              <a:off x="5369242" y="2271712"/>
              <a:ext cx="0" cy="6858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N54/notch-clipboard/ellipse/008"/>
            <p:cNvSpPr/>
            <p:nvPr/>
          </p:nvSpPr>
          <p:spPr>
            <a:xfrm>
              <a:off x="5283517" y="2336006"/>
              <a:ext cx="30003" cy="25717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N54/notch-clipboard/ellipse/009"/>
            <p:cNvSpPr/>
            <p:nvPr/>
          </p:nvSpPr>
          <p:spPr>
            <a:xfrm>
              <a:off x="5343525" y="2327433"/>
              <a:ext cx="30003" cy="25717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N54/notch-clipboard/button-bell/010"/>
            <p:cNvSpPr/>
            <p:nvPr/>
          </p:nvSpPr>
          <p:spPr>
            <a:xfrm>
              <a:off x="5497830" y="2185987"/>
              <a:ext cx="274320" cy="25717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N54/notch-clipboard/poly/011"/>
            <p:cNvSpPr/>
            <p:nvPr/>
          </p:nvSpPr>
          <p:spPr>
            <a:xfrm>
              <a:off x="5592127" y="2263139"/>
              <a:ext cx="85725" cy="77153"/>
            </a:xfrm>
            <a:custGeom>
              <a:avLst/>
              <a:gdLst/>
              <a:ahLst/>
              <a:cxnLst/>
              <a:rect l="l" t="t" r="r" b="b"/>
              <a:pathLst>
                <a:path w="85725" h="77153">
                  <a:moveTo>
                    <a:pt x="42863" y="0"/>
                  </a:moveTo>
                  <a:lnTo>
                    <a:pt x="17145" y="17146"/>
                  </a:lnTo>
                  <a:lnTo>
                    <a:pt x="8573" y="51436"/>
                  </a:lnTo>
                  <a:lnTo>
                    <a:pt x="0" y="77153"/>
                  </a:lnTo>
                  <a:lnTo>
                    <a:pt x="85725" y="77153"/>
                  </a:lnTo>
                  <a:lnTo>
                    <a:pt x="77153" y="51436"/>
                  </a:lnTo>
                  <a:lnTo>
                    <a:pt x="68580" y="17146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6" name="N54/notch-clipboard/line/012"/>
            <p:cNvCxnSpPr/>
            <p:nvPr/>
          </p:nvCxnSpPr>
          <p:spPr>
            <a:xfrm>
              <a:off x="5617845" y="2357437"/>
              <a:ext cx="34290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N54/notch-clipboard/ellipse/013"/>
            <p:cNvSpPr/>
            <p:nvPr/>
          </p:nvSpPr>
          <p:spPr>
            <a:xfrm>
              <a:off x="5626417" y="2254567"/>
              <a:ext cx="17145" cy="17145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N54/notch-clipboard/button-chart/014"/>
            <p:cNvSpPr/>
            <p:nvPr/>
          </p:nvSpPr>
          <p:spPr>
            <a:xfrm>
              <a:off x="5806440" y="2185987"/>
              <a:ext cx="274320" cy="25717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9" name="N54/notch-clipboard/line/015"/>
            <p:cNvCxnSpPr/>
            <p:nvPr/>
          </p:nvCxnSpPr>
          <p:spPr>
            <a:xfrm>
              <a:off x="5892165" y="2366010"/>
              <a:ext cx="102870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N54/notch-clipboard/line/016"/>
            <p:cNvCxnSpPr/>
            <p:nvPr/>
          </p:nvCxnSpPr>
          <p:spPr>
            <a:xfrm flipV="1">
              <a:off x="5900737" y="2306002"/>
              <a:ext cx="25718" cy="342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N54/notch-clipboard/line/017"/>
            <p:cNvCxnSpPr/>
            <p:nvPr/>
          </p:nvCxnSpPr>
          <p:spPr>
            <a:xfrm>
              <a:off x="5926455" y="2306002"/>
              <a:ext cx="25717" cy="1714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N54/notch-clipboard/line/018"/>
            <p:cNvCxnSpPr/>
            <p:nvPr/>
          </p:nvCxnSpPr>
          <p:spPr>
            <a:xfrm flipV="1">
              <a:off x="5952172" y="2271712"/>
              <a:ext cx="34290" cy="5143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N54/notch-clipboard/button-folder/019"/>
            <p:cNvSpPr/>
            <p:nvPr/>
          </p:nvSpPr>
          <p:spPr>
            <a:xfrm>
              <a:off x="6115050" y="2185987"/>
              <a:ext cx="274320" cy="25717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N54/notch-clipboard/poly/020"/>
            <p:cNvSpPr/>
            <p:nvPr/>
          </p:nvSpPr>
          <p:spPr>
            <a:xfrm>
              <a:off x="6200775" y="2288857"/>
              <a:ext cx="102870" cy="68580"/>
            </a:xfrm>
            <a:custGeom>
              <a:avLst/>
              <a:gdLst/>
              <a:ahLst/>
              <a:cxnLst/>
              <a:rect l="l" t="t" r="r" b="b"/>
              <a:pathLst>
                <a:path w="102870" h="68580">
                  <a:moveTo>
                    <a:pt x="0" y="0"/>
                  </a:moveTo>
                  <a:lnTo>
                    <a:pt x="34290" y="0"/>
                  </a:lnTo>
                  <a:lnTo>
                    <a:pt x="47148" y="17145"/>
                  </a:lnTo>
                  <a:lnTo>
                    <a:pt x="102870" y="17145"/>
                  </a:lnTo>
                  <a:lnTo>
                    <a:pt x="102870" y="68580"/>
                  </a:lnTo>
                  <a:lnTo>
                    <a:pt x="0" y="68580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N54/notch-clipboard/button-clipboard/021"/>
            <p:cNvSpPr/>
            <p:nvPr/>
          </p:nvSpPr>
          <p:spPr>
            <a:xfrm>
              <a:off x="6423660" y="2185987"/>
              <a:ext cx="274320" cy="257175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N54/notch-clipboard/rect/022"/>
            <p:cNvSpPr/>
            <p:nvPr/>
          </p:nvSpPr>
          <p:spPr>
            <a:xfrm>
              <a:off x="6526530" y="2271712"/>
              <a:ext cx="68580" cy="94297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N54/notch-clipboard/rect/023"/>
            <p:cNvSpPr/>
            <p:nvPr/>
          </p:nvSpPr>
          <p:spPr>
            <a:xfrm>
              <a:off x="6543675" y="2258853"/>
              <a:ext cx="34290" cy="21431"/>
            </a:xfrm>
            <a:prstGeom prst="roundRect">
              <a:avLst>
                <a:gd name="adj" fmla="val 24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8" name="N54/notch-clipboard/line/024"/>
            <p:cNvCxnSpPr/>
            <p:nvPr/>
          </p:nvCxnSpPr>
          <p:spPr>
            <a:xfrm>
              <a:off x="6543675" y="2306002"/>
              <a:ext cx="34290" cy="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N54/notch-clipboard/line/025"/>
            <p:cNvCxnSpPr/>
            <p:nvPr/>
          </p:nvCxnSpPr>
          <p:spPr>
            <a:xfrm>
              <a:off x="6543675" y="2327433"/>
              <a:ext cx="34290" cy="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N54/notch-clipboard/button-gear/026"/>
            <p:cNvSpPr/>
            <p:nvPr/>
          </p:nvSpPr>
          <p:spPr>
            <a:xfrm>
              <a:off x="6852285" y="2177415"/>
              <a:ext cx="274320" cy="27432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N54/notch-clipboard/ellipse/027"/>
            <p:cNvSpPr/>
            <p:nvPr/>
          </p:nvSpPr>
          <p:spPr>
            <a:xfrm>
              <a:off x="6963727" y="2288857"/>
              <a:ext cx="51434" cy="51434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2" name="N54/notch-clipboard/line/028"/>
            <p:cNvCxnSpPr/>
            <p:nvPr/>
          </p:nvCxnSpPr>
          <p:spPr>
            <a:xfrm>
              <a:off x="7032307" y="2314575"/>
              <a:ext cx="1714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N54/notch-clipboard/line/029"/>
            <p:cNvCxnSpPr/>
            <p:nvPr/>
          </p:nvCxnSpPr>
          <p:spPr>
            <a:xfrm>
              <a:off x="7019753" y="2344883"/>
              <a:ext cx="12123" cy="1212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N54/notch-clipboard/line/030"/>
            <p:cNvCxnSpPr/>
            <p:nvPr/>
          </p:nvCxnSpPr>
          <p:spPr>
            <a:xfrm>
              <a:off x="6989445" y="2357437"/>
              <a:ext cx="0" cy="1714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N54/notch-clipboard/line/031"/>
            <p:cNvCxnSpPr/>
            <p:nvPr/>
          </p:nvCxnSpPr>
          <p:spPr>
            <a:xfrm flipH="1">
              <a:off x="6947013" y="2344883"/>
              <a:ext cx="12123" cy="1212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N54/notch-clipboard/line/032"/>
            <p:cNvCxnSpPr/>
            <p:nvPr/>
          </p:nvCxnSpPr>
          <p:spPr>
            <a:xfrm flipH="1">
              <a:off x="6929437" y="2314575"/>
              <a:ext cx="1714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N54/notch-clipboard/line/033"/>
            <p:cNvCxnSpPr/>
            <p:nvPr/>
          </p:nvCxnSpPr>
          <p:spPr>
            <a:xfrm flipH="1" flipV="1">
              <a:off x="6947013" y="2272143"/>
              <a:ext cx="12123" cy="1212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N54/notch-clipboard/line/034"/>
            <p:cNvCxnSpPr/>
            <p:nvPr/>
          </p:nvCxnSpPr>
          <p:spPr>
            <a:xfrm flipV="1">
              <a:off x="6989445" y="2254567"/>
              <a:ext cx="0" cy="1714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N54/notch-clipboard/line/035"/>
            <p:cNvCxnSpPr/>
            <p:nvPr/>
          </p:nvCxnSpPr>
          <p:spPr>
            <a:xfrm flipV="1">
              <a:off x="7019753" y="2272143"/>
              <a:ext cx="12123" cy="1212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N54/notch-clipboard/button-close/036"/>
            <p:cNvSpPr/>
            <p:nvPr/>
          </p:nvSpPr>
          <p:spPr>
            <a:xfrm>
              <a:off x="7178040" y="2177415"/>
              <a:ext cx="274320" cy="27432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1" name="N54/notch-clipboard/line/037"/>
            <p:cNvCxnSpPr/>
            <p:nvPr/>
          </p:nvCxnSpPr>
          <p:spPr>
            <a:xfrm>
              <a:off x="7280910" y="2280285"/>
              <a:ext cx="68580" cy="6858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N54/notch-clipboard/line/038"/>
            <p:cNvCxnSpPr/>
            <p:nvPr/>
          </p:nvCxnSpPr>
          <p:spPr>
            <a:xfrm flipH="1">
              <a:off x="7280910" y="2280285"/>
              <a:ext cx="68580" cy="6858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N54/notch-clipboard/text/039"/>
            <p:cNvSpPr txBox="1"/>
            <p:nvPr/>
          </p:nvSpPr>
          <p:spPr>
            <a:xfrm>
              <a:off x="4880610" y="2503170"/>
              <a:ext cx="1920240" cy="1885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76" b="1" i="0">
                  <a:solidFill>
                    <a:srgbClr val="F5F5F7"/>
                  </a:solidFill>
                  <a:latin typeface="Arial"/>
                </a:rPr>
                <a:t>Clipboard history · on</a:t>
              </a:r>
            </a:p>
          </p:txBody>
        </p:sp>
        <p:sp>
          <p:nvSpPr>
            <p:cNvPr id="114" name="N54/notch-clipboard/button-clipboard/040"/>
            <p:cNvSpPr/>
            <p:nvPr/>
          </p:nvSpPr>
          <p:spPr>
            <a:xfrm>
              <a:off x="6835140" y="2486025"/>
              <a:ext cx="274320" cy="240030"/>
            </a:xfrm>
            <a:prstGeom prst="roundRect">
              <a:avLst>
                <a:gd name="adj" fmla="val 35714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N54/notch-clipboard/rect/041"/>
            <p:cNvSpPr/>
            <p:nvPr/>
          </p:nvSpPr>
          <p:spPr>
            <a:xfrm>
              <a:off x="6938010" y="2563177"/>
              <a:ext cx="68580" cy="94297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N54/notch-clipboard/rect/042"/>
            <p:cNvSpPr/>
            <p:nvPr/>
          </p:nvSpPr>
          <p:spPr>
            <a:xfrm>
              <a:off x="6955155" y="2550318"/>
              <a:ext cx="34290" cy="21431"/>
            </a:xfrm>
            <a:prstGeom prst="roundRect">
              <a:avLst>
                <a:gd name="adj" fmla="val 24000"/>
              </a:avLst>
            </a:pr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7" name="N54/notch-clipboard/line/043"/>
            <p:cNvCxnSpPr/>
            <p:nvPr/>
          </p:nvCxnSpPr>
          <p:spPr>
            <a:xfrm>
              <a:off x="6955155" y="2597467"/>
              <a:ext cx="34290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N54/notch-clipboard/line/044"/>
            <p:cNvCxnSpPr/>
            <p:nvPr/>
          </p:nvCxnSpPr>
          <p:spPr>
            <a:xfrm>
              <a:off x="6955155" y="2618898"/>
              <a:ext cx="34290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N54/notch-clipboard/button-trash/045"/>
            <p:cNvSpPr/>
            <p:nvPr/>
          </p:nvSpPr>
          <p:spPr>
            <a:xfrm>
              <a:off x="7178040" y="2486025"/>
              <a:ext cx="274320" cy="240030"/>
            </a:xfrm>
            <a:prstGeom prst="roundRect">
              <a:avLst>
                <a:gd name="adj" fmla="val 35714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0" name="N54/notch-clipboard/line/046"/>
            <p:cNvCxnSpPr/>
            <p:nvPr/>
          </p:nvCxnSpPr>
          <p:spPr>
            <a:xfrm>
              <a:off x="7272337" y="2580322"/>
              <a:ext cx="85725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N54/notch-clipboard/rect/047"/>
            <p:cNvSpPr/>
            <p:nvPr/>
          </p:nvSpPr>
          <p:spPr>
            <a:xfrm>
              <a:off x="7289482" y="2580322"/>
              <a:ext cx="51434" cy="77152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2" name="N54/notch-clipboard/line/048"/>
            <p:cNvCxnSpPr/>
            <p:nvPr/>
          </p:nvCxnSpPr>
          <p:spPr>
            <a:xfrm>
              <a:off x="7298055" y="2563177"/>
              <a:ext cx="34290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N54/notch-clipboard/line/049"/>
            <p:cNvCxnSpPr/>
            <p:nvPr/>
          </p:nvCxnSpPr>
          <p:spPr>
            <a:xfrm>
              <a:off x="7306627" y="2597467"/>
              <a:ext cx="0" cy="42863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N54/notch-clipboard/line/050"/>
            <p:cNvCxnSpPr/>
            <p:nvPr/>
          </p:nvCxnSpPr>
          <p:spPr>
            <a:xfrm>
              <a:off x="7323772" y="2597467"/>
              <a:ext cx="0" cy="42863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N54/notch-clipboard/text/051"/>
            <p:cNvSpPr txBox="1"/>
            <p:nvPr/>
          </p:nvSpPr>
          <p:spPr>
            <a:xfrm>
              <a:off x="4880610" y="2743200"/>
              <a:ext cx="2571750" cy="37719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i="0">
                  <a:solidFill>
                    <a:srgbClr val="98989D"/>
                  </a:solidFill>
                  <a:latin typeface="Arial"/>
                </a:rPr>
                <a:t>RAM only. Cleared on lock/logout. Mixed-format and known password-manager clips are skipped.</a:t>
              </a:r>
            </a:p>
          </p:txBody>
        </p:sp>
        <p:sp>
          <p:nvSpPr>
            <p:cNvPr id="126" name="N54/notch-clipboard/clipboard-row/052"/>
            <p:cNvSpPr/>
            <p:nvPr/>
          </p:nvSpPr>
          <p:spPr>
            <a:xfrm>
              <a:off x="4880610" y="3188970"/>
              <a:ext cx="2571750" cy="445770"/>
            </a:xfrm>
            <a:prstGeom prst="roundRect">
              <a:avLst>
                <a:gd name="adj" fmla="val 23076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N54/notch-clipboard/button-Long captured text preview t…/053"/>
            <p:cNvSpPr/>
            <p:nvPr/>
          </p:nvSpPr>
          <p:spPr>
            <a:xfrm>
              <a:off x="4932045" y="3223260"/>
              <a:ext cx="2468880" cy="222885"/>
            </a:xfrm>
            <a:prstGeom prst="roundRect">
              <a:avLst>
                <a:gd name="adj" fmla="val 38461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N54/notch-clipboard/rect/054"/>
            <p:cNvSpPr/>
            <p:nvPr/>
          </p:nvSpPr>
          <p:spPr>
            <a:xfrm>
              <a:off x="5052060" y="3291840"/>
              <a:ext cx="68580" cy="94297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N54/notch-clipboard/rect/055"/>
            <p:cNvSpPr/>
            <p:nvPr/>
          </p:nvSpPr>
          <p:spPr>
            <a:xfrm>
              <a:off x="5069205" y="3278981"/>
              <a:ext cx="34290" cy="21431"/>
            </a:xfrm>
            <a:prstGeom prst="roundRect">
              <a:avLst>
                <a:gd name="adj" fmla="val 24000"/>
              </a:avLst>
            </a:pr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0" name="N54/notch-clipboard/line/056"/>
            <p:cNvCxnSpPr/>
            <p:nvPr/>
          </p:nvCxnSpPr>
          <p:spPr>
            <a:xfrm>
              <a:off x="5069205" y="3326130"/>
              <a:ext cx="34290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N54/notch-clipboard/line/057"/>
            <p:cNvCxnSpPr/>
            <p:nvPr/>
          </p:nvCxnSpPr>
          <p:spPr>
            <a:xfrm>
              <a:off x="5069205" y="3347561"/>
              <a:ext cx="34290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N54/notch-clipboard/text/058"/>
            <p:cNvSpPr txBox="1"/>
            <p:nvPr/>
          </p:nvSpPr>
          <p:spPr>
            <a:xfrm>
              <a:off x="5206365" y="3223260"/>
              <a:ext cx="2177415" cy="22288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44" b="0" i="0">
                  <a:solidFill>
                    <a:srgbClr val="E5E5EA"/>
                  </a:solidFill>
                  <a:latin typeface="Arial"/>
                </a:rPr>
                <a:t>Long captured text preview t…</a:t>
              </a:r>
            </a:p>
          </p:txBody>
        </p:sp>
        <p:sp>
          <p:nvSpPr>
            <p:cNvPr id="133" name="N54/notch-clipboard/text/059"/>
            <p:cNvSpPr txBox="1"/>
            <p:nvPr/>
          </p:nvSpPr>
          <p:spPr>
            <a:xfrm>
              <a:off x="4983480" y="3446145"/>
              <a:ext cx="2366010" cy="1371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76" b="0" i="0">
                  <a:solidFill>
                    <a:srgbClr val="98989D"/>
                  </a:solidFill>
                  <a:latin typeface="Arial"/>
                </a:rPr>
                <a:t>14:30</a:t>
              </a:r>
            </a:p>
          </p:txBody>
        </p:sp>
        <p:sp>
          <p:nvSpPr>
            <p:cNvPr id="134" name="N54/notch-clipboard/clipboard-row/060"/>
            <p:cNvSpPr/>
            <p:nvPr/>
          </p:nvSpPr>
          <p:spPr>
            <a:xfrm>
              <a:off x="4880610" y="3686175"/>
              <a:ext cx="2571750" cy="445770"/>
            </a:xfrm>
            <a:prstGeom prst="roundRect">
              <a:avLst>
                <a:gd name="adj" fmla="val 23076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N54/notch-clipboard/button-Second clip/061"/>
            <p:cNvSpPr/>
            <p:nvPr/>
          </p:nvSpPr>
          <p:spPr>
            <a:xfrm>
              <a:off x="4932045" y="3720464"/>
              <a:ext cx="2468880" cy="222885"/>
            </a:xfrm>
            <a:prstGeom prst="roundRect">
              <a:avLst>
                <a:gd name="adj" fmla="val 38461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N54/notch-clipboard/rect/062"/>
            <p:cNvSpPr/>
            <p:nvPr/>
          </p:nvSpPr>
          <p:spPr>
            <a:xfrm>
              <a:off x="5052060" y="3789045"/>
              <a:ext cx="68580" cy="94297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N54/notch-clipboard/rect/063"/>
            <p:cNvSpPr/>
            <p:nvPr/>
          </p:nvSpPr>
          <p:spPr>
            <a:xfrm>
              <a:off x="5069205" y="3776186"/>
              <a:ext cx="34290" cy="21431"/>
            </a:xfrm>
            <a:prstGeom prst="roundRect">
              <a:avLst>
                <a:gd name="adj" fmla="val 24000"/>
              </a:avLst>
            </a:pr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8" name="N54/notch-clipboard/line/064"/>
            <p:cNvCxnSpPr/>
            <p:nvPr/>
          </p:nvCxnSpPr>
          <p:spPr>
            <a:xfrm>
              <a:off x="5069205" y="3823334"/>
              <a:ext cx="34290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N54/notch-clipboard/line/065"/>
            <p:cNvCxnSpPr/>
            <p:nvPr/>
          </p:nvCxnSpPr>
          <p:spPr>
            <a:xfrm>
              <a:off x="5069205" y="3844766"/>
              <a:ext cx="34290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N54/notch-clipboard/text/066"/>
            <p:cNvSpPr txBox="1"/>
            <p:nvPr/>
          </p:nvSpPr>
          <p:spPr>
            <a:xfrm>
              <a:off x="5206365" y="3720464"/>
              <a:ext cx="2177415" cy="22288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44" b="0" i="0">
                  <a:solidFill>
                    <a:srgbClr val="E5E5EA"/>
                  </a:solidFill>
                  <a:latin typeface="Arial"/>
                </a:rPr>
                <a:t>Second clip</a:t>
              </a:r>
            </a:p>
          </p:txBody>
        </p:sp>
        <p:sp>
          <p:nvSpPr>
            <p:cNvPr id="141" name="N54/notch-clipboard/text/067"/>
            <p:cNvSpPr txBox="1"/>
            <p:nvPr/>
          </p:nvSpPr>
          <p:spPr>
            <a:xfrm>
              <a:off x="4983480" y="3943350"/>
              <a:ext cx="2366010" cy="1371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76" b="0" i="0">
                  <a:solidFill>
                    <a:srgbClr val="98989D"/>
                  </a:solidFill>
                  <a:latin typeface="Arial"/>
                </a:rPr>
                <a:t>14:22</a:t>
              </a:r>
            </a:p>
          </p:txBody>
        </p:sp>
      </p:grpSp>
      <p:sp>
        <p:nvSpPr>
          <p:cNvPr id="142" name="N54/text/011"/>
          <p:cNvSpPr txBox="1"/>
          <p:nvPr/>
        </p:nvSpPr>
        <p:spPr>
          <a:xfrm>
            <a:off x="4709160" y="4572000"/>
            <a:ext cx="297180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Narrow: stacked time; icon header.</a:t>
            </a:r>
          </a:p>
        </p:txBody>
      </p:sp>
      <p:sp>
        <p:nvSpPr>
          <p:cNvPr id="143" name="N54/spec-panel/012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N54/text/013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145" name="N54/ellipse/014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N54/text/015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Manual capture works when off</a:t>
            </a:r>
          </a:p>
        </p:txBody>
      </p:sp>
      <p:sp>
        <p:nvSpPr>
          <p:cNvPr id="147" name="N54/ellipse/016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N54/text/017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Automatic capture only when on</a:t>
            </a:r>
          </a:p>
        </p:txBody>
      </p:sp>
      <p:sp>
        <p:nvSpPr>
          <p:cNvPr id="149" name="N54/ellipse/018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N54/text/019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Preview max 160 chars</a:t>
            </a:r>
          </a:p>
        </p:txBody>
      </p:sp>
      <p:sp>
        <p:nvSpPr>
          <p:cNvPr id="151" name="N54/ellipse/020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N54/text/021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Lock clears/pauses history</a:t>
            </a:r>
          </a:p>
        </p:txBody>
      </p:sp>
      <p:cxnSp>
        <p:nvCxnSpPr>
          <p:cNvPr id="153" name="N54/line/022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N54/text/023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155" name="N54/edit-box/024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N54/edit-note/025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Empty copy / narrow row layout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25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25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25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SHARED CHROME</a:t>
            </a:r>
          </a:p>
        </p:txBody>
      </p:sp>
      <p:sp>
        <p:nvSpPr>
          <p:cNvPr id="5" name="N25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Status footer patterns</a:t>
            </a:r>
          </a:p>
        </p:txBody>
      </p:sp>
      <p:sp>
        <p:nvSpPr>
          <p:cNvPr id="6" name="N25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Success / info / error · optional Retry · dismiss always available</a:t>
            </a:r>
          </a:p>
        </p:txBody>
      </p:sp>
      <p:cxnSp>
        <p:nvCxnSpPr>
          <p:cNvPr id="7" name="N25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25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25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N25</a:t>
            </a:r>
          </a:p>
        </p:txBody>
      </p:sp>
      <p:sp>
        <p:nvSpPr>
          <p:cNvPr id="10" name="N25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35</a:t>
            </a:r>
          </a:p>
        </p:txBody>
      </p:sp>
      <p:grpSp>
        <p:nvGrpSpPr>
          <p:cNvPr id="11" name="N25/status-1.95"/>
          <p:cNvGrpSpPr/>
          <p:nvPr/>
        </p:nvGrpSpPr>
        <p:grpSpPr>
          <a:xfrm>
            <a:off x="502920" y="1783080"/>
            <a:ext cx="7635240" cy="868680"/>
            <a:chOff x="502920" y="1783080"/>
            <a:chExt cx="7635240" cy="868680"/>
          </a:xfrm>
        </p:grpSpPr>
        <p:sp>
          <p:nvSpPr>
            <p:cNvPr id="12" name="N25/status-1.95/notch-surface-open/001"/>
            <p:cNvSpPr/>
            <p:nvPr/>
          </p:nvSpPr>
          <p:spPr>
            <a:xfrm>
              <a:off x="502920" y="1783080"/>
              <a:ext cx="7635240" cy="868680"/>
            </a:xfrm>
            <a:custGeom>
              <a:avLst/>
              <a:gdLst/>
              <a:ahLst/>
              <a:cxnLst/>
              <a:rect l="l" t="t" r="r" b="b"/>
              <a:pathLst>
                <a:path w="7635240" h="868680">
                  <a:moveTo>
                    <a:pt x="0" y="0"/>
                  </a:moveTo>
                  <a:lnTo>
                    <a:pt x="7635240" y="0"/>
                  </a:lnTo>
                  <a:lnTo>
                    <a:pt x="7615163" y="2262"/>
                  </a:lnTo>
                  <a:lnTo>
                    <a:pt x="7592258" y="9048"/>
                  </a:lnTo>
                  <a:lnTo>
                    <a:pt x="7568222" y="20359"/>
                  </a:lnTo>
                  <a:lnTo>
                    <a:pt x="7544752" y="36195"/>
                  </a:lnTo>
                  <a:lnTo>
                    <a:pt x="7523544" y="56554"/>
                  </a:lnTo>
                  <a:lnTo>
                    <a:pt x="7506295" y="81438"/>
                  </a:lnTo>
                  <a:lnTo>
                    <a:pt x="7494701" y="110847"/>
                  </a:lnTo>
                  <a:lnTo>
                    <a:pt x="7490460" y="144780"/>
                  </a:lnTo>
                  <a:lnTo>
                    <a:pt x="7486946" y="721478"/>
                  </a:lnTo>
                  <a:lnTo>
                    <a:pt x="7476539" y="755785"/>
                  </a:lnTo>
                  <a:lnTo>
                    <a:pt x="7459639" y="787402"/>
                  </a:lnTo>
                  <a:lnTo>
                    <a:pt x="7436895" y="815115"/>
                  </a:lnTo>
                  <a:lnTo>
                    <a:pt x="7409182" y="837859"/>
                  </a:lnTo>
                  <a:lnTo>
                    <a:pt x="7377565" y="854759"/>
                  </a:lnTo>
                  <a:lnTo>
                    <a:pt x="7343258" y="865166"/>
                  </a:lnTo>
                  <a:lnTo>
                    <a:pt x="7307580" y="868680"/>
                  </a:lnTo>
                  <a:lnTo>
                    <a:pt x="327660" y="868680"/>
                  </a:lnTo>
                  <a:lnTo>
                    <a:pt x="291981" y="865166"/>
                  </a:lnTo>
                  <a:lnTo>
                    <a:pt x="257674" y="854759"/>
                  </a:lnTo>
                  <a:lnTo>
                    <a:pt x="226057" y="837859"/>
                  </a:lnTo>
                  <a:lnTo>
                    <a:pt x="198344" y="815115"/>
                  </a:lnTo>
                  <a:lnTo>
                    <a:pt x="175600" y="787402"/>
                  </a:lnTo>
                  <a:lnTo>
                    <a:pt x="158700" y="755785"/>
                  </a:lnTo>
                  <a:lnTo>
                    <a:pt x="148293" y="721478"/>
                  </a:lnTo>
                  <a:lnTo>
                    <a:pt x="144780" y="685799"/>
                  </a:lnTo>
                  <a:lnTo>
                    <a:pt x="144780" y="144780"/>
                  </a:lnTo>
                  <a:lnTo>
                    <a:pt x="140538" y="110847"/>
                  </a:lnTo>
                  <a:lnTo>
                    <a:pt x="128944" y="81438"/>
                  </a:lnTo>
                  <a:lnTo>
                    <a:pt x="111695" y="56554"/>
                  </a:lnTo>
                  <a:lnTo>
                    <a:pt x="90487" y="36195"/>
                  </a:lnTo>
                  <a:lnTo>
                    <a:pt x="67017" y="20359"/>
                  </a:lnTo>
                  <a:lnTo>
                    <a:pt x="42981" y="9048"/>
                  </a:lnTo>
                  <a:lnTo>
                    <a:pt x="20076" y="22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25/status-1.95/text/002"/>
            <p:cNvSpPr txBox="1"/>
            <p:nvPr/>
          </p:nvSpPr>
          <p:spPr>
            <a:xfrm>
              <a:off x="777240" y="2175510"/>
              <a:ext cx="6724650" cy="38481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7" b="0" i="0">
                  <a:solidFill>
                    <a:srgbClr val="FFD60A"/>
                  </a:solidFill>
                  <a:latin typeface="Arial"/>
                </a:rPr>
                <a:t>File URI copied.</a:t>
              </a:r>
            </a:p>
          </p:txBody>
        </p:sp>
        <p:sp>
          <p:nvSpPr>
            <p:cNvPr id="14" name="N25/status-1.95/button-close/003"/>
            <p:cNvSpPr/>
            <p:nvPr/>
          </p:nvSpPr>
          <p:spPr>
            <a:xfrm>
              <a:off x="7574280" y="2157412"/>
              <a:ext cx="253364" cy="235267"/>
            </a:xfrm>
            <a:prstGeom prst="roundRect">
              <a:avLst>
                <a:gd name="adj" fmla="val 38461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N25/status-1.95/line/004"/>
            <p:cNvCxnSpPr/>
            <p:nvPr/>
          </p:nvCxnSpPr>
          <p:spPr>
            <a:xfrm>
              <a:off x="7664767" y="2238851"/>
              <a:ext cx="72390" cy="723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N25/status-1.95/line/005"/>
            <p:cNvCxnSpPr/>
            <p:nvPr/>
          </p:nvCxnSpPr>
          <p:spPr>
            <a:xfrm flipH="1">
              <a:off x="7664767" y="2238851"/>
              <a:ext cx="72390" cy="723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N25/text/010"/>
          <p:cNvSpPr txBox="1"/>
          <p:nvPr/>
        </p:nvSpPr>
        <p:spPr>
          <a:xfrm>
            <a:off x="502920" y="2697480"/>
            <a:ext cx="763524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1A1A6"/>
                </a:solidFill>
                <a:latin typeface="Arial"/>
              </a:rPr>
              <a:t>Transient success · 1800 ms</a:t>
            </a:r>
          </a:p>
        </p:txBody>
      </p:sp>
      <p:grpSp>
        <p:nvGrpSpPr>
          <p:cNvPr id="18" name="N25/status-3.17"/>
          <p:cNvGrpSpPr/>
          <p:nvPr/>
        </p:nvGrpSpPr>
        <p:grpSpPr>
          <a:xfrm>
            <a:off x="502920" y="2898648"/>
            <a:ext cx="7635240" cy="868680"/>
            <a:chOff x="502920" y="2898648"/>
            <a:chExt cx="7635240" cy="868680"/>
          </a:xfrm>
        </p:grpSpPr>
        <p:sp>
          <p:nvSpPr>
            <p:cNvPr id="19" name="N25/status-3.17/notch-surface-open/001"/>
            <p:cNvSpPr/>
            <p:nvPr/>
          </p:nvSpPr>
          <p:spPr>
            <a:xfrm>
              <a:off x="502920" y="2898648"/>
              <a:ext cx="7635240" cy="868680"/>
            </a:xfrm>
            <a:custGeom>
              <a:avLst/>
              <a:gdLst/>
              <a:ahLst/>
              <a:cxnLst/>
              <a:rect l="l" t="t" r="r" b="b"/>
              <a:pathLst>
                <a:path w="7635240" h="868680">
                  <a:moveTo>
                    <a:pt x="0" y="0"/>
                  </a:moveTo>
                  <a:lnTo>
                    <a:pt x="7635240" y="0"/>
                  </a:lnTo>
                  <a:lnTo>
                    <a:pt x="7615163" y="2262"/>
                  </a:lnTo>
                  <a:lnTo>
                    <a:pt x="7592258" y="9048"/>
                  </a:lnTo>
                  <a:lnTo>
                    <a:pt x="7568222" y="20359"/>
                  </a:lnTo>
                  <a:lnTo>
                    <a:pt x="7544752" y="36195"/>
                  </a:lnTo>
                  <a:lnTo>
                    <a:pt x="7523544" y="56554"/>
                  </a:lnTo>
                  <a:lnTo>
                    <a:pt x="7506295" y="81438"/>
                  </a:lnTo>
                  <a:lnTo>
                    <a:pt x="7494701" y="110847"/>
                  </a:lnTo>
                  <a:lnTo>
                    <a:pt x="7490460" y="144780"/>
                  </a:lnTo>
                  <a:lnTo>
                    <a:pt x="7486946" y="721478"/>
                  </a:lnTo>
                  <a:lnTo>
                    <a:pt x="7476539" y="755785"/>
                  </a:lnTo>
                  <a:lnTo>
                    <a:pt x="7459639" y="787402"/>
                  </a:lnTo>
                  <a:lnTo>
                    <a:pt x="7436895" y="815115"/>
                  </a:lnTo>
                  <a:lnTo>
                    <a:pt x="7409182" y="837859"/>
                  </a:lnTo>
                  <a:lnTo>
                    <a:pt x="7377565" y="854759"/>
                  </a:lnTo>
                  <a:lnTo>
                    <a:pt x="7343258" y="865166"/>
                  </a:lnTo>
                  <a:lnTo>
                    <a:pt x="7307580" y="868680"/>
                  </a:lnTo>
                  <a:lnTo>
                    <a:pt x="327660" y="868680"/>
                  </a:lnTo>
                  <a:lnTo>
                    <a:pt x="291981" y="865166"/>
                  </a:lnTo>
                  <a:lnTo>
                    <a:pt x="257674" y="854759"/>
                  </a:lnTo>
                  <a:lnTo>
                    <a:pt x="226057" y="837859"/>
                  </a:lnTo>
                  <a:lnTo>
                    <a:pt x="198344" y="815115"/>
                  </a:lnTo>
                  <a:lnTo>
                    <a:pt x="175600" y="787402"/>
                  </a:lnTo>
                  <a:lnTo>
                    <a:pt x="158700" y="755785"/>
                  </a:lnTo>
                  <a:lnTo>
                    <a:pt x="148293" y="721478"/>
                  </a:lnTo>
                  <a:lnTo>
                    <a:pt x="144780" y="685800"/>
                  </a:lnTo>
                  <a:lnTo>
                    <a:pt x="144780" y="144780"/>
                  </a:lnTo>
                  <a:lnTo>
                    <a:pt x="140538" y="110847"/>
                  </a:lnTo>
                  <a:lnTo>
                    <a:pt x="128944" y="81438"/>
                  </a:lnTo>
                  <a:lnTo>
                    <a:pt x="111695" y="56554"/>
                  </a:lnTo>
                  <a:lnTo>
                    <a:pt x="90487" y="36195"/>
                  </a:lnTo>
                  <a:lnTo>
                    <a:pt x="67017" y="20359"/>
                  </a:lnTo>
                  <a:lnTo>
                    <a:pt x="42981" y="9048"/>
                  </a:lnTo>
                  <a:lnTo>
                    <a:pt x="20076" y="22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25/status-3.17/text/002"/>
            <p:cNvSpPr txBox="1"/>
            <p:nvPr/>
          </p:nvSpPr>
          <p:spPr>
            <a:xfrm>
              <a:off x="777240" y="3291078"/>
              <a:ext cx="6724650" cy="38481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7" b="0" i="0">
                  <a:solidFill>
                    <a:srgbClr val="FFD60A"/>
                  </a:solidFill>
                  <a:latin typeface="Arial"/>
                </a:rPr>
                <a:t>Do Not Disturb on</a:t>
              </a:r>
            </a:p>
          </p:txBody>
        </p:sp>
        <p:sp>
          <p:nvSpPr>
            <p:cNvPr id="21" name="N25/status-3.17/button-close/003"/>
            <p:cNvSpPr/>
            <p:nvPr/>
          </p:nvSpPr>
          <p:spPr>
            <a:xfrm>
              <a:off x="7574280" y="3272980"/>
              <a:ext cx="253364" cy="235267"/>
            </a:xfrm>
            <a:prstGeom prst="roundRect">
              <a:avLst>
                <a:gd name="adj" fmla="val 38461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2" name="N25/status-3.17/line/004"/>
            <p:cNvCxnSpPr/>
            <p:nvPr/>
          </p:nvCxnSpPr>
          <p:spPr>
            <a:xfrm>
              <a:off x="7664767" y="3354419"/>
              <a:ext cx="72390" cy="723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N25/status-3.17/line/005"/>
            <p:cNvCxnSpPr/>
            <p:nvPr/>
          </p:nvCxnSpPr>
          <p:spPr>
            <a:xfrm flipH="1">
              <a:off x="7664767" y="3354419"/>
              <a:ext cx="72390" cy="723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N25/text/011"/>
          <p:cNvSpPr txBox="1"/>
          <p:nvPr/>
        </p:nvSpPr>
        <p:spPr>
          <a:xfrm>
            <a:off x="502920" y="3813048"/>
            <a:ext cx="763524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1A1A6"/>
                </a:solidFill>
                <a:latin typeface="Arial"/>
              </a:rPr>
              <a:t>Quick action confirmation · 2200 ms</a:t>
            </a:r>
          </a:p>
        </p:txBody>
      </p:sp>
      <p:grpSp>
        <p:nvGrpSpPr>
          <p:cNvPr id="25" name="N25/status-4.39"/>
          <p:cNvGrpSpPr/>
          <p:nvPr/>
        </p:nvGrpSpPr>
        <p:grpSpPr>
          <a:xfrm>
            <a:off x="502920" y="4014215"/>
            <a:ext cx="7635240" cy="868681"/>
            <a:chOff x="502920" y="4014215"/>
            <a:chExt cx="7635240" cy="868681"/>
          </a:xfrm>
        </p:grpSpPr>
        <p:sp>
          <p:nvSpPr>
            <p:cNvPr id="26" name="N25/status-4.39/notch-surface-open/001"/>
            <p:cNvSpPr/>
            <p:nvPr/>
          </p:nvSpPr>
          <p:spPr>
            <a:xfrm>
              <a:off x="502920" y="4014215"/>
              <a:ext cx="7635240" cy="868681"/>
            </a:xfrm>
            <a:custGeom>
              <a:avLst/>
              <a:gdLst/>
              <a:ahLst/>
              <a:cxnLst/>
              <a:rect l="l" t="t" r="r" b="b"/>
              <a:pathLst>
                <a:path w="7635240" h="868681">
                  <a:moveTo>
                    <a:pt x="0" y="0"/>
                  </a:moveTo>
                  <a:lnTo>
                    <a:pt x="7635240" y="0"/>
                  </a:lnTo>
                  <a:lnTo>
                    <a:pt x="7615163" y="2263"/>
                  </a:lnTo>
                  <a:lnTo>
                    <a:pt x="7592258" y="9049"/>
                  </a:lnTo>
                  <a:lnTo>
                    <a:pt x="7568222" y="20360"/>
                  </a:lnTo>
                  <a:lnTo>
                    <a:pt x="7544752" y="36196"/>
                  </a:lnTo>
                  <a:lnTo>
                    <a:pt x="7523544" y="56555"/>
                  </a:lnTo>
                  <a:lnTo>
                    <a:pt x="7506295" y="81439"/>
                  </a:lnTo>
                  <a:lnTo>
                    <a:pt x="7494701" y="110848"/>
                  </a:lnTo>
                  <a:lnTo>
                    <a:pt x="7490460" y="144780"/>
                  </a:lnTo>
                  <a:lnTo>
                    <a:pt x="7486946" y="721479"/>
                  </a:lnTo>
                  <a:lnTo>
                    <a:pt x="7476539" y="755786"/>
                  </a:lnTo>
                  <a:lnTo>
                    <a:pt x="7459639" y="787403"/>
                  </a:lnTo>
                  <a:lnTo>
                    <a:pt x="7436895" y="815116"/>
                  </a:lnTo>
                  <a:lnTo>
                    <a:pt x="7409182" y="837860"/>
                  </a:lnTo>
                  <a:lnTo>
                    <a:pt x="7377565" y="854760"/>
                  </a:lnTo>
                  <a:lnTo>
                    <a:pt x="7343258" y="865167"/>
                  </a:lnTo>
                  <a:lnTo>
                    <a:pt x="7307580" y="868681"/>
                  </a:lnTo>
                  <a:lnTo>
                    <a:pt x="327660" y="868681"/>
                  </a:lnTo>
                  <a:lnTo>
                    <a:pt x="291981" y="865167"/>
                  </a:lnTo>
                  <a:lnTo>
                    <a:pt x="257674" y="854760"/>
                  </a:lnTo>
                  <a:lnTo>
                    <a:pt x="226057" y="837860"/>
                  </a:lnTo>
                  <a:lnTo>
                    <a:pt x="198344" y="815116"/>
                  </a:lnTo>
                  <a:lnTo>
                    <a:pt x="175600" y="787403"/>
                  </a:lnTo>
                  <a:lnTo>
                    <a:pt x="158700" y="755786"/>
                  </a:lnTo>
                  <a:lnTo>
                    <a:pt x="148293" y="721479"/>
                  </a:lnTo>
                  <a:lnTo>
                    <a:pt x="144780" y="685801"/>
                  </a:lnTo>
                  <a:lnTo>
                    <a:pt x="144780" y="144780"/>
                  </a:lnTo>
                  <a:lnTo>
                    <a:pt x="140538" y="110848"/>
                  </a:lnTo>
                  <a:lnTo>
                    <a:pt x="128944" y="81439"/>
                  </a:lnTo>
                  <a:lnTo>
                    <a:pt x="111695" y="56555"/>
                  </a:lnTo>
                  <a:lnTo>
                    <a:pt x="90487" y="36195"/>
                  </a:lnTo>
                  <a:lnTo>
                    <a:pt x="67017" y="20360"/>
                  </a:lnTo>
                  <a:lnTo>
                    <a:pt x="42981" y="9049"/>
                  </a:lnTo>
                  <a:lnTo>
                    <a:pt x="20076" y="2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N25/status-4.39/text/002"/>
            <p:cNvSpPr txBox="1"/>
            <p:nvPr/>
          </p:nvSpPr>
          <p:spPr>
            <a:xfrm>
              <a:off x="777240" y="4406645"/>
              <a:ext cx="6000750" cy="38481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7" b="0" i="0">
                  <a:solidFill>
                    <a:srgbClr val="FF9F0A"/>
                  </a:solidFill>
                  <a:latin typeface="Arial"/>
                </a:rPr>
                <a:t>File shelf helper could not start. Run notch-doctor.</a:t>
              </a:r>
            </a:p>
          </p:txBody>
        </p:sp>
        <p:sp>
          <p:nvSpPr>
            <p:cNvPr id="28" name="N25/status-4.39/button-Retry/003"/>
            <p:cNvSpPr/>
            <p:nvPr/>
          </p:nvSpPr>
          <p:spPr>
            <a:xfrm>
              <a:off x="6886575" y="4388548"/>
              <a:ext cx="579120" cy="235267"/>
            </a:xfrm>
            <a:prstGeom prst="roundRect">
              <a:avLst>
                <a:gd name="adj" fmla="val 38461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N25/status-4.39/text/004"/>
            <p:cNvSpPr txBox="1"/>
            <p:nvPr/>
          </p:nvSpPr>
          <p:spPr>
            <a:xfrm>
              <a:off x="6940867" y="4388548"/>
              <a:ext cx="470534" cy="23526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7" b="0" i="0">
                  <a:solidFill>
                    <a:srgbClr val="E5E5EA"/>
                  </a:solidFill>
                  <a:latin typeface="Arial"/>
                </a:rPr>
                <a:t>Retry</a:t>
              </a:r>
            </a:p>
          </p:txBody>
        </p:sp>
        <p:sp>
          <p:nvSpPr>
            <p:cNvPr id="30" name="N25/status-4.39/button-close/005"/>
            <p:cNvSpPr/>
            <p:nvPr/>
          </p:nvSpPr>
          <p:spPr>
            <a:xfrm>
              <a:off x="7538085" y="4388548"/>
              <a:ext cx="253364" cy="235267"/>
            </a:xfrm>
            <a:prstGeom prst="roundRect">
              <a:avLst>
                <a:gd name="adj" fmla="val 38461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N25/status-4.39/line/006"/>
            <p:cNvCxnSpPr/>
            <p:nvPr/>
          </p:nvCxnSpPr>
          <p:spPr>
            <a:xfrm>
              <a:off x="7628572" y="4469987"/>
              <a:ext cx="72390" cy="723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N25/status-4.39/line/007"/>
            <p:cNvCxnSpPr/>
            <p:nvPr/>
          </p:nvCxnSpPr>
          <p:spPr>
            <a:xfrm flipH="1">
              <a:off x="7628572" y="4469987"/>
              <a:ext cx="72390" cy="723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N25/text/012"/>
          <p:cNvSpPr txBox="1"/>
          <p:nvPr/>
        </p:nvSpPr>
        <p:spPr>
          <a:xfrm>
            <a:off x="502920" y="4928616"/>
            <a:ext cx="763524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1A1A6"/>
                </a:solidFill>
                <a:latin typeface="Arial"/>
              </a:rPr>
              <a:t>Helper error · Retry + dismiss</a:t>
            </a:r>
          </a:p>
        </p:txBody>
      </p:sp>
      <p:grpSp>
        <p:nvGrpSpPr>
          <p:cNvPr id="34" name="N25/status-5.609999999999999"/>
          <p:cNvGrpSpPr/>
          <p:nvPr/>
        </p:nvGrpSpPr>
        <p:grpSpPr>
          <a:xfrm>
            <a:off x="502920" y="5129783"/>
            <a:ext cx="7635240" cy="868681"/>
            <a:chOff x="502920" y="5129783"/>
            <a:chExt cx="7635240" cy="868681"/>
          </a:xfrm>
        </p:grpSpPr>
        <p:sp>
          <p:nvSpPr>
            <p:cNvPr id="35" name="N25/status-5.609999999999999/notch-surface-open/001"/>
            <p:cNvSpPr/>
            <p:nvPr/>
          </p:nvSpPr>
          <p:spPr>
            <a:xfrm>
              <a:off x="502920" y="5129783"/>
              <a:ext cx="7635240" cy="868681"/>
            </a:xfrm>
            <a:custGeom>
              <a:avLst/>
              <a:gdLst/>
              <a:ahLst/>
              <a:cxnLst/>
              <a:rect l="l" t="t" r="r" b="b"/>
              <a:pathLst>
                <a:path w="7635240" h="868681">
                  <a:moveTo>
                    <a:pt x="0" y="0"/>
                  </a:moveTo>
                  <a:lnTo>
                    <a:pt x="7635240" y="0"/>
                  </a:lnTo>
                  <a:lnTo>
                    <a:pt x="7615163" y="2263"/>
                  </a:lnTo>
                  <a:lnTo>
                    <a:pt x="7592258" y="9049"/>
                  </a:lnTo>
                  <a:lnTo>
                    <a:pt x="7568222" y="20360"/>
                  </a:lnTo>
                  <a:lnTo>
                    <a:pt x="7544752" y="36195"/>
                  </a:lnTo>
                  <a:lnTo>
                    <a:pt x="7523544" y="56555"/>
                  </a:lnTo>
                  <a:lnTo>
                    <a:pt x="7506295" y="81439"/>
                  </a:lnTo>
                  <a:lnTo>
                    <a:pt x="7494701" y="110848"/>
                  </a:lnTo>
                  <a:lnTo>
                    <a:pt x="7490460" y="144780"/>
                  </a:lnTo>
                  <a:lnTo>
                    <a:pt x="7486946" y="721479"/>
                  </a:lnTo>
                  <a:lnTo>
                    <a:pt x="7476539" y="755786"/>
                  </a:lnTo>
                  <a:lnTo>
                    <a:pt x="7459639" y="787403"/>
                  </a:lnTo>
                  <a:lnTo>
                    <a:pt x="7436895" y="815116"/>
                  </a:lnTo>
                  <a:lnTo>
                    <a:pt x="7409182" y="837860"/>
                  </a:lnTo>
                  <a:lnTo>
                    <a:pt x="7377565" y="854760"/>
                  </a:lnTo>
                  <a:lnTo>
                    <a:pt x="7343258" y="865167"/>
                  </a:lnTo>
                  <a:lnTo>
                    <a:pt x="7307580" y="868681"/>
                  </a:lnTo>
                  <a:lnTo>
                    <a:pt x="327660" y="868681"/>
                  </a:lnTo>
                  <a:lnTo>
                    <a:pt x="291981" y="865167"/>
                  </a:lnTo>
                  <a:lnTo>
                    <a:pt x="257674" y="854760"/>
                  </a:lnTo>
                  <a:lnTo>
                    <a:pt x="226057" y="837860"/>
                  </a:lnTo>
                  <a:lnTo>
                    <a:pt x="198344" y="815116"/>
                  </a:lnTo>
                  <a:lnTo>
                    <a:pt x="175600" y="787403"/>
                  </a:lnTo>
                  <a:lnTo>
                    <a:pt x="158700" y="755786"/>
                  </a:lnTo>
                  <a:lnTo>
                    <a:pt x="148293" y="721479"/>
                  </a:lnTo>
                  <a:lnTo>
                    <a:pt x="144780" y="685800"/>
                  </a:lnTo>
                  <a:lnTo>
                    <a:pt x="144780" y="144780"/>
                  </a:lnTo>
                  <a:lnTo>
                    <a:pt x="140538" y="110848"/>
                  </a:lnTo>
                  <a:lnTo>
                    <a:pt x="128944" y="81439"/>
                  </a:lnTo>
                  <a:lnTo>
                    <a:pt x="111695" y="56555"/>
                  </a:lnTo>
                  <a:lnTo>
                    <a:pt x="90487" y="36196"/>
                  </a:lnTo>
                  <a:lnTo>
                    <a:pt x="67017" y="20360"/>
                  </a:lnTo>
                  <a:lnTo>
                    <a:pt x="42981" y="9049"/>
                  </a:lnTo>
                  <a:lnTo>
                    <a:pt x="20076" y="2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N25/status-5.609999999999999/text/002"/>
            <p:cNvSpPr txBox="1"/>
            <p:nvPr/>
          </p:nvSpPr>
          <p:spPr>
            <a:xfrm>
              <a:off x="777240" y="5522213"/>
              <a:ext cx="6724650" cy="38481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7" b="0" i="0">
                  <a:solidFill>
                    <a:srgbClr val="FF9F0A"/>
                  </a:solidFill>
                  <a:latin typeface="Arial"/>
                </a:rPr>
                <a:t>Night Light is locked by system policy.</a:t>
              </a:r>
            </a:p>
          </p:txBody>
        </p:sp>
        <p:sp>
          <p:nvSpPr>
            <p:cNvPr id="37" name="N25/status-5.609999999999999/button-close/003"/>
            <p:cNvSpPr/>
            <p:nvPr/>
          </p:nvSpPr>
          <p:spPr>
            <a:xfrm>
              <a:off x="7574280" y="5504116"/>
              <a:ext cx="253364" cy="235267"/>
            </a:xfrm>
            <a:prstGeom prst="roundRect">
              <a:avLst>
                <a:gd name="adj" fmla="val 38461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8" name="N25/status-5.609999999999999/line/004"/>
            <p:cNvCxnSpPr/>
            <p:nvPr/>
          </p:nvCxnSpPr>
          <p:spPr>
            <a:xfrm>
              <a:off x="7664767" y="5585555"/>
              <a:ext cx="72390" cy="723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N25/status-5.609999999999999/line/005"/>
            <p:cNvCxnSpPr/>
            <p:nvPr/>
          </p:nvCxnSpPr>
          <p:spPr>
            <a:xfrm flipH="1">
              <a:off x="7664767" y="5585555"/>
              <a:ext cx="72390" cy="723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N25/text/013"/>
          <p:cNvSpPr txBox="1"/>
          <p:nvPr/>
        </p:nvSpPr>
        <p:spPr>
          <a:xfrm>
            <a:off x="502920" y="6044183"/>
            <a:ext cx="763524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1A1A6"/>
                </a:solidFill>
                <a:latin typeface="Arial"/>
              </a:rPr>
              <a:t>Policy error · no retry</a:t>
            </a:r>
          </a:p>
        </p:txBody>
      </p:sp>
      <p:sp>
        <p:nvSpPr>
          <p:cNvPr id="41" name="N25/spec-panel/014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25/text/015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43" name="N25/ellipse/016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25/text/017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Info #FFD60A · error #FF9F0A</a:t>
            </a:r>
          </a:p>
        </p:txBody>
      </p:sp>
      <p:sp>
        <p:nvSpPr>
          <p:cNvPr id="45" name="N25/ellipse/018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N25/text/019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Height = lines×18 + 10</a:t>
            </a:r>
          </a:p>
        </p:txBody>
      </p:sp>
      <p:sp>
        <p:nvSpPr>
          <p:cNvPr id="47" name="N25/ellipse/020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25/text/021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1–3 lines; chars/line ≈ width/7</a:t>
            </a:r>
          </a:p>
        </p:txBody>
      </p:sp>
      <p:sp>
        <p:nvSpPr>
          <p:cNvPr id="49" name="N25/ellipse/022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N25/text/023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Footer reduces page height, never overlays</a:t>
            </a:r>
          </a:p>
        </p:txBody>
      </p:sp>
      <p:cxnSp>
        <p:nvCxnSpPr>
          <p:cNvPr id="51" name="N25/line/024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N25/text/025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53" name="N25/edit-box/026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N25/edit-note/027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Footer padding / retry width / dismiss icon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26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26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26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ADAPTIVE LAYOUT</a:t>
            </a:r>
          </a:p>
        </p:txBody>
      </p:sp>
      <p:sp>
        <p:nvSpPr>
          <p:cNvPr id="5" name="N26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Header modes</a:t>
            </a:r>
          </a:p>
        </p:txBody>
      </p:sp>
      <p:sp>
        <p:nvSpPr>
          <p:cNvPr id="6" name="N26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Based on effective content width, not raw window width</a:t>
            </a:r>
          </a:p>
        </p:txBody>
      </p:sp>
      <p:cxnSp>
        <p:nvCxnSpPr>
          <p:cNvPr id="7" name="N26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26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26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N26</a:t>
            </a:r>
          </a:p>
        </p:txBody>
      </p:sp>
      <p:sp>
        <p:nvSpPr>
          <p:cNvPr id="10" name="N26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36</a:t>
            </a:r>
          </a:p>
        </p:txBody>
      </p:sp>
      <p:sp>
        <p:nvSpPr>
          <p:cNvPr id="11" name="N26/text/010"/>
          <p:cNvSpPr txBox="1"/>
          <p:nvPr/>
        </p:nvSpPr>
        <p:spPr>
          <a:xfrm>
            <a:off x="502920" y="1783080"/>
            <a:ext cx="13716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0D158"/>
                </a:solidFill>
                <a:latin typeface="Arial"/>
              </a:rPr>
              <a:t>labels</a:t>
            </a:r>
          </a:p>
        </p:txBody>
      </p:sp>
      <p:sp>
        <p:nvSpPr>
          <p:cNvPr id="12" name="N26/text/011"/>
          <p:cNvSpPr txBox="1"/>
          <p:nvPr/>
        </p:nvSpPr>
        <p:spPr>
          <a:xfrm>
            <a:off x="502920" y="2057400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Consolas"/>
              </a:rPr>
              <a:t>≥760 px</a:t>
            </a:r>
          </a:p>
        </p:txBody>
      </p:sp>
      <p:grpSp>
        <p:nvGrpSpPr>
          <p:cNvPr id="13" name="N26/header-labels"/>
          <p:cNvGrpSpPr/>
          <p:nvPr/>
        </p:nvGrpSpPr>
        <p:grpSpPr>
          <a:xfrm>
            <a:off x="2011680" y="1783080"/>
            <a:ext cx="6400800" cy="566928"/>
            <a:chOff x="2011680" y="1783080"/>
            <a:chExt cx="6400800" cy="566928"/>
          </a:xfrm>
        </p:grpSpPr>
        <p:sp>
          <p:nvSpPr>
            <p:cNvPr id="14" name="N26/header-labels/rect/001"/>
            <p:cNvSpPr/>
            <p:nvPr/>
          </p:nvSpPr>
          <p:spPr>
            <a:xfrm>
              <a:off x="2011680" y="1783080"/>
              <a:ext cx="6400800" cy="566928"/>
            </a:xfrm>
            <a:prstGeom prst="roundRect">
              <a:avLst>
                <a:gd name="adj" fmla="val 16129"/>
              </a:avLst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26/header-labels/button-Home/002"/>
            <p:cNvSpPr/>
            <p:nvPr/>
          </p:nvSpPr>
          <p:spPr>
            <a:xfrm>
              <a:off x="2148840" y="1912905"/>
              <a:ext cx="693686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N26/header-labels/poly/003"/>
            <p:cNvSpPr/>
            <p:nvPr/>
          </p:nvSpPr>
          <p:spPr>
            <a:xfrm>
              <a:off x="2286800" y="1985771"/>
              <a:ext cx="97155" cy="97156"/>
            </a:xfrm>
            <a:custGeom>
              <a:avLst/>
              <a:gdLst/>
              <a:ahLst/>
              <a:cxnLst/>
              <a:rect l="l" t="t" r="r" b="b"/>
              <a:pathLst>
                <a:path w="97155" h="97156">
                  <a:moveTo>
                    <a:pt x="48577" y="0"/>
                  </a:moveTo>
                  <a:lnTo>
                    <a:pt x="0" y="40482"/>
                  </a:lnTo>
                  <a:lnTo>
                    <a:pt x="16192" y="40482"/>
                  </a:lnTo>
                  <a:lnTo>
                    <a:pt x="16192" y="97156"/>
                  </a:lnTo>
                  <a:lnTo>
                    <a:pt x="40481" y="97156"/>
                  </a:lnTo>
                  <a:lnTo>
                    <a:pt x="40481" y="64770"/>
                  </a:lnTo>
                  <a:lnTo>
                    <a:pt x="56673" y="64770"/>
                  </a:lnTo>
                  <a:lnTo>
                    <a:pt x="56673" y="97156"/>
                  </a:lnTo>
                  <a:lnTo>
                    <a:pt x="80962" y="97156"/>
                  </a:lnTo>
                  <a:lnTo>
                    <a:pt x="80962" y="40482"/>
                  </a:lnTo>
                  <a:lnTo>
                    <a:pt x="97155" y="40482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N26/header-labels/text/004"/>
            <p:cNvSpPr txBox="1"/>
            <p:nvPr/>
          </p:nvSpPr>
          <p:spPr>
            <a:xfrm>
              <a:off x="2448725" y="1912905"/>
              <a:ext cx="377609" cy="24288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2" b="1" i="0">
                  <a:solidFill>
                    <a:srgbClr val="A1A1A6"/>
                  </a:solidFill>
                  <a:latin typeface="Arial"/>
                </a:rPr>
                <a:t>Home</a:t>
              </a:r>
            </a:p>
          </p:txBody>
        </p:sp>
        <p:sp>
          <p:nvSpPr>
            <p:cNvPr id="18" name="N26/header-labels/button-Music/005"/>
            <p:cNvSpPr/>
            <p:nvPr/>
          </p:nvSpPr>
          <p:spPr>
            <a:xfrm>
              <a:off x="2874911" y="1912905"/>
              <a:ext cx="782097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N26/header-labels/line/006"/>
            <p:cNvCxnSpPr/>
            <p:nvPr/>
          </p:nvCxnSpPr>
          <p:spPr>
            <a:xfrm flipV="1">
              <a:off x="3055458" y="2001964"/>
              <a:ext cx="0" cy="647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N26/header-labels/line/007"/>
            <p:cNvCxnSpPr/>
            <p:nvPr/>
          </p:nvCxnSpPr>
          <p:spPr>
            <a:xfrm flipV="1">
              <a:off x="3055458" y="1993868"/>
              <a:ext cx="56673" cy="809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N26/header-labels/line/008"/>
            <p:cNvCxnSpPr/>
            <p:nvPr/>
          </p:nvCxnSpPr>
          <p:spPr>
            <a:xfrm>
              <a:off x="3112131" y="1993868"/>
              <a:ext cx="0" cy="647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N26/header-labels/ellipse/009"/>
            <p:cNvSpPr/>
            <p:nvPr/>
          </p:nvSpPr>
          <p:spPr>
            <a:xfrm>
              <a:off x="3031169" y="2054590"/>
              <a:ext cx="28336" cy="24288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N26/header-labels/ellipse/010"/>
            <p:cNvSpPr/>
            <p:nvPr/>
          </p:nvSpPr>
          <p:spPr>
            <a:xfrm>
              <a:off x="3087843" y="2046493"/>
              <a:ext cx="28336" cy="24288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N26/header-labels/text/011"/>
            <p:cNvSpPr txBox="1"/>
            <p:nvPr/>
          </p:nvSpPr>
          <p:spPr>
            <a:xfrm>
              <a:off x="3184998" y="1912905"/>
              <a:ext cx="455818" cy="24288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2" b="1" i="0">
                  <a:solidFill>
                    <a:srgbClr val="A1A1A6"/>
                  </a:solidFill>
                  <a:latin typeface="Arial"/>
                </a:rPr>
                <a:t>Music</a:t>
              </a:r>
            </a:p>
          </p:txBody>
        </p:sp>
        <p:sp>
          <p:nvSpPr>
            <p:cNvPr id="25" name="N26/header-labels/button-Alerts/012"/>
            <p:cNvSpPr/>
            <p:nvPr/>
          </p:nvSpPr>
          <p:spPr>
            <a:xfrm>
              <a:off x="3689394" y="1912905"/>
              <a:ext cx="870508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N26/header-labels/poly/013"/>
            <p:cNvSpPr/>
            <p:nvPr/>
          </p:nvSpPr>
          <p:spPr>
            <a:xfrm>
              <a:off x="3855853" y="1985771"/>
              <a:ext cx="80962" cy="72867"/>
            </a:xfrm>
            <a:custGeom>
              <a:avLst/>
              <a:gdLst/>
              <a:ahLst/>
              <a:cxnLst/>
              <a:rect l="l" t="t" r="r" b="b"/>
              <a:pathLst>
                <a:path w="80962" h="72867">
                  <a:moveTo>
                    <a:pt x="40481" y="0"/>
                  </a:moveTo>
                  <a:lnTo>
                    <a:pt x="16192" y="16193"/>
                  </a:lnTo>
                  <a:lnTo>
                    <a:pt x="8096" y="48578"/>
                  </a:lnTo>
                  <a:lnTo>
                    <a:pt x="0" y="72867"/>
                  </a:lnTo>
                  <a:lnTo>
                    <a:pt x="80962" y="72867"/>
                  </a:lnTo>
                  <a:lnTo>
                    <a:pt x="72866" y="48578"/>
                  </a:lnTo>
                  <a:lnTo>
                    <a:pt x="64770" y="16193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N26/header-labels/line/014"/>
            <p:cNvCxnSpPr/>
            <p:nvPr/>
          </p:nvCxnSpPr>
          <p:spPr>
            <a:xfrm>
              <a:off x="3880142" y="2074830"/>
              <a:ext cx="3238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N26/header-labels/ellipse/015"/>
            <p:cNvSpPr/>
            <p:nvPr/>
          </p:nvSpPr>
          <p:spPr>
            <a:xfrm>
              <a:off x="3888238" y="1977675"/>
              <a:ext cx="16192" cy="16192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N26/header-labels/text/016"/>
            <p:cNvSpPr txBox="1"/>
            <p:nvPr/>
          </p:nvSpPr>
          <p:spPr>
            <a:xfrm>
              <a:off x="4009682" y="1912905"/>
              <a:ext cx="534028" cy="24288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2" b="1" i="0">
                  <a:solidFill>
                    <a:srgbClr val="A1A1A6"/>
                  </a:solidFill>
                  <a:latin typeface="Arial"/>
                </a:rPr>
                <a:t>Alerts</a:t>
              </a:r>
            </a:p>
          </p:txBody>
        </p:sp>
        <p:sp>
          <p:nvSpPr>
            <p:cNvPr id="30" name="N26/header-labels/button-System/017"/>
            <p:cNvSpPr/>
            <p:nvPr/>
          </p:nvSpPr>
          <p:spPr>
            <a:xfrm>
              <a:off x="4592288" y="1912905"/>
              <a:ext cx="870508" cy="242887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N26/header-labels/line/018"/>
            <p:cNvCxnSpPr/>
            <p:nvPr/>
          </p:nvCxnSpPr>
          <p:spPr>
            <a:xfrm>
              <a:off x="4750650" y="2082927"/>
              <a:ext cx="97155" cy="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N26/header-labels/line/019"/>
            <p:cNvCxnSpPr/>
            <p:nvPr/>
          </p:nvCxnSpPr>
          <p:spPr>
            <a:xfrm flipV="1">
              <a:off x="4758747" y="2026253"/>
              <a:ext cx="24288" cy="32385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N26/header-labels/line/020"/>
            <p:cNvCxnSpPr/>
            <p:nvPr/>
          </p:nvCxnSpPr>
          <p:spPr>
            <a:xfrm>
              <a:off x="4783035" y="2026253"/>
              <a:ext cx="24289" cy="16192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N26/header-labels/line/021"/>
            <p:cNvCxnSpPr/>
            <p:nvPr/>
          </p:nvCxnSpPr>
          <p:spPr>
            <a:xfrm flipV="1">
              <a:off x="4807324" y="1993868"/>
              <a:ext cx="32385" cy="48577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N26/header-labels/text/022"/>
            <p:cNvSpPr txBox="1"/>
            <p:nvPr/>
          </p:nvSpPr>
          <p:spPr>
            <a:xfrm>
              <a:off x="4912575" y="1912905"/>
              <a:ext cx="534028" cy="24288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2" b="1" i="0">
                  <a:solidFill>
                    <a:srgbClr val="FFFFFF"/>
                  </a:solidFill>
                  <a:latin typeface="Arial"/>
                </a:rPr>
                <a:t>System</a:t>
              </a:r>
            </a:p>
          </p:txBody>
        </p:sp>
        <p:sp>
          <p:nvSpPr>
            <p:cNvPr id="36" name="N26/header-labels/button-Shelf/023"/>
            <p:cNvSpPr/>
            <p:nvPr/>
          </p:nvSpPr>
          <p:spPr>
            <a:xfrm>
              <a:off x="5495182" y="1912905"/>
              <a:ext cx="782097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N26/header-labels/poly/024"/>
            <p:cNvSpPr/>
            <p:nvPr/>
          </p:nvSpPr>
          <p:spPr>
            <a:xfrm>
              <a:off x="5643343" y="2010060"/>
              <a:ext cx="97155" cy="64770"/>
            </a:xfrm>
            <a:custGeom>
              <a:avLst/>
              <a:gdLst/>
              <a:ahLst/>
              <a:cxnLst/>
              <a:rect l="l" t="t" r="r" b="b"/>
              <a:pathLst>
                <a:path w="97155" h="64770">
                  <a:moveTo>
                    <a:pt x="0" y="0"/>
                  </a:moveTo>
                  <a:lnTo>
                    <a:pt x="32385" y="0"/>
                  </a:lnTo>
                  <a:lnTo>
                    <a:pt x="44529" y="16193"/>
                  </a:lnTo>
                  <a:lnTo>
                    <a:pt x="97155" y="16193"/>
                  </a:lnTo>
                  <a:lnTo>
                    <a:pt x="97155" y="64770"/>
                  </a:lnTo>
                  <a:lnTo>
                    <a:pt x="0" y="64770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N26/header-labels/text/025"/>
            <p:cNvSpPr txBox="1"/>
            <p:nvPr/>
          </p:nvSpPr>
          <p:spPr>
            <a:xfrm>
              <a:off x="5805268" y="1912905"/>
              <a:ext cx="455818" cy="24288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2" b="1" i="0">
                  <a:solidFill>
                    <a:srgbClr val="A1A1A6"/>
                  </a:solidFill>
                  <a:latin typeface="Arial"/>
                </a:rPr>
                <a:t>Shelf</a:t>
              </a:r>
            </a:p>
          </p:txBody>
        </p:sp>
        <p:sp>
          <p:nvSpPr>
            <p:cNvPr id="39" name="N26/header-labels/button-Clips/026"/>
            <p:cNvSpPr/>
            <p:nvPr/>
          </p:nvSpPr>
          <p:spPr>
            <a:xfrm>
              <a:off x="6309664" y="1912905"/>
              <a:ext cx="782097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N26/header-labels/rect/027"/>
            <p:cNvSpPr/>
            <p:nvPr/>
          </p:nvSpPr>
          <p:spPr>
            <a:xfrm>
              <a:off x="6474018" y="1993868"/>
              <a:ext cx="64770" cy="89058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N26/header-labels/rect/028"/>
            <p:cNvSpPr/>
            <p:nvPr/>
          </p:nvSpPr>
          <p:spPr>
            <a:xfrm>
              <a:off x="6490211" y="1981723"/>
              <a:ext cx="32385" cy="20240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2" name="N26/header-labels/line/029"/>
            <p:cNvCxnSpPr/>
            <p:nvPr/>
          </p:nvCxnSpPr>
          <p:spPr>
            <a:xfrm>
              <a:off x="6490211" y="2026253"/>
              <a:ext cx="3238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26/header-labels/line/030"/>
            <p:cNvCxnSpPr/>
            <p:nvPr/>
          </p:nvCxnSpPr>
          <p:spPr>
            <a:xfrm>
              <a:off x="6490211" y="2046493"/>
              <a:ext cx="3238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N26/header-labels/text/031"/>
            <p:cNvSpPr txBox="1"/>
            <p:nvPr/>
          </p:nvSpPr>
          <p:spPr>
            <a:xfrm>
              <a:off x="6619751" y="1912905"/>
              <a:ext cx="455818" cy="24288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2" b="1" i="0">
                  <a:solidFill>
                    <a:srgbClr val="A1A1A6"/>
                  </a:solidFill>
                  <a:latin typeface="Arial"/>
                </a:rPr>
                <a:t>Clips</a:t>
              </a:r>
            </a:p>
          </p:txBody>
        </p:sp>
        <p:sp>
          <p:nvSpPr>
            <p:cNvPr id="45" name="N26/header-labels/button-gear/032"/>
            <p:cNvSpPr/>
            <p:nvPr/>
          </p:nvSpPr>
          <p:spPr>
            <a:xfrm>
              <a:off x="7708582" y="1904809"/>
              <a:ext cx="259080" cy="25908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N26/header-labels/ellipse/033"/>
            <p:cNvSpPr/>
            <p:nvPr/>
          </p:nvSpPr>
          <p:spPr>
            <a:xfrm>
              <a:off x="7813833" y="2010060"/>
              <a:ext cx="48577" cy="48577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7" name="N26/header-labels/line/034"/>
            <p:cNvCxnSpPr/>
            <p:nvPr/>
          </p:nvCxnSpPr>
          <p:spPr>
            <a:xfrm>
              <a:off x="7878603" y="2034349"/>
              <a:ext cx="1619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N26/header-labels/line/035"/>
            <p:cNvCxnSpPr/>
            <p:nvPr/>
          </p:nvCxnSpPr>
          <p:spPr>
            <a:xfrm>
              <a:off x="7866747" y="2062974"/>
              <a:ext cx="11449" cy="1144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N26/header-labels/line/036"/>
            <p:cNvCxnSpPr/>
            <p:nvPr/>
          </p:nvCxnSpPr>
          <p:spPr>
            <a:xfrm>
              <a:off x="7838122" y="2074830"/>
              <a:ext cx="0" cy="1619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26/header-labels/line/037"/>
            <p:cNvCxnSpPr/>
            <p:nvPr/>
          </p:nvCxnSpPr>
          <p:spPr>
            <a:xfrm flipH="1">
              <a:off x="7798048" y="2062974"/>
              <a:ext cx="11449" cy="1144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N26/header-labels/line/038"/>
            <p:cNvCxnSpPr/>
            <p:nvPr/>
          </p:nvCxnSpPr>
          <p:spPr>
            <a:xfrm flipH="1">
              <a:off x="7781448" y="2034349"/>
              <a:ext cx="1619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N26/header-labels/line/039"/>
            <p:cNvCxnSpPr/>
            <p:nvPr/>
          </p:nvCxnSpPr>
          <p:spPr>
            <a:xfrm flipH="1" flipV="1">
              <a:off x="7798048" y="1994275"/>
              <a:ext cx="11449" cy="1144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N26/header-labels/line/040"/>
            <p:cNvCxnSpPr/>
            <p:nvPr/>
          </p:nvCxnSpPr>
          <p:spPr>
            <a:xfrm flipV="1">
              <a:off x="7838122" y="1977675"/>
              <a:ext cx="0" cy="1619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N26/header-labels/line/041"/>
            <p:cNvCxnSpPr/>
            <p:nvPr/>
          </p:nvCxnSpPr>
          <p:spPr>
            <a:xfrm flipV="1">
              <a:off x="7866747" y="1994275"/>
              <a:ext cx="11449" cy="1144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N26/header-labels/button-close/042"/>
            <p:cNvSpPr/>
            <p:nvPr/>
          </p:nvSpPr>
          <p:spPr>
            <a:xfrm>
              <a:off x="8016240" y="1904809"/>
              <a:ext cx="259080" cy="25908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6" name="N26/header-labels/line/043"/>
            <p:cNvCxnSpPr/>
            <p:nvPr/>
          </p:nvCxnSpPr>
          <p:spPr>
            <a:xfrm>
              <a:off x="8113395" y="2001964"/>
              <a:ext cx="64770" cy="647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N26/header-labels/line/044"/>
            <p:cNvCxnSpPr/>
            <p:nvPr/>
          </p:nvCxnSpPr>
          <p:spPr>
            <a:xfrm flipH="1">
              <a:off x="8113395" y="2001964"/>
              <a:ext cx="64770" cy="647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N26/text/012"/>
          <p:cNvSpPr txBox="1"/>
          <p:nvPr/>
        </p:nvSpPr>
        <p:spPr>
          <a:xfrm>
            <a:off x="2011680" y="2423160"/>
            <a:ext cx="64008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All six labels visible</a:t>
            </a:r>
          </a:p>
        </p:txBody>
      </p:sp>
      <p:sp>
        <p:nvSpPr>
          <p:cNvPr id="59" name="N26/text/013"/>
          <p:cNvSpPr txBox="1"/>
          <p:nvPr/>
        </p:nvSpPr>
        <p:spPr>
          <a:xfrm>
            <a:off x="502920" y="3108960"/>
            <a:ext cx="13716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0D158"/>
                </a:solidFill>
                <a:latin typeface="Arial"/>
              </a:rPr>
              <a:t>active</a:t>
            </a:r>
          </a:p>
        </p:txBody>
      </p:sp>
      <p:sp>
        <p:nvSpPr>
          <p:cNvPr id="60" name="N26/text/014"/>
          <p:cNvSpPr txBox="1"/>
          <p:nvPr/>
        </p:nvSpPr>
        <p:spPr>
          <a:xfrm>
            <a:off x="502920" y="3383279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Consolas"/>
              </a:rPr>
              <a:t>420–759 px</a:t>
            </a:r>
          </a:p>
        </p:txBody>
      </p:sp>
      <p:grpSp>
        <p:nvGrpSpPr>
          <p:cNvPr id="61" name="N26/header-active"/>
          <p:cNvGrpSpPr/>
          <p:nvPr/>
        </p:nvGrpSpPr>
        <p:grpSpPr>
          <a:xfrm>
            <a:off x="2011680" y="3108960"/>
            <a:ext cx="4754880" cy="566928"/>
            <a:chOff x="2011680" y="3108960"/>
            <a:chExt cx="4754880" cy="566928"/>
          </a:xfrm>
        </p:grpSpPr>
        <p:sp>
          <p:nvSpPr>
            <p:cNvPr id="62" name="N26/header-active/rect/001"/>
            <p:cNvSpPr/>
            <p:nvPr/>
          </p:nvSpPr>
          <p:spPr>
            <a:xfrm>
              <a:off x="2011680" y="3108960"/>
              <a:ext cx="4754880" cy="566928"/>
            </a:xfrm>
            <a:prstGeom prst="roundRect">
              <a:avLst>
                <a:gd name="adj" fmla="val 16129"/>
              </a:avLst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N26/header-active/button-home/002"/>
            <p:cNvSpPr/>
            <p:nvPr/>
          </p:nvSpPr>
          <p:spPr>
            <a:xfrm>
              <a:off x="2148840" y="3238785"/>
              <a:ext cx="259080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N26/header-active/poly/003"/>
            <p:cNvSpPr/>
            <p:nvPr/>
          </p:nvSpPr>
          <p:spPr>
            <a:xfrm>
              <a:off x="2229802" y="3311652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5" h="97155">
                  <a:moveTo>
                    <a:pt x="48578" y="0"/>
                  </a:moveTo>
                  <a:lnTo>
                    <a:pt x="0" y="40481"/>
                  </a:lnTo>
                  <a:lnTo>
                    <a:pt x="16193" y="40481"/>
                  </a:lnTo>
                  <a:lnTo>
                    <a:pt x="16193" y="97155"/>
                  </a:lnTo>
                  <a:lnTo>
                    <a:pt x="40481" y="97155"/>
                  </a:lnTo>
                  <a:lnTo>
                    <a:pt x="40481" y="64770"/>
                  </a:lnTo>
                  <a:lnTo>
                    <a:pt x="56674" y="64770"/>
                  </a:lnTo>
                  <a:lnTo>
                    <a:pt x="56674" y="97155"/>
                  </a:lnTo>
                  <a:lnTo>
                    <a:pt x="80963" y="97155"/>
                  </a:lnTo>
                  <a:lnTo>
                    <a:pt x="80963" y="40481"/>
                  </a:lnTo>
                  <a:lnTo>
                    <a:pt x="97155" y="40481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N26/header-active/button-music/004"/>
            <p:cNvSpPr/>
            <p:nvPr/>
          </p:nvSpPr>
          <p:spPr>
            <a:xfrm>
              <a:off x="2440305" y="3238785"/>
              <a:ext cx="259080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6" name="N26/header-active/line/005"/>
            <p:cNvCxnSpPr/>
            <p:nvPr/>
          </p:nvCxnSpPr>
          <p:spPr>
            <a:xfrm flipV="1">
              <a:off x="2553652" y="3327844"/>
              <a:ext cx="0" cy="647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N26/header-active/line/006"/>
            <p:cNvCxnSpPr/>
            <p:nvPr/>
          </p:nvCxnSpPr>
          <p:spPr>
            <a:xfrm flipV="1">
              <a:off x="2553652" y="3319748"/>
              <a:ext cx="56674" cy="809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N26/header-active/line/007"/>
            <p:cNvCxnSpPr/>
            <p:nvPr/>
          </p:nvCxnSpPr>
          <p:spPr>
            <a:xfrm>
              <a:off x="2610326" y="3319748"/>
              <a:ext cx="0" cy="647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N26/header-active/ellipse/008"/>
            <p:cNvSpPr/>
            <p:nvPr/>
          </p:nvSpPr>
          <p:spPr>
            <a:xfrm>
              <a:off x="2529363" y="3380470"/>
              <a:ext cx="28336" cy="24288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N26/header-active/ellipse/009"/>
            <p:cNvSpPr/>
            <p:nvPr/>
          </p:nvSpPr>
          <p:spPr>
            <a:xfrm>
              <a:off x="2586037" y="3372373"/>
              <a:ext cx="28336" cy="24288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N26/header-active/button-bell/010"/>
            <p:cNvSpPr/>
            <p:nvPr/>
          </p:nvSpPr>
          <p:spPr>
            <a:xfrm>
              <a:off x="2731770" y="3238785"/>
              <a:ext cx="259080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N26/header-active/poly/011"/>
            <p:cNvSpPr/>
            <p:nvPr/>
          </p:nvSpPr>
          <p:spPr>
            <a:xfrm>
              <a:off x="2820828" y="3311652"/>
              <a:ext cx="80963" cy="72866"/>
            </a:xfrm>
            <a:custGeom>
              <a:avLst/>
              <a:gdLst/>
              <a:ahLst/>
              <a:cxnLst/>
              <a:rect l="l" t="t" r="r" b="b"/>
              <a:pathLst>
                <a:path w="80963" h="72866">
                  <a:moveTo>
                    <a:pt x="40482" y="0"/>
                  </a:moveTo>
                  <a:lnTo>
                    <a:pt x="16193" y="16192"/>
                  </a:lnTo>
                  <a:lnTo>
                    <a:pt x="8097" y="48577"/>
                  </a:lnTo>
                  <a:lnTo>
                    <a:pt x="0" y="72866"/>
                  </a:lnTo>
                  <a:lnTo>
                    <a:pt x="80963" y="72866"/>
                  </a:lnTo>
                  <a:lnTo>
                    <a:pt x="72867" y="48577"/>
                  </a:lnTo>
                  <a:lnTo>
                    <a:pt x="64770" y="16192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3" name="N26/header-active/line/012"/>
            <p:cNvCxnSpPr/>
            <p:nvPr/>
          </p:nvCxnSpPr>
          <p:spPr>
            <a:xfrm>
              <a:off x="2845117" y="3400710"/>
              <a:ext cx="3238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N26/header-active/ellipse/013"/>
            <p:cNvSpPr/>
            <p:nvPr/>
          </p:nvSpPr>
          <p:spPr>
            <a:xfrm>
              <a:off x="2853213" y="3303555"/>
              <a:ext cx="16192" cy="16192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N26/header-active/button-System/014"/>
            <p:cNvSpPr/>
            <p:nvPr/>
          </p:nvSpPr>
          <p:spPr>
            <a:xfrm>
              <a:off x="3023235" y="3238785"/>
              <a:ext cx="870508" cy="242887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6" name="N26/header-active/line/015"/>
            <p:cNvCxnSpPr/>
            <p:nvPr/>
          </p:nvCxnSpPr>
          <p:spPr>
            <a:xfrm>
              <a:off x="3181597" y="3408807"/>
              <a:ext cx="97155" cy="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N26/header-active/line/016"/>
            <p:cNvCxnSpPr/>
            <p:nvPr/>
          </p:nvCxnSpPr>
          <p:spPr>
            <a:xfrm flipV="1">
              <a:off x="3189693" y="3352133"/>
              <a:ext cx="24289" cy="32385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N26/header-active/line/017"/>
            <p:cNvCxnSpPr/>
            <p:nvPr/>
          </p:nvCxnSpPr>
          <p:spPr>
            <a:xfrm>
              <a:off x="3213982" y="3352133"/>
              <a:ext cx="24289" cy="16192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N26/header-active/line/018"/>
            <p:cNvCxnSpPr/>
            <p:nvPr/>
          </p:nvCxnSpPr>
          <p:spPr>
            <a:xfrm flipV="1">
              <a:off x="3238271" y="3319748"/>
              <a:ext cx="32385" cy="48577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N26/header-active/text/019"/>
            <p:cNvSpPr txBox="1"/>
            <p:nvPr/>
          </p:nvSpPr>
          <p:spPr>
            <a:xfrm>
              <a:off x="3343522" y="3238785"/>
              <a:ext cx="534028" cy="24288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2" b="1" i="0">
                  <a:solidFill>
                    <a:srgbClr val="FFFFFF"/>
                  </a:solidFill>
                  <a:latin typeface="Arial"/>
                </a:rPr>
                <a:t>System</a:t>
              </a:r>
            </a:p>
          </p:txBody>
        </p:sp>
        <p:sp>
          <p:nvSpPr>
            <p:cNvPr id="81" name="N26/header-active/button-folder/020"/>
            <p:cNvSpPr/>
            <p:nvPr/>
          </p:nvSpPr>
          <p:spPr>
            <a:xfrm>
              <a:off x="3926128" y="3238785"/>
              <a:ext cx="259080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N26/header-active/poly/021"/>
            <p:cNvSpPr/>
            <p:nvPr/>
          </p:nvSpPr>
          <p:spPr>
            <a:xfrm>
              <a:off x="4007091" y="3335940"/>
              <a:ext cx="97155" cy="64770"/>
            </a:xfrm>
            <a:custGeom>
              <a:avLst/>
              <a:gdLst/>
              <a:ahLst/>
              <a:cxnLst/>
              <a:rect l="l" t="t" r="r" b="b"/>
              <a:pathLst>
                <a:path w="97155" h="64770">
                  <a:moveTo>
                    <a:pt x="0" y="0"/>
                  </a:moveTo>
                  <a:lnTo>
                    <a:pt x="32385" y="0"/>
                  </a:lnTo>
                  <a:lnTo>
                    <a:pt x="44529" y="16193"/>
                  </a:lnTo>
                  <a:lnTo>
                    <a:pt x="97155" y="16193"/>
                  </a:lnTo>
                  <a:lnTo>
                    <a:pt x="97155" y="64770"/>
                  </a:lnTo>
                  <a:lnTo>
                    <a:pt x="0" y="64770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N26/header-active/button-clipboard/022"/>
            <p:cNvSpPr/>
            <p:nvPr/>
          </p:nvSpPr>
          <p:spPr>
            <a:xfrm>
              <a:off x="4217593" y="3238785"/>
              <a:ext cx="259080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N26/header-active/rect/023"/>
            <p:cNvSpPr/>
            <p:nvPr/>
          </p:nvSpPr>
          <p:spPr>
            <a:xfrm>
              <a:off x="4314748" y="3319748"/>
              <a:ext cx="64770" cy="89058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N26/header-active/rect/024"/>
            <p:cNvSpPr/>
            <p:nvPr/>
          </p:nvSpPr>
          <p:spPr>
            <a:xfrm>
              <a:off x="4330941" y="3307603"/>
              <a:ext cx="32385" cy="20240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6" name="N26/header-active/line/025"/>
            <p:cNvCxnSpPr/>
            <p:nvPr/>
          </p:nvCxnSpPr>
          <p:spPr>
            <a:xfrm>
              <a:off x="4330941" y="3352133"/>
              <a:ext cx="3238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N26/header-active/line/026"/>
            <p:cNvCxnSpPr/>
            <p:nvPr/>
          </p:nvCxnSpPr>
          <p:spPr>
            <a:xfrm>
              <a:off x="4330941" y="3372373"/>
              <a:ext cx="3238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N26/header-active/button-gear/027"/>
            <p:cNvSpPr/>
            <p:nvPr/>
          </p:nvSpPr>
          <p:spPr>
            <a:xfrm>
              <a:off x="6062662" y="3230689"/>
              <a:ext cx="259080" cy="25908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N26/header-active/ellipse/028"/>
            <p:cNvSpPr/>
            <p:nvPr/>
          </p:nvSpPr>
          <p:spPr>
            <a:xfrm>
              <a:off x="6167913" y="3335940"/>
              <a:ext cx="48577" cy="48577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0" name="N26/header-active/line/029"/>
            <p:cNvCxnSpPr/>
            <p:nvPr/>
          </p:nvCxnSpPr>
          <p:spPr>
            <a:xfrm>
              <a:off x="6232683" y="3360229"/>
              <a:ext cx="1619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N26/header-active/line/030"/>
            <p:cNvCxnSpPr/>
            <p:nvPr/>
          </p:nvCxnSpPr>
          <p:spPr>
            <a:xfrm>
              <a:off x="6220827" y="3388854"/>
              <a:ext cx="11449" cy="1144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N26/header-active/line/031"/>
            <p:cNvCxnSpPr/>
            <p:nvPr/>
          </p:nvCxnSpPr>
          <p:spPr>
            <a:xfrm>
              <a:off x="6192202" y="3400710"/>
              <a:ext cx="0" cy="1619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N26/header-active/line/032"/>
            <p:cNvCxnSpPr/>
            <p:nvPr/>
          </p:nvCxnSpPr>
          <p:spPr>
            <a:xfrm flipH="1">
              <a:off x="6152128" y="3388854"/>
              <a:ext cx="11449" cy="1144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N26/header-active/line/033"/>
            <p:cNvCxnSpPr/>
            <p:nvPr/>
          </p:nvCxnSpPr>
          <p:spPr>
            <a:xfrm flipH="1">
              <a:off x="6135528" y="3360229"/>
              <a:ext cx="1619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N26/header-active/line/034"/>
            <p:cNvCxnSpPr/>
            <p:nvPr/>
          </p:nvCxnSpPr>
          <p:spPr>
            <a:xfrm flipH="1" flipV="1">
              <a:off x="6152128" y="3320155"/>
              <a:ext cx="11449" cy="1144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N26/header-active/line/035"/>
            <p:cNvCxnSpPr/>
            <p:nvPr/>
          </p:nvCxnSpPr>
          <p:spPr>
            <a:xfrm flipV="1">
              <a:off x="6192202" y="3303555"/>
              <a:ext cx="0" cy="1619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N26/header-active/line/036"/>
            <p:cNvCxnSpPr/>
            <p:nvPr/>
          </p:nvCxnSpPr>
          <p:spPr>
            <a:xfrm flipV="1">
              <a:off x="6220827" y="3320155"/>
              <a:ext cx="11449" cy="1144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N26/header-active/button-close/037"/>
            <p:cNvSpPr/>
            <p:nvPr/>
          </p:nvSpPr>
          <p:spPr>
            <a:xfrm>
              <a:off x="6370320" y="3230689"/>
              <a:ext cx="259080" cy="25908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9" name="N26/header-active/line/038"/>
            <p:cNvCxnSpPr/>
            <p:nvPr/>
          </p:nvCxnSpPr>
          <p:spPr>
            <a:xfrm>
              <a:off x="6467475" y="3327844"/>
              <a:ext cx="64770" cy="647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N26/header-active/line/039"/>
            <p:cNvCxnSpPr/>
            <p:nvPr/>
          </p:nvCxnSpPr>
          <p:spPr>
            <a:xfrm flipH="1">
              <a:off x="6467475" y="3327844"/>
              <a:ext cx="64770" cy="647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N26/text/015"/>
          <p:cNvSpPr txBox="1"/>
          <p:nvPr/>
        </p:nvSpPr>
        <p:spPr>
          <a:xfrm>
            <a:off x="2011680" y="3749039"/>
            <a:ext cx="47548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Only active tab keeps its label</a:t>
            </a:r>
          </a:p>
        </p:txBody>
      </p:sp>
      <p:sp>
        <p:nvSpPr>
          <p:cNvPr id="102" name="N26/text/016"/>
          <p:cNvSpPr txBox="1"/>
          <p:nvPr/>
        </p:nvSpPr>
        <p:spPr>
          <a:xfrm>
            <a:off x="502920" y="4434840"/>
            <a:ext cx="13716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0D158"/>
                </a:solidFill>
                <a:latin typeface="Arial"/>
              </a:rPr>
              <a:t>icons</a:t>
            </a:r>
          </a:p>
        </p:txBody>
      </p:sp>
      <p:sp>
        <p:nvSpPr>
          <p:cNvPr id="103" name="N26/text/017"/>
          <p:cNvSpPr txBox="1"/>
          <p:nvPr/>
        </p:nvSpPr>
        <p:spPr>
          <a:xfrm>
            <a:off x="502920" y="4709159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Consolas"/>
              </a:rPr>
              <a:t>&lt;420 px</a:t>
            </a:r>
          </a:p>
        </p:txBody>
      </p:sp>
      <p:grpSp>
        <p:nvGrpSpPr>
          <p:cNvPr id="104" name="N26/header-icons"/>
          <p:cNvGrpSpPr/>
          <p:nvPr/>
        </p:nvGrpSpPr>
        <p:grpSpPr>
          <a:xfrm>
            <a:off x="2011680" y="4434840"/>
            <a:ext cx="3108960" cy="566928"/>
            <a:chOff x="2011680" y="4434840"/>
            <a:chExt cx="3108960" cy="566928"/>
          </a:xfrm>
        </p:grpSpPr>
        <p:sp>
          <p:nvSpPr>
            <p:cNvPr id="105" name="N26/header-icons/rect/001"/>
            <p:cNvSpPr/>
            <p:nvPr/>
          </p:nvSpPr>
          <p:spPr>
            <a:xfrm>
              <a:off x="2011680" y="4434840"/>
              <a:ext cx="3108960" cy="566928"/>
            </a:xfrm>
            <a:prstGeom prst="roundRect">
              <a:avLst>
                <a:gd name="adj" fmla="val 16129"/>
              </a:avLst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N26/header-icons/button-home/002"/>
            <p:cNvSpPr/>
            <p:nvPr/>
          </p:nvSpPr>
          <p:spPr>
            <a:xfrm>
              <a:off x="2148840" y="4564665"/>
              <a:ext cx="259080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N26/header-icons/poly/003"/>
            <p:cNvSpPr/>
            <p:nvPr/>
          </p:nvSpPr>
          <p:spPr>
            <a:xfrm>
              <a:off x="2229802" y="4637531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5" h="97155">
                  <a:moveTo>
                    <a:pt x="48578" y="0"/>
                  </a:moveTo>
                  <a:lnTo>
                    <a:pt x="0" y="40482"/>
                  </a:lnTo>
                  <a:lnTo>
                    <a:pt x="16193" y="40482"/>
                  </a:lnTo>
                  <a:lnTo>
                    <a:pt x="16193" y="97155"/>
                  </a:lnTo>
                  <a:lnTo>
                    <a:pt x="40481" y="97155"/>
                  </a:lnTo>
                  <a:lnTo>
                    <a:pt x="40481" y="64770"/>
                  </a:lnTo>
                  <a:lnTo>
                    <a:pt x="56674" y="64770"/>
                  </a:lnTo>
                  <a:lnTo>
                    <a:pt x="56674" y="97155"/>
                  </a:lnTo>
                  <a:lnTo>
                    <a:pt x="80963" y="97155"/>
                  </a:lnTo>
                  <a:lnTo>
                    <a:pt x="80963" y="40482"/>
                  </a:lnTo>
                  <a:lnTo>
                    <a:pt x="97155" y="40482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N26/header-icons/button-music/004"/>
            <p:cNvSpPr/>
            <p:nvPr/>
          </p:nvSpPr>
          <p:spPr>
            <a:xfrm>
              <a:off x="2440305" y="4564665"/>
              <a:ext cx="259080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9" name="N26/header-icons/line/005"/>
            <p:cNvCxnSpPr/>
            <p:nvPr/>
          </p:nvCxnSpPr>
          <p:spPr>
            <a:xfrm flipV="1">
              <a:off x="2553652" y="4653724"/>
              <a:ext cx="0" cy="647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N26/header-icons/line/006"/>
            <p:cNvCxnSpPr/>
            <p:nvPr/>
          </p:nvCxnSpPr>
          <p:spPr>
            <a:xfrm flipV="1">
              <a:off x="2553652" y="4645628"/>
              <a:ext cx="56674" cy="809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N26/header-icons/line/007"/>
            <p:cNvCxnSpPr/>
            <p:nvPr/>
          </p:nvCxnSpPr>
          <p:spPr>
            <a:xfrm>
              <a:off x="2610326" y="4645628"/>
              <a:ext cx="0" cy="647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N26/header-icons/ellipse/008"/>
            <p:cNvSpPr/>
            <p:nvPr/>
          </p:nvSpPr>
          <p:spPr>
            <a:xfrm>
              <a:off x="2529363" y="4706350"/>
              <a:ext cx="28336" cy="24288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N26/header-icons/ellipse/009"/>
            <p:cNvSpPr/>
            <p:nvPr/>
          </p:nvSpPr>
          <p:spPr>
            <a:xfrm>
              <a:off x="2586037" y="4698253"/>
              <a:ext cx="28336" cy="24288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N26/header-icons/button-bell/010"/>
            <p:cNvSpPr/>
            <p:nvPr/>
          </p:nvSpPr>
          <p:spPr>
            <a:xfrm>
              <a:off x="2731770" y="4564665"/>
              <a:ext cx="259080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N26/header-icons/poly/011"/>
            <p:cNvSpPr/>
            <p:nvPr/>
          </p:nvSpPr>
          <p:spPr>
            <a:xfrm>
              <a:off x="2820828" y="4637531"/>
              <a:ext cx="80963" cy="72867"/>
            </a:xfrm>
            <a:custGeom>
              <a:avLst/>
              <a:gdLst/>
              <a:ahLst/>
              <a:cxnLst/>
              <a:rect l="l" t="t" r="r" b="b"/>
              <a:pathLst>
                <a:path w="80963" h="72867">
                  <a:moveTo>
                    <a:pt x="40482" y="0"/>
                  </a:moveTo>
                  <a:lnTo>
                    <a:pt x="16193" y="16193"/>
                  </a:lnTo>
                  <a:lnTo>
                    <a:pt x="8097" y="48578"/>
                  </a:lnTo>
                  <a:lnTo>
                    <a:pt x="0" y="72867"/>
                  </a:lnTo>
                  <a:lnTo>
                    <a:pt x="80963" y="72867"/>
                  </a:lnTo>
                  <a:lnTo>
                    <a:pt x="72867" y="48578"/>
                  </a:lnTo>
                  <a:lnTo>
                    <a:pt x="64770" y="16193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6" name="N26/header-icons/line/012"/>
            <p:cNvCxnSpPr/>
            <p:nvPr/>
          </p:nvCxnSpPr>
          <p:spPr>
            <a:xfrm>
              <a:off x="2845117" y="4726590"/>
              <a:ext cx="3238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N26/header-icons/ellipse/013"/>
            <p:cNvSpPr/>
            <p:nvPr/>
          </p:nvSpPr>
          <p:spPr>
            <a:xfrm>
              <a:off x="2853213" y="4629435"/>
              <a:ext cx="16192" cy="16192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N26/header-icons/button-chart/014"/>
            <p:cNvSpPr/>
            <p:nvPr/>
          </p:nvSpPr>
          <p:spPr>
            <a:xfrm>
              <a:off x="3023235" y="4564665"/>
              <a:ext cx="259080" cy="242887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9" name="N26/header-icons/line/015"/>
            <p:cNvCxnSpPr/>
            <p:nvPr/>
          </p:nvCxnSpPr>
          <p:spPr>
            <a:xfrm>
              <a:off x="3104197" y="4734686"/>
              <a:ext cx="97155" cy="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N26/header-icons/line/016"/>
            <p:cNvCxnSpPr/>
            <p:nvPr/>
          </p:nvCxnSpPr>
          <p:spPr>
            <a:xfrm flipV="1">
              <a:off x="3112293" y="4678013"/>
              <a:ext cx="24289" cy="32385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N26/header-icons/line/017"/>
            <p:cNvCxnSpPr/>
            <p:nvPr/>
          </p:nvCxnSpPr>
          <p:spPr>
            <a:xfrm>
              <a:off x="3136582" y="4678013"/>
              <a:ext cx="24289" cy="16192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N26/header-icons/line/018"/>
            <p:cNvCxnSpPr/>
            <p:nvPr/>
          </p:nvCxnSpPr>
          <p:spPr>
            <a:xfrm flipV="1">
              <a:off x="3160871" y="4645628"/>
              <a:ext cx="32385" cy="48577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N26/header-icons/button-folder/019"/>
            <p:cNvSpPr/>
            <p:nvPr/>
          </p:nvSpPr>
          <p:spPr>
            <a:xfrm>
              <a:off x="3314700" y="4564665"/>
              <a:ext cx="259080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N26/header-icons/poly/020"/>
            <p:cNvSpPr/>
            <p:nvPr/>
          </p:nvSpPr>
          <p:spPr>
            <a:xfrm>
              <a:off x="3395662" y="4661820"/>
              <a:ext cx="97155" cy="64770"/>
            </a:xfrm>
            <a:custGeom>
              <a:avLst/>
              <a:gdLst/>
              <a:ahLst/>
              <a:cxnLst/>
              <a:rect l="l" t="t" r="r" b="b"/>
              <a:pathLst>
                <a:path w="97155" h="64770">
                  <a:moveTo>
                    <a:pt x="0" y="0"/>
                  </a:moveTo>
                  <a:lnTo>
                    <a:pt x="32385" y="0"/>
                  </a:lnTo>
                  <a:lnTo>
                    <a:pt x="44529" y="16193"/>
                  </a:lnTo>
                  <a:lnTo>
                    <a:pt x="97155" y="16193"/>
                  </a:lnTo>
                  <a:lnTo>
                    <a:pt x="97155" y="64770"/>
                  </a:lnTo>
                  <a:lnTo>
                    <a:pt x="0" y="64770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N26/header-icons/button-clipboard/021"/>
            <p:cNvSpPr/>
            <p:nvPr/>
          </p:nvSpPr>
          <p:spPr>
            <a:xfrm>
              <a:off x="3606165" y="4564665"/>
              <a:ext cx="259080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N26/header-icons/rect/022"/>
            <p:cNvSpPr/>
            <p:nvPr/>
          </p:nvSpPr>
          <p:spPr>
            <a:xfrm>
              <a:off x="3703320" y="4645628"/>
              <a:ext cx="64770" cy="89058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N26/header-icons/rect/023"/>
            <p:cNvSpPr/>
            <p:nvPr/>
          </p:nvSpPr>
          <p:spPr>
            <a:xfrm>
              <a:off x="3719512" y="4633483"/>
              <a:ext cx="32385" cy="20240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8" name="N26/header-icons/line/024"/>
            <p:cNvCxnSpPr/>
            <p:nvPr/>
          </p:nvCxnSpPr>
          <p:spPr>
            <a:xfrm>
              <a:off x="3719512" y="4678013"/>
              <a:ext cx="3238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N26/header-icons/line/025"/>
            <p:cNvCxnSpPr/>
            <p:nvPr/>
          </p:nvCxnSpPr>
          <p:spPr>
            <a:xfrm>
              <a:off x="3719512" y="4698253"/>
              <a:ext cx="3238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N26/header-icons/button-gear/026"/>
            <p:cNvSpPr/>
            <p:nvPr/>
          </p:nvSpPr>
          <p:spPr>
            <a:xfrm>
              <a:off x="4416742" y="4556569"/>
              <a:ext cx="259080" cy="25908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N26/header-icons/ellipse/027"/>
            <p:cNvSpPr/>
            <p:nvPr/>
          </p:nvSpPr>
          <p:spPr>
            <a:xfrm>
              <a:off x="4521993" y="4661820"/>
              <a:ext cx="48577" cy="48577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2" name="N26/header-icons/line/028"/>
            <p:cNvCxnSpPr/>
            <p:nvPr/>
          </p:nvCxnSpPr>
          <p:spPr>
            <a:xfrm>
              <a:off x="4586763" y="4686109"/>
              <a:ext cx="1619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N26/header-icons/line/029"/>
            <p:cNvCxnSpPr/>
            <p:nvPr/>
          </p:nvCxnSpPr>
          <p:spPr>
            <a:xfrm>
              <a:off x="4574907" y="4714734"/>
              <a:ext cx="11449" cy="1144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N26/header-icons/line/030"/>
            <p:cNvCxnSpPr/>
            <p:nvPr/>
          </p:nvCxnSpPr>
          <p:spPr>
            <a:xfrm>
              <a:off x="4546282" y="4726590"/>
              <a:ext cx="0" cy="1619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N26/header-icons/line/031"/>
            <p:cNvCxnSpPr/>
            <p:nvPr/>
          </p:nvCxnSpPr>
          <p:spPr>
            <a:xfrm flipH="1">
              <a:off x="4506208" y="4714734"/>
              <a:ext cx="11449" cy="1144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N26/header-icons/line/032"/>
            <p:cNvCxnSpPr/>
            <p:nvPr/>
          </p:nvCxnSpPr>
          <p:spPr>
            <a:xfrm flipH="1">
              <a:off x="4489608" y="4686109"/>
              <a:ext cx="1619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N26/header-icons/line/033"/>
            <p:cNvCxnSpPr/>
            <p:nvPr/>
          </p:nvCxnSpPr>
          <p:spPr>
            <a:xfrm flipH="1" flipV="1">
              <a:off x="4506208" y="4646035"/>
              <a:ext cx="11449" cy="1144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N26/header-icons/line/034"/>
            <p:cNvCxnSpPr/>
            <p:nvPr/>
          </p:nvCxnSpPr>
          <p:spPr>
            <a:xfrm flipV="1">
              <a:off x="4546282" y="4629435"/>
              <a:ext cx="0" cy="1619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N26/header-icons/line/035"/>
            <p:cNvCxnSpPr/>
            <p:nvPr/>
          </p:nvCxnSpPr>
          <p:spPr>
            <a:xfrm flipV="1">
              <a:off x="4574907" y="4646035"/>
              <a:ext cx="11449" cy="1144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N26/header-icons/button-close/036"/>
            <p:cNvSpPr/>
            <p:nvPr/>
          </p:nvSpPr>
          <p:spPr>
            <a:xfrm>
              <a:off x="4724400" y="4556569"/>
              <a:ext cx="259080" cy="25908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1" name="N26/header-icons/line/037"/>
            <p:cNvCxnSpPr/>
            <p:nvPr/>
          </p:nvCxnSpPr>
          <p:spPr>
            <a:xfrm>
              <a:off x="4821555" y="4653724"/>
              <a:ext cx="64770" cy="647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N26/header-icons/line/038"/>
            <p:cNvCxnSpPr/>
            <p:nvPr/>
          </p:nvCxnSpPr>
          <p:spPr>
            <a:xfrm flipH="1">
              <a:off x="4821555" y="4653724"/>
              <a:ext cx="64770" cy="647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N26/text/018"/>
          <p:cNvSpPr txBox="1"/>
          <p:nvPr/>
        </p:nvSpPr>
        <p:spPr>
          <a:xfrm>
            <a:off x="2011680" y="5074920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All tabs icon-only; no ellipsis</a:t>
            </a:r>
          </a:p>
        </p:txBody>
      </p:sp>
      <p:sp>
        <p:nvSpPr>
          <p:cNvPr id="144" name="N26/spec-panel/019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N26/text/020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146" name="N26/ellipse/021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N26/text/022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Tab text never ellipsizes</a:t>
            </a:r>
          </a:p>
        </p:txBody>
      </p:sp>
      <p:sp>
        <p:nvSpPr>
          <p:cNvPr id="148" name="N26/ellipse/023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N26/text/024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Settings + close always visible</a:t>
            </a:r>
          </a:p>
        </p:txBody>
      </p:sp>
      <p:sp>
        <p:nvSpPr>
          <p:cNvPr id="150" name="N26/ellipse/025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N26/text/026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Active tab fill rgba(255,255,255,.16)</a:t>
            </a:r>
          </a:p>
        </p:txBody>
      </p:sp>
      <p:sp>
        <p:nvSpPr>
          <p:cNvPr id="152" name="N26/ellipse/027"/>
          <p:cNvSpPr/>
          <p:nvPr/>
        </p:nvSpPr>
        <p:spPr>
          <a:xfrm>
            <a:off x="8659368" y="311810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N26/text/028"/>
          <p:cNvSpPr txBox="1"/>
          <p:nvPr/>
        </p:nvSpPr>
        <p:spPr>
          <a:xfrm>
            <a:off x="8805672" y="3054096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Horizontal tab scroll disabled</a:t>
            </a:r>
          </a:p>
        </p:txBody>
      </p:sp>
      <p:cxnSp>
        <p:nvCxnSpPr>
          <p:cNvPr id="154" name="N26/line/029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N26/text/030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156" name="N26/edit-box/031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N26/edit-note/032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Breakpoints / active label / icon padding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27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27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27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ADAPTIVE LAYOUT</a:t>
            </a:r>
          </a:p>
        </p:txBody>
      </p:sp>
      <p:sp>
        <p:nvSpPr>
          <p:cNvPr id="5" name="N27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Page reflow rules</a:t>
            </a:r>
          </a:p>
        </p:txBody>
      </p:sp>
      <p:sp>
        <p:nvSpPr>
          <p:cNvPr id="6" name="N27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Compact &lt;420 px · narrow &lt;340 px effective content width</a:t>
            </a:r>
          </a:p>
        </p:txBody>
      </p:sp>
      <p:cxnSp>
        <p:nvCxnSpPr>
          <p:cNvPr id="7" name="N27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27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27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N27</a:t>
            </a:r>
          </a:p>
        </p:txBody>
      </p:sp>
      <p:sp>
        <p:nvSpPr>
          <p:cNvPr id="10" name="N27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37</a:t>
            </a:r>
          </a:p>
        </p:txBody>
      </p:sp>
      <p:sp>
        <p:nvSpPr>
          <p:cNvPr id="11" name="N27/rect/010"/>
          <p:cNvSpPr/>
          <p:nvPr/>
        </p:nvSpPr>
        <p:spPr>
          <a:xfrm>
            <a:off x="502920" y="1737360"/>
            <a:ext cx="7635240" cy="566928"/>
          </a:xfrm>
          <a:prstGeom prst="roundRect">
            <a:avLst>
              <a:gd name="adj" fmla="val 12903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27/text/011"/>
          <p:cNvSpPr txBox="1"/>
          <p:nvPr/>
        </p:nvSpPr>
        <p:spPr>
          <a:xfrm>
            <a:off x="685800" y="1737360"/>
            <a:ext cx="1143000" cy="5669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0D158"/>
                </a:solidFill>
                <a:latin typeface="Arial"/>
              </a:rPr>
              <a:t>Home</a:t>
            </a:r>
          </a:p>
        </p:txBody>
      </p:sp>
      <p:sp>
        <p:nvSpPr>
          <p:cNvPr id="13" name="N27/text/012"/>
          <p:cNvSpPr txBox="1"/>
          <p:nvPr/>
        </p:nvSpPr>
        <p:spPr>
          <a:xfrm>
            <a:off x="1874519" y="1737360"/>
            <a:ext cx="6080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Compact stacks clock above centered actions; narrow hides Full player; art 56 px.</a:t>
            </a:r>
          </a:p>
        </p:txBody>
      </p:sp>
      <p:sp>
        <p:nvSpPr>
          <p:cNvPr id="14" name="N27/rect/013"/>
          <p:cNvSpPr/>
          <p:nvPr/>
        </p:nvSpPr>
        <p:spPr>
          <a:xfrm>
            <a:off x="502920" y="2377439"/>
            <a:ext cx="7635240" cy="566928"/>
          </a:xfrm>
          <a:prstGeom prst="roundRect">
            <a:avLst>
              <a:gd name="adj" fmla="val 12903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27/text/014"/>
          <p:cNvSpPr txBox="1"/>
          <p:nvPr/>
        </p:nvSpPr>
        <p:spPr>
          <a:xfrm>
            <a:off x="685800" y="2377439"/>
            <a:ext cx="1143000" cy="5669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0D158"/>
                </a:solidFill>
                <a:latin typeface="Arial"/>
              </a:rPr>
              <a:t>Music</a:t>
            </a:r>
          </a:p>
        </p:txBody>
      </p:sp>
      <p:sp>
        <p:nvSpPr>
          <p:cNvPr id="16" name="N27/text/015"/>
          <p:cNvSpPr txBox="1"/>
          <p:nvPr/>
        </p:nvSpPr>
        <p:spPr>
          <a:xfrm>
            <a:off x="1874519" y="2377439"/>
            <a:ext cx="6080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Narrow stacks art above metadata; volume rows stack; art 56 px in compact.</a:t>
            </a:r>
          </a:p>
        </p:txBody>
      </p:sp>
      <p:sp>
        <p:nvSpPr>
          <p:cNvPr id="17" name="N27/rect/016"/>
          <p:cNvSpPr/>
          <p:nvPr/>
        </p:nvSpPr>
        <p:spPr>
          <a:xfrm>
            <a:off x="502920" y="3017520"/>
            <a:ext cx="7635240" cy="566928"/>
          </a:xfrm>
          <a:prstGeom prst="roundRect">
            <a:avLst>
              <a:gd name="adj" fmla="val 12903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27/text/017"/>
          <p:cNvSpPr txBox="1"/>
          <p:nvPr/>
        </p:nvSpPr>
        <p:spPr>
          <a:xfrm>
            <a:off x="685800" y="3017520"/>
            <a:ext cx="1143000" cy="5669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0D158"/>
                </a:solidFill>
                <a:latin typeface="Arial"/>
              </a:rPr>
              <a:t>Alerts</a:t>
            </a:r>
          </a:p>
        </p:txBody>
      </p:sp>
      <p:sp>
        <p:nvSpPr>
          <p:cNvPr id="19" name="N27/text/018"/>
          <p:cNvSpPr txBox="1"/>
          <p:nvPr/>
        </p:nvSpPr>
        <p:spPr>
          <a:xfrm>
            <a:off x="1874519" y="3017520"/>
            <a:ext cx="6080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Compact Clear all becomes icon-only; notification actions stack vertically.</a:t>
            </a:r>
          </a:p>
        </p:txBody>
      </p:sp>
      <p:sp>
        <p:nvSpPr>
          <p:cNvPr id="20" name="N27/rect/019"/>
          <p:cNvSpPr/>
          <p:nvPr/>
        </p:nvSpPr>
        <p:spPr>
          <a:xfrm>
            <a:off x="502920" y="3657600"/>
            <a:ext cx="7635240" cy="566928"/>
          </a:xfrm>
          <a:prstGeom prst="roundRect">
            <a:avLst>
              <a:gd name="adj" fmla="val 12903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27/text/020"/>
          <p:cNvSpPr txBox="1"/>
          <p:nvPr/>
        </p:nvSpPr>
        <p:spPr>
          <a:xfrm>
            <a:off x="685800" y="3657600"/>
            <a:ext cx="1143000" cy="5669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0D158"/>
                </a:solidFill>
                <a:latin typeface="Arial"/>
              </a:rPr>
              <a:t>System</a:t>
            </a:r>
          </a:p>
        </p:txBody>
      </p:sp>
      <p:sp>
        <p:nvSpPr>
          <p:cNvPr id="22" name="N27/text/021"/>
          <p:cNvSpPr txBox="1"/>
          <p:nvPr/>
        </p:nvSpPr>
        <p:spPr>
          <a:xfrm>
            <a:off x="1874519" y="3657600"/>
            <a:ext cx="6080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Stats: 4 columns ≥560, 2 columns ≥320, 1 column below; actions stack in compact.</a:t>
            </a:r>
          </a:p>
        </p:txBody>
      </p:sp>
      <p:sp>
        <p:nvSpPr>
          <p:cNvPr id="23" name="N27/rect/022"/>
          <p:cNvSpPr/>
          <p:nvPr/>
        </p:nvSpPr>
        <p:spPr>
          <a:xfrm>
            <a:off x="502920" y="4297680"/>
            <a:ext cx="7635240" cy="566928"/>
          </a:xfrm>
          <a:prstGeom prst="roundRect">
            <a:avLst>
              <a:gd name="adj" fmla="val 12903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27/text/023"/>
          <p:cNvSpPr txBox="1"/>
          <p:nvPr/>
        </p:nvSpPr>
        <p:spPr>
          <a:xfrm>
            <a:off x="685800" y="4297680"/>
            <a:ext cx="1143000" cy="5669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0D158"/>
                </a:solidFill>
                <a:latin typeface="Arial"/>
              </a:rPr>
              <a:t>Shelf</a:t>
            </a:r>
          </a:p>
        </p:txBody>
      </p:sp>
      <p:sp>
        <p:nvSpPr>
          <p:cNvPr id="25" name="N27/text/024"/>
          <p:cNvSpPr txBox="1"/>
          <p:nvPr/>
        </p:nvSpPr>
        <p:spPr>
          <a:xfrm>
            <a:off x="1874519" y="4297680"/>
            <a:ext cx="6080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Compact Add/Clear/Retry become icon-only; rows keep three action icons.</a:t>
            </a:r>
          </a:p>
        </p:txBody>
      </p:sp>
      <p:sp>
        <p:nvSpPr>
          <p:cNvPr id="26" name="N27/rect/025"/>
          <p:cNvSpPr/>
          <p:nvPr/>
        </p:nvSpPr>
        <p:spPr>
          <a:xfrm>
            <a:off x="502920" y="4937760"/>
            <a:ext cx="7635240" cy="566928"/>
          </a:xfrm>
          <a:prstGeom prst="roundRect">
            <a:avLst>
              <a:gd name="adj" fmla="val 12903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27/text/026"/>
          <p:cNvSpPr txBox="1"/>
          <p:nvPr/>
        </p:nvSpPr>
        <p:spPr>
          <a:xfrm>
            <a:off x="685800" y="4937760"/>
            <a:ext cx="1143000" cy="5669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0D158"/>
                </a:solidFill>
                <a:latin typeface="Arial"/>
              </a:rPr>
              <a:t>Clips</a:t>
            </a:r>
          </a:p>
        </p:txBody>
      </p:sp>
      <p:sp>
        <p:nvSpPr>
          <p:cNvPr id="28" name="N27/text/027"/>
          <p:cNvSpPr txBox="1"/>
          <p:nvPr/>
        </p:nvSpPr>
        <p:spPr>
          <a:xfrm>
            <a:off x="1874519" y="4937760"/>
            <a:ext cx="6080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Compact header buttons icon-only; narrow rows stack timestamp below preview.</a:t>
            </a:r>
          </a:p>
        </p:txBody>
      </p:sp>
      <p:sp>
        <p:nvSpPr>
          <p:cNvPr id="29" name="N27/rect/028"/>
          <p:cNvSpPr/>
          <p:nvPr/>
        </p:nvSpPr>
        <p:spPr>
          <a:xfrm>
            <a:off x="502920" y="5577840"/>
            <a:ext cx="7635240" cy="566928"/>
          </a:xfrm>
          <a:prstGeom prst="roundRect">
            <a:avLst>
              <a:gd name="adj" fmla="val 12903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27/text/029"/>
          <p:cNvSpPr txBox="1"/>
          <p:nvPr/>
        </p:nvSpPr>
        <p:spPr>
          <a:xfrm>
            <a:off x="685800" y="5577840"/>
            <a:ext cx="1143000" cy="5669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0D158"/>
                </a:solidFill>
                <a:latin typeface="Arial"/>
              </a:rPr>
              <a:t>Text scale</a:t>
            </a:r>
          </a:p>
        </p:txBody>
      </p:sp>
      <p:sp>
        <p:nvSpPr>
          <p:cNvPr id="31" name="N27/text/030"/>
          <p:cNvSpPr txBox="1"/>
          <p:nvPr/>
        </p:nvSpPr>
        <p:spPr>
          <a:xfrm>
            <a:off x="1874519" y="5577840"/>
            <a:ext cx="6080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Geometry reserves space for GNOME text scaling; content is not double-scaled.</a:t>
            </a:r>
          </a:p>
        </p:txBody>
      </p:sp>
      <p:sp>
        <p:nvSpPr>
          <p:cNvPr id="32" name="N27/spec-panel/03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N27/text/03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34" name="N27/ellipse/03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N27/text/034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Breakpoints are logical effective px</a:t>
            </a:r>
          </a:p>
        </p:txBody>
      </p:sp>
      <p:sp>
        <p:nvSpPr>
          <p:cNvPr id="36" name="N27/ellipse/035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N27/text/036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Vertical page scroll remains available</a:t>
            </a:r>
          </a:p>
        </p:txBody>
      </p:sp>
      <p:sp>
        <p:nvSpPr>
          <p:cNvPr id="38" name="N27/ellipse/037"/>
          <p:cNvSpPr/>
          <p:nvPr/>
        </p:nvSpPr>
        <p:spPr>
          <a:xfrm>
            <a:off x="8659368" y="283464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27/text/038"/>
          <p:cNvSpPr txBox="1"/>
          <p:nvPr/>
        </p:nvSpPr>
        <p:spPr>
          <a:xfrm>
            <a:off x="8805672" y="277063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No horizontal page scroll</a:t>
            </a:r>
          </a:p>
        </p:txBody>
      </p:sp>
      <p:sp>
        <p:nvSpPr>
          <p:cNvPr id="40" name="N27/ellipse/039"/>
          <p:cNvSpPr/>
          <p:nvPr/>
        </p:nvSpPr>
        <p:spPr>
          <a:xfrm>
            <a:off x="8659368" y="311810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N27/text/040"/>
          <p:cNvSpPr txBox="1"/>
          <p:nvPr/>
        </p:nvSpPr>
        <p:spPr>
          <a:xfrm>
            <a:off x="8805672" y="3054096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Minimum content 120×80</a:t>
            </a:r>
          </a:p>
        </p:txBody>
      </p:sp>
      <p:cxnSp>
        <p:nvCxnSpPr>
          <p:cNvPr id="42" name="N27/line/041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N27/text/042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44" name="N27/edit-box/043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N27/edit-note/044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Add a custom breakpoint / reflow sketch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55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55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55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ADAPTIVE LAYOUT</a:t>
            </a:r>
          </a:p>
        </p:txBody>
      </p:sp>
      <p:sp>
        <p:nvSpPr>
          <p:cNvPr id="5" name="N55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Text scaling and monitor fit</a:t>
            </a:r>
          </a:p>
        </p:txBody>
      </p:sp>
      <p:sp>
        <p:nvSpPr>
          <p:cNvPr id="6" name="N55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GNOME text-scaling-factor · notch-scale · monitor clamping</a:t>
            </a:r>
          </a:p>
        </p:txBody>
      </p:sp>
      <p:cxnSp>
        <p:nvCxnSpPr>
          <p:cNvPr id="7" name="N55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55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55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N55</a:t>
            </a:r>
          </a:p>
        </p:txBody>
      </p:sp>
      <p:sp>
        <p:nvSpPr>
          <p:cNvPr id="10" name="N55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38</a:t>
            </a:r>
          </a:p>
        </p:txBody>
      </p:sp>
      <p:graphicFrame>
        <p:nvGraphicFramePr>
          <p:cNvPr id="11" name="N55/review-table"/>
          <p:cNvGraphicFramePr>
            <a:graphicFrameLocks noGrp="1"/>
          </p:cNvGraphicFramePr>
          <p:nvPr/>
        </p:nvGraphicFramePr>
        <p:xfrm>
          <a:off x="502920" y="1783080"/>
          <a:ext cx="7635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257800"/>
              </a:tblGrid>
              <a:tr h="548640"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30D158"/>
                          </a:solidFill>
                          <a:latin typeface="Arial"/>
                        </a:defRPr>
                      </a:pPr>
                      <a:r>
                        <a:t>Case</a:t>
                      </a:r>
                    </a:p>
                  </a:txBody>
                  <a:tcPr marL="73152" marR="73152" marT="27432" marB="27432" anchor="ctr">
                    <a:solidFill>
                      <a:srgbClr val="1C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30D158"/>
                          </a:solidFill>
                          <a:latin typeface="Arial"/>
                        </a:defRPr>
                      </a:pPr>
                      <a:r>
                        <a:t>Expected behavior</a:t>
                      </a:r>
                    </a:p>
                  </a:txBody>
                  <a:tcPr marL="73152" marR="73152" marT="27432" marB="27432" anchor="ctr">
                    <a:solidFill>
                      <a:srgbClr val="1C1C2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100% text / 1.00 notch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Default logical sizes; header mode from effective width.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125% text / 1.00 notch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Geometry reserves larger text; effective width shrinks; labels may switch to icons.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150% text / 1.00 notch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More page scrolling; no double scaling of content actor.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100% text / 1.50 notch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Overall notch larger; monitor available size still clamps width/height.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Small monitor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Open size clamps to monitor minus 12 px edge margins and placement top offset.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</a:tr>
            </a:tbl>
          </a:graphicData>
        </a:graphic>
      </p:graphicFrame>
      <p:sp>
        <p:nvSpPr>
          <p:cNvPr id="12" name="N55/text/010"/>
          <p:cNvSpPr txBox="1"/>
          <p:nvPr/>
        </p:nvSpPr>
        <p:spPr>
          <a:xfrm>
            <a:off x="502920" y="5349240"/>
            <a:ext cx="76352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D60A"/>
                </a:solidFill>
                <a:latin typeface="Arial"/>
              </a:rPr>
              <a:t>Acceptance: no clipped labels/buttons at 100%, 125%, 150% text scaling. Tabs never ellipsize; pages scroll vertically.</a:t>
            </a:r>
          </a:p>
        </p:txBody>
      </p:sp>
      <p:sp>
        <p:nvSpPr>
          <p:cNvPr id="13" name="N55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55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15" name="N55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55/text/014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textScale clamped 0.8–2.0 in view</a:t>
            </a:r>
          </a:p>
        </p:txBody>
      </p:sp>
      <p:sp>
        <p:nvSpPr>
          <p:cNvPr id="17" name="N55/ellipse/015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55/text/016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notch-scale range 0.75–1.5</a:t>
            </a:r>
          </a:p>
        </p:txBody>
      </p:sp>
      <p:sp>
        <p:nvSpPr>
          <p:cNvPr id="19" name="N55/ellipse/017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55/text/018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Edge margin 12 logical px</a:t>
            </a:r>
          </a:p>
        </p:txBody>
      </p:sp>
      <p:sp>
        <p:nvSpPr>
          <p:cNvPr id="21" name="N55/ellipse/019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55/text/020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Primary monitor index −1</a:t>
            </a:r>
          </a:p>
        </p:txBody>
      </p:sp>
      <p:cxnSp>
        <p:nvCxnSpPr>
          <p:cNvPr id="23" name="N55/line/021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N55/text/022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25" name="N55/edit-box/023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55/edit-note/024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Scaling edge case to add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28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28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28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MOTION</a:t>
            </a:r>
          </a:p>
        </p:txBody>
      </p:sp>
      <p:sp>
        <p:nvSpPr>
          <p:cNvPr id="5" name="N28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Opening, closing and resizing</a:t>
            </a:r>
          </a:p>
        </p:txBody>
      </p:sp>
      <p:sp>
        <p:nvSpPr>
          <p:cNvPr id="6" name="N28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Mac spring by default; smooth easing optional; reduced-motion respected</a:t>
            </a:r>
          </a:p>
        </p:txBody>
      </p:sp>
      <p:cxnSp>
        <p:nvCxnSpPr>
          <p:cNvPr id="7" name="N28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28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28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N28</a:t>
            </a:r>
          </a:p>
        </p:txBody>
      </p:sp>
      <p:sp>
        <p:nvSpPr>
          <p:cNvPr id="10" name="N28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39</a:t>
            </a:r>
          </a:p>
        </p:txBody>
      </p:sp>
      <p:sp>
        <p:nvSpPr>
          <p:cNvPr id="11" name="N28/rect/010"/>
          <p:cNvSpPr/>
          <p:nvPr/>
        </p:nvSpPr>
        <p:spPr>
          <a:xfrm>
            <a:off x="502920" y="1783080"/>
            <a:ext cx="7635240" cy="868680"/>
          </a:xfrm>
          <a:prstGeom prst="roundRect">
            <a:avLst>
              <a:gd name="adj" fmla="val 1052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28/text/011"/>
          <p:cNvSpPr txBox="1"/>
          <p:nvPr/>
        </p:nvSpPr>
        <p:spPr>
          <a:xfrm>
            <a:off x="685800" y="1892807"/>
            <a:ext cx="20574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5F7"/>
                </a:solidFill>
                <a:latin typeface="Arial"/>
              </a:rPr>
              <a:t>Open</a:t>
            </a:r>
          </a:p>
        </p:txBody>
      </p:sp>
      <p:sp>
        <p:nvSpPr>
          <p:cNvPr id="13" name="N28/text/012"/>
          <p:cNvSpPr txBox="1"/>
          <p:nvPr/>
        </p:nvSpPr>
        <p:spPr>
          <a:xfrm>
            <a:off x="2788920" y="1892807"/>
            <a:ext cx="516636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0D158"/>
                </a:solidFill>
                <a:latin typeface="Consolas"/>
              </a:rPr>
              <a:t>response 0.42 / damping 0.8</a:t>
            </a:r>
          </a:p>
        </p:txBody>
      </p:sp>
      <p:sp>
        <p:nvSpPr>
          <p:cNvPr id="14" name="N28/text/013"/>
          <p:cNvSpPr txBox="1"/>
          <p:nvPr/>
        </p:nvSpPr>
        <p:spPr>
          <a:xfrm>
            <a:off x="685800" y="2194560"/>
            <a:ext cx="72694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Arial"/>
              </a:rPr>
              <a:t>Content fades in 180 ms after 70 ms; closed layer fades 100 ms.</a:t>
            </a:r>
          </a:p>
        </p:txBody>
      </p:sp>
      <p:sp>
        <p:nvSpPr>
          <p:cNvPr id="15" name="N28/rect/014"/>
          <p:cNvSpPr/>
          <p:nvPr/>
        </p:nvSpPr>
        <p:spPr>
          <a:xfrm>
            <a:off x="502920" y="2788920"/>
            <a:ext cx="7635240" cy="868680"/>
          </a:xfrm>
          <a:prstGeom prst="roundRect">
            <a:avLst>
              <a:gd name="adj" fmla="val 1052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28/text/015"/>
          <p:cNvSpPr txBox="1"/>
          <p:nvPr/>
        </p:nvSpPr>
        <p:spPr>
          <a:xfrm>
            <a:off x="685800" y="2898648"/>
            <a:ext cx="20574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5F7"/>
                </a:solidFill>
                <a:latin typeface="Arial"/>
              </a:rPr>
              <a:t>Close</a:t>
            </a:r>
          </a:p>
        </p:txBody>
      </p:sp>
      <p:sp>
        <p:nvSpPr>
          <p:cNvPr id="17" name="N28/text/016"/>
          <p:cNvSpPr txBox="1"/>
          <p:nvPr/>
        </p:nvSpPr>
        <p:spPr>
          <a:xfrm>
            <a:off x="2788920" y="2898648"/>
            <a:ext cx="516636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0D158"/>
                </a:solidFill>
                <a:latin typeface="Consolas"/>
              </a:rPr>
              <a:t>response 0.45 / damping 1.0</a:t>
            </a:r>
          </a:p>
        </p:txBody>
      </p:sp>
      <p:sp>
        <p:nvSpPr>
          <p:cNvPr id="18" name="N28/text/017"/>
          <p:cNvSpPr txBox="1"/>
          <p:nvPr/>
        </p:nvSpPr>
        <p:spPr>
          <a:xfrm>
            <a:off x="685800" y="3200400"/>
            <a:ext cx="72694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Arial"/>
              </a:rPr>
              <a:t>Content fades 90 ms; closed layer returns after 60 ms / 140 ms.</a:t>
            </a:r>
          </a:p>
        </p:txBody>
      </p:sp>
      <p:sp>
        <p:nvSpPr>
          <p:cNvPr id="19" name="N28/rect/018"/>
          <p:cNvSpPr/>
          <p:nvPr/>
        </p:nvSpPr>
        <p:spPr>
          <a:xfrm>
            <a:off x="502920" y="3794760"/>
            <a:ext cx="7635240" cy="868680"/>
          </a:xfrm>
          <a:prstGeom prst="roundRect">
            <a:avLst>
              <a:gd name="adj" fmla="val 1052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28/text/019"/>
          <p:cNvSpPr txBox="1"/>
          <p:nvPr/>
        </p:nvSpPr>
        <p:spPr>
          <a:xfrm>
            <a:off x="685800" y="3904488"/>
            <a:ext cx="20574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5F7"/>
                </a:solidFill>
                <a:latin typeface="Arial"/>
              </a:rPr>
              <a:t>Resize / page switch</a:t>
            </a:r>
          </a:p>
        </p:txBody>
      </p:sp>
      <p:sp>
        <p:nvSpPr>
          <p:cNvPr id="21" name="N28/text/020"/>
          <p:cNvSpPr txBox="1"/>
          <p:nvPr/>
        </p:nvSpPr>
        <p:spPr>
          <a:xfrm>
            <a:off x="2788920" y="3904488"/>
            <a:ext cx="516636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0D158"/>
                </a:solidFill>
                <a:latin typeface="Consolas"/>
              </a:rPr>
              <a:t>response 0.38 / damping 0.8</a:t>
            </a:r>
          </a:p>
        </p:txBody>
      </p:sp>
      <p:sp>
        <p:nvSpPr>
          <p:cNvPr id="22" name="N28/text/021"/>
          <p:cNvSpPr txBox="1"/>
          <p:nvPr/>
        </p:nvSpPr>
        <p:spPr>
          <a:xfrm>
            <a:off x="685800" y="4206240"/>
            <a:ext cx="72694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Arial"/>
              </a:rPr>
              <a:t>Geometry springs x/y/w/h/radii; timeline stops when settled.</a:t>
            </a:r>
          </a:p>
        </p:txBody>
      </p:sp>
      <p:sp>
        <p:nvSpPr>
          <p:cNvPr id="23" name="N28/rect/022"/>
          <p:cNvSpPr/>
          <p:nvPr/>
        </p:nvSpPr>
        <p:spPr>
          <a:xfrm>
            <a:off x="502920" y="4800600"/>
            <a:ext cx="7635240" cy="868680"/>
          </a:xfrm>
          <a:prstGeom prst="roundRect">
            <a:avLst>
              <a:gd name="adj" fmla="val 1052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28/text/023"/>
          <p:cNvSpPr txBox="1"/>
          <p:nvPr/>
        </p:nvSpPr>
        <p:spPr>
          <a:xfrm>
            <a:off x="685800" y="4910328"/>
            <a:ext cx="20574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5F7"/>
                </a:solidFill>
                <a:latin typeface="Arial"/>
              </a:rPr>
              <a:t>Smooth profile</a:t>
            </a:r>
          </a:p>
        </p:txBody>
      </p:sp>
      <p:sp>
        <p:nvSpPr>
          <p:cNvPr id="25" name="N28/text/024"/>
          <p:cNvSpPr txBox="1"/>
          <p:nvPr/>
        </p:nvSpPr>
        <p:spPr>
          <a:xfrm>
            <a:off x="2788920" y="4910328"/>
            <a:ext cx="516636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0D158"/>
                </a:solidFill>
                <a:latin typeface="Consolas"/>
              </a:rPr>
              <a:t>open 420 ms / close 450 ms</a:t>
            </a:r>
          </a:p>
        </p:txBody>
      </p:sp>
      <p:sp>
        <p:nvSpPr>
          <p:cNvPr id="26" name="N28/text/025"/>
          <p:cNvSpPr txBox="1"/>
          <p:nvPr/>
        </p:nvSpPr>
        <p:spPr>
          <a:xfrm>
            <a:off x="685800" y="5212080"/>
            <a:ext cx="72694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Arial"/>
              </a:rPr>
              <a:t>easeOutCubic; durations user-configurable 0–1000 ms.</a:t>
            </a:r>
          </a:p>
        </p:txBody>
      </p:sp>
      <p:sp>
        <p:nvSpPr>
          <p:cNvPr id="27" name="N28/text/026"/>
          <p:cNvSpPr txBox="1"/>
          <p:nvPr/>
        </p:nvSpPr>
        <p:spPr>
          <a:xfrm>
            <a:off x="502920" y="5897880"/>
            <a:ext cx="763524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Animations off or GNOME Enable Animations off → immediate snap. Visualizer only while closed and visible.</a:t>
            </a:r>
          </a:p>
        </p:txBody>
      </p:sp>
      <p:sp>
        <p:nvSpPr>
          <p:cNvPr id="28" name="N28/spec-panel/027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28/text/028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30" name="N28/ellipse/029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N28/text/030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Hover delay 250 ms</a:t>
            </a:r>
          </a:p>
        </p:txBody>
      </p:sp>
      <p:sp>
        <p:nvSpPr>
          <p:cNvPr id="32" name="N28/ellipse/031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N28/text/032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Hover-exit close 120 ms</a:t>
            </a:r>
          </a:p>
        </p:txBody>
      </p:sp>
      <p:sp>
        <p:nvSpPr>
          <p:cNvPr id="34" name="N28/ellipse/033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N28/text/034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Peek timeout 5000 ms</a:t>
            </a:r>
          </a:p>
        </p:txBody>
      </p:sp>
      <p:sp>
        <p:nvSpPr>
          <p:cNvPr id="36" name="N28/ellipse/035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N28/text/036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Auto-hide 0 = disabled</a:t>
            </a:r>
          </a:p>
        </p:txBody>
      </p:sp>
      <p:cxnSp>
        <p:nvCxnSpPr>
          <p:cNvPr id="38" name="N28/line/037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N28/text/038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40" name="N28/edit-box/039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N28/edit-note/040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Motion feel / durations / overshoot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56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56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56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MOTION</a:t>
            </a:r>
          </a:p>
        </p:txBody>
      </p:sp>
      <p:sp>
        <p:nvSpPr>
          <p:cNvPr id="5" name="N56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State transition storyboard</a:t>
            </a:r>
          </a:p>
        </p:txBody>
      </p:sp>
      <p:sp>
        <p:nvSpPr>
          <p:cNvPr id="6" name="N56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Closed → open → page resize → peek → closed</a:t>
            </a:r>
          </a:p>
        </p:txBody>
      </p:sp>
      <p:cxnSp>
        <p:nvCxnSpPr>
          <p:cNvPr id="7" name="N56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56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56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N56</a:t>
            </a:r>
          </a:p>
        </p:txBody>
      </p:sp>
      <p:sp>
        <p:nvSpPr>
          <p:cNvPr id="10" name="N56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40</a:t>
            </a:r>
          </a:p>
        </p:txBody>
      </p:sp>
      <p:sp>
        <p:nvSpPr>
          <p:cNvPr id="11" name="N56/text/010"/>
          <p:cNvSpPr txBox="1"/>
          <p:nvPr/>
        </p:nvSpPr>
        <p:spPr>
          <a:xfrm>
            <a:off x="411480" y="1920240"/>
            <a:ext cx="214884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0D158"/>
                </a:solidFill>
                <a:latin typeface="Arial"/>
              </a:rPr>
              <a:t>Closed</a:t>
            </a:r>
          </a:p>
        </p:txBody>
      </p:sp>
      <p:grpSp>
        <p:nvGrpSpPr>
          <p:cNvPr id="12" name="N56/motion-Closed"/>
          <p:cNvGrpSpPr/>
          <p:nvPr/>
        </p:nvGrpSpPr>
        <p:grpSpPr>
          <a:xfrm>
            <a:off x="708660" y="2240280"/>
            <a:ext cx="1554480" cy="292608"/>
            <a:chOff x="708660" y="2240280"/>
            <a:chExt cx="1554480" cy="292608"/>
          </a:xfrm>
        </p:grpSpPr>
        <p:sp>
          <p:nvSpPr>
            <p:cNvPr id="13" name="N56/motion-Closed/notch-surface-closed/001"/>
            <p:cNvSpPr/>
            <p:nvPr/>
          </p:nvSpPr>
          <p:spPr>
            <a:xfrm>
              <a:off x="708660" y="2240280"/>
              <a:ext cx="1554480" cy="292608"/>
            </a:xfrm>
            <a:custGeom>
              <a:avLst/>
              <a:gdLst/>
              <a:ahLst/>
              <a:cxnLst/>
              <a:rect l="l" t="t" r="r" b="b"/>
              <a:pathLst>
                <a:path w="1554480" h="292608">
                  <a:moveTo>
                    <a:pt x="0" y="0"/>
                  </a:moveTo>
                  <a:lnTo>
                    <a:pt x="1554480" y="0"/>
                  </a:lnTo>
                  <a:lnTo>
                    <a:pt x="1548932" y="625"/>
                  </a:lnTo>
                  <a:lnTo>
                    <a:pt x="1542603" y="2500"/>
                  </a:lnTo>
                  <a:lnTo>
                    <a:pt x="1535962" y="5625"/>
                  </a:lnTo>
                  <a:lnTo>
                    <a:pt x="1529476" y="10001"/>
                  </a:lnTo>
                  <a:lnTo>
                    <a:pt x="1523616" y="15626"/>
                  </a:lnTo>
                  <a:lnTo>
                    <a:pt x="1518850" y="22502"/>
                  </a:lnTo>
                  <a:lnTo>
                    <a:pt x="1515647" y="30628"/>
                  </a:lnTo>
                  <a:lnTo>
                    <a:pt x="1514475" y="40005"/>
                  </a:lnTo>
                  <a:lnTo>
                    <a:pt x="1512681" y="217473"/>
                  </a:lnTo>
                  <a:lnTo>
                    <a:pt x="1507369" y="234984"/>
                  </a:lnTo>
                  <a:lnTo>
                    <a:pt x="1498743" y="251122"/>
                  </a:lnTo>
                  <a:lnTo>
                    <a:pt x="1487134" y="265267"/>
                  </a:lnTo>
                  <a:lnTo>
                    <a:pt x="1472989" y="276876"/>
                  </a:lnTo>
                  <a:lnTo>
                    <a:pt x="1456851" y="285502"/>
                  </a:lnTo>
                  <a:lnTo>
                    <a:pt x="1439340" y="290814"/>
                  </a:lnTo>
                  <a:lnTo>
                    <a:pt x="1421130" y="292608"/>
                  </a:lnTo>
                  <a:lnTo>
                    <a:pt x="133350" y="292608"/>
                  </a:lnTo>
                  <a:lnTo>
                    <a:pt x="115139" y="290814"/>
                  </a:lnTo>
                  <a:lnTo>
                    <a:pt x="97628" y="285502"/>
                  </a:lnTo>
                  <a:lnTo>
                    <a:pt x="81490" y="276876"/>
                  </a:lnTo>
                  <a:lnTo>
                    <a:pt x="67345" y="265267"/>
                  </a:lnTo>
                  <a:lnTo>
                    <a:pt x="55736" y="251122"/>
                  </a:lnTo>
                  <a:lnTo>
                    <a:pt x="47110" y="234984"/>
                  </a:lnTo>
                  <a:lnTo>
                    <a:pt x="41798" y="217473"/>
                  </a:lnTo>
                  <a:lnTo>
                    <a:pt x="40005" y="199263"/>
                  </a:lnTo>
                  <a:lnTo>
                    <a:pt x="40005" y="40005"/>
                  </a:lnTo>
                  <a:lnTo>
                    <a:pt x="38832" y="30628"/>
                  </a:lnTo>
                  <a:lnTo>
                    <a:pt x="35629" y="22502"/>
                  </a:lnTo>
                  <a:lnTo>
                    <a:pt x="30863" y="15626"/>
                  </a:lnTo>
                  <a:lnTo>
                    <a:pt x="25003" y="10001"/>
                  </a:lnTo>
                  <a:lnTo>
                    <a:pt x="18517" y="5625"/>
                  </a:lnTo>
                  <a:lnTo>
                    <a:pt x="11876" y="2500"/>
                  </a:lnTo>
                  <a:lnTo>
                    <a:pt x="5547" y="6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56/motion-Closed/text/002"/>
            <p:cNvSpPr txBox="1"/>
            <p:nvPr/>
          </p:nvSpPr>
          <p:spPr>
            <a:xfrm>
              <a:off x="708660" y="2240280"/>
              <a:ext cx="1554480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1" i="0">
                  <a:solidFill>
                    <a:srgbClr val="F5F5F7"/>
                  </a:solidFill>
                  <a:latin typeface="Arial"/>
                </a:rPr>
                <a:t>14:32</a:t>
              </a:r>
            </a:p>
          </p:txBody>
        </p:sp>
      </p:grpSp>
      <p:sp>
        <p:nvSpPr>
          <p:cNvPr id="15" name="N56/text/011"/>
          <p:cNvSpPr txBox="1"/>
          <p:nvPr/>
        </p:nvSpPr>
        <p:spPr>
          <a:xfrm>
            <a:off x="2496312" y="265176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0D158"/>
                </a:solidFill>
                <a:latin typeface="Arial"/>
              </a:rPr>
              <a:t>→</a:t>
            </a:r>
          </a:p>
        </p:txBody>
      </p:sp>
      <p:sp>
        <p:nvSpPr>
          <p:cNvPr id="16" name="N56/text/012"/>
          <p:cNvSpPr txBox="1"/>
          <p:nvPr/>
        </p:nvSpPr>
        <p:spPr>
          <a:xfrm>
            <a:off x="2715768" y="1920240"/>
            <a:ext cx="214884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0D158"/>
                </a:solidFill>
                <a:latin typeface="Arial"/>
              </a:rPr>
              <a:t>Open Home</a:t>
            </a:r>
          </a:p>
        </p:txBody>
      </p:sp>
      <p:grpSp>
        <p:nvGrpSpPr>
          <p:cNvPr id="17" name="N56/motion-Open Home"/>
          <p:cNvGrpSpPr/>
          <p:nvPr/>
        </p:nvGrpSpPr>
        <p:grpSpPr>
          <a:xfrm>
            <a:off x="2510028" y="2240280"/>
            <a:ext cx="2560320" cy="1234440"/>
            <a:chOff x="2510028" y="2240280"/>
            <a:chExt cx="2560320" cy="1234440"/>
          </a:xfrm>
        </p:grpSpPr>
        <p:sp>
          <p:nvSpPr>
            <p:cNvPr id="18" name="N56/motion-Open Home/notch-surface-open/001"/>
            <p:cNvSpPr/>
            <p:nvPr/>
          </p:nvSpPr>
          <p:spPr>
            <a:xfrm>
              <a:off x="2510028" y="2240280"/>
              <a:ext cx="2560320" cy="1234440"/>
            </a:xfrm>
            <a:custGeom>
              <a:avLst/>
              <a:gdLst/>
              <a:ahLst/>
              <a:cxnLst/>
              <a:rect l="l" t="t" r="r" b="b"/>
              <a:pathLst>
                <a:path w="2560320" h="1234440">
                  <a:moveTo>
                    <a:pt x="0" y="0"/>
                  </a:moveTo>
                  <a:lnTo>
                    <a:pt x="2560320" y="0"/>
                  </a:lnTo>
                  <a:lnTo>
                    <a:pt x="2544007" y="1838"/>
                  </a:lnTo>
                  <a:lnTo>
                    <a:pt x="2525397" y="7352"/>
                  </a:lnTo>
                  <a:lnTo>
                    <a:pt x="2505868" y="16542"/>
                  </a:lnTo>
                  <a:lnTo>
                    <a:pt x="2486798" y="29408"/>
                  </a:lnTo>
                  <a:lnTo>
                    <a:pt x="2469567" y="45950"/>
                  </a:lnTo>
                  <a:lnTo>
                    <a:pt x="2455552" y="66168"/>
                  </a:lnTo>
                  <a:lnTo>
                    <a:pt x="2446132" y="90063"/>
                  </a:lnTo>
                  <a:lnTo>
                    <a:pt x="2442686" y="117633"/>
                  </a:lnTo>
                  <a:lnTo>
                    <a:pt x="2439831" y="1114838"/>
                  </a:lnTo>
                  <a:lnTo>
                    <a:pt x="2431375" y="1142712"/>
                  </a:lnTo>
                  <a:lnTo>
                    <a:pt x="2417644" y="1168402"/>
                  </a:lnTo>
                  <a:lnTo>
                    <a:pt x="2399165" y="1190918"/>
                  </a:lnTo>
                  <a:lnTo>
                    <a:pt x="2376648" y="1209398"/>
                  </a:lnTo>
                  <a:lnTo>
                    <a:pt x="2350959" y="1223129"/>
                  </a:lnTo>
                  <a:lnTo>
                    <a:pt x="2323084" y="1231584"/>
                  </a:lnTo>
                  <a:lnTo>
                    <a:pt x="2294096" y="1234440"/>
                  </a:lnTo>
                  <a:lnTo>
                    <a:pt x="266223" y="1234440"/>
                  </a:lnTo>
                  <a:lnTo>
                    <a:pt x="237235" y="1231584"/>
                  </a:lnTo>
                  <a:lnTo>
                    <a:pt x="209360" y="1223129"/>
                  </a:lnTo>
                  <a:lnTo>
                    <a:pt x="183671" y="1209398"/>
                  </a:lnTo>
                  <a:lnTo>
                    <a:pt x="161154" y="1190918"/>
                  </a:lnTo>
                  <a:lnTo>
                    <a:pt x="142675" y="1168402"/>
                  </a:lnTo>
                  <a:lnTo>
                    <a:pt x="128944" y="1142712"/>
                  </a:lnTo>
                  <a:lnTo>
                    <a:pt x="120488" y="1114838"/>
                  </a:lnTo>
                  <a:lnTo>
                    <a:pt x="117633" y="1085850"/>
                  </a:lnTo>
                  <a:lnTo>
                    <a:pt x="117633" y="117633"/>
                  </a:lnTo>
                  <a:lnTo>
                    <a:pt x="114187" y="90063"/>
                  </a:lnTo>
                  <a:lnTo>
                    <a:pt x="104767" y="66168"/>
                  </a:lnTo>
                  <a:lnTo>
                    <a:pt x="90752" y="45950"/>
                  </a:lnTo>
                  <a:lnTo>
                    <a:pt x="73521" y="29408"/>
                  </a:lnTo>
                  <a:lnTo>
                    <a:pt x="54451" y="16542"/>
                  </a:lnTo>
                  <a:lnTo>
                    <a:pt x="34922" y="7352"/>
                  </a:lnTo>
                  <a:lnTo>
                    <a:pt x="16312" y="18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N56/motion-Open Home/button-home/002"/>
            <p:cNvSpPr/>
            <p:nvPr/>
          </p:nvSpPr>
          <p:spPr>
            <a:xfrm>
              <a:off x="2674620" y="2526315"/>
              <a:ext cx="137160" cy="128587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56/motion-Open Home/poly/003"/>
            <p:cNvSpPr/>
            <p:nvPr/>
          </p:nvSpPr>
          <p:spPr>
            <a:xfrm>
              <a:off x="2717482" y="2564892"/>
              <a:ext cx="51435" cy="51435"/>
            </a:xfrm>
            <a:custGeom>
              <a:avLst/>
              <a:gdLst/>
              <a:ahLst/>
              <a:cxnLst/>
              <a:rect l="l" t="t" r="r" b="b"/>
              <a:pathLst>
                <a:path w="51435" h="51435">
                  <a:moveTo>
                    <a:pt x="25718" y="0"/>
                  </a:moveTo>
                  <a:lnTo>
                    <a:pt x="0" y="21431"/>
                  </a:lnTo>
                  <a:lnTo>
                    <a:pt x="8573" y="21431"/>
                  </a:lnTo>
                  <a:lnTo>
                    <a:pt x="8573" y="51435"/>
                  </a:lnTo>
                  <a:lnTo>
                    <a:pt x="21431" y="51435"/>
                  </a:lnTo>
                  <a:lnTo>
                    <a:pt x="21431" y="34290"/>
                  </a:lnTo>
                  <a:lnTo>
                    <a:pt x="30004" y="34290"/>
                  </a:lnTo>
                  <a:lnTo>
                    <a:pt x="30004" y="51435"/>
                  </a:lnTo>
                  <a:lnTo>
                    <a:pt x="42863" y="51435"/>
                  </a:lnTo>
                  <a:lnTo>
                    <a:pt x="42863" y="21431"/>
                  </a:lnTo>
                  <a:lnTo>
                    <a:pt x="51435" y="21431"/>
                  </a:lnTo>
                  <a:close/>
                </a:path>
              </a:pathLst>
            </a:custGeom>
            <a:noFill/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56/motion-Open Home/button-music/004"/>
            <p:cNvSpPr/>
            <p:nvPr/>
          </p:nvSpPr>
          <p:spPr>
            <a:xfrm>
              <a:off x="2828925" y="2526315"/>
              <a:ext cx="137160" cy="1285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2" name="N56/motion-Open Home/line/005"/>
            <p:cNvCxnSpPr/>
            <p:nvPr/>
          </p:nvCxnSpPr>
          <p:spPr>
            <a:xfrm flipV="1">
              <a:off x="2888932" y="2573464"/>
              <a:ext cx="0" cy="342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N56/motion-Open Home/line/006"/>
            <p:cNvCxnSpPr/>
            <p:nvPr/>
          </p:nvCxnSpPr>
          <p:spPr>
            <a:xfrm flipV="1">
              <a:off x="2888932" y="2569178"/>
              <a:ext cx="30004" cy="428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N56/motion-Open Home/line/007"/>
            <p:cNvCxnSpPr/>
            <p:nvPr/>
          </p:nvCxnSpPr>
          <p:spPr>
            <a:xfrm>
              <a:off x="2918936" y="2569178"/>
              <a:ext cx="0" cy="342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N56/motion-Open Home/ellipse/008"/>
            <p:cNvSpPr/>
            <p:nvPr/>
          </p:nvSpPr>
          <p:spPr>
            <a:xfrm>
              <a:off x="2876073" y="2601325"/>
              <a:ext cx="15001" cy="12858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N56/motion-Open Home/ellipse/009"/>
            <p:cNvSpPr/>
            <p:nvPr/>
          </p:nvSpPr>
          <p:spPr>
            <a:xfrm>
              <a:off x="2906077" y="2597038"/>
              <a:ext cx="15001" cy="12858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N56/motion-Open Home/button-bell/010"/>
            <p:cNvSpPr/>
            <p:nvPr/>
          </p:nvSpPr>
          <p:spPr>
            <a:xfrm>
              <a:off x="2983230" y="2526315"/>
              <a:ext cx="137160" cy="1285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N56/motion-Open Home/poly/011"/>
            <p:cNvSpPr/>
            <p:nvPr/>
          </p:nvSpPr>
          <p:spPr>
            <a:xfrm>
              <a:off x="3030378" y="2564892"/>
              <a:ext cx="42863" cy="38576"/>
            </a:xfrm>
            <a:custGeom>
              <a:avLst/>
              <a:gdLst/>
              <a:ahLst/>
              <a:cxnLst/>
              <a:rect l="l" t="t" r="r" b="b"/>
              <a:pathLst>
                <a:path w="42863" h="38576">
                  <a:moveTo>
                    <a:pt x="21432" y="0"/>
                  </a:moveTo>
                  <a:lnTo>
                    <a:pt x="8573" y="8572"/>
                  </a:lnTo>
                  <a:lnTo>
                    <a:pt x="4287" y="25717"/>
                  </a:lnTo>
                  <a:lnTo>
                    <a:pt x="0" y="38576"/>
                  </a:lnTo>
                  <a:lnTo>
                    <a:pt x="42863" y="38576"/>
                  </a:lnTo>
                  <a:lnTo>
                    <a:pt x="38577" y="25717"/>
                  </a:lnTo>
                  <a:lnTo>
                    <a:pt x="34290" y="8572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9" name="N56/motion-Open Home/line/012"/>
            <p:cNvCxnSpPr/>
            <p:nvPr/>
          </p:nvCxnSpPr>
          <p:spPr>
            <a:xfrm>
              <a:off x="3043237" y="2612040"/>
              <a:ext cx="1714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N56/motion-Open Home/ellipse/013"/>
            <p:cNvSpPr/>
            <p:nvPr/>
          </p:nvSpPr>
          <p:spPr>
            <a:xfrm>
              <a:off x="3047523" y="2560605"/>
              <a:ext cx="8572" cy="8572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N56/motion-Open Home/button-chart/014"/>
            <p:cNvSpPr/>
            <p:nvPr/>
          </p:nvSpPr>
          <p:spPr>
            <a:xfrm>
              <a:off x="3137535" y="2526315"/>
              <a:ext cx="137160" cy="1285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N56/motion-Open Home/line/015"/>
            <p:cNvCxnSpPr/>
            <p:nvPr/>
          </p:nvCxnSpPr>
          <p:spPr>
            <a:xfrm>
              <a:off x="3180397" y="2616327"/>
              <a:ext cx="5143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N56/motion-Open Home/line/016"/>
            <p:cNvCxnSpPr/>
            <p:nvPr/>
          </p:nvCxnSpPr>
          <p:spPr>
            <a:xfrm flipV="1">
              <a:off x="3184683" y="2586323"/>
              <a:ext cx="12859" cy="1714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N56/motion-Open Home/line/017"/>
            <p:cNvCxnSpPr/>
            <p:nvPr/>
          </p:nvCxnSpPr>
          <p:spPr>
            <a:xfrm>
              <a:off x="3197542" y="2586323"/>
              <a:ext cx="12859" cy="857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N56/motion-Open Home/line/018"/>
            <p:cNvCxnSpPr/>
            <p:nvPr/>
          </p:nvCxnSpPr>
          <p:spPr>
            <a:xfrm flipV="1">
              <a:off x="3210401" y="2569178"/>
              <a:ext cx="17145" cy="2571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N56/motion-Open Home/button-folder/019"/>
            <p:cNvSpPr/>
            <p:nvPr/>
          </p:nvSpPr>
          <p:spPr>
            <a:xfrm>
              <a:off x="3291840" y="2526315"/>
              <a:ext cx="137160" cy="1285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N56/motion-Open Home/poly/020"/>
            <p:cNvSpPr/>
            <p:nvPr/>
          </p:nvSpPr>
          <p:spPr>
            <a:xfrm>
              <a:off x="3334702" y="2577750"/>
              <a:ext cx="51435" cy="34290"/>
            </a:xfrm>
            <a:custGeom>
              <a:avLst/>
              <a:gdLst/>
              <a:ahLst/>
              <a:cxnLst/>
              <a:rect l="l" t="t" r="r" b="b"/>
              <a:pathLst>
                <a:path w="51435" h="34290">
                  <a:moveTo>
                    <a:pt x="0" y="0"/>
                  </a:moveTo>
                  <a:lnTo>
                    <a:pt x="17145" y="0"/>
                  </a:lnTo>
                  <a:lnTo>
                    <a:pt x="23574" y="8573"/>
                  </a:lnTo>
                  <a:lnTo>
                    <a:pt x="51435" y="8573"/>
                  </a:lnTo>
                  <a:lnTo>
                    <a:pt x="51435" y="34290"/>
                  </a:lnTo>
                  <a:lnTo>
                    <a:pt x="0" y="34290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N56/motion-Open Home/button-clipboard/021"/>
            <p:cNvSpPr/>
            <p:nvPr/>
          </p:nvSpPr>
          <p:spPr>
            <a:xfrm>
              <a:off x="3446145" y="2526315"/>
              <a:ext cx="137160" cy="1285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56/motion-Open Home/rect/022"/>
            <p:cNvSpPr/>
            <p:nvPr/>
          </p:nvSpPr>
          <p:spPr>
            <a:xfrm>
              <a:off x="3497580" y="2569178"/>
              <a:ext cx="34290" cy="47148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N56/motion-Open Home/rect/023"/>
            <p:cNvSpPr/>
            <p:nvPr/>
          </p:nvSpPr>
          <p:spPr>
            <a:xfrm>
              <a:off x="3506152" y="2562748"/>
              <a:ext cx="17145" cy="10715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1" name="N56/motion-Open Home/line/024"/>
            <p:cNvCxnSpPr/>
            <p:nvPr/>
          </p:nvCxnSpPr>
          <p:spPr>
            <a:xfrm>
              <a:off x="3506152" y="2586323"/>
              <a:ext cx="1714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56/motion-Open Home/line/025"/>
            <p:cNvCxnSpPr/>
            <p:nvPr/>
          </p:nvCxnSpPr>
          <p:spPr>
            <a:xfrm>
              <a:off x="3506152" y="2597038"/>
              <a:ext cx="1714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N56/motion-Open Home/button-gear/026"/>
            <p:cNvSpPr/>
            <p:nvPr/>
          </p:nvSpPr>
          <p:spPr>
            <a:xfrm>
              <a:off x="4605718" y="2522029"/>
              <a:ext cx="137160" cy="13716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N56/motion-Open Home/ellipse/027"/>
            <p:cNvSpPr/>
            <p:nvPr/>
          </p:nvSpPr>
          <p:spPr>
            <a:xfrm>
              <a:off x="4661439" y="2577750"/>
              <a:ext cx="25717" cy="25717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5" name="N56/motion-Open Home/line/028"/>
            <p:cNvCxnSpPr/>
            <p:nvPr/>
          </p:nvCxnSpPr>
          <p:spPr>
            <a:xfrm>
              <a:off x="4695729" y="2590609"/>
              <a:ext cx="857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56/motion-Open Home/line/029"/>
            <p:cNvCxnSpPr/>
            <p:nvPr/>
          </p:nvCxnSpPr>
          <p:spPr>
            <a:xfrm>
              <a:off x="4689452" y="2605763"/>
              <a:ext cx="6062" cy="606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56/motion-Open Home/line/030"/>
            <p:cNvCxnSpPr/>
            <p:nvPr/>
          </p:nvCxnSpPr>
          <p:spPr>
            <a:xfrm>
              <a:off x="4674298" y="2612040"/>
              <a:ext cx="0" cy="857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N56/motion-Open Home/line/031"/>
            <p:cNvCxnSpPr/>
            <p:nvPr/>
          </p:nvCxnSpPr>
          <p:spPr>
            <a:xfrm flipH="1">
              <a:off x="4653082" y="2605763"/>
              <a:ext cx="6062" cy="606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N56/motion-Open Home/line/032"/>
            <p:cNvCxnSpPr/>
            <p:nvPr/>
          </p:nvCxnSpPr>
          <p:spPr>
            <a:xfrm flipH="1">
              <a:off x="4644294" y="2590609"/>
              <a:ext cx="857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56/motion-Open Home/line/033"/>
            <p:cNvCxnSpPr/>
            <p:nvPr/>
          </p:nvCxnSpPr>
          <p:spPr>
            <a:xfrm flipH="1" flipV="1">
              <a:off x="4653082" y="2569393"/>
              <a:ext cx="6062" cy="606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N56/motion-Open Home/line/034"/>
            <p:cNvCxnSpPr/>
            <p:nvPr/>
          </p:nvCxnSpPr>
          <p:spPr>
            <a:xfrm flipV="1">
              <a:off x="4674298" y="2560605"/>
              <a:ext cx="0" cy="857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N56/motion-Open Home/line/035"/>
            <p:cNvCxnSpPr/>
            <p:nvPr/>
          </p:nvCxnSpPr>
          <p:spPr>
            <a:xfrm flipV="1">
              <a:off x="4689452" y="2569393"/>
              <a:ext cx="6062" cy="606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N56/motion-Open Home/button-close/036"/>
            <p:cNvSpPr/>
            <p:nvPr/>
          </p:nvSpPr>
          <p:spPr>
            <a:xfrm>
              <a:off x="4768596" y="2522029"/>
              <a:ext cx="137160" cy="13716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4" name="N56/motion-Open Home/line/037"/>
            <p:cNvCxnSpPr/>
            <p:nvPr/>
          </p:nvCxnSpPr>
          <p:spPr>
            <a:xfrm>
              <a:off x="4820030" y="2573464"/>
              <a:ext cx="34291" cy="342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N56/motion-Open Home/line/038"/>
            <p:cNvCxnSpPr/>
            <p:nvPr/>
          </p:nvCxnSpPr>
          <p:spPr>
            <a:xfrm flipH="1">
              <a:off x="4820030" y="2573464"/>
              <a:ext cx="34291" cy="342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N56/motion-Open Home/text/039"/>
            <p:cNvSpPr txBox="1"/>
            <p:nvPr/>
          </p:nvSpPr>
          <p:spPr>
            <a:xfrm>
              <a:off x="2674620" y="2898648"/>
              <a:ext cx="2231136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i="0">
                  <a:solidFill>
                    <a:srgbClr val="F5F5F7"/>
                  </a:solidFill>
                  <a:latin typeface="Arial"/>
                </a:rPr>
                <a:t>Home</a:t>
              </a:r>
            </a:p>
          </p:txBody>
        </p:sp>
      </p:grpSp>
      <p:sp>
        <p:nvSpPr>
          <p:cNvPr id="57" name="N56/text/013"/>
          <p:cNvSpPr txBox="1"/>
          <p:nvPr/>
        </p:nvSpPr>
        <p:spPr>
          <a:xfrm>
            <a:off x="4800600" y="265176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0D158"/>
                </a:solidFill>
                <a:latin typeface="Arial"/>
              </a:rPr>
              <a:t>→</a:t>
            </a:r>
          </a:p>
        </p:txBody>
      </p:sp>
      <p:sp>
        <p:nvSpPr>
          <p:cNvPr id="58" name="N56/text/014"/>
          <p:cNvSpPr txBox="1"/>
          <p:nvPr/>
        </p:nvSpPr>
        <p:spPr>
          <a:xfrm>
            <a:off x="5020056" y="1920240"/>
            <a:ext cx="214884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0D158"/>
                </a:solidFill>
                <a:latin typeface="Arial"/>
              </a:rPr>
              <a:t>Music resize</a:t>
            </a:r>
          </a:p>
        </p:txBody>
      </p:sp>
      <p:grpSp>
        <p:nvGrpSpPr>
          <p:cNvPr id="59" name="N56/motion-Music resize"/>
          <p:cNvGrpSpPr/>
          <p:nvPr/>
        </p:nvGrpSpPr>
        <p:grpSpPr>
          <a:xfrm>
            <a:off x="4814316" y="2240280"/>
            <a:ext cx="2560320" cy="1234440"/>
            <a:chOff x="4814316" y="2240280"/>
            <a:chExt cx="2560320" cy="1234440"/>
          </a:xfrm>
        </p:grpSpPr>
        <p:sp>
          <p:nvSpPr>
            <p:cNvPr id="60" name="N56/motion-Music resize/notch-surface-open/001"/>
            <p:cNvSpPr/>
            <p:nvPr/>
          </p:nvSpPr>
          <p:spPr>
            <a:xfrm>
              <a:off x="4814316" y="2240280"/>
              <a:ext cx="2560320" cy="1234440"/>
            </a:xfrm>
            <a:custGeom>
              <a:avLst/>
              <a:gdLst/>
              <a:ahLst/>
              <a:cxnLst/>
              <a:rect l="l" t="t" r="r" b="b"/>
              <a:pathLst>
                <a:path w="2560320" h="1234440">
                  <a:moveTo>
                    <a:pt x="0" y="0"/>
                  </a:moveTo>
                  <a:lnTo>
                    <a:pt x="2560320" y="0"/>
                  </a:lnTo>
                  <a:lnTo>
                    <a:pt x="2544007" y="1838"/>
                  </a:lnTo>
                  <a:lnTo>
                    <a:pt x="2525397" y="7352"/>
                  </a:lnTo>
                  <a:lnTo>
                    <a:pt x="2505868" y="16542"/>
                  </a:lnTo>
                  <a:lnTo>
                    <a:pt x="2486798" y="29408"/>
                  </a:lnTo>
                  <a:lnTo>
                    <a:pt x="2469567" y="45950"/>
                  </a:lnTo>
                  <a:lnTo>
                    <a:pt x="2455552" y="66168"/>
                  </a:lnTo>
                  <a:lnTo>
                    <a:pt x="2446132" y="90063"/>
                  </a:lnTo>
                  <a:lnTo>
                    <a:pt x="2442686" y="117633"/>
                  </a:lnTo>
                  <a:lnTo>
                    <a:pt x="2439831" y="1114838"/>
                  </a:lnTo>
                  <a:lnTo>
                    <a:pt x="2431375" y="1142712"/>
                  </a:lnTo>
                  <a:lnTo>
                    <a:pt x="2417644" y="1168402"/>
                  </a:lnTo>
                  <a:lnTo>
                    <a:pt x="2399165" y="1190918"/>
                  </a:lnTo>
                  <a:lnTo>
                    <a:pt x="2376648" y="1209398"/>
                  </a:lnTo>
                  <a:lnTo>
                    <a:pt x="2350959" y="1223129"/>
                  </a:lnTo>
                  <a:lnTo>
                    <a:pt x="2323084" y="1231584"/>
                  </a:lnTo>
                  <a:lnTo>
                    <a:pt x="2294096" y="1234440"/>
                  </a:lnTo>
                  <a:lnTo>
                    <a:pt x="266223" y="1234440"/>
                  </a:lnTo>
                  <a:lnTo>
                    <a:pt x="237235" y="1231584"/>
                  </a:lnTo>
                  <a:lnTo>
                    <a:pt x="209360" y="1223129"/>
                  </a:lnTo>
                  <a:lnTo>
                    <a:pt x="183671" y="1209398"/>
                  </a:lnTo>
                  <a:lnTo>
                    <a:pt x="161154" y="1190918"/>
                  </a:lnTo>
                  <a:lnTo>
                    <a:pt x="142675" y="1168402"/>
                  </a:lnTo>
                  <a:lnTo>
                    <a:pt x="128944" y="1142712"/>
                  </a:lnTo>
                  <a:lnTo>
                    <a:pt x="120488" y="1114838"/>
                  </a:lnTo>
                  <a:lnTo>
                    <a:pt x="117633" y="1085850"/>
                  </a:lnTo>
                  <a:lnTo>
                    <a:pt x="117633" y="117633"/>
                  </a:lnTo>
                  <a:lnTo>
                    <a:pt x="114187" y="90063"/>
                  </a:lnTo>
                  <a:lnTo>
                    <a:pt x="104767" y="66168"/>
                  </a:lnTo>
                  <a:lnTo>
                    <a:pt x="90752" y="45950"/>
                  </a:lnTo>
                  <a:lnTo>
                    <a:pt x="73521" y="29408"/>
                  </a:lnTo>
                  <a:lnTo>
                    <a:pt x="54451" y="16542"/>
                  </a:lnTo>
                  <a:lnTo>
                    <a:pt x="34922" y="7352"/>
                  </a:lnTo>
                  <a:lnTo>
                    <a:pt x="16312" y="18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N56/motion-Music resize/button-home/002"/>
            <p:cNvSpPr/>
            <p:nvPr/>
          </p:nvSpPr>
          <p:spPr>
            <a:xfrm>
              <a:off x="4978908" y="2526315"/>
              <a:ext cx="137160" cy="1285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N56/motion-Music resize/poly/003"/>
            <p:cNvSpPr/>
            <p:nvPr/>
          </p:nvSpPr>
          <p:spPr>
            <a:xfrm>
              <a:off x="5021770" y="2564892"/>
              <a:ext cx="51435" cy="51435"/>
            </a:xfrm>
            <a:custGeom>
              <a:avLst/>
              <a:gdLst/>
              <a:ahLst/>
              <a:cxnLst/>
              <a:rect l="l" t="t" r="r" b="b"/>
              <a:pathLst>
                <a:path w="51435" h="51435">
                  <a:moveTo>
                    <a:pt x="25718" y="0"/>
                  </a:moveTo>
                  <a:lnTo>
                    <a:pt x="0" y="21431"/>
                  </a:lnTo>
                  <a:lnTo>
                    <a:pt x="8573" y="21431"/>
                  </a:lnTo>
                  <a:lnTo>
                    <a:pt x="8573" y="51435"/>
                  </a:lnTo>
                  <a:lnTo>
                    <a:pt x="21431" y="51435"/>
                  </a:lnTo>
                  <a:lnTo>
                    <a:pt x="21431" y="34290"/>
                  </a:lnTo>
                  <a:lnTo>
                    <a:pt x="30004" y="34290"/>
                  </a:lnTo>
                  <a:lnTo>
                    <a:pt x="30004" y="51435"/>
                  </a:lnTo>
                  <a:lnTo>
                    <a:pt x="42863" y="51435"/>
                  </a:lnTo>
                  <a:lnTo>
                    <a:pt x="42863" y="21431"/>
                  </a:lnTo>
                  <a:lnTo>
                    <a:pt x="51435" y="21431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N56/motion-Music resize/button-music/004"/>
            <p:cNvSpPr/>
            <p:nvPr/>
          </p:nvSpPr>
          <p:spPr>
            <a:xfrm>
              <a:off x="5133213" y="2526315"/>
              <a:ext cx="137160" cy="128587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4" name="N56/motion-Music resize/line/005"/>
            <p:cNvCxnSpPr/>
            <p:nvPr/>
          </p:nvCxnSpPr>
          <p:spPr>
            <a:xfrm flipV="1">
              <a:off x="5193220" y="2573464"/>
              <a:ext cx="0" cy="3429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N56/motion-Music resize/line/006"/>
            <p:cNvCxnSpPr/>
            <p:nvPr/>
          </p:nvCxnSpPr>
          <p:spPr>
            <a:xfrm flipV="1">
              <a:off x="5193220" y="2569178"/>
              <a:ext cx="30004" cy="4286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N56/motion-Music resize/line/007"/>
            <p:cNvCxnSpPr/>
            <p:nvPr/>
          </p:nvCxnSpPr>
          <p:spPr>
            <a:xfrm>
              <a:off x="5223224" y="2569178"/>
              <a:ext cx="0" cy="3429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N56/motion-Music resize/ellipse/008"/>
            <p:cNvSpPr/>
            <p:nvPr/>
          </p:nvSpPr>
          <p:spPr>
            <a:xfrm>
              <a:off x="5180361" y="2601325"/>
              <a:ext cx="15001" cy="1285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N56/motion-Music resize/ellipse/009"/>
            <p:cNvSpPr/>
            <p:nvPr/>
          </p:nvSpPr>
          <p:spPr>
            <a:xfrm>
              <a:off x="5210365" y="2597038"/>
              <a:ext cx="15001" cy="1285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N56/motion-Music resize/button-bell/010"/>
            <p:cNvSpPr/>
            <p:nvPr/>
          </p:nvSpPr>
          <p:spPr>
            <a:xfrm>
              <a:off x="5287518" y="2526315"/>
              <a:ext cx="137160" cy="1285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N56/motion-Music resize/poly/011"/>
            <p:cNvSpPr/>
            <p:nvPr/>
          </p:nvSpPr>
          <p:spPr>
            <a:xfrm>
              <a:off x="5334666" y="2564892"/>
              <a:ext cx="42863" cy="38576"/>
            </a:xfrm>
            <a:custGeom>
              <a:avLst/>
              <a:gdLst/>
              <a:ahLst/>
              <a:cxnLst/>
              <a:rect l="l" t="t" r="r" b="b"/>
              <a:pathLst>
                <a:path w="42863" h="38576">
                  <a:moveTo>
                    <a:pt x="21432" y="0"/>
                  </a:moveTo>
                  <a:lnTo>
                    <a:pt x="8573" y="8572"/>
                  </a:lnTo>
                  <a:lnTo>
                    <a:pt x="4287" y="25717"/>
                  </a:lnTo>
                  <a:lnTo>
                    <a:pt x="0" y="38576"/>
                  </a:lnTo>
                  <a:lnTo>
                    <a:pt x="42863" y="38576"/>
                  </a:lnTo>
                  <a:lnTo>
                    <a:pt x="38577" y="25717"/>
                  </a:lnTo>
                  <a:lnTo>
                    <a:pt x="34290" y="8572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1" name="N56/motion-Music resize/line/012"/>
            <p:cNvCxnSpPr/>
            <p:nvPr/>
          </p:nvCxnSpPr>
          <p:spPr>
            <a:xfrm>
              <a:off x="5347525" y="2612040"/>
              <a:ext cx="1714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N56/motion-Music resize/ellipse/013"/>
            <p:cNvSpPr/>
            <p:nvPr/>
          </p:nvSpPr>
          <p:spPr>
            <a:xfrm>
              <a:off x="5351811" y="2560605"/>
              <a:ext cx="8572" cy="8572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N56/motion-Music resize/button-chart/014"/>
            <p:cNvSpPr/>
            <p:nvPr/>
          </p:nvSpPr>
          <p:spPr>
            <a:xfrm>
              <a:off x="5441823" y="2526315"/>
              <a:ext cx="137160" cy="1285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4" name="N56/motion-Music resize/line/015"/>
            <p:cNvCxnSpPr/>
            <p:nvPr/>
          </p:nvCxnSpPr>
          <p:spPr>
            <a:xfrm>
              <a:off x="5484685" y="2616327"/>
              <a:ext cx="5143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N56/motion-Music resize/line/016"/>
            <p:cNvCxnSpPr/>
            <p:nvPr/>
          </p:nvCxnSpPr>
          <p:spPr>
            <a:xfrm flipV="1">
              <a:off x="5488971" y="2586323"/>
              <a:ext cx="12859" cy="1714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N56/motion-Music resize/line/017"/>
            <p:cNvCxnSpPr/>
            <p:nvPr/>
          </p:nvCxnSpPr>
          <p:spPr>
            <a:xfrm>
              <a:off x="5501830" y="2586323"/>
              <a:ext cx="12859" cy="857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N56/motion-Music resize/line/018"/>
            <p:cNvCxnSpPr/>
            <p:nvPr/>
          </p:nvCxnSpPr>
          <p:spPr>
            <a:xfrm flipV="1">
              <a:off x="5514689" y="2569178"/>
              <a:ext cx="17145" cy="2571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N56/motion-Music resize/button-folder/019"/>
            <p:cNvSpPr/>
            <p:nvPr/>
          </p:nvSpPr>
          <p:spPr>
            <a:xfrm>
              <a:off x="5596128" y="2526315"/>
              <a:ext cx="137160" cy="1285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N56/motion-Music resize/poly/020"/>
            <p:cNvSpPr/>
            <p:nvPr/>
          </p:nvSpPr>
          <p:spPr>
            <a:xfrm>
              <a:off x="5638990" y="2577750"/>
              <a:ext cx="51435" cy="34290"/>
            </a:xfrm>
            <a:custGeom>
              <a:avLst/>
              <a:gdLst/>
              <a:ahLst/>
              <a:cxnLst/>
              <a:rect l="l" t="t" r="r" b="b"/>
              <a:pathLst>
                <a:path w="51435" h="34290">
                  <a:moveTo>
                    <a:pt x="0" y="0"/>
                  </a:moveTo>
                  <a:lnTo>
                    <a:pt x="17145" y="0"/>
                  </a:lnTo>
                  <a:lnTo>
                    <a:pt x="23574" y="8573"/>
                  </a:lnTo>
                  <a:lnTo>
                    <a:pt x="51435" y="8573"/>
                  </a:lnTo>
                  <a:lnTo>
                    <a:pt x="51435" y="34290"/>
                  </a:lnTo>
                  <a:lnTo>
                    <a:pt x="0" y="34290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N56/motion-Music resize/button-clipboard/021"/>
            <p:cNvSpPr/>
            <p:nvPr/>
          </p:nvSpPr>
          <p:spPr>
            <a:xfrm>
              <a:off x="5750433" y="2526315"/>
              <a:ext cx="137160" cy="1285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N56/motion-Music resize/rect/022"/>
            <p:cNvSpPr/>
            <p:nvPr/>
          </p:nvSpPr>
          <p:spPr>
            <a:xfrm>
              <a:off x="5801868" y="2569178"/>
              <a:ext cx="34290" cy="47148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N56/motion-Music resize/rect/023"/>
            <p:cNvSpPr/>
            <p:nvPr/>
          </p:nvSpPr>
          <p:spPr>
            <a:xfrm>
              <a:off x="5810440" y="2562748"/>
              <a:ext cx="17145" cy="10715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3" name="N56/motion-Music resize/line/024"/>
            <p:cNvCxnSpPr/>
            <p:nvPr/>
          </p:nvCxnSpPr>
          <p:spPr>
            <a:xfrm>
              <a:off x="5810440" y="2586323"/>
              <a:ext cx="1714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N56/motion-Music resize/line/025"/>
            <p:cNvCxnSpPr/>
            <p:nvPr/>
          </p:nvCxnSpPr>
          <p:spPr>
            <a:xfrm>
              <a:off x="5810440" y="2597038"/>
              <a:ext cx="1714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N56/motion-Music resize/button-gear/026"/>
            <p:cNvSpPr/>
            <p:nvPr/>
          </p:nvSpPr>
          <p:spPr>
            <a:xfrm>
              <a:off x="6910006" y="2522029"/>
              <a:ext cx="137160" cy="13716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N56/motion-Music resize/ellipse/027"/>
            <p:cNvSpPr/>
            <p:nvPr/>
          </p:nvSpPr>
          <p:spPr>
            <a:xfrm>
              <a:off x="6965727" y="2577750"/>
              <a:ext cx="25717" cy="25717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7" name="N56/motion-Music resize/line/028"/>
            <p:cNvCxnSpPr/>
            <p:nvPr/>
          </p:nvCxnSpPr>
          <p:spPr>
            <a:xfrm>
              <a:off x="7000017" y="2590609"/>
              <a:ext cx="857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N56/motion-Music resize/line/029"/>
            <p:cNvCxnSpPr/>
            <p:nvPr/>
          </p:nvCxnSpPr>
          <p:spPr>
            <a:xfrm>
              <a:off x="6993740" y="2605763"/>
              <a:ext cx="6062" cy="606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N56/motion-Music resize/line/030"/>
            <p:cNvCxnSpPr/>
            <p:nvPr/>
          </p:nvCxnSpPr>
          <p:spPr>
            <a:xfrm>
              <a:off x="6978586" y="2612040"/>
              <a:ext cx="0" cy="857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N56/motion-Music resize/line/031"/>
            <p:cNvCxnSpPr/>
            <p:nvPr/>
          </p:nvCxnSpPr>
          <p:spPr>
            <a:xfrm flipH="1">
              <a:off x="6957370" y="2605763"/>
              <a:ext cx="6062" cy="606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N56/motion-Music resize/line/032"/>
            <p:cNvCxnSpPr/>
            <p:nvPr/>
          </p:nvCxnSpPr>
          <p:spPr>
            <a:xfrm flipH="1">
              <a:off x="6948582" y="2590609"/>
              <a:ext cx="857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N56/motion-Music resize/line/033"/>
            <p:cNvCxnSpPr/>
            <p:nvPr/>
          </p:nvCxnSpPr>
          <p:spPr>
            <a:xfrm flipH="1" flipV="1">
              <a:off x="6957370" y="2569393"/>
              <a:ext cx="6062" cy="606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N56/motion-Music resize/line/034"/>
            <p:cNvCxnSpPr/>
            <p:nvPr/>
          </p:nvCxnSpPr>
          <p:spPr>
            <a:xfrm flipV="1">
              <a:off x="6978586" y="2560605"/>
              <a:ext cx="0" cy="857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N56/motion-Music resize/line/035"/>
            <p:cNvCxnSpPr/>
            <p:nvPr/>
          </p:nvCxnSpPr>
          <p:spPr>
            <a:xfrm flipV="1">
              <a:off x="6993740" y="2569393"/>
              <a:ext cx="6062" cy="606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N56/motion-Music resize/button-close/036"/>
            <p:cNvSpPr/>
            <p:nvPr/>
          </p:nvSpPr>
          <p:spPr>
            <a:xfrm>
              <a:off x="7072883" y="2522029"/>
              <a:ext cx="137160" cy="13716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6" name="N56/motion-Music resize/line/037"/>
            <p:cNvCxnSpPr/>
            <p:nvPr/>
          </p:nvCxnSpPr>
          <p:spPr>
            <a:xfrm>
              <a:off x="7124318" y="2573464"/>
              <a:ext cx="34290" cy="342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N56/motion-Music resize/line/038"/>
            <p:cNvCxnSpPr/>
            <p:nvPr/>
          </p:nvCxnSpPr>
          <p:spPr>
            <a:xfrm flipH="1">
              <a:off x="7124318" y="2573464"/>
              <a:ext cx="34290" cy="342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N56/motion-Music resize/text/039"/>
            <p:cNvSpPr txBox="1"/>
            <p:nvPr/>
          </p:nvSpPr>
          <p:spPr>
            <a:xfrm>
              <a:off x="4978908" y="2898648"/>
              <a:ext cx="2231136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i="0">
                  <a:solidFill>
                    <a:srgbClr val="F5F5F7"/>
                  </a:solidFill>
                  <a:latin typeface="Arial"/>
                </a:rPr>
                <a:t>Media</a:t>
              </a:r>
            </a:p>
          </p:txBody>
        </p:sp>
      </p:grpSp>
      <p:sp>
        <p:nvSpPr>
          <p:cNvPr id="99" name="N56/text/015"/>
          <p:cNvSpPr txBox="1"/>
          <p:nvPr/>
        </p:nvSpPr>
        <p:spPr>
          <a:xfrm>
            <a:off x="7104888" y="265176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0D158"/>
                </a:solidFill>
                <a:latin typeface="Arial"/>
              </a:rPr>
              <a:t>→</a:t>
            </a:r>
          </a:p>
        </p:txBody>
      </p:sp>
      <p:sp>
        <p:nvSpPr>
          <p:cNvPr id="100" name="N56/text/016"/>
          <p:cNvSpPr txBox="1"/>
          <p:nvPr/>
        </p:nvSpPr>
        <p:spPr>
          <a:xfrm>
            <a:off x="7324344" y="1920240"/>
            <a:ext cx="214884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0D158"/>
                </a:solidFill>
                <a:latin typeface="Arial"/>
              </a:rPr>
              <a:t>Peek</a:t>
            </a:r>
          </a:p>
        </p:txBody>
      </p:sp>
      <p:grpSp>
        <p:nvGrpSpPr>
          <p:cNvPr id="101" name="N56/motion-Peek"/>
          <p:cNvGrpSpPr/>
          <p:nvPr/>
        </p:nvGrpSpPr>
        <p:grpSpPr>
          <a:xfrm>
            <a:off x="7301483" y="2240280"/>
            <a:ext cx="2194561" cy="822960"/>
            <a:chOff x="7301483" y="2240280"/>
            <a:chExt cx="2194561" cy="822960"/>
          </a:xfrm>
        </p:grpSpPr>
        <p:sp>
          <p:nvSpPr>
            <p:cNvPr id="102" name="N56/motion-Peek/notch-surface-peek/001"/>
            <p:cNvSpPr/>
            <p:nvPr/>
          </p:nvSpPr>
          <p:spPr>
            <a:xfrm>
              <a:off x="7301483" y="2240280"/>
              <a:ext cx="2194561" cy="822960"/>
            </a:xfrm>
            <a:custGeom>
              <a:avLst/>
              <a:gdLst/>
              <a:ahLst/>
              <a:cxnLst/>
              <a:rect l="l" t="t" r="r" b="b"/>
              <a:pathLst>
                <a:path w="2194561" h="822960">
                  <a:moveTo>
                    <a:pt x="0" y="0"/>
                  </a:moveTo>
                  <a:lnTo>
                    <a:pt x="2194561" y="0"/>
                  </a:lnTo>
                  <a:lnTo>
                    <a:pt x="2189013" y="625"/>
                  </a:lnTo>
                  <a:lnTo>
                    <a:pt x="2182684" y="2500"/>
                  </a:lnTo>
                  <a:lnTo>
                    <a:pt x="2176043" y="5625"/>
                  </a:lnTo>
                  <a:lnTo>
                    <a:pt x="2169557" y="10001"/>
                  </a:lnTo>
                  <a:lnTo>
                    <a:pt x="2163697" y="15626"/>
                  </a:lnTo>
                  <a:lnTo>
                    <a:pt x="2158931" y="22502"/>
                  </a:lnTo>
                  <a:lnTo>
                    <a:pt x="2155728" y="30628"/>
                  </a:lnTo>
                  <a:lnTo>
                    <a:pt x="2154556" y="40005"/>
                  </a:lnTo>
                  <a:lnTo>
                    <a:pt x="2152762" y="747825"/>
                  </a:lnTo>
                  <a:lnTo>
                    <a:pt x="2147450" y="765336"/>
                  </a:lnTo>
                  <a:lnTo>
                    <a:pt x="2138824" y="781474"/>
                  </a:lnTo>
                  <a:lnTo>
                    <a:pt x="2127215" y="795619"/>
                  </a:lnTo>
                  <a:lnTo>
                    <a:pt x="2113070" y="807228"/>
                  </a:lnTo>
                  <a:lnTo>
                    <a:pt x="2096932" y="815854"/>
                  </a:lnTo>
                  <a:lnTo>
                    <a:pt x="2079421" y="821166"/>
                  </a:lnTo>
                  <a:lnTo>
                    <a:pt x="2061211" y="822960"/>
                  </a:lnTo>
                  <a:lnTo>
                    <a:pt x="133350" y="822960"/>
                  </a:lnTo>
                  <a:lnTo>
                    <a:pt x="115140" y="821166"/>
                  </a:lnTo>
                  <a:lnTo>
                    <a:pt x="97629" y="815854"/>
                  </a:lnTo>
                  <a:lnTo>
                    <a:pt x="81491" y="807228"/>
                  </a:lnTo>
                  <a:lnTo>
                    <a:pt x="67346" y="795619"/>
                  </a:lnTo>
                  <a:lnTo>
                    <a:pt x="55737" y="781474"/>
                  </a:lnTo>
                  <a:lnTo>
                    <a:pt x="47111" y="765336"/>
                  </a:lnTo>
                  <a:lnTo>
                    <a:pt x="41799" y="747825"/>
                  </a:lnTo>
                  <a:lnTo>
                    <a:pt x="40005" y="729615"/>
                  </a:lnTo>
                  <a:lnTo>
                    <a:pt x="40005" y="40005"/>
                  </a:lnTo>
                  <a:lnTo>
                    <a:pt x="38833" y="30628"/>
                  </a:lnTo>
                  <a:lnTo>
                    <a:pt x="35630" y="22502"/>
                  </a:lnTo>
                  <a:lnTo>
                    <a:pt x="30864" y="15626"/>
                  </a:lnTo>
                  <a:lnTo>
                    <a:pt x="25004" y="10001"/>
                  </a:lnTo>
                  <a:lnTo>
                    <a:pt x="18518" y="5625"/>
                  </a:lnTo>
                  <a:lnTo>
                    <a:pt x="11877" y="2500"/>
                  </a:lnTo>
                  <a:lnTo>
                    <a:pt x="5548" y="6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N56/motion-Peek/text/002"/>
            <p:cNvSpPr txBox="1"/>
            <p:nvPr/>
          </p:nvSpPr>
          <p:spPr>
            <a:xfrm>
              <a:off x="7484363" y="2423160"/>
              <a:ext cx="182880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F5F5F7"/>
                  </a:solidFill>
                  <a:latin typeface="Arial"/>
                </a:rPr>
                <a:t>Notification</a:t>
              </a:r>
            </a:p>
          </p:txBody>
        </p:sp>
      </p:grpSp>
      <p:sp>
        <p:nvSpPr>
          <p:cNvPr id="104" name="N56/text/017"/>
          <p:cNvSpPr txBox="1"/>
          <p:nvPr/>
        </p:nvSpPr>
        <p:spPr>
          <a:xfrm>
            <a:off x="9409176" y="265176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0D158"/>
                </a:solidFill>
                <a:latin typeface="Arial"/>
              </a:rPr>
              <a:t>→</a:t>
            </a:r>
          </a:p>
        </p:txBody>
      </p:sp>
      <p:sp>
        <p:nvSpPr>
          <p:cNvPr id="105" name="N56/text/018"/>
          <p:cNvSpPr txBox="1"/>
          <p:nvPr/>
        </p:nvSpPr>
        <p:spPr>
          <a:xfrm>
            <a:off x="9628632" y="1920240"/>
            <a:ext cx="214884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0D158"/>
                </a:solidFill>
                <a:latin typeface="Arial"/>
              </a:rPr>
              <a:t>Closed</a:t>
            </a:r>
          </a:p>
        </p:txBody>
      </p:sp>
      <p:grpSp>
        <p:nvGrpSpPr>
          <p:cNvPr id="106" name="N56/motion-Closed"/>
          <p:cNvGrpSpPr/>
          <p:nvPr/>
        </p:nvGrpSpPr>
        <p:grpSpPr>
          <a:xfrm>
            <a:off x="9925811" y="2240280"/>
            <a:ext cx="1554480" cy="292608"/>
            <a:chOff x="9925811" y="2240280"/>
            <a:chExt cx="1554480" cy="292608"/>
          </a:xfrm>
        </p:grpSpPr>
        <p:sp>
          <p:nvSpPr>
            <p:cNvPr id="107" name="N56/motion-Closed/notch-surface-closed/001"/>
            <p:cNvSpPr/>
            <p:nvPr/>
          </p:nvSpPr>
          <p:spPr>
            <a:xfrm>
              <a:off x="9925811" y="2240280"/>
              <a:ext cx="1554480" cy="292608"/>
            </a:xfrm>
            <a:custGeom>
              <a:avLst/>
              <a:gdLst/>
              <a:ahLst/>
              <a:cxnLst/>
              <a:rect l="l" t="t" r="r" b="b"/>
              <a:pathLst>
                <a:path w="1554480" h="292608">
                  <a:moveTo>
                    <a:pt x="0" y="0"/>
                  </a:moveTo>
                  <a:lnTo>
                    <a:pt x="1554480" y="0"/>
                  </a:lnTo>
                  <a:lnTo>
                    <a:pt x="1548933" y="625"/>
                  </a:lnTo>
                  <a:lnTo>
                    <a:pt x="1542604" y="2500"/>
                  </a:lnTo>
                  <a:lnTo>
                    <a:pt x="1535963" y="5625"/>
                  </a:lnTo>
                  <a:lnTo>
                    <a:pt x="1529477" y="10001"/>
                  </a:lnTo>
                  <a:lnTo>
                    <a:pt x="1523617" y="15626"/>
                  </a:lnTo>
                  <a:lnTo>
                    <a:pt x="1518851" y="22502"/>
                  </a:lnTo>
                  <a:lnTo>
                    <a:pt x="1515648" y="30628"/>
                  </a:lnTo>
                  <a:lnTo>
                    <a:pt x="1514475" y="40005"/>
                  </a:lnTo>
                  <a:lnTo>
                    <a:pt x="1512682" y="217473"/>
                  </a:lnTo>
                  <a:lnTo>
                    <a:pt x="1507370" y="234984"/>
                  </a:lnTo>
                  <a:lnTo>
                    <a:pt x="1498744" y="251122"/>
                  </a:lnTo>
                  <a:lnTo>
                    <a:pt x="1487135" y="265267"/>
                  </a:lnTo>
                  <a:lnTo>
                    <a:pt x="1472990" y="276876"/>
                  </a:lnTo>
                  <a:lnTo>
                    <a:pt x="1456852" y="285502"/>
                  </a:lnTo>
                  <a:lnTo>
                    <a:pt x="1439341" y="290814"/>
                  </a:lnTo>
                  <a:lnTo>
                    <a:pt x="1421131" y="292608"/>
                  </a:lnTo>
                  <a:lnTo>
                    <a:pt x="133350" y="292608"/>
                  </a:lnTo>
                  <a:lnTo>
                    <a:pt x="115140" y="290814"/>
                  </a:lnTo>
                  <a:lnTo>
                    <a:pt x="97629" y="285502"/>
                  </a:lnTo>
                  <a:lnTo>
                    <a:pt x="81491" y="276876"/>
                  </a:lnTo>
                  <a:lnTo>
                    <a:pt x="67346" y="265267"/>
                  </a:lnTo>
                  <a:lnTo>
                    <a:pt x="55737" y="251122"/>
                  </a:lnTo>
                  <a:lnTo>
                    <a:pt x="47111" y="234984"/>
                  </a:lnTo>
                  <a:lnTo>
                    <a:pt x="41799" y="217473"/>
                  </a:lnTo>
                  <a:lnTo>
                    <a:pt x="40005" y="199263"/>
                  </a:lnTo>
                  <a:lnTo>
                    <a:pt x="40005" y="40005"/>
                  </a:lnTo>
                  <a:lnTo>
                    <a:pt x="38833" y="30628"/>
                  </a:lnTo>
                  <a:lnTo>
                    <a:pt x="35630" y="22502"/>
                  </a:lnTo>
                  <a:lnTo>
                    <a:pt x="30864" y="15626"/>
                  </a:lnTo>
                  <a:lnTo>
                    <a:pt x="25004" y="10001"/>
                  </a:lnTo>
                  <a:lnTo>
                    <a:pt x="18518" y="5625"/>
                  </a:lnTo>
                  <a:lnTo>
                    <a:pt x="11877" y="2500"/>
                  </a:lnTo>
                  <a:lnTo>
                    <a:pt x="5548" y="6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N56/motion-Closed/text/002"/>
            <p:cNvSpPr txBox="1"/>
            <p:nvPr/>
          </p:nvSpPr>
          <p:spPr>
            <a:xfrm>
              <a:off x="9925811" y="2240280"/>
              <a:ext cx="1554480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1" i="0">
                  <a:solidFill>
                    <a:srgbClr val="F5F5F7"/>
                  </a:solidFill>
                  <a:latin typeface="Arial"/>
                </a:rPr>
                <a:t>14:32</a:t>
              </a:r>
            </a:p>
          </p:txBody>
        </p:sp>
      </p:grpSp>
      <p:sp>
        <p:nvSpPr>
          <p:cNvPr id="109" name="N56/rect/019"/>
          <p:cNvSpPr/>
          <p:nvPr/>
        </p:nvSpPr>
        <p:spPr>
          <a:xfrm>
            <a:off x="502920" y="4160520"/>
            <a:ext cx="11183112" cy="1463040"/>
          </a:xfrm>
          <a:prstGeom prst="roundRect">
            <a:avLst>
              <a:gd name="adj" fmla="val 7500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N56/text/020"/>
          <p:cNvSpPr txBox="1"/>
          <p:nvPr/>
        </p:nvSpPr>
        <p:spPr>
          <a:xfrm>
            <a:off x="731520" y="4343400"/>
            <a:ext cx="1069848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0D158"/>
                </a:solidFill>
                <a:latin typeface="Arial"/>
              </a:rPr>
              <a:t>Transition rules</a:t>
            </a:r>
          </a:p>
        </p:txBody>
      </p:sp>
      <p:sp>
        <p:nvSpPr>
          <p:cNvPr id="111" name="N56/text/021"/>
          <p:cNvSpPr txBox="1"/>
          <p:nvPr/>
        </p:nvSpPr>
        <p:spPr>
          <a:xfrm>
            <a:off x="731520" y="47091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5F7"/>
                </a:solidFill>
                <a:latin typeface="Arial"/>
              </a:rPr>
              <a:t>Hover opens after delay · click toggles immediately · Escape/outside click closes · page switch resizes geometry · notification may interrupt closed state with peek · external drag suppresses peek and shows GTK target.</a:t>
            </a:r>
          </a:p>
        </p:txBody>
      </p:sp>
      <p:sp>
        <p:nvSpPr>
          <p:cNvPr id="112" name="N56/spec-panel/022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N56/text/023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114" name="N56/ellipse/024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N56/text/025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Geometry and opacity animate together</a:t>
            </a:r>
          </a:p>
        </p:txBody>
      </p:sp>
      <p:sp>
        <p:nvSpPr>
          <p:cNvPr id="116" name="N56/ellipse/026"/>
          <p:cNvSpPr/>
          <p:nvPr/>
        </p:nvSpPr>
        <p:spPr>
          <a:xfrm>
            <a:off x="8659368" y="255117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N56/text/027"/>
          <p:cNvSpPr txBox="1"/>
          <p:nvPr/>
        </p:nvSpPr>
        <p:spPr>
          <a:xfrm>
            <a:off x="8805672" y="248716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Content fade delayed on open</a:t>
            </a:r>
          </a:p>
        </p:txBody>
      </p:sp>
      <p:sp>
        <p:nvSpPr>
          <p:cNvPr id="118" name="N56/ellipse/028"/>
          <p:cNvSpPr/>
          <p:nvPr/>
        </p:nvSpPr>
        <p:spPr>
          <a:xfrm>
            <a:off x="8659368" y="283464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N56/text/029"/>
          <p:cNvSpPr txBox="1"/>
          <p:nvPr/>
        </p:nvSpPr>
        <p:spPr>
          <a:xfrm>
            <a:off x="8805672" y="277063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Reduced motion snaps</a:t>
            </a:r>
          </a:p>
        </p:txBody>
      </p:sp>
      <p:sp>
        <p:nvSpPr>
          <p:cNvPr id="120" name="N56/ellipse/030"/>
          <p:cNvSpPr/>
          <p:nvPr/>
        </p:nvSpPr>
        <p:spPr>
          <a:xfrm>
            <a:off x="8659368" y="311810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N56/text/031"/>
          <p:cNvSpPr txBox="1"/>
          <p:nvPr/>
        </p:nvSpPr>
        <p:spPr>
          <a:xfrm>
            <a:off x="8805672" y="3054096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No animation timers when idle</a:t>
            </a:r>
          </a:p>
        </p:txBody>
      </p:sp>
      <p:cxnSp>
        <p:nvCxnSpPr>
          <p:cNvPr id="122" name="N56/line/032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N56/text/033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124" name="N56/edit-box/034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N56/edit-note/035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Transition to add/change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29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29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29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BEHAVIOR</a:t>
            </a:r>
          </a:p>
        </p:txBody>
      </p:sp>
      <p:sp>
        <p:nvSpPr>
          <p:cNvPr id="5" name="N29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Visibility and lifecycle matrix</a:t>
            </a:r>
          </a:p>
        </p:txBody>
      </p:sp>
      <p:sp>
        <p:nvSpPr>
          <p:cNvPr id="6" name="N29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When the notch hides, pauses or falls back</a:t>
            </a:r>
          </a:p>
        </p:txBody>
      </p:sp>
      <p:cxnSp>
        <p:nvCxnSpPr>
          <p:cNvPr id="7" name="N29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29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29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N29</a:t>
            </a:r>
          </a:p>
        </p:txBody>
      </p:sp>
      <p:sp>
        <p:nvSpPr>
          <p:cNvPr id="10" name="N29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41</a:t>
            </a:r>
          </a:p>
        </p:txBody>
      </p:sp>
      <p:graphicFrame>
        <p:nvGraphicFramePr>
          <p:cNvPr id="11" name="N29/review-table"/>
          <p:cNvGraphicFramePr>
            <a:graphicFrameLocks noGrp="1"/>
          </p:cNvGraphicFramePr>
          <p:nvPr/>
        </p:nvGraphicFramePr>
        <p:xfrm>
          <a:off x="502920" y="1783080"/>
          <a:ext cx="7635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1828800"/>
                <a:gridCol w="2788920"/>
              </a:tblGrid>
              <a:tr h="5486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30D158"/>
                          </a:solidFill>
                          <a:latin typeface="Arial"/>
                        </a:defRPr>
                      </a:pPr>
                      <a:r>
                        <a:t>Context</a:t>
                      </a:r>
                    </a:p>
                  </a:txBody>
                  <a:tcPr marL="73152" marR="73152" marT="27432" marB="27432" anchor="ctr">
                    <a:solidFill>
                      <a:srgbClr val="1C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30D158"/>
                          </a:solidFill>
                          <a:latin typeface="Arial"/>
                        </a:defRPr>
                      </a:pPr>
                      <a:r>
                        <a:t>Notch</a:t>
                      </a:r>
                    </a:p>
                  </a:txBody>
                  <a:tcPr marL="73152" marR="73152" marT="27432" marB="27432" anchor="ctr">
                    <a:solidFill>
                      <a:srgbClr val="1C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30D158"/>
                          </a:solidFill>
                          <a:latin typeface="Arial"/>
                        </a:defRPr>
                      </a:pPr>
                      <a:r>
                        <a:t>Notifications</a:t>
                      </a:r>
                    </a:p>
                  </a:txBody>
                  <a:tcPr marL="73152" marR="73152" marT="27432" marB="27432" anchor="ctr">
                    <a:solidFill>
                      <a:srgbClr val="1C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30D158"/>
                          </a:solidFill>
                          <a:latin typeface="Arial"/>
                        </a:defRPr>
                      </a:pPr>
                      <a:r>
                        <a:t>Clipboard / sampling</a:t>
                      </a:r>
                    </a:p>
                  </a:txBody>
                  <a:tcPr marL="73152" marR="73152" marT="27432" marB="27432" anchor="ctr">
                    <a:solidFill>
                      <a:srgbClr val="1C1C2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Normal desktop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Visible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Routed to notch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Clipboard opt-in; stats only on System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Fullscreen (hide on)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Hidden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Native banner path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Visualizer/stats paused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Overview (hide on)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Hidden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Native banner path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Visualizer/stats paused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Lock / greeter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Hidden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Native path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Clipboard paused/cleared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External drag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Drop target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Peek suppressed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Shelf helper active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Helper idle 5 min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Shelf offline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Unchanged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Helper exits; Retry restarts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</a:tr>
            </a:tbl>
          </a:graphicData>
        </a:graphic>
      </p:graphicFrame>
      <p:sp>
        <p:nvSpPr>
          <p:cNvPr id="12" name="N29/spec-panel/010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29/text/011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14" name="N29/ellipse/012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29/text/013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hide-on-fullscreen=true</a:t>
            </a:r>
          </a:p>
        </p:txBody>
      </p:sp>
      <p:sp>
        <p:nvSpPr>
          <p:cNvPr id="16" name="N29/ellipse/014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29/text/015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hide-in-overview=true</a:t>
            </a:r>
          </a:p>
        </p:txBody>
      </p:sp>
      <p:sp>
        <p:nvSpPr>
          <p:cNvPr id="18" name="N29/ellipse/016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29/text/017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reserve-space=false (experimental)</a:t>
            </a:r>
          </a:p>
        </p:txBody>
      </p:sp>
      <p:sp>
        <p:nvSpPr>
          <p:cNvPr id="20" name="N29/ellipse/018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29/text/019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Panel clock restored when notch hides</a:t>
            </a:r>
          </a:p>
        </p:txBody>
      </p:sp>
      <p:cxnSp>
        <p:nvCxnSpPr>
          <p:cNvPr id="22" name="N29/line/020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N29/text/021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24" name="N29/edit-box/022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29/edit-note/023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Add/remove a visibility rule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30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30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30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SETTINGS</a:t>
            </a:r>
          </a:p>
        </p:txBody>
      </p:sp>
      <p:sp>
        <p:nvSpPr>
          <p:cNvPr id="5" name="N30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Two native settings surfaces</a:t>
            </a:r>
          </a:p>
        </p:txBody>
      </p:sp>
      <p:sp>
        <p:nvSpPr>
          <p:cNvPr id="6" name="N30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Same GSettings schema; inline extension prefs and companion app</a:t>
            </a:r>
          </a:p>
        </p:txBody>
      </p:sp>
      <p:cxnSp>
        <p:nvCxnSpPr>
          <p:cNvPr id="7" name="N30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30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30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N30</a:t>
            </a:r>
          </a:p>
        </p:txBody>
      </p:sp>
      <p:sp>
        <p:nvSpPr>
          <p:cNvPr id="10" name="N30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42</a:t>
            </a:r>
          </a:p>
        </p:txBody>
      </p:sp>
      <p:sp>
        <p:nvSpPr>
          <p:cNvPr id="11" name="N30/rect/010"/>
          <p:cNvSpPr/>
          <p:nvPr/>
        </p:nvSpPr>
        <p:spPr>
          <a:xfrm>
            <a:off x="502920" y="1783080"/>
            <a:ext cx="5394960" cy="4206240"/>
          </a:xfrm>
          <a:prstGeom prst="roundRect">
            <a:avLst>
              <a:gd name="adj" fmla="val 3043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30/text/011"/>
          <p:cNvSpPr txBox="1"/>
          <p:nvPr/>
        </p:nvSpPr>
        <p:spPr>
          <a:xfrm>
            <a:off x="731520" y="1965960"/>
            <a:ext cx="493776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7"/>
                </a:solidFill>
                <a:latin typeface="Arial"/>
              </a:rPr>
              <a:t>Extension preferences (inline)</a:t>
            </a:r>
          </a:p>
        </p:txBody>
      </p:sp>
      <p:sp>
        <p:nvSpPr>
          <p:cNvPr id="13" name="N30/text/012"/>
          <p:cNvSpPr txBox="1"/>
          <p:nvPr/>
        </p:nvSpPr>
        <p:spPr>
          <a:xfrm>
            <a:off x="731520" y="23774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Arial"/>
              </a:rPr>
              <a:t>Opened from notch gear or GNOME Extensions.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Arial"/>
              </a:rPr>
              <a:t>Pages: Appearance · Behavior · Privacy.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Arial"/>
              </a:rPr>
              <a:t>No placeholder launcher page.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Arial"/>
              </a:rPr>
              <a:t>MacBook preset applies the full default set.</a:t>
            </a:r>
          </a:p>
        </p:txBody>
      </p:sp>
      <p:sp>
        <p:nvSpPr>
          <p:cNvPr id="14" name="N30/rect/013"/>
          <p:cNvSpPr/>
          <p:nvPr/>
        </p:nvSpPr>
        <p:spPr>
          <a:xfrm>
            <a:off x="6263640" y="1783080"/>
            <a:ext cx="5394960" cy="4206240"/>
          </a:xfrm>
          <a:prstGeom prst="roundRect">
            <a:avLst>
              <a:gd name="adj" fmla="val 3043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30/text/014"/>
          <p:cNvSpPr txBox="1"/>
          <p:nvPr/>
        </p:nvSpPr>
        <p:spPr>
          <a:xfrm>
            <a:off x="6492240" y="1965960"/>
            <a:ext cx="493776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7"/>
                </a:solidFill>
                <a:latin typeface="Arial"/>
              </a:rPr>
              <a:t>Companion app (GTK4 / Adw)</a:t>
            </a:r>
          </a:p>
        </p:txBody>
      </p:sp>
      <p:sp>
        <p:nvSpPr>
          <p:cNvPr id="16" name="N30/text/015"/>
          <p:cNvSpPr txBox="1"/>
          <p:nvPr/>
        </p:nvSpPr>
        <p:spPr>
          <a:xfrm>
            <a:off x="6492240" y="23774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Arial"/>
              </a:rPr>
              <a:t>notch-settings · 760×780 default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Arial"/>
              </a:rPr>
              <a:t>Pages: Appearance · Behavior · Privacy &amp; shelf · About.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Arial"/>
              </a:rPr>
              <a:t>Adds file chooser, reference-list path and live status.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Arial"/>
              </a:rPr>
              <a:t>About shows extension/helper health and source link.</a:t>
            </a:r>
          </a:p>
        </p:txBody>
      </p:sp>
      <p:sp>
        <p:nvSpPr>
          <p:cNvPr id="17" name="N30/text/016"/>
          <p:cNvSpPr txBox="1"/>
          <p:nvPr/>
        </p:nvSpPr>
        <p:spPr>
          <a:xfrm>
            <a:off x="502920" y="6126480"/>
            <a:ext cx="1115568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Arial"/>
              </a:rPr>
              <a:t>Next slides show each page. Rows are schematic; exact labels/defaults are listed for editing.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31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31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31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SETTINGS · APPEARANCE</a:t>
            </a:r>
          </a:p>
        </p:txBody>
      </p:sp>
      <p:sp>
        <p:nvSpPr>
          <p:cNvPr id="5" name="N31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Shape &amp; position</a:t>
            </a:r>
          </a:p>
        </p:txBody>
      </p:sp>
      <p:sp>
        <p:nvSpPr>
          <p:cNvPr id="6" name="N31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Logical pixels; clamped to selected monitor</a:t>
            </a:r>
          </a:p>
        </p:txBody>
      </p:sp>
      <p:cxnSp>
        <p:nvCxnSpPr>
          <p:cNvPr id="7" name="N31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31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31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N31</a:t>
            </a:r>
          </a:p>
        </p:txBody>
      </p:sp>
      <p:sp>
        <p:nvSpPr>
          <p:cNvPr id="10" name="N31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43</a:t>
            </a:r>
          </a:p>
        </p:txBody>
      </p:sp>
      <p:grpSp>
        <p:nvGrpSpPr>
          <p:cNvPr id="11" name="N31/settings-Appearance"/>
          <p:cNvGrpSpPr/>
          <p:nvPr/>
        </p:nvGrpSpPr>
        <p:grpSpPr>
          <a:xfrm>
            <a:off x="502920" y="1627632"/>
            <a:ext cx="7635240" cy="4526280"/>
            <a:chOff x="502920" y="1627632"/>
            <a:chExt cx="7635240" cy="4526280"/>
          </a:xfrm>
        </p:grpSpPr>
        <p:sp>
          <p:nvSpPr>
            <p:cNvPr id="12" name="N31/settings-Appearance/adw-window/001"/>
            <p:cNvSpPr/>
            <p:nvPr/>
          </p:nvSpPr>
          <p:spPr>
            <a:xfrm>
              <a:off x="502920" y="1627632"/>
              <a:ext cx="7635240" cy="4526280"/>
            </a:xfrm>
            <a:prstGeom prst="roundRect">
              <a:avLst>
                <a:gd name="adj" fmla="val 2424"/>
              </a:avLst>
            </a:prstGeom>
            <a:solidFill>
              <a:srgbClr val="242428"/>
            </a:solidFill>
            <a:ln w="12700">
              <a:solidFill>
                <a:srgbClr val="45454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31/settings-Appearance/adw-header/002"/>
            <p:cNvSpPr/>
            <p:nvPr/>
          </p:nvSpPr>
          <p:spPr>
            <a:xfrm>
              <a:off x="502920" y="1627632"/>
              <a:ext cx="7635240" cy="420624"/>
            </a:xfrm>
            <a:prstGeom prst="roundRect">
              <a:avLst>
                <a:gd name="adj" fmla="val 26086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31/settings-Appearance/rect/003"/>
            <p:cNvSpPr/>
            <p:nvPr/>
          </p:nvSpPr>
          <p:spPr>
            <a:xfrm>
              <a:off x="502920" y="1847088"/>
              <a:ext cx="7635240" cy="201168"/>
            </a:xfrm>
            <a:prstGeom prst="rect">
              <a:avLst/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31/settings-Appearance/text/004"/>
            <p:cNvSpPr txBox="1"/>
            <p:nvPr/>
          </p:nvSpPr>
          <p:spPr>
            <a:xfrm>
              <a:off x="685800" y="1627632"/>
              <a:ext cx="7269479" cy="4206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FFFFF"/>
                  </a:solidFill>
                  <a:latin typeface="Arial"/>
                </a:rPr>
                <a:t>Notch Preferences</a:t>
              </a:r>
            </a:p>
          </p:txBody>
        </p:sp>
        <p:sp>
          <p:nvSpPr>
            <p:cNvPr id="16" name="N31/settings-Appearance/ellipse/005"/>
            <p:cNvSpPr/>
            <p:nvPr/>
          </p:nvSpPr>
          <p:spPr>
            <a:xfrm>
              <a:off x="7827264" y="1764792"/>
              <a:ext cx="146304" cy="146304"/>
            </a:xfrm>
            <a:prstGeom prst="ellipse">
              <a:avLst/>
            </a:prstGeom>
            <a:noFill/>
            <a:ln w="12700">
              <a:solidFill>
                <a:srgbClr val="C0BFB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N31/settings-Appearance/rect/006"/>
            <p:cNvSpPr/>
            <p:nvPr/>
          </p:nvSpPr>
          <p:spPr>
            <a:xfrm>
              <a:off x="681228" y="2157984"/>
              <a:ext cx="1737360" cy="310896"/>
            </a:xfrm>
            <a:prstGeom prst="roundRect">
              <a:avLst>
                <a:gd name="adj" fmla="val 23529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N31/settings-Appearance/text/007"/>
            <p:cNvSpPr txBox="1"/>
            <p:nvPr/>
          </p:nvSpPr>
          <p:spPr>
            <a:xfrm>
              <a:off x="681228" y="2157984"/>
              <a:ext cx="173736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FFFFFF"/>
                  </a:solidFill>
                  <a:latin typeface="Arial"/>
                </a:rPr>
                <a:t>Appearance</a:t>
              </a:r>
            </a:p>
          </p:txBody>
        </p:sp>
        <p:sp>
          <p:nvSpPr>
            <p:cNvPr id="19" name="N31/settings-Appearance/rect/008"/>
            <p:cNvSpPr/>
            <p:nvPr/>
          </p:nvSpPr>
          <p:spPr>
            <a:xfrm>
              <a:off x="2528316" y="2157984"/>
              <a:ext cx="173736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31/settings-Appearance/text/009"/>
            <p:cNvSpPr txBox="1"/>
            <p:nvPr/>
          </p:nvSpPr>
          <p:spPr>
            <a:xfrm>
              <a:off x="2528316" y="2157984"/>
              <a:ext cx="173736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Behavior</a:t>
              </a:r>
            </a:p>
          </p:txBody>
        </p:sp>
        <p:sp>
          <p:nvSpPr>
            <p:cNvPr id="21" name="N31/settings-Appearance/rect/010"/>
            <p:cNvSpPr/>
            <p:nvPr/>
          </p:nvSpPr>
          <p:spPr>
            <a:xfrm>
              <a:off x="4375404" y="2157984"/>
              <a:ext cx="173736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31/settings-Appearance/text/011"/>
            <p:cNvSpPr txBox="1"/>
            <p:nvPr/>
          </p:nvSpPr>
          <p:spPr>
            <a:xfrm>
              <a:off x="4375404" y="2157984"/>
              <a:ext cx="173736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Privacy</a:t>
              </a:r>
            </a:p>
          </p:txBody>
        </p:sp>
        <p:sp>
          <p:nvSpPr>
            <p:cNvPr id="23" name="N31/settings-Appearance/text/012"/>
            <p:cNvSpPr txBox="1"/>
            <p:nvPr/>
          </p:nvSpPr>
          <p:spPr>
            <a:xfrm>
              <a:off x="822960" y="2615184"/>
              <a:ext cx="6995159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Scroll for more geometry rows →</a:t>
              </a:r>
            </a:p>
          </p:txBody>
        </p:sp>
        <p:sp>
          <p:nvSpPr>
            <p:cNvPr id="24" name="N31/settings-Appearance/text/013"/>
            <p:cNvSpPr txBox="1"/>
            <p:nvPr/>
          </p:nvSpPr>
          <p:spPr>
            <a:xfrm>
              <a:off x="822960" y="2889503"/>
              <a:ext cx="6995159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FFFFFF"/>
                  </a:solidFill>
                  <a:latin typeface="Arial"/>
                </a:rPr>
                <a:t>Shape &amp; position</a:t>
              </a:r>
            </a:p>
          </p:txBody>
        </p:sp>
        <p:sp>
          <p:nvSpPr>
            <p:cNvPr id="25" name="N31/settings-Appearance/text/014"/>
            <p:cNvSpPr txBox="1"/>
            <p:nvPr/>
          </p:nvSpPr>
          <p:spPr>
            <a:xfrm>
              <a:off x="822960" y="3127248"/>
              <a:ext cx="6995159" cy="31089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i="0">
                  <a:solidFill>
                    <a:srgbClr val="C0BFBC"/>
                  </a:solidFill>
                  <a:latin typeface="Arial"/>
                </a:rPr>
                <a:t>Dimensions use logical pixels and are clamped to the selected monitor.</a:t>
              </a:r>
            </a:p>
          </p:txBody>
        </p:sp>
        <p:sp>
          <p:nvSpPr>
            <p:cNvPr id="26" name="N31/settings-Appearance/adw-group/015"/>
            <p:cNvSpPr/>
            <p:nvPr/>
          </p:nvSpPr>
          <p:spPr>
            <a:xfrm>
              <a:off x="777240" y="3401568"/>
              <a:ext cx="7086600" cy="2359152"/>
            </a:xfrm>
            <a:prstGeom prst="roundRect">
              <a:avLst>
                <a:gd name="adj" fmla="val 3875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N31/settings-Appearance/text/016"/>
            <p:cNvSpPr txBox="1"/>
            <p:nvPr/>
          </p:nvSpPr>
          <p:spPr>
            <a:xfrm>
              <a:off x="941832" y="3438143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Placement</a:t>
              </a:r>
            </a:p>
          </p:txBody>
        </p:sp>
        <p:sp>
          <p:nvSpPr>
            <p:cNvPr id="28" name="N31/settings-Appearance/text/017"/>
            <p:cNvSpPr txBox="1"/>
            <p:nvPr/>
          </p:nvSpPr>
          <p:spPr>
            <a:xfrm>
              <a:off x="941832" y="3602735"/>
              <a:ext cx="4846320" cy="1280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 b="0" i="0">
                  <a:solidFill>
                    <a:srgbClr val="C0BFBC"/>
                  </a:solidFill>
                  <a:latin typeface="Arial"/>
                </a:rPr>
                <a:t>MacBook mode replaces the centered top-bar clock</a:t>
              </a:r>
            </a:p>
          </p:txBody>
        </p:sp>
        <p:sp>
          <p:nvSpPr>
            <p:cNvPr id="29" name="N31/settings-Appearance/rect/018"/>
            <p:cNvSpPr/>
            <p:nvPr/>
          </p:nvSpPr>
          <p:spPr>
            <a:xfrm>
              <a:off x="5852160" y="3465575"/>
              <a:ext cx="19202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N31/settings-Appearance/text/019"/>
            <p:cNvSpPr txBox="1"/>
            <p:nvPr/>
          </p:nvSpPr>
          <p:spPr>
            <a:xfrm>
              <a:off x="5925312" y="3465575"/>
              <a:ext cx="164592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i="0">
                  <a:solidFill>
                    <a:srgbClr val="FFFFFF"/>
                  </a:solidFill>
                  <a:latin typeface="Arial"/>
                </a:rPr>
                <a:t>MacBook top edge (default)</a:t>
              </a:r>
            </a:p>
          </p:txBody>
        </p:sp>
        <p:sp>
          <p:nvSpPr>
            <p:cNvPr id="31" name="N31/settings-Appearance/text/020"/>
            <p:cNvSpPr txBox="1"/>
            <p:nvPr/>
          </p:nvSpPr>
          <p:spPr>
            <a:xfrm>
              <a:off x="7589520" y="3465575"/>
              <a:ext cx="14630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⌄</a:t>
              </a:r>
            </a:p>
          </p:txBody>
        </p:sp>
        <p:cxnSp>
          <p:nvCxnSpPr>
            <p:cNvPr id="32" name="N31/settings-Appearance/line/021"/>
            <p:cNvCxnSpPr/>
            <p:nvPr/>
          </p:nvCxnSpPr>
          <p:spPr>
            <a:xfrm>
              <a:off x="941832" y="3758183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N31/settings-Appearance/text/022"/>
            <p:cNvSpPr txBox="1"/>
            <p:nvPr/>
          </p:nvSpPr>
          <p:spPr>
            <a:xfrm>
              <a:off x="941832" y="3767327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MacBook preset</a:t>
              </a:r>
            </a:p>
          </p:txBody>
        </p:sp>
        <p:sp>
          <p:nvSpPr>
            <p:cNvPr id="34" name="N31/settings-Appearance/text/023"/>
            <p:cNvSpPr txBox="1"/>
            <p:nvPr/>
          </p:nvSpPr>
          <p:spPr>
            <a:xfrm>
              <a:off x="941832" y="3931920"/>
              <a:ext cx="4846320" cy="1280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 b="0" i="0">
                  <a:solidFill>
                    <a:srgbClr val="C0BFBC"/>
                  </a:solidFill>
                  <a:latin typeface="Arial"/>
                </a:rPr>
                <a:t>Top-edge notch, idle clock, notification routing, smooth animation</a:t>
              </a:r>
            </a:p>
          </p:txBody>
        </p:sp>
        <p:sp>
          <p:nvSpPr>
            <p:cNvPr id="35" name="N31/settings-Appearance/rect/024"/>
            <p:cNvSpPr/>
            <p:nvPr/>
          </p:nvSpPr>
          <p:spPr>
            <a:xfrm>
              <a:off x="6766560" y="3794759"/>
              <a:ext cx="7772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N31/settings-Appearance/text/025"/>
            <p:cNvSpPr txBox="1"/>
            <p:nvPr/>
          </p:nvSpPr>
          <p:spPr>
            <a:xfrm>
              <a:off x="6766560" y="3794759"/>
              <a:ext cx="77724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Apply</a:t>
              </a:r>
            </a:p>
          </p:txBody>
        </p:sp>
        <p:cxnSp>
          <p:nvCxnSpPr>
            <p:cNvPr id="37" name="N31/settings-Appearance/line/026"/>
            <p:cNvCxnSpPr/>
            <p:nvPr/>
          </p:nvCxnSpPr>
          <p:spPr>
            <a:xfrm>
              <a:off x="941832" y="4087368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N31/settings-Appearance/text/027"/>
            <p:cNvSpPr txBox="1"/>
            <p:nvPr/>
          </p:nvSpPr>
          <p:spPr>
            <a:xfrm>
              <a:off x="941832" y="4096511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Monitor</a:t>
              </a:r>
            </a:p>
          </p:txBody>
        </p:sp>
        <p:sp>
          <p:nvSpPr>
            <p:cNvPr id="39" name="N31/settings-Appearance/text/028"/>
            <p:cNvSpPr txBox="1"/>
            <p:nvPr/>
          </p:nvSpPr>
          <p:spPr>
            <a:xfrm>
              <a:off x="941832" y="4261104"/>
              <a:ext cx="4846320" cy="1280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 b="0" i="0">
                  <a:solidFill>
                    <a:srgbClr val="C0BFBC"/>
                  </a:solidFill>
                  <a:latin typeface="Arial"/>
                </a:rPr>
                <a:t>−1 = primary monitor</a:t>
              </a:r>
            </a:p>
          </p:txBody>
        </p:sp>
        <p:sp>
          <p:nvSpPr>
            <p:cNvPr id="40" name="N31/settings-Appearance/rect/029"/>
            <p:cNvSpPr/>
            <p:nvPr/>
          </p:nvSpPr>
          <p:spPr>
            <a:xfrm>
              <a:off x="6537960" y="4123944"/>
              <a:ext cx="10058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N31/settings-Appearance/text/030"/>
            <p:cNvSpPr txBox="1"/>
            <p:nvPr/>
          </p:nvSpPr>
          <p:spPr>
            <a:xfrm>
              <a:off x="6537960" y="4123944"/>
              <a:ext cx="68580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-1</a:t>
              </a:r>
            </a:p>
          </p:txBody>
        </p:sp>
        <p:sp>
          <p:nvSpPr>
            <p:cNvPr id="42" name="N31/settings-Appearance/text/031"/>
            <p:cNvSpPr txBox="1"/>
            <p:nvPr/>
          </p:nvSpPr>
          <p:spPr>
            <a:xfrm>
              <a:off x="7251192" y="4123944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−</a:t>
              </a:r>
            </a:p>
          </p:txBody>
        </p:sp>
        <p:sp>
          <p:nvSpPr>
            <p:cNvPr id="43" name="N31/settings-Appearance/text/032"/>
            <p:cNvSpPr txBox="1"/>
            <p:nvPr/>
          </p:nvSpPr>
          <p:spPr>
            <a:xfrm>
              <a:off x="7397496" y="4123944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+</a:t>
              </a:r>
            </a:p>
          </p:txBody>
        </p:sp>
        <p:cxnSp>
          <p:nvCxnSpPr>
            <p:cNvPr id="44" name="N31/settings-Appearance/line/033"/>
            <p:cNvCxnSpPr/>
            <p:nvPr/>
          </p:nvCxnSpPr>
          <p:spPr>
            <a:xfrm>
              <a:off x="941832" y="4416552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N31/settings-Appearance/text/034"/>
            <p:cNvSpPr txBox="1"/>
            <p:nvPr/>
          </p:nvSpPr>
          <p:spPr>
            <a:xfrm>
              <a:off x="941832" y="4425696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Collapsed base width</a:t>
              </a:r>
            </a:p>
          </p:txBody>
        </p:sp>
        <p:sp>
          <p:nvSpPr>
            <p:cNvPr id="46" name="N31/settings-Appearance/rect/035"/>
            <p:cNvSpPr/>
            <p:nvPr/>
          </p:nvSpPr>
          <p:spPr>
            <a:xfrm>
              <a:off x="6537960" y="4453128"/>
              <a:ext cx="10058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N31/settings-Appearance/text/036"/>
            <p:cNvSpPr txBox="1"/>
            <p:nvPr/>
          </p:nvSpPr>
          <p:spPr>
            <a:xfrm>
              <a:off x="6537960" y="4453128"/>
              <a:ext cx="68580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185</a:t>
              </a:r>
            </a:p>
          </p:txBody>
        </p:sp>
        <p:sp>
          <p:nvSpPr>
            <p:cNvPr id="48" name="N31/settings-Appearance/text/037"/>
            <p:cNvSpPr txBox="1"/>
            <p:nvPr/>
          </p:nvSpPr>
          <p:spPr>
            <a:xfrm>
              <a:off x="7251192" y="4453128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−</a:t>
              </a:r>
            </a:p>
          </p:txBody>
        </p:sp>
        <p:sp>
          <p:nvSpPr>
            <p:cNvPr id="49" name="N31/settings-Appearance/text/038"/>
            <p:cNvSpPr txBox="1"/>
            <p:nvPr/>
          </p:nvSpPr>
          <p:spPr>
            <a:xfrm>
              <a:off x="7397496" y="4453128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+</a:t>
              </a:r>
            </a:p>
          </p:txBody>
        </p:sp>
        <p:cxnSp>
          <p:nvCxnSpPr>
            <p:cNvPr id="50" name="N31/settings-Appearance/line/039"/>
            <p:cNvCxnSpPr/>
            <p:nvPr/>
          </p:nvCxnSpPr>
          <p:spPr>
            <a:xfrm>
              <a:off x="941832" y="4745736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31/settings-Appearance/text/040"/>
            <p:cNvSpPr txBox="1"/>
            <p:nvPr/>
          </p:nvSpPr>
          <p:spPr>
            <a:xfrm>
              <a:off x="941832" y="4754880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Collapsed height</a:t>
              </a:r>
            </a:p>
          </p:txBody>
        </p:sp>
        <p:sp>
          <p:nvSpPr>
            <p:cNvPr id="52" name="N31/settings-Appearance/rect/041"/>
            <p:cNvSpPr/>
            <p:nvPr/>
          </p:nvSpPr>
          <p:spPr>
            <a:xfrm>
              <a:off x="6537960" y="4782312"/>
              <a:ext cx="10058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N31/settings-Appearance/text/042"/>
            <p:cNvSpPr txBox="1"/>
            <p:nvPr/>
          </p:nvSpPr>
          <p:spPr>
            <a:xfrm>
              <a:off x="6537960" y="4782312"/>
              <a:ext cx="68580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32</a:t>
              </a:r>
            </a:p>
          </p:txBody>
        </p:sp>
        <p:sp>
          <p:nvSpPr>
            <p:cNvPr id="54" name="N31/settings-Appearance/text/043"/>
            <p:cNvSpPr txBox="1"/>
            <p:nvPr/>
          </p:nvSpPr>
          <p:spPr>
            <a:xfrm>
              <a:off x="7251192" y="4782312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−</a:t>
              </a:r>
            </a:p>
          </p:txBody>
        </p:sp>
        <p:sp>
          <p:nvSpPr>
            <p:cNvPr id="55" name="N31/settings-Appearance/text/044"/>
            <p:cNvSpPr txBox="1"/>
            <p:nvPr/>
          </p:nvSpPr>
          <p:spPr>
            <a:xfrm>
              <a:off x="7397496" y="4782312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+</a:t>
              </a:r>
            </a:p>
          </p:txBody>
        </p:sp>
        <p:cxnSp>
          <p:nvCxnSpPr>
            <p:cNvPr id="56" name="N31/settings-Appearance/line/045"/>
            <p:cNvCxnSpPr/>
            <p:nvPr/>
          </p:nvCxnSpPr>
          <p:spPr>
            <a:xfrm>
              <a:off x="941832" y="5074920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N31/settings-Appearance/text/046"/>
            <p:cNvSpPr txBox="1"/>
            <p:nvPr/>
          </p:nvSpPr>
          <p:spPr>
            <a:xfrm>
              <a:off x="941832" y="5084064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Maximum page width</a:t>
              </a:r>
            </a:p>
          </p:txBody>
        </p:sp>
        <p:sp>
          <p:nvSpPr>
            <p:cNvPr id="58" name="N31/settings-Appearance/rect/047"/>
            <p:cNvSpPr/>
            <p:nvPr/>
          </p:nvSpPr>
          <p:spPr>
            <a:xfrm>
              <a:off x="6537960" y="5111496"/>
              <a:ext cx="10058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N31/settings-Appearance/text/048"/>
            <p:cNvSpPr txBox="1"/>
            <p:nvPr/>
          </p:nvSpPr>
          <p:spPr>
            <a:xfrm>
              <a:off x="6537960" y="5111496"/>
              <a:ext cx="68580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640</a:t>
              </a:r>
            </a:p>
          </p:txBody>
        </p:sp>
        <p:sp>
          <p:nvSpPr>
            <p:cNvPr id="60" name="N31/settings-Appearance/text/049"/>
            <p:cNvSpPr txBox="1"/>
            <p:nvPr/>
          </p:nvSpPr>
          <p:spPr>
            <a:xfrm>
              <a:off x="7251192" y="5111496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−</a:t>
              </a:r>
            </a:p>
          </p:txBody>
        </p:sp>
        <p:sp>
          <p:nvSpPr>
            <p:cNvPr id="61" name="N31/settings-Appearance/text/050"/>
            <p:cNvSpPr txBox="1"/>
            <p:nvPr/>
          </p:nvSpPr>
          <p:spPr>
            <a:xfrm>
              <a:off x="7397496" y="5111496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+</a:t>
              </a:r>
            </a:p>
          </p:txBody>
        </p:sp>
        <p:cxnSp>
          <p:nvCxnSpPr>
            <p:cNvPr id="62" name="N31/settings-Appearance/line/051"/>
            <p:cNvCxnSpPr/>
            <p:nvPr/>
          </p:nvCxnSpPr>
          <p:spPr>
            <a:xfrm>
              <a:off x="941832" y="5404104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N31/settings-Appearance/text/052"/>
            <p:cNvSpPr txBox="1"/>
            <p:nvPr/>
          </p:nvSpPr>
          <p:spPr>
            <a:xfrm>
              <a:off x="941832" y="5413248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Maximum page height</a:t>
              </a:r>
            </a:p>
          </p:txBody>
        </p:sp>
        <p:sp>
          <p:nvSpPr>
            <p:cNvPr id="64" name="N31/settings-Appearance/rect/053"/>
            <p:cNvSpPr/>
            <p:nvPr/>
          </p:nvSpPr>
          <p:spPr>
            <a:xfrm>
              <a:off x="6537960" y="5440680"/>
              <a:ext cx="10058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N31/settings-Appearance/text/054"/>
            <p:cNvSpPr txBox="1"/>
            <p:nvPr/>
          </p:nvSpPr>
          <p:spPr>
            <a:xfrm>
              <a:off x="6537960" y="5440680"/>
              <a:ext cx="68580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320</a:t>
              </a:r>
            </a:p>
          </p:txBody>
        </p:sp>
        <p:sp>
          <p:nvSpPr>
            <p:cNvPr id="66" name="N31/settings-Appearance/text/055"/>
            <p:cNvSpPr txBox="1"/>
            <p:nvPr/>
          </p:nvSpPr>
          <p:spPr>
            <a:xfrm>
              <a:off x="7251192" y="5440680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−</a:t>
              </a:r>
            </a:p>
          </p:txBody>
        </p:sp>
        <p:sp>
          <p:nvSpPr>
            <p:cNvPr id="67" name="N31/settings-Appearance/text/056"/>
            <p:cNvSpPr txBox="1"/>
            <p:nvPr/>
          </p:nvSpPr>
          <p:spPr>
            <a:xfrm>
              <a:off x="7397496" y="5440680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+</a:t>
              </a:r>
            </a:p>
          </p:txBody>
        </p:sp>
        <p:sp>
          <p:nvSpPr>
            <p:cNvPr id="68" name="N31/settings-Appearance/rect/057"/>
            <p:cNvSpPr/>
            <p:nvPr/>
          </p:nvSpPr>
          <p:spPr>
            <a:xfrm>
              <a:off x="8028432" y="2633472"/>
              <a:ext cx="45720" cy="3337560"/>
            </a:xfrm>
            <a:prstGeom prst="roundRect">
              <a:avLst>
                <a:gd name="adj" fmla="val 50000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N31/settings-Appearance/rect/058"/>
            <p:cNvSpPr/>
            <p:nvPr/>
          </p:nvSpPr>
          <p:spPr>
            <a:xfrm>
              <a:off x="8028432" y="2724912"/>
              <a:ext cx="45720" cy="914400"/>
            </a:xfrm>
            <a:prstGeom prst="roundRect">
              <a:avLst>
                <a:gd name="adj" fmla="val 50000"/>
              </a:avLst>
            </a:prstGeom>
            <a:solidFill>
              <a:srgbClr val="7776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0" name="N31/spec-panel/010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N31/text/011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72" name="N31/ellipse/012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N31/text/013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Placement: panel / top-center / floating</a:t>
            </a:r>
          </a:p>
        </p:txBody>
      </p:sp>
      <p:sp>
        <p:nvSpPr>
          <p:cNvPr id="74" name="N31/ellipse/014"/>
          <p:cNvSpPr/>
          <p:nvPr/>
        </p:nvSpPr>
        <p:spPr>
          <a:xfrm>
            <a:off x="8659368" y="255117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N31/text/015"/>
          <p:cNvSpPr txBox="1"/>
          <p:nvPr/>
        </p:nvSpPr>
        <p:spPr>
          <a:xfrm>
            <a:off x="8805672" y="248716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Monitor −1…15</a:t>
            </a:r>
          </a:p>
        </p:txBody>
      </p:sp>
      <p:sp>
        <p:nvSpPr>
          <p:cNvPr id="76" name="N31/ellipse/016"/>
          <p:cNvSpPr/>
          <p:nvPr/>
        </p:nvSpPr>
        <p:spPr>
          <a:xfrm>
            <a:off x="8659368" y="283464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N31/text/017"/>
          <p:cNvSpPr txBox="1"/>
          <p:nvPr/>
        </p:nvSpPr>
        <p:spPr>
          <a:xfrm>
            <a:off x="8805672" y="277063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Collapsed 150–520 × 24–64</a:t>
            </a:r>
          </a:p>
        </p:txBody>
      </p:sp>
      <p:sp>
        <p:nvSpPr>
          <p:cNvPr id="78" name="N31/ellipse/018"/>
          <p:cNvSpPr/>
          <p:nvPr/>
        </p:nvSpPr>
        <p:spPr>
          <a:xfrm>
            <a:off x="8659368" y="311810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N31/text/019"/>
          <p:cNvSpPr txBox="1"/>
          <p:nvPr/>
        </p:nvSpPr>
        <p:spPr>
          <a:xfrm>
            <a:off x="8805672" y="3054096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Expanded 480–1100 × 200–720</a:t>
            </a:r>
          </a:p>
        </p:txBody>
      </p:sp>
      <p:cxnSp>
        <p:nvCxnSpPr>
          <p:cNvPr id="80" name="N31/line/020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N31/text/021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82" name="N31/edit-box/022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N31/edit-note/023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Row order / labels / grouping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32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32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32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SETTINGS · APPEARANCE</a:t>
            </a:r>
          </a:p>
        </p:txBody>
      </p:sp>
      <p:sp>
        <p:nvSpPr>
          <p:cNvPr id="5" name="N32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Geometry switches + finish</a:t>
            </a:r>
          </a:p>
        </p:txBody>
      </p:sp>
      <p:sp>
        <p:nvSpPr>
          <p:cNvPr id="6" name="N32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Lower part of Appearance page</a:t>
            </a:r>
          </a:p>
        </p:txBody>
      </p:sp>
      <p:cxnSp>
        <p:nvCxnSpPr>
          <p:cNvPr id="7" name="N32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32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32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N32</a:t>
            </a:r>
          </a:p>
        </p:txBody>
      </p:sp>
      <p:sp>
        <p:nvSpPr>
          <p:cNvPr id="10" name="N32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44</a:t>
            </a:r>
          </a:p>
        </p:txBody>
      </p:sp>
      <p:grpSp>
        <p:nvGrpSpPr>
          <p:cNvPr id="11" name="N32/settings-Appearance"/>
          <p:cNvGrpSpPr/>
          <p:nvPr/>
        </p:nvGrpSpPr>
        <p:grpSpPr>
          <a:xfrm>
            <a:off x="502920" y="1627632"/>
            <a:ext cx="7635240" cy="4389120"/>
            <a:chOff x="502920" y="1627632"/>
            <a:chExt cx="7635240" cy="4389120"/>
          </a:xfrm>
        </p:grpSpPr>
        <p:sp>
          <p:nvSpPr>
            <p:cNvPr id="12" name="N32/settings-Appearance/adw-window/001"/>
            <p:cNvSpPr/>
            <p:nvPr/>
          </p:nvSpPr>
          <p:spPr>
            <a:xfrm>
              <a:off x="502920" y="1627632"/>
              <a:ext cx="7635240" cy="4389120"/>
            </a:xfrm>
            <a:prstGeom prst="roundRect">
              <a:avLst>
                <a:gd name="adj" fmla="val 2500"/>
              </a:avLst>
            </a:prstGeom>
            <a:solidFill>
              <a:srgbClr val="242428"/>
            </a:solidFill>
            <a:ln w="12700">
              <a:solidFill>
                <a:srgbClr val="45454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32/settings-Appearance/adw-header/002"/>
            <p:cNvSpPr/>
            <p:nvPr/>
          </p:nvSpPr>
          <p:spPr>
            <a:xfrm>
              <a:off x="502920" y="1627632"/>
              <a:ext cx="7635240" cy="420624"/>
            </a:xfrm>
            <a:prstGeom prst="roundRect">
              <a:avLst>
                <a:gd name="adj" fmla="val 26086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32/settings-Appearance/rect/003"/>
            <p:cNvSpPr/>
            <p:nvPr/>
          </p:nvSpPr>
          <p:spPr>
            <a:xfrm>
              <a:off x="502920" y="1847088"/>
              <a:ext cx="7635240" cy="201168"/>
            </a:xfrm>
            <a:prstGeom prst="rect">
              <a:avLst/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32/settings-Appearance/text/004"/>
            <p:cNvSpPr txBox="1"/>
            <p:nvPr/>
          </p:nvSpPr>
          <p:spPr>
            <a:xfrm>
              <a:off x="685800" y="1627632"/>
              <a:ext cx="7269479" cy="4206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FFFFF"/>
                  </a:solidFill>
                  <a:latin typeface="Arial"/>
                </a:rPr>
                <a:t>Notch Preferences</a:t>
              </a:r>
            </a:p>
          </p:txBody>
        </p:sp>
        <p:sp>
          <p:nvSpPr>
            <p:cNvPr id="16" name="N32/settings-Appearance/ellipse/005"/>
            <p:cNvSpPr/>
            <p:nvPr/>
          </p:nvSpPr>
          <p:spPr>
            <a:xfrm>
              <a:off x="7827264" y="1764792"/>
              <a:ext cx="146304" cy="146304"/>
            </a:xfrm>
            <a:prstGeom prst="ellipse">
              <a:avLst/>
            </a:prstGeom>
            <a:noFill/>
            <a:ln w="12700">
              <a:solidFill>
                <a:srgbClr val="C0BFB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N32/settings-Appearance/rect/006"/>
            <p:cNvSpPr/>
            <p:nvPr/>
          </p:nvSpPr>
          <p:spPr>
            <a:xfrm>
              <a:off x="681228" y="2157984"/>
              <a:ext cx="1737360" cy="310896"/>
            </a:xfrm>
            <a:prstGeom prst="roundRect">
              <a:avLst>
                <a:gd name="adj" fmla="val 23529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N32/settings-Appearance/text/007"/>
            <p:cNvSpPr txBox="1"/>
            <p:nvPr/>
          </p:nvSpPr>
          <p:spPr>
            <a:xfrm>
              <a:off x="681228" y="2157984"/>
              <a:ext cx="173736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FFFFFF"/>
                  </a:solidFill>
                  <a:latin typeface="Arial"/>
                </a:rPr>
                <a:t>Appearance</a:t>
              </a:r>
            </a:p>
          </p:txBody>
        </p:sp>
        <p:sp>
          <p:nvSpPr>
            <p:cNvPr id="19" name="N32/settings-Appearance/rect/008"/>
            <p:cNvSpPr/>
            <p:nvPr/>
          </p:nvSpPr>
          <p:spPr>
            <a:xfrm>
              <a:off x="2528316" y="2157984"/>
              <a:ext cx="173736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32/settings-Appearance/text/009"/>
            <p:cNvSpPr txBox="1"/>
            <p:nvPr/>
          </p:nvSpPr>
          <p:spPr>
            <a:xfrm>
              <a:off x="2528316" y="2157984"/>
              <a:ext cx="173736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Behavior</a:t>
              </a:r>
            </a:p>
          </p:txBody>
        </p:sp>
        <p:sp>
          <p:nvSpPr>
            <p:cNvPr id="21" name="N32/settings-Appearance/rect/010"/>
            <p:cNvSpPr/>
            <p:nvPr/>
          </p:nvSpPr>
          <p:spPr>
            <a:xfrm>
              <a:off x="4375404" y="2157984"/>
              <a:ext cx="173736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32/settings-Appearance/text/011"/>
            <p:cNvSpPr txBox="1"/>
            <p:nvPr/>
          </p:nvSpPr>
          <p:spPr>
            <a:xfrm>
              <a:off x="4375404" y="2157984"/>
              <a:ext cx="173736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Privacy</a:t>
              </a:r>
            </a:p>
          </p:txBody>
        </p:sp>
        <p:sp>
          <p:nvSpPr>
            <p:cNvPr id="23" name="N32/settings-Appearance/text/012"/>
            <p:cNvSpPr txBox="1"/>
            <p:nvPr/>
          </p:nvSpPr>
          <p:spPr>
            <a:xfrm>
              <a:off x="822960" y="2615184"/>
              <a:ext cx="6995159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FFFFFF"/>
                  </a:solidFill>
                  <a:latin typeface="Arial"/>
                </a:rPr>
                <a:t>Shape &amp; position (continued)</a:t>
              </a:r>
            </a:p>
          </p:txBody>
        </p:sp>
        <p:sp>
          <p:nvSpPr>
            <p:cNvPr id="24" name="N32/settings-Appearance/adw-group/013"/>
            <p:cNvSpPr/>
            <p:nvPr/>
          </p:nvSpPr>
          <p:spPr>
            <a:xfrm>
              <a:off x="777240" y="2852928"/>
              <a:ext cx="7086600" cy="1371600"/>
            </a:xfrm>
            <a:prstGeom prst="roundRect">
              <a:avLst>
                <a:gd name="adj" fmla="val 6666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32/settings-Appearance/text/014"/>
            <p:cNvSpPr txBox="1"/>
            <p:nvPr/>
          </p:nvSpPr>
          <p:spPr>
            <a:xfrm>
              <a:off x="941832" y="2889503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Match panel height when closed</a:t>
              </a:r>
            </a:p>
          </p:txBody>
        </p:sp>
        <p:sp>
          <p:nvSpPr>
            <p:cNvPr id="26" name="N32/settings-Appearance/rect/015"/>
            <p:cNvSpPr/>
            <p:nvPr/>
          </p:nvSpPr>
          <p:spPr>
            <a:xfrm>
              <a:off x="7132320" y="2944368"/>
              <a:ext cx="384048" cy="201168"/>
            </a:xfrm>
            <a:prstGeom prst="roundRect">
              <a:avLst>
                <a:gd name="adj" fmla="val 50000"/>
              </a:avLst>
            </a:prstGeom>
            <a:solidFill>
              <a:srgbClr val="78AE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N32/settings-Appearance/ellipse/016"/>
            <p:cNvSpPr/>
            <p:nvPr/>
          </p:nvSpPr>
          <p:spPr>
            <a:xfrm>
              <a:off x="7315200" y="2962656"/>
              <a:ext cx="164592" cy="1645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8" name="N32/settings-Appearance/line/017"/>
            <p:cNvCxnSpPr/>
            <p:nvPr/>
          </p:nvCxnSpPr>
          <p:spPr>
            <a:xfrm>
              <a:off x="941832" y="3209544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N32/settings-Appearance/text/018"/>
            <p:cNvSpPr txBox="1"/>
            <p:nvPr/>
          </p:nvSpPr>
          <p:spPr>
            <a:xfrm>
              <a:off x="941832" y="3218687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Adaptive MacBook corners</a:t>
              </a:r>
            </a:p>
          </p:txBody>
        </p:sp>
        <p:sp>
          <p:nvSpPr>
            <p:cNvPr id="30" name="N32/settings-Appearance/rect/019"/>
            <p:cNvSpPr/>
            <p:nvPr/>
          </p:nvSpPr>
          <p:spPr>
            <a:xfrm>
              <a:off x="7132320" y="3273551"/>
              <a:ext cx="384048" cy="201168"/>
            </a:xfrm>
            <a:prstGeom prst="roundRect">
              <a:avLst>
                <a:gd name="adj" fmla="val 50000"/>
              </a:avLst>
            </a:prstGeom>
            <a:solidFill>
              <a:srgbClr val="78AE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N32/settings-Appearance/ellipse/020"/>
            <p:cNvSpPr/>
            <p:nvPr/>
          </p:nvSpPr>
          <p:spPr>
            <a:xfrm>
              <a:off x="7315200" y="3291839"/>
              <a:ext cx="164592" cy="1645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N32/settings-Appearance/line/021"/>
            <p:cNvCxnSpPr/>
            <p:nvPr/>
          </p:nvCxnSpPr>
          <p:spPr>
            <a:xfrm>
              <a:off x="941832" y="3538727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N32/settings-Appearance/text/022"/>
            <p:cNvSpPr txBox="1"/>
            <p:nvPr/>
          </p:nvSpPr>
          <p:spPr>
            <a:xfrm>
              <a:off x="941832" y="3547871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Floating top margin</a:t>
              </a:r>
            </a:p>
          </p:txBody>
        </p:sp>
        <p:sp>
          <p:nvSpPr>
            <p:cNvPr id="34" name="N32/settings-Appearance/rect/023"/>
            <p:cNvSpPr/>
            <p:nvPr/>
          </p:nvSpPr>
          <p:spPr>
            <a:xfrm>
              <a:off x="6537960" y="3575303"/>
              <a:ext cx="10058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32/settings-Appearance/text/024"/>
            <p:cNvSpPr txBox="1"/>
            <p:nvPr/>
          </p:nvSpPr>
          <p:spPr>
            <a:xfrm>
              <a:off x="6537960" y="3575303"/>
              <a:ext cx="68580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12</a:t>
              </a:r>
            </a:p>
          </p:txBody>
        </p:sp>
        <p:sp>
          <p:nvSpPr>
            <p:cNvPr id="36" name="N32/settings-Appearance/text/025"/>
            <p:cNvSpPr txBox="1"/>
            <p:nvPr/>
          </p:nvSpPr>
          <p:spPr>
            <a:xfrm>
              <a:off x="7251192" y="3575303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−</a:t>
              </a:r>
            </a:p>
          </p:txBody>
        </p:sp>
        <p:sp>
          <p:nvSpPr>
            <p:cNvPr id="37" name="N32/settings-Appearance/text/026"/>
            <p:cNvSpPr txBox="1"/>
            <p:nvPr/>
          </p:nvSpPr>
          <p:spPr>
            <a:xfrm>
              <a:off x="7397496" y="3575303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+</a:t>
              </a:r>
            </a:p>
          </p:txBody>
        </p:sp>
        <p:cxnSp>
          <p:nvCxnSpPr>
            <p:cNvPr id="38" name="N32/settings-Appearance/line/027"/>
            <p:cNvCxnSpPr/>
            <p:nvPr/>
          </p:nvCxnSpPr>
          <p:spPr>
            <a:xfrm>
              <a:off x="941832" y="3867911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N32/settings-Appearance/text/028"/>
            <p:cNvSpPr txBox="1"/>
            <p:nvPr/>
          </p:nvSpPr>
          <p:spPr>
            <a:xfrm>
              <a:off x="941832" y="3877055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Horizontal offset</a:t>
              </a:r>
            </a:p>
          </p:txBody>
        </p:sp>
        <p:sp>
          <p:nvSpPr>
            <p:cNvPr id="40" name="N32/settings-Appearance/rect/029"/>
            <p:cNvSpPr/>
            <p:nvPr/>
          </p:nvSpPr>
          <p:spPr>
            <a:xfrm>
              <a:off x="6537960" y="3904487"/>
              <a:ext cx="10058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N32/settings-Appearance/text/030"/>
            <p:cNvSpPr txBox="1"/>
            <p:nvPr/>
          </p:nvSpPr>
          <p:spPr>
            <a:xfrm>
              <a:off x="6537960" y="3904487"/>
              <a:ext cx="68580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0</a:t>
              </a:r>
            </a:p>
          </p:txBody>
        </p:sp>
        <p:sp>
          <p:nvSpPr>
            <p:cNvPr id="42" name="N32/settings-Appearance/text/031"/>
            <p:cNvSpPr txBox="1"/>
            <p:nvPr/>
          </p:nvSpPr>
          <p:spPr>
            <a:xfrm>
              <a:off x="7251192" y="3904487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−</a:t>
              </a:r>
            </a:p>
          </p:txBody>
        </p:sp>
        <p:sp>
          <p:nvSpPr>
            <p:cNvPr id="43" name="N32/settings-Appearance/text/032"/>
            <p:cNvSpPr txBox="1"/>
            <p:nvPr/>
          </p:nvSpPr>
          <p:spPr>
            <a:xfrm>
              <a:off x="7397496" y="3904487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+</a:t>
              </a:r>
            </a:p>
          </p:txBody>
        </p:sp>
        <p:sp>
          <p:nvSpPr>
            <p:cNvPr id="44" name="N32/settings-Appearance/text/033"/>
            <p:cNvSpPr txBox="1"/>
            <p:nvPr/>
          </p:nvSpPr>
          <p:spPr>
            <a:xfrm>
              <a:off x="822960" y="4389120"/>
              <a:ext cx="6995159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FFFFFF"/>
                  </a:solidFill>
                  <a:latin typeface="Arial"/>
                </a:rPr>
                <a:t>Finish</a:t>
              </a:r>
            </a:p>
          </p:txBody>
        </p:sp>
        <p:sp>
          <p:nvSpPr>
            <p:cNvPr id="45" name="N32/settings-Appearance/adw-group/034"/>
            <p:cNvSpPr/>
            <p:nvPr/>
          </p:nvSpPr>
          <p:spPr>
            <a:xfrm>
              <a:off x="777240" y="4626864"/>
              <a:ext cx="7086600" cy="1042416"/>
            </a:xfrm>
            <a:prstGeom prst="roundRect">
              <a:avLst>
                <a:gd name="adj" fmla="val 8771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N32/settings-Appearance/text/035"/>
            <p:cNvSpPr txBox="1"/>
            <p:nvPr/>
          </p:nvSpPr>
          <p:spPr>
            <a:xfrm>
              <a:off x="941832" y="4663440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Corner radius</a:t>
              </a:r>
            </a:p>
          </p:txBody>
        </p:sp>
        <p:sp>
          <p:nvSpPr>
            <p:cNvPr id="47" name="N32/settings-Appearance/rect/036"/>
            <p:cNvSpPr/>
            <p:nvPr/>
          </p:nvSpPr>
          <p:spPr>
            <a:xfrm>
              <a:off x="6537960" y="4690872"/>
              <a:ext cx="10058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N32/settings-Appearance/text/037"/>
            <p:cNvSpPr txBox="1"/>
            <p:nvPr/>
          </p:nvSpPr>
          <p:spPr>
            <a:xfrm>
              <a:off x="6537960" y="4690872"/>
              <a:ext cx="68580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24</a:t>
              </a:r>
            </a:p>
          </p:txBody>
        </p:sp>
        <p:sp>
          <p:nvSpPr>
            <p:cNvPr id="49" name="N32/settings-Appearance/text/038"/>
            <p:cNvSpPr txBox="1"/>
            <p:nvPr/>
          </p:nvSpPr>
          <p:spPr>
            <a:xfrm>
              <a:off x="7251192" y="4690872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−</a:t>
              </a:r>
            </a:p>
          </p:txBody>
        </p:sp>
        <p:sp>
          <p:nvSpPr>
            <p:cNvPr id="50" name="N32/settings-Appearance/text/039"/>
            <p:cNvSpPr txBox="1"/>
            <p:nvPr/>
          </p:nvSpPr>
          <p:spPr>
            <a:xfrm>
              <a:off x="7397496" y="4690872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+</a:t>
              </a:r>
            </a:p>
          </p:txBody>
        </p:sp>
        <p:cxnSp>
          <p:nvCxnSpPr>
            <p:cNvPr id="51" name="N32/settings-Appearance/line/040"/>
            <p:cNvCxnSpPr/>
            <p:nvPr/>
          </p:nvCxnSpPr>
          <p:spPr>
            <a:xfrm>
              <a:off x="941832" y="4983480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N32/settings-Appearance/text/041"/>
            <p:cNvSpPr txBox="1"/>
            <p:nvPr/>
          </p:nvSpPr>
          <p:spPr>
            <a:xfrm>
              <a:off x="941832" y="4992624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Opacity</a:t>
              </a:r>
            </a:p>
          </p:txBody>
        </p:sp>
        <p:sp>
          <p:nvSpPr>
            <p:cNvPr id="53" name="N32/settings-Appearance/text/042"/>
            <p:cNvSpPr txBox="1"/>
            <p:nvPr/>
          </p:nvSpPr>
          <p:spPr>
            <a:xfrm>
              <a:off x="941832" y="5157216"/>
              <a:ext cx="4846320" cy="1280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 b="0" i="0">
                  <a:solidFill>
                    <a:srgbClr val="C0BFBC"/>
                  </a:solidFill>
                  <a:latin typeface="Arial"/>
                </a:rPr>
                <a:t>The notch remains opaque enough for readable controls</a:t>
              </a:r>
            </a:p>
          </p:txBody>
        </p:sp>
        <p:sp>
          <p:nvSpPr>
            <p:cNvPr id="54" name="N32/settings-Appearance/rect/043"/>
            <p:cNvSpPr/>
            <p:nvPr/>
          </p:nvSpPr>
          <p:spPr>
            <a:xfrm>
              <a:off x="6355080" y="5129784"/>
              <a:ext cx="914400" cy="36576"/>
            </a:xfrm>
            <a:prstGeom prst="roundRect">
              <a:avLst>
                <a:gd name="adj" fmla="val 50000"/>
              </a:avLst>
            </a:prstGeom>
            <a:solidFill>
              <a:srgbClr val="5E5C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N32/settings-Appearance/rect/044"/>
            <p:cNvSpPr/>
            <p:nvPr/>
          </p:nvSpPr>
          <p:spPr>
            <a:xfrm>
              <a:off x="6355080" y="5129784"/>
              <a:ext cx="914400" cy="36576"/>
            </a:xfrm>
            <a:prstGeom prst="roundRect">
              <a:avLst>
                <a:gd name="adj" fmla="val 50000"/>
              </a:avLst>
            </a:prstGeom>
            <a:solidFill>
              <a:srgbClr val="78AE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N32/settings-Appearance/ellipse/045"/>
            <p:cNvSpPr/>
            <p:nvPr/>
          </p:nvSpPr>
          <p:spPr>
            <a:xfrm>
              <a:off x="7205472" y="5084064"/>
              <a:ext cx="128016" cy="1280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N32/settings-Appearance/text/046"/>
            <p:cNvSpPr txBox="1"/>
            <p:nvPr/>
          </p:nvSpPr>
          <p:spPr>
            <a:xfrm>
              <a:off x="7360920" y="5020056"/>
              <a:ext cx="27432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i="0">
                  <a:solidFill>
                    <a:srgbClr val="FFFFFF"/>
                  </a:solidFill>
                  <a:latin typeface="Arial"/>
                </a:rPr>
                <a:t>1.00</a:t>
              </a:r>
            </a:p>
          </p:txBody>
        </p:sp>
        <p:cxnSp>
          <p:nvCxnSpPr>
            <p:cNvPr id="58" name="N32/settings-Appearance/line/047"/>
            <p:cNvCxnSpPr/>
            <p:nvPr/>
          </p:nvCxnSpPr>
          <p:spPr>
            <a:xfrm>
              <a:off x="941832" y="5312664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N32/settings-Appearance/text/048"/>
            <p:cNvSpPr txBox="1"/>
            <p:nvPr/>
          </p:nvSpPr>
          <p:spPr>
            <a:xfrm>
              <a:off x="941832" y="5321808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Notch scale</a:t>
              </a:r>
            </a:p>
          </p:txBody>
        </p:sp>
        <p:sp>
          <p:nvSpPr>
            <p:cNvPr id="60" name="N32/settings-Appearance/rect/049"/>
            <p:cNvSpPr/>
            <p:nvPr/>
          </p:nvSpPr>
          <p:spPr>
            <a:xfrm>
              <a:off x="6355080" y="5458968"/>
              <a:ext cx="914400" cy="36576"/>
            </a:xfrm>
            <a:prstGeom prst="roundRect">
              <a:avLst>
                <a:gd name="adj" fmla="val 50000"/>
              </a:avLst>
            </a:prstGeom>
            <a:solidFill>
              <a:srgbClr val="5E5C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N32/settings-Appearance/rect/050"/>
            <p:cNvSpPr/>
            <p:nvPr/>
          </p:nvSpPr>
          <p:spPr>
            <a:xfrm>
              <a:off x="6355080" y="5458968"/>
              <a:ext cx="304495" cy="36576"/>
            </a:xfrm>
            <a:prstGeom prst="roundRect">
              <a:avLst>
                <a:gd name="adj" fmla="val 50000"/>
              </a:avLst>
            </a:prstGeom>
            <a:solidFill>
              <a:srgbClr val="78AE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N32/settings-Appearance/ellipse/051"/>
            <p:cNvSpPr/>
            <p:nvPr/>
          </p:nvSpPr>
          <p:spPr>
            <a:xfrm>
              <a:off x="6595567" y="5413248"/>
              <a:ext cx="128016" cy="1280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N32/settings-Appearance/text/052"/>
            <p:cNvSpPr txBox="1"/>
            <p:nvPr/>
          </p:nvSpPr>
          <p:spPr>
            <a:xfrm>
              <a:off x="7360920" y="5349240"/>
              <a:ext cx="27432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i="0">
                  <a:solidFill>
                    <a:srgbClr val="FFFFFF"/>
                  </a:solidFill>
                  <a:latin typeface="Arial"/>
                </a:rPr>
                <a:t>1.00</a:t>
              </a:r>
            </a:p>
          </p:txBody>
        </p:sp>
        <p:sp>
          <p:nvSpPr>
            <p:cNvPr id="64" name="N32/settings-Appearance/rect/053"/>
            <p:cNvSpPr/>
            <p:nvPr/>
          </p:nvSpPr>
          <p:spPr>
            <a:xfrm>
              <a:off x="8028432" y="2633472"/>
              <a:ext cx="45720" cy="3200400"/>
            </a:xfrm>
            <a:prstGeom prst="roundRect">
              <a:avLst>
                <a:gd name="adj" fmla="val 50000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N32/settings-Appearance/rect/054"/>
            <p:cNvSpPr/>
            <p:nvPr/>
          </p:nvSpPr>
          <p:spPr>
            <a:xfrm>
              <a:off x="8028432" y="2724912"/>
              <a:ext cx="45720" cy="914400"/>
            </a:xfrm>
            <a:prstGeom prst="roundRect">
              <a:avLst>
                <a:gd name="adj" fmla="val 50000"/>
              </a:avLst>
            </a:prstGeom>
            <a:solidFill>
              <a:srgbClr val="7776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6" name="N32/text/010"/>
          <p:cNvSpPr txBox="1"/>
          <p:nvPr/>
        </p:nvSpPr>
        <p:spPr>
          <a:xfrm>
            <a:off x="502920" y="6108192"/>
            <a:ext cx="763524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1A1A6"/>
                </a:solidFill>
                <a:latin typeface="Arial"/>
              </a:rPr>
              <a:t>Opacity 0.50–1.00 · Notch scale 0.75–1.50 · corner radius applies when adaptive corners are off.</a:t>
            </a:r>
          </a:p>
        </p:txBody>
      </p:sp>
      <p:sp>
        <p:nvSpPr>
          <p:cNvPr id="67" name="N32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N32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69" name="N32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N32/text/014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Match panel height default on</a:t>
            </a:r>
          </a:p>
        </p:txBody>
      </p:sp>
      <p:sp>
        <p:nvSpPr>
          <p:cNvPr id="71" name="N32/ellipse/015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N32/text/016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Adaptive corners default on</a:t>
            </a:r>
          </a:p>
        </p:txBody>
      </p:sp>
      <p:sp>
        <p:nvSpPr>
          <p:cNvPr id="73" name="N32/ellipse/017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N32/text/018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Opacity 1.00; scale 1.00</a:t>
            </a:r>
          </a:p>
        </p:txBody>
      </p:sp>
      <p:sp>
        <p:nvSpPr>
          <p:cNvPr id="75" name="N32/ellipse/019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N32/text/020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Corner radius 8–40</a:t>
            </a:r>
          </a:p>
        </p:txBody>
      </p:sp>
      <p:cxnSp>
        <p:nvCxnSpPr>
          <p:cNvPr id="77" name="N32/line/021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N32/text/022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79" name="N32/edit-box/023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N32/edit-note/024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Finish controls / slider labels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33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33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33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SETTINGS · BEHAVIOR</a:t>
            </a:r>
          </a:p>
        </p:txBody>
      </p:sp>
      <p:sp>
        <p:nvSpPr>
          <p:cNvPr id="5" name="N33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MacBook notch + motion</a:t>
            </a:r>
          </a:p>
        </p:txBody>
      </p:sp>
      <p:sp>
        <p:nvSpPr>
          <p:cNvPr id="6" name="N33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Top-edge behavior, notification routing and animation profile</a:t>
            </a:r>
          </a:p>
        </p:txBody>
      </p:sp>
      <p:cxnSp>
        <p:nvCxnSpPr>
          <p:cNvPr id="7" name="N33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33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33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N33</a:t>
            </a:r>
          </a:p>
        </p:txBody>
      </p:sp>
      <p:sp>
        <p:nvSpPr>
          <p:cNvPr id="10" name="N33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45</a:t>
            </a:r>
          </a:p>
        </p:txBody>
      </p:sp>
      <p:grpSp>
        <p:nvGrpSpPr>
          <p:cNvPr id="11" name="N33/settings-Behavior"/>
          <p:cNvGrpSpPr/>
          <p:nvPr/>
        </p:nvGrpSpPr>
        <p:grpSpPr>
          <a:xfrm>
            <a:off x="502920" y="1627632"/>
            <a:ext cx="7635240" cy="4526280"/>
            <a:chOff x="502920" y="1627632"/>
            <a:chExt cx="7635240" cy="4526280"/>
          </a:xfrm>
        </p:grpSpPr>
        <p:sp>
          <p:nvSpPr>
            <p:cNvPr id="12" name="N33/settings-Behavior/adw-window/001"/>
            <p:cNvSpPr/>
            <p:nvPr/>
          </p:nvSpPr>
          <p:spPr>
            <a:xfrm>
              <a:off x="502920" y="1627632"/>
              <a:ext cx="7635240" cy="4526280"/>
            </a:xfrm>
            <a:prstGeom prst="roundRect">
              <a:avLst>
                <a:gd name="adj" fmla="val 2424"/>
              </a:avLst>
            </a:prstGeom>
            <a:solidFill>
              <a:srgbClr val="242428"/>
            </a:solidFill>
            <a:ln w="12700">
              <a:solidFill>
                <a:srgbClr val="45454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33/settings-Behavior/adw-header/002"/>
            <p:cNvSpPr/>
            <p:nvPr/>
          </p:nvSpPr>
          <p:spPr>
            <a:xfrm>
              <a:off x="502920" y="1627632"/>
              <a:ext cx="7635240" cy="420624"/>
            </a:xfrm>
            <a:prstGeom prst="roundRect">
              <a:avLst>
                <a:gd name="adj" fmla="val 26086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33/settings-Behavior/rect/003"/>
            <p:cNvSpPr/>
            <p:nvPr/>
          </p:nvSpPr>
          <p:spPr>
            <a:xfrm>
              <a:off x="502920" y="1847088"/>
              <a:ext cx="7635240" cy="201168"/>
            </a:xfrm>
            <a:prstGeom prst="rect">
              <a:avLst/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33/settings-Behavior/text/004"/>
            <p:cNvSpPr txBox="1"/>
            <p:nvPr/>
          </p:nvSpPr>
          <p:spPr>
            <a:xfrm>
              <a:off x="685800" y="1627632"/>
              <a:ext cx="7269479" cy="4206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FFFFF"/>
                  </a:solidFill>
                  <a:latin typeface="Arial"/>
                </a:rPr>
                <a:t>Notch Preferences</a:t>
              </a:r>
            </a:p>
          </p:txBody>
        </p:sp>
        <p:sp>
          <p:nvSpPr>
            <p:cNvPr id="16" name="N33/settings-Behavior/ellipse/005"/>
            <p:cNvSpPr/>
            <p:nvPr/>
          </p:nvSpPr>
          <p:spPr>
            <a:xfrm>
              <a:off x="7827264" y="1764792"/>
              <a:ext cx="146304" cy="146304"/>
            </a:xfrm>
            <a:prstGeom prst="ellipse">
              <a:avLst/>
            </a:prstGeom>
            <a:noFill/>
            <a:ln w="12700">
              <a:solidFill>
                <a:srgbClr val="C0BFB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N33/settings-Behavior/rect/006"/>
            <p:cNvSpPr/>
            <p:nvPr/>
          </p:nvSpPr>
          <p:spPr>
            <a:xfrm>
              <a:off x="681228" y="2157984"/>
              <a:ext cx="173736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N33/settings-Behavior/text/007"/>
            <p:cNvSpPr txBox="1"/>
            <p:nvPr/>
          </p:nvSpPr>
          <p:spPr>
            <a:xfrm>
              <a:off x="681228" y="2157984"/>
              <a:ext cx="173736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Appearance</a:t>
              </a:r>
            </a:p>
          </p:txBody>
        </p:sp>
        <p:sp>
          <p:nvSpPr>
            <p:cNvPr id="19" name="N33/settings-Behavior/rect/008"/>
            <p:cNvSpPr/>
            <p:nvPr/>
          </p:nvSpPr>
          <p:spPr>
            <a:xfrm>
              <a:off x="2528316" y="2157984"/>
              <a:ext cx="1737360" cy="310896"/>
            </a:xfrm>
            <a:prstGeom prst="roundRect">
              <a:avLst>
                <a:gd name="adj" fmla="val 23529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33/settings-Behavior/text/009"/>
            <p:cNvSpPr txBox="1"/>
            <p:nvPr/>
          </p:nvSpPr>
          <p:spPr>
            <a:xfrm>
              <a:off x="2528316" y="2157984"/>
              <a:ext cx="173736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FFFFFF"/>
                  </a:solidFill>
                  <a:latin typeface="Arial"/>
                </a:rPr>
                <a:t>Behavior</a:t>
              </a:r>
            </a:p>
          </p:txBody>
        </p:sp>
        <p:sp>
          <p:nvSpPr>
            <p:cNvPr id="21" name="N33/settings-Behavior/rect/010"/>
            <p:cNvSpPr/>
            <p:nvPr/>
          </p:nvSpPr>
          <p:spPr>
            <a:xfrm>
              <a:off x="4375404" y="2157984"/>
              <a:ext cx="173736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33/settings-Behavior/text/011"/>
            <p:cNvSpPr txBox="1"/>
            <p:nvPr/>
          </p:nvSpPr>
          <p:spPr>
            <a:xfrm>
              <a:off x="4375404" y="2157984"/>
              <a:ext cx="173736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Privacy</a:t>
              </a:r>
            </a:p>
          </p:txBody>
        </p:sp>
        <p:sp>
          <p:nvSpPr>
            <p:cNvPr id="23" name="N33/settings-Behavior/text/012"/>
            <p:cNvSpPr txBox="1"/>
            <p:nvPr/>
          </p:nvSpPr>
          <p:spPr>
            <a:xfrm>
              <a:off x="822960" y="2615184"/>
              <a:ext cx="6995159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Scroll for durations and opening/hiding groups →</a:t>
              </a:r>
            </a:p>
          </p:txBody>
        </p:sp>
        <p:sp>
          <p:nvSpPr>
            <p:cNvPr id="24" name="N33/settings-Behavior/text/013"/>
            <p:cNvSpPr txBox="1"/>
            <p:nvPr/>
          </p:nvSpPr>
          <p:spPr>
            <a:xfrm>
              <a:off x="822960" y="2889503"/>
              <a:ext cx="6995159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FFFFFF"/>
                  </a:solidFill>
                  <a:latin typeface="Arial"/>
                </a:rPr>
                <a:t>MacBook notch</a:t>
              </a:r>
            </a:p>
          </p:txBody>
        </p:sp>
        <p:sp>
          <p:nvSpPr>
            <p:cNvPr id="25" name="N33/settings-Behavior/text/014"/>
            <p:cNvSpPr txBox="1"/>
            <p:nvPr/>
          </p:nvSpPr>
          <p:spPr>
            <a:xfrm>
              <a:off x="822960" y="3127248"/>
              <a:ext cx="6995159" cy="31089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i="0">
                  <a:solidFill>
                    <a:srgbClr val="C0BFBC"/>
                  </a:solidFill>
                  <a:latin typeface="Arial"/>
                </a:rPr>
                <a:t>The default is a top-edge notch, not a floating Dynamic Island.</a:t>
              </a:r>
            </a:p>
          </p:txBody>
        </p:sp>
        <p:sp>
          <p:nvSpPr>
            <p:cNvPr id="26" name="N33/settings-Behavior/adw-group/015"/>
            <p:cNvSpPr/>
            <p:nvPr/>
          </p:nvSpPr>
          <p:spPr>
            <a:xfrm>
              <a:off x="777240" y="3401568"/>
              <a:ext cx="7086600" cy="2359152"/>
            </a:xfrm>
            <a:prstGeom prst="roundRect">
              <a:avLst>
                <a:gd name="adj" fmla="val 3875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N33/settings-Behavior/text/016"/>
            <p:cNvSpPr txBox="1"/>
            <p:nvPr/>
          </p:nvSpPr>
          <p:spPr>
            <a:xfrm>
              <a:off x="941832" y="3438143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Replace top-bar date &amp; time</a:t>
              </a:r>
            </a:p>
          </p:txBody>
        </p:sp>
        <p:sp>
          <p:nvSpPr>
            <p:cNvPr id="28" name="N33/settings-Behavior/rect/017"/>
            <p:cNvSpPr/>
            <p:nvPr/>
          </p:nvSpPr>
          <p:spPr>
            <a:xfrm>
              <a:off x="7132320" y="3493007"/>
              <a:ext cx="384048" cy="201168"/>
            </a:xfrm>
            <a:prstGeom prst="roundRect">
              <a:avLst>
                <a:gd name="adj" fmla="val 50000"/>
              </a:avLst>
            </a:prstGeom>
            <a:solidFill>
              <a:srgbClr val="78AE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N33/settings-Behavior/ellipse/018"/>
            <p:cNvSpPr/>
            <p:nvPr/>
          </p:nvSpPr>
          <p:spPr>
            <a:xfrm>
              <a:off x="7315200" y="3511295"/>
              <a:ext cx="164592" cy="1645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0" name="N33/settings-Behavior/line/019"/>
            <p:cNvCxnSpPr/>
            <p:nvPr/>
          </p:nvCxnSpPr>
          <p:spPr>
            <a:xfrm>
              <a:off x="941832" y="3758183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N33/settings-Behavior/text/020"/>
            <p:cNvSpPr txBox="1"/>
            <p:nvPr/>
          </p:nvSpPr>
          <p:spPr>
            <a:xfrm>
              <a:off x="941832" y="3767327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Show time when idle</a:t>
              </a:r>
            </a:p>
          </p:txBody>
        </p:sp>
        <p:sp>
          <p:nvSpPr>
            <p:cNvPr id="32" name="N33/settings-Behavior/rect/021"/>
            <p:cNvSpPr/>
            <p:nvPr/>
          </p:nvSpPr>
          <p:spPr>
            <a:xfrm>
              <a:off x="7132320" y="3822191"/>
              <a:ext cx="384048" cy="201168"/>
            </a:xfrm>
            <a:prstGeom prst="roundRect">
              <a:avLst>
                <a:gd name="adj" fmla="val 50000"/>
              </a:avLst>
            </a:prstGeom>
            <a:solidFill>
              <a:srgbClr val="78AE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33/settings-Behavior/ellipse/022"/>
            <p:cNvSpPr/>
            <p:nvPr/>
          </p:nvSpPr>
          <p:spPr>
            <a:xfrm>
              <a:off x="7315200" y="3840479"/>
              <a:ext cx="164592" cy="1645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4" name="N33/settings-Behavior/line/023"/>
            <p:cNvCxnSpPr/>
            <p:nvPr/>
          </p:nvCxnSpPr>
          <p:spPr>
            <a:xfrm>
              <a:off x="941832" y="4087368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N33/settings-Behavior/text/024"/>
            <p:cNvSpPr txBox="1"/>
            <p:nvPr/>
          </p:nvSpPr>
          <p:spPr>
            <a:xfrm>
              <a:off x="941832" y="4096511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Show notifications in the notch</a:t>
              </a:r>
            </a:p>
          </p:txBody>
        </p:sp>
        <p:sp>
          <p:nvSpPr>
            <p:cNvPr id="36" name="N33/settings-Behavior/rect/025"/>
            <p:cNvSpPr/>
            <p:nvPr/>
          </p:nvSpPr>
          <p:spPr>
            <a:xfrm>
              <a:off x="7132320" y="4151376"/>
              <a:ext cx="384048" cy="201168"/>
            </a:xfrm>
            <a:prstGeom prst="roundRect">
              <a:avLst>
                <a:gd name="adj" fmla="val 50000"/>
              </a:avLst>
            </a:prstGeom>
            <a:solidFill>
              <a:srgbClr val="78AE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N33/settings-Behavior/ellipse/026"/>
            <p:cNvSpPr/>
            <p:nvPr/>
          </p:nvSpPr>
          <p:spPr>
            <a:xfrm>
              <a:off x="7315200" y="4169663"/>
              <a:ext cx="164592" cy="1645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8" name="N33/settings-Behavior/line/027"/>
            <p:cNvCxnSpPr/>
            <p:nvPr/>
          </p:nvCxnSpPr>
          <p:spPr>
            <a:xfrm>
              <a:off x="941832" y="4416552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N33/settings-Behavior/text/028"/>
            <p:cNvSpPr txBox="1"/>
            <p:nvPr/>
          </p:nvSpPr>
          <p:spPr>
            <a:xfrm>
              <a:off x="941832" y="4425696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Compact notification peeks</a:t>
              </a:r>
            </a:p>
          </p:txBody>
        </p:sp>
        <p:sp>
          <p:nvSpPr>
            <p:cNvPr id="40" name="N33/settings-Behavior/rect/029"/>
            <p:cNvSpPr/>
            <p:nvPr/>
          </p:nvSpPr>
          <p:spPr>
            <a:xfrm>
              <a:off x="7132320" y="4480560"/>
              <a:ext cx="384048" cy="201168"/>
            </a:xfrm>
            <a:prstGeom prst="roundRect">
              <a:avLst>
                <a:gd name="adj" fmla="val 50000"/>
              </a:avLst>
            </a:prstGeom>
            <a:solidFill>
              <a:srgbClr val="78AE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N33/settings-Behavior/ellipse/030"/>
            <p:cNvSpPr/>
            <p:nvPr/>
          </p:nvSpPr>
          <p:spPr>
            <a:xfrm>
              <a:off x="7315200" y="4498848"/>
              <a:ext cx="164592" cy="1645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2" name="N33/settings-Behavior/line/031"/>
            <p:cNvCxnSpPr/>
            <p:nvPr/>
          </p:nvCxnSpPr>
          <p:spPr>
            <a:xfrm>
              <a:off x="941832" y="4745736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N33/settings-Behavior/text/032"/>
            <p:cNvSpPr txBox="1"/>
            <p:nvPr/>
          </p:nvSpPr>
          <p:spPr>
            <a:xfrm>
              <a:off x="941832" y="4754880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Peek duration (ms)</a:t>
              </a:r>
            </a:p>
          </p:txBody>
        </p:sp>
        <p:sp>
          <p:nvSpPr>
            <p:cNvPr id="44" name="N33/settings-Behavior/rect/033"/>
            <p:cNvSpPr/>
            <p:nvPr/>
          </p:nvSpPr>
          <p:spPr>
            <a:xfrm>
              <a:off x="6537960" y="4782312"/>
              <a:ext cx="10058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N33/settings-Behavior/text/034"/>
            <p:cNvSpPr txBox="1"/>
            <p:nvPr/>
          </p:nvSpPr>
          <p:spPr>
            <a:xfrm>
              <a:off x="6537960" y="4782312"/>
              <a:ext cx="68580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5000</a:t>
              </a:r>
            </a:p>
          </p:txBody>
        </p:sp>
        <p:sp>
          <p:nvSpPr>
            <p:cNvPr id="46" name="N33/settings-Behavior/text/035"/>
            <p:cNvSpPr txBox="1"/>
            <p:nvPr/>
          </p:nvSpPr>
          <p:spPr>
            <a:xfrm>
              <a:off x="7251192" y="4782312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−</a:t>
              </a:r>
            </a:p>
          </p:txBody>
        </p:sp>
        <p:sp>
          <p:nvSpPr>
            <p:cNvPr id="47" name="N33/settings-Behavior/text/036"/>
            <p:cNvSpPr txBox="1"/>
            <p:nvPr/>
          </p:nvSpPr>
          <p:spPr>
            <a:xfrm>
              <a:off x="7397496" y="4782312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+</a:t>
              </a:r>
            </a:p>
          </p:txBody>
        </p:sp>
        <p:cxnSp>
          <p:nvCxnSpPr>
            <p:cNvPr id="48" name="N33/settings-Behavior/line/037"/>
            <p:cNvCxnSpPr/>
            <p:nvPr/>
          </p:nvCxnSpPr>
          <p:spPr>
            <a:xfrm>
              <a:off x="941832" y="5074920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N33/settings-Behavior/text/038"/>
            <p:cNvSpPr txBox="1"/>
            <p:nvPr/>
          </p:nvSpPr>
          <p:spPr>
            <a:xfrm>
              <a:off x="941832" y="5084064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Closed music wings</a:t>
              </a:r>
            </a:p>
          </p:txBody>
        </p:sp>
        <p:sp>
          <p:nvSpPr>
            <p:cNvPr id="50" name="N33/settings-Behavior/rect/039"/>
            <p:cNvSpPr/>
            <p:nvPr/>
          </p:nvSpPr>
          <p:spPr>
            <a:xfrm>
              <a:off x="7132320" y="5138928"/>
              <a:ext cx="384048" cy="201168"/>
            </a:xfrm>
            <a:prstGeom prst="roundRect">
              <a:avLst>
                <a:gd name="adj" fmla="val 50000"/>
              </a:avLst>
            </a:prstGeom>
            <a:solidFill>
              <a:srgbClr val="78AE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N33/settings-Behavior/ellipse/040"/>
            <p:cNvSpPr/>
            <p:nvPr/>
          </p:nvSpPr>
          <p:spPr>
            <a:xfrm>
              <a:off x="7315200" y="5157216"/>
              <a:ext cx="164592" cy="1645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2" name="N33/settings-Behavior/line/041"/>
            <p:cNvCxnSpPr/>
            <p:nvPr/>
          </p:nvCxnSpPr>
          <p:spPr>
            <a:xfrm>
              <a:off x="941832" y="5404104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N33/settings-Behavior/text/042"/>
            <p:cNvSpPr txBox="1"/>
            <p:nvPr/>
          </p:nvSpPr>
          <p:spPr>
            <a:xfrm>
              <a:off x="941832" y="5413248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Motion profile</a:t>
              </a:r>
            </a:p>
          </p:txBody>
        </p:sp>
        <p:sp>
          <p:nvSpPr>
            <p:cNvPr id="54" name="N33/settings-Behavior/rect/043"/>
            <p:cNvSpPr/>
            <p:nvPr/>
          </p:nvSpPr>
          <p:spPr>
            <a:xfrm>
              <a:off x="5852160" y="5440680"/>
              <a:ext cx="19202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N33/settings-Behavior/text/044"/>
            <p:cNvSpPr txBox="1"/>
            <p:nvPr/>
          </p:nvSpPr>
          <p:spPr>
            <a:xfrm>
              <a:off x="5925312" y="5440680"/>
              <a:ext cx="164592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i="0">
                  <a:solidFill>
                    <a:srgbClr val="FFFFFF"/>
                  </a:solidFill>
                  <a:latin typeface="Arial"/>
                </a:rPr>
                <a:t>Mac spring</a:t>
              </a:r>
            </a:p>
          </p:txBody>
        </p:sp>
        <p:sp>
          <p:nvSpPr>
            <p:cNvPr id="56" name="N33/settings-Behavior/text/045"/>
            <p:cNvSpPr txBox="1"/>
            <p:nvPr/>
          </p:nvSpPr>
          <p:spPr>
            <a:xfrm>
              <a:off x="7589520" y="5440680"/>
              <a:ext cx="14630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⌄</a:t>
              </a:r>
            </a:p>
          </p:txBody>
        </p:sp>
        <p:sp>
          <p:nvSpPr>
            <p:cNvPr id="57" name="N33/settings-Behavior/rect/046"/>
            <p:cNvSpPr/>
            <p:nvPr/>
          </p:nvSpPr>
          <p:spPr>
            <a:xfrm>
              <a:off x="8028432" y="2633472"/>
              <a:ext cx="45720" cy="3337560"/>
            </a:xfrm>
            <a:prstGeom prst="roundRect">
              <a:avLst>
                <a:gd name="adj" fmla="val 50000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N33/settings-Behavior/rect/047"/>
            <p:cNvSpPr/>
            <p:nvPr/>
          </p:nvSpPr>
          <p:spPr>
            <a:xfrm>
              <a:off x="8028432" y="2724912"/>
              <a:ext cx="45720" cy="914400"/>
            </a:xfrm>
            <a:prstGeom prst="roundRect">
              <a:avLst>
                <a:gd name="adj" fmla="val 50000"/>
              </a:avLst>
            </a:prstGeom>
            <a:solidFill>
              <a:srgbClr val="7776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9" name="N33/spec-panel/010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N33/text/011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61" name="N33/ellipse/012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N33/text/013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Peek 2000–15000 ms, step 500</a:t>
            </a:r>
          </a:p>
        </p:txBody>
      </p:sp>
      <p:sp>
        <p:nvSpPr>
          <p:cNvPr id="63" name="N33/ellipse/014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N33/text/015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Motion: Mac spring / Smooth easing</a:t>
            </a:r>
          </a:p>
        </p:txBody>
      </p:sp>
      <p:sp>
        <p:nvSpPr>
          <p:cNvPr id="65" name="N33/ellipse/016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N33/text/017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Smooth open 420 ms; close 450 ms</a:t>
            </a:r>
          </a:p>
        </p:txBody>
      </p:sp>
      <p:sp>
        <p:nvSpPr>
          <p:cNvPr id="67" name="N33/ellipse/018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N33/text/019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Durations 0–1000 ms, step 20</a:t>
            </a:r>
          </a:p>
        </p:txBody>
      </p:sp>
      <p:cxnSp>
        <p:nvCxnSpPr>
          <p:cNvPr id="69" name="N33/line/020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N33/text/021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71" name="N33/edit-box/022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N33/edit-note/023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Switch order / motion labels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34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34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34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SETTINGS · BEHAVIOR</a:t>
            </a:r>
          </a:p>
        </p:txBody>
      </p:sp>
      <p:sp>
        <p:nvSpPr>
          <p:cNvPr id="5" name="N34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Opening, hiding, actions, media</a:t>
            </a:r>
          </a:p>
        </p:txBody>
      </p:sp>
      <p:sp>
        <p:nvSpPr>
          <p:cNvPr id="6" name="N34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Lower part of Behavior page</a:t>
            </a:r>
          </a:p>
        </p:txBody>
      </p:sp>
      <p:cxnSp>
        <p:nvCxnSpPr>
          <p:cNvPr id="7" name="N34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34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34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N34</a:t>
            </a:r>
          </a:p>
        </p:txBody>
      </p:sp>
      <p:sp>
        <p:nvSpPr>
          <p:cNvPr id="10" name="N34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46</a:t>
            </a:r>
          </a:p>
        </p:txBody>
      </p:sp>
      <p:grpSp>
        <p:nvGrpSpPr>
          <p:cNvPr id="11" name="N34/settings-Behavior"/>
          <p:cNvGrpSpPr/>
          <p:nvPr/>
        </p:nvGrpSpPr>
        <p:grpSpPr>
          <a:xfrm>
            <a:off x="502920" y="1627632"/>
            <a:ext cx="7635240" cy="3977639"/>
            <a:chOff x="502920" y="1627632"/>
            <a:chExt cx="7635240" cy="3977639"/>
          </a:xfrm>
        </p:grpSpPr>
        <p:sp>
          <p:nvSpPr>
            <p:cNvPr id="12" name="N34/settings-Behavior/adw-window/001"/>
            <p:cNvSpPr/>
            <p:nvPr/>
          </p:nvSpPr>
          <p:spPr>
            <a:xfrm>
              <a:off x="502920" y="1627632"/>
              <a:ext cx="7635240" cy="3977639"/>
            </a:xfrm>
            <a:prstGeom prst="roundRect">
              <a:avLst>
                <a:gd name="adj" fmla="val 2758"/>
              </a:avLst>
            </a:prstGeom>
            <a:solidFill>
              <a:srgbClr val="242428"/>
            </a:solidFill>
            <a:ln w="12700">
              <a:solidFill>
                <a:srgbClr val="45454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34/settings-Behavior/adw-header/002"/>
            <p:cNvSpPr/>
            <p:nvPr/>
          </p:nvSpPr>
          <p:spPr>
            <a:xfrm>
              <a:off x="502920" y="1627632"/>
              <a:ext cx="7635240" cy="420624"/>
            </a:xfrm>
            <a:prstGeom prst="roundRect">
              <a:avLst>
                <a:gd name="adj" fmla="val 26086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34/settings-Behavior/rect/003"/>
            <p:cNvSpPr/>
            <p:nvPr/>
          </p:nvSpPr>
          <p:spPr>
            <a:xfrm>
              <a:off x="502920" y="1847088"/>
              <a:ext cx="7635240" cy="201168"/>
            </a:xfrm>
            <a:prstGeom prst="rect">
              <a:avLst/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34/settings-Behavior/text/004"/>
            <p:cNvSpPr txBox="1"/>
            <p:nvPr/>
          </p:nvSpPr>
          <p:spPr>
            <a:xfrm>
              <a:off x="685800" y="1627632"/>
              <a:ext cx="7269479" cy="4206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FFFFF"/>
                  </a:solidFill>
                  <a:latin typeface="Arial"/>
                </a:rPr>
                <a:t>Notch Preferences</a:t>
              </a:r>
            </a:p>
          </p:txBody>
        </p:sp>
        <p:sp>
          <p:nvSpPr>
            <p:cNvPr id="16" name="N34/settings-Behavior/ellipse/005"/>
            <p:cNvSpPr/>
            <p:nvPr/>
          </p:nvSpPr>
          <p:spPr>
            <a:xfrm>
              <a:off x="7827264" y="1764792"/>
              <a:ext cx="146304" cy="146304"/>
            </a:xfrm>
            <a:prstGeom prst="ellipse">
              <a:avLst/>
            </a:prstGeom>
            <a:noFill/>
            <a:ln w="12700">
              <a:solidFill>
                <a:srgbClr val="C0BFB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N34/settings-Behavior/rect/006"/>
            <p:cNvSpPr/>
            <p:nvPr/>
          </p:nvSpPr>
          <p:spPr>
            <a:xfrm>
              <a:off x="681228" y="2157984"/>
              <a:ext cx="173736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N34/settings-Behavior/text/007"/>
            <p:cNvSpPr txBox="1"/>
            <p:nvPr/>
          </p:nvSpPr>
          <p:spPr>
            <a:xfrm>
              <a:off x="681228" y="2157984"/>
              <a:ext cx="173736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Appearance</a:t>
              </a:r>
            </a:p>
          </p:txBody>
        </p:sp>
        <p:sp>
          <p:nvSpPr>
            <p:cNvPr id="19" name="N34/settings-Behavior/rect/008"/>
            <p:cNvSpPr/>
            <p:nvPr/>
          </p:nvSpPr>
          <p:spPr>
            <a:xfrm>
              <a:off x="2528316" y="2157984"/>
              <a:ext cx="1737360" cy="310896"/>
            </a:xfrm>
            <a:prstGeom prst="roundRect">
              <a:avLst>
                <a:gd name="adj" fmla="val 23529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34/settings-Behavior/text/009"/>
            <p:cNvSpPr txBox="1"/>
            <p:nvPr/>
          </p:nvSpPr>
          <p:spPr>
            <a:xfrm>
              <a:off x="2528316" y="2157984"/>
              <a:ext cx="173736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FFFFFF"/>
                  </a:solidFill>
                  <a:latin typeface="Arial"/>
                </a:rPr>
                <a:t>Behavior</a:t>
              </a:r>
            </a:p>
          </p:txBody>
        </p:sp>
        <p:sp>
          <p:nvSpPr>
            <p:cNvPr id="21" name="N34/settings-Behavior/rect/010"/>
            <p:cNvSpPr/>
            <p:nvPr/>
          </p:nvSpPr>
          <p:spPr>
            <a:xfrm>
              <a:off x="4375404" y="2157984"/>
              <a:ext cx="173736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34/settings-Behavior/text/011"/>
            <p:cNvSpPr txBox="1"/>
            <p:nvPr/>
          </p:nvSpPr>
          <p:spPr>
            <a:xfrm>
              <a:off x="4375404" y="2157984"/>
              <a:ext cx="173736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Privacy</a:t>
              </a:r>
            </a:p>
          </p:txBody>
        </p:sp>
        <p:sp>
          <p:nvSpPr>
            <p:cNvPr id="23" name="N34/settings-Behavior/text/012"/>
            <p:cNvSpPr txBox="1"/>
            <p:nvPr/>
          </p:nvSpPr>
          <p:spPr>
            <a:xfrm>
              <a:off x="822960" y="2615184"/>
              <a:ext cx="6995159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FFFFFF"/>
                  </a:solidFill>
                  <a:latin typeface="Arial"/>
                </a:rPr>
                <a:t>Opening &amp; hiding</a:t>
              </a:r>
            </a:p>
          </p:txBody>
        </p:sp>
        <p:sp>
          <p:nvSpPr>
            <p:cNvPr id="24" name="N34/settings-Behavior/adw-group/013"/>
            <p:cNvSpPr/>
            <p:nvPr/>
          </p:nvSpPr>
          <p:spPr>
            <a:xfrm>
              <a:off x="777240" y="2852928"/>
              <a:ext cx="7086600" cy="2359152"/>
            </a:xfrm>
            <a:prstGeom prst="roundRect">
              <a:avLst>
                <a:gd name="adj" fmla="val 3875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34/settings-Behavior/text/014"/>
            <p:cNvSpPr txBox="1"/>
            <p:nvPr/>
          </p:nvSpPr>
          <p:spPr>
            <a:xfrm>
              <a:off x="941832" y="2889503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Open on hover</a:t>
              </a:r>
            </a:p>
          </p:txBody>
        </p:sp>
        <p:sp>
          <p:nvSpPr>
            <p:cNvPr id="26" name="N34/settings-Behavior/rect/015"/>
            <p:cNvSpPr/>
            <p:nvPr/>
          </p:nvSpPr>
          <p:spPr>
            <a:xfrm>
              <a:off x="7132320" y="2944368"/>
              <a:ext cx="384048" cy="201168"/>
            </a:xfrm>
            <a:prstGeom prst="roundRect">
              <a:avLst>
                <a:gd name="adj" fmla="val 50000"/>
              </a:avLst>
            </a:prstGeom>
            <a:solidFill>
              <a:srgbClr val="78AE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N34/settings-Behavior/ellipse/016"/>
            <p:cNvSpPr/>
            <p:nvPr/>
          </p:nvSpPr>
          <p:spPr>
            <a:xfrm>
              <a:off x="7315200" y="2962656"/>
              <a:ext cx="164592" cy="1645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8" name="N34/settings-Behavior/line/017"/>
            <p:cNvCxnSpPr/>
            <p:nvPr/>
          </p:nvCxnSpPr>
          <p:spPr>
            <a:xfrm>
              <a:off x="941832" y="3209544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N34/settings-Behavior/text/018"/>
            <p:cNvSpPr txBox="1"/>
            <p:nvPr/>
          </p:nvSpPr>
          <p:spPr>
            <a:xfrm>
              <a:off x="941832" y="3218687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Hover delay (ms)</a:t>
              </a:r>
            </a:p>
          </p:txBody>
        </p:sp>
        <p:sp>
          <p:nvSpPr>
            <p:cNvPr id="30" name="N34/settings-Behavior/rect/019"/>
            <p:cNvSpPr/>
            <p:nvPr/>
          </p:nvSpPr>
          <p:spPr>
            <a:xfrm>
              <a:off x="6537960" y="3246120"/>
              <a:ext cx="10058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N34/settings-Behavior/text/020"/>
            <p:cNvSpPr txBox="1"/>
            <p:nvPr/>
          </p:nvSpPr>
          <p:spPr>
            <a:xfrm>
              <a:off x="6537960" y="3246120"/>
              <a:ext cx="68580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250</a:t>
              </a:r>
            </a:p>
          </p:txBody>
        </p:sp>
        <p:sp>
          <p:nvSpPr>
            <p:cNvPr id="32" name="N34/settings-Behavior/text/021"/>
            <p:cNvSpPr txBox="1"/>
            <p:nvPr/>
          </p:nvSpPr>
          <p:spPr>
            <a:xfrm>
              <a:off x="7251192" y="3246120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−</a:t>
              </a:r>
            </a:p>
          </p:txBody>
        </p:sp>
        <p:sp>
          <p:nvSpPr>
            <p:cNvPr id="33" name="N34/settings-Behavior/text/022"/>
            <p:cNvSpPr txBox="1"/>
            <p:nvPr/>
          </p:nvSpPr>
          <p:spPr>
            <a:xfrm>
              <a:off x="7397496" y="3246120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+</a:t>
              </a:r>
            </a:p>
          </p:txBody>
        </p:sp>
        <p:cxnSp>
          <p:nvCxnSpPr>
            <p:cNvPr id="34" name="N34/settings-Behavior/line/023"/>
            <p:cNvCxnSpPr/>
            <p:nvPr/>
          </p:nvCxnSpPr>
          <p:spPr>
            <a:xfrm>
              <a:off x="941832" y="3538727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N34/settings-Behavior/text/024"/>
            <p:cNvSpPr txBox="1"/>
            <p:nvPr/>
          </p:nvSpPr>
          <p:spPr>
            <a:xfrm>
              <a:off x="941832" y="3547871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Auto-hide delay (ms)</a:t>
              </a:r>
            </a:p>
          </p:txBody>
        </p:sp>
        <p:sp>
          <p:nvSpPr>
            <p:cNvPr id="36" name="N34/settings-Behavior/text/025"/>
            <p:cNvSpPr txBox="1"/>
            <p:nvPr/>
          </p:nvSpPr>
          <p:spPr>
            <a:xfrm>
              <a:off x="941832" y="3712463"/>
              <a:ext cx="4846320" cy="1280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 b="0" i="0">
                  <a:solidFill>
                    <a:srgbClr val="C0BFBC"/>
                  </a:solidFill>
                  <a:latin typeface="Arial"/>
                </a:rPr>
                <a:t>0 disables</a:t>
              </a:r>
            </a:p>
          </p:txBody>
        </p:sp>
        <p:sp>
          <p:nvSpPr>
            <p:cNvPr id="37" name="N34/settings-Behavior/rect/026"/>
            <p:cNvSpPr/>
            <p:nvPr/>
          </p:nvSpPr>
          <p:spPr>
            <a:xfrm>
              <a:off x="6537960" y="3575303"/>
              <a:ext cx="10058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N34/settings-Behavior/text/027"/>
            <p:cNvSpPr txBox="1"/>
            <p:nvPr/>
          </p:nvSpPr>
          <p:spPr>
            <a:xfrm>
              <a:off x="6537960" y="3575303"/>
              <a:ext cx="68580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0</a:t>
              </a:r>
            </a:p>
          </p:txBody>
        </p:sp>
        <p:sp>
          <p:nvSpPr>
            <p:cNvPr id="39" name="N34/settings-Behavior/text/028"/>
            <p:cNvSpPr txBox="1"/>
            <p:nvPr/>
          </p:nvSpPr>
          <p:spPr>
            <a:xfrm>
              <a:off x="7251192" y="3575303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−</a:t>
              </a:r>
            </a:p>
          </p:txBody>
        </p:sp>
        <p:sp>
          <p:nvSpPr>
            <p:cNvPr id="40" name="N34/settings-Behavior/text/029"/>
            <p:cNvSpPr txBox="1"/>
            <p:nvPr/>
          </p:nvSpPr>
          <p:spPr>
            <a:xfrm>
              <a:off x="7397496" y="3575303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+</a:t>
              </a:r>
            </a:p>
          </p:txBody>
        </p:sp>
        <p:cxnSp>
          <p:nvCxnSpPr>
            <p:cNvPr id="41" name="N34/settings-Behavior/line/030"/>
            <p:cNvCxnSpPr/>
            <p:nvPr/>
          </p:nvCxnSpPr>
          <p:spPr>
            <a:xfrm>
              <a:off x="941832" y="3867911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N34/settings-Behavior/text/031"/>
            <p:cNvSpPr txBox="1"/>
            <p:nvPr/>
          </p:nvSpPr>
          <p:spPr>
            <a:xfrm>
              <a:off x="941832" y="3877055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Smooth animations</a:t>
              </a:r>
            </a:p>
          </p:txBody>
        </p:sp>
        <p:sp>
          <p:nvSpPr>
            <p:cNvPr id="43" name="N34/settings-Behavior/rect/032"/>
            <p:cNvSpPr/>
            <p:nvPr/>
          </p:nvSpPr>
          <p:spPr>
            <a:xfrm>
              <a:off x="7132320" y="3931920"/>
              <a:ext cx="384048" cy="201168"/>
            </a:xfrm>
            <a:prstGeom prst="roundRect">
              <a:avLst>
                <a:gd name="adj" fmla="val 50000"/>
              </a:avLst>
            </a:prstGeom>
            <a:solidFill>
              <a:srgbClr val="78AE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N34/settings-Behavior/ellipse/033"/>
            <p:cNvSpPr/>
            <p:nvPr/>
          </p:nvSpPr>
          <p:spPr>
            <a:xfrm>
              <a:off x="7315200" y="3950207"/>
              <a:ext cx="164592" cy="1645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5" name="N34/settings-Behavior/line/034"/>
            <p:cNvCxnSpPr/>
            <p:nvPr/>
          </p:nvCxnSpPr>
          <p:spPr>
            <a:xfrm>
              <a:off x="941832" y="4197096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N34/settings-Behavior/text/035"/>
            <p:cNvSpPr txBox="1"/>
            <p:nvPr/>
          </p:nvSpPr>
          <p:spPr>
            <a:xfrm>
              <a:off x="941832" y="4206240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Hide on fullscreen</a:t>
              </a:r>
            </a:p>
          </p:txBody>
        </p:sp>
        <p:sp>
          <p:nvSpPr>
            <p:cNvPr id="47" name="N34/settings-Behavior/rect/036"/>
            <p:cNvSpPr/>
            <p:nvPr/>
          </p:nvSpPr>
          <p:spPr>
            <a:xfrm>
              <a:off x="7132320" y="4261104"/>
              <a:ext cx="384048" cy="201168"/>
            </a:xfrm>
            <a:prstGeom prst="roundRect">
              <a:avLst>
                <a:gd name="adj" fmla="val 50000"/>
              </a:avLst>
            </a:prstGeom>
            <a:solidFill>
              <a:srgbClr val="78AE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N34/settings-Behavior/ellipse/037"/>
            <p:cNvSpPr/>
            <p:nvPr/>
          </p:nvSpPr>
          <p:spPr>
            <a:xfrm>
              <a:off x="7315200" y="4279392"/>
              <a:ext cx="164592" cy="1645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34/settings-Behavior/line/038"/>
            <p:cNvCxnSpPr/>
            <p:nvPr/>
          </p:nvCxnSpPr>
          <p:spPr>
            <a:xfrm>
              <a:off x="941832" y="4526280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N34/settings-Behavior/text/039"/>
            <p:cNvSpPr txBox="1"/>
            <p:nvPr/>
          </p:nvSpPr>
          <p:spPr>
            <a:xfrm>
              <a:off x="941832" y="4535424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Hide in Activities overview</a:t>
              </a:r>
            </a:p>
          </p:txBody>
        </p:sp>
        <p:sp>
          <p:nvSpPr>
            <p:cNvPr id="51" name="N34/settings-Behavior/rect/040"/>
            <p:cNvSpPr/>
            <p:nvPr/>
          </p:nvSpPr>
          <p:spPr>
            <a:xfrm>
              <a:off x="7132320" y="4590288"/>
              <a:ext cx="384048" cy="201168"/>
            </a:xfrm>
            <a:prstGeom prst="roundRect">
              <a:avLst>
                <a:gd name="adj" fmla="val 50000"/>
              </a:avLst>
            </a:prstGeom>
            <a:solidFill>
              <a:srgbClr val="78AE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N34/settings-Behavior/ellipse/041"/>
            <p:cNvSpPr/>
            <p:nvPr/>
          </p:nvSpPr>
          <p:spPr>
            <a:xfrm>
              <a:off x="7315200" y="4608576"/>
              <a:ext cx="164592" cy="1645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3" name="N34/settings-Behavior/line/042"/>
            <p:cNvCxnSpPr/>
            <p:nvPr/>
          </p:nvCxnSpPr>
          <p:spPr>
            <a:xfrm>
              <a:off x="941832" y="4855464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N34/settings-Behavior/text/043"/>
            <p:cNvSpPr txBox="1"/>
            <p:nvPr/>
          </p:nvSpPr>
          <p:spPr>
            <a:xfrm>
              <a:off x="941832" y="4864608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Reserve collapsed space</a:t>
              </a:r>
            </a:p>
          </p:txBody>
        </p:sp>
        <p:sp>
          <p:nvSpPr>
            <p:cNvPr id="55" name="N34/settings-Behavior/text/044"/>
            <p:cNvSpPr txBox="1"/>
            <p:nvPr/>
          </p:nvSpPr>
          <p:spPr>
            <a:xfrm>
              <a:off x="941832" y="5029200"/>
              <a:ext cx="4846320" cy="1280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 b="0" i="0">
                  <a:solidFill>
                    <a:srgbClr val="C0BFBC"/>
                  </a:solidFill>
                  <a:latin typeface="Arial"/>
                </a:rPr>
                <a:t>Experimental</a:t>
              </a:r>
            </a:p>
          </p:txBody>
        </p:sp>
        <p:sp>
          <p:nvSpPr>
            <p:cNvPr id="56" name="N34/settings-Behavior/rect/045"/>
            <p:cNvSpPr/>
            <p:nvPr/>
          </p:nvSpPr>
          <p:spPr>
            <a:xfrm>
              <a:off x="7132320" y="4919472"/>
              <a:ext cx="384048" cy="201168"/>
            </a:xfrm>
            <a:prstGeom prst="roundRect">
              <a:avLst>
                <a:gd name="adj" fmla="val 50000"/>
              </a:avLst>
            </a:prstGeom>
            <a:solidFill>
              <a:srgbClr val="5E5C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N34/settings-Behavior/ellipse/046"/>
            <p:cNvSpPr/>
            <p:nvPr/>
          </p:nvSpPr>
          <p:spPr>
            <a:xfrm>
              <a:off x="7150608" y="4937760"/>
              <a:ext cx="164592" cy="1645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N34/settings-Behavior/rect/047"/>
            <p:cNvSpPr/>
            <p:nvPr/>
          </p:nvSpPr>
          <p:spPr>
            <a:xfrm>
              <a:off x="8028432" y="2633472"/>
              <a:ext cx="45720" cy="2788920"/>
            </a:xfrm>
            <a:prstGeom prst="roundRect">
              <a:avLst>
                <a:gd name="adj" fmla="val 50000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N34/settings-Behavior/rect/048"/>
            <p:cNvSpPr/>
            <p:nvPr/>
          </p:nvSpPr>
          <p:spPr>
            <a:xfrm>
              <a:off x="8028432" y="2724912"/>
              <a:ext cx="45720" cy="914400"/>
            </a:xfrm>
            <a:prstGeom prst="roundRect">
              <a:avLst>
                <a:gd name="adj" fmla="val 50000"/>
              </a:avLst>
            </a:prstGeom>
            <a:solidFill>
              <a:srgbClr val="7776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0" name="N34/rect/010"/>
          <p:cNvSpPr/>
          <p:nvPr/>
        </p:nvSpPr>
        <p:spPr>
          <a:xfrm>
            <a:off x="502920" y="5760720"/>
            <a:ext cx="7635240" cy="411480"/>
          </a:xfrm>
          <a:prstGeom prst="roundRect">
            <a:avLst>
              <a:gd name="adj" fmla="val 17777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N34/text/011"/>
          <p:cNvSpPr txBox="1"/>
          <p:nvPr/>
        </p:nvSpPr>
        <p:spPr>
          <a:xfrm>
            <a:off x="685800" y="5760720"/>
            <a:ext cx="726948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Quick actions: Do Not Disturb · Night Light · Dark Mode   |   Media: Download remote album art   |   Shortcut: Super + `</a:t>
            </a:r>
          </a:p>
        </p:txBody>
      </p:sp>
      <p:sp>
        <p:nvSpPr>
          <p:cNvPr id="62" name="N34/spec-panel/012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N34/text/013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64" name="N34/ellipse/014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N34/text/015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Hover 0–1500 ms</a:t>
            </a:r>
          </a:p>
        </p:txBody>
      </p:sp>
      <p:sp>
        <p:nvSpPr>
          <p:cNvPr id="66" name="N34/ellipse/016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N34/text/017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Auto-hide 0–60000 ms</a:t>
            </a:r>
          </a:p>
        </p:txBody>
      </p:sp>
      <p:sp>
        <p:nvSpPr>
          <p:cNvPr id="68" name="N34/ellipse/018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N34/text/019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All three quick actions default on</a:t>
            </a:r>
          </a:p>
        </p:txBody>
      </p:sp>
      <p:sp>
        <p:nvSpPr>
          <p:cNvPr id="70" name="N34/ellipse/020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N34/text/021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Remote art default on</a:t>
            </a:r>
          </a:p>
        </p:txBody>
      </p:sp>
      <p:cxnSp>
        <p:nvCxnSpPr>
          <p:cNvPr id="72" name="N34/line/022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N34/text/023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74" name="N34/edit-box/024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N34/edit-note/025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Group order / experimental badge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57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57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57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SETTINGS · PRIVACY</a:t>
            </a:r>
          </a:p>
        </p:txBody>
      </p:sp>
      <p:sp>
        <p:nvSpPr>
          <p:cNvPr id="5" name="N57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Inline extension Privacy page</a:t>
            </a:r>
          </a:p>
        </p:txBody>
      </p:sp>
      <p:sp>
        <p:nvSpPr>
          <p:cNvPr id="6" name="N57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Clipboard controls + companion launcher</a:t>
            </a:r>
          </a:p>
        </p:txBody>
      </p:sp>
      <p:cxnSp>
        <p:nvCxnSpPr>
          <p:cNvPr id="7" name="N57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57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57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N57</a:t>
            </a:r>
          </a:p>
        </p:txBody>
      </p:sp>
      <p:sp>
        <p:nvSpPr>
          <p:cNvPr id="10" name="N57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47</a:t>
            </a:r>
          </a:p>
        </p:txBody>
      </p:sp>
      <p:grpSp>
        <p:nvGrpSpPr>
          <p:cNvPr id="11" name="N57/settings-Privacy"/>
          <p:cNvGrpSpPr/>
          <p:nvPr/>
        </p:nvGrpSpPr>
        <p:grpSpPr>
          <a:xfrm>
            <a:off x="502920" y="1627632"/>
            <a:ext cx="7635240" cy="4389120"/>
            <a:chOff x="502920" y="1627632"/>
            <a:chExt cx="7635240" cy="4389120"/>
          </a:xfrm>
        </p:grpSpPr>
        <p:sp>
          <p:nvSpPr>
            <p:cNvPr id="12" name="N57/settings-Privacy/adw-window/001"/>
            <p:cNvSpPr/>
            <p:nvPr/>
          </p:nvSpPr>
          <p:spPr>
            <a:xfrm>
              <a:off x="502920" y="1627632"/>
              <a:ext cx="7635240" cy="4389120"/>
            </a:xfrm>
            <a:prstGeom prst="roundRect">
              <a:avLst>
                <a:gd name="adj" fmla="val 2500"/>
              </a:avLst>
            </a:prstGeom>
            <a:solidFill>
              <a:srgbClr val="242428"/>
            </a:solidFill>
            <a:ln w="12700">
              <a:solidFill>
                <a:srgbClr val="45454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57/settings-Privacy/adw-header/002"/>
            <p:cNvSpPr/>
            <p:nvPr/>
          </p:nvSpPr>
          <p:spPr>
            <a:xfrm>
              <a:off x="502920" y="1627632"/>
              <a:ext cx="7635240" cy="420624"/>
            </a:xfrm>
            <a:prstGeom prst="roundRect">
              <a:avLst>
                <a:gd name="adj" fmla="val 26086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57/settings-Privacy/rect/003"/>
            <p:cNvSpPr/>
            <p:nvPr/>
          </p:nvSpPr>
          <p:spPr>
            <a:xfrm>
              <a:off x="502920" y="1847088"/>
              <a:ext cx="7635240" cy="201168"/>
            </a:xfrm>
            <a:prstGeom prst="rect">
              <a:avLst/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57/settings-Privacy/text/004"/>
            <p:cNvSpPr txBox="1"/>
            <p:nvPr/>
          </p:nvSpPr>
          <p:spPr>
            <a:xfrm>
              <a:off x="685800" y="1627632"/>
              <a:ext cx="7269479" cy="4206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FFFFF"/>
                  </a:solidFill>
                  <a:latin typeface="Arial"/>
                </a:rPr>
                <a:t>Notch Preferences</a:t>
              </a:r>
            </a:p>
          </p:txBody>
        </p:sp>
        <p:sp>
          <p:nvSpPr>
            <p:cNvPr id="16" name="N57/settings-Privacy/ellipse/005"/>
            <p:cNvSpPr/>
            <p:nvPr/>
          </p:nvSpPr>
          <p:spPr>
            <a:xfrm>
              <a:off x="7827264" y="1764792"/>
              <a:ext cx="146304" cy="146304"/>
            </a:xfrm>
            <a:prstGeom prst="ellipse">
              <a:avLst/>
            </a:prstGeom>
            <a:noFill/>
            <a:ln w="12700">
              <a:solidFill>
                <a:srgbClr val="C0BFB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N57/settings-Privacy/rect/006"/>
            <p:cNvSpPr/>
            <p:nvPr/>
          </p:nvSpPr>
          <p:spPr>
            <a:xfrm>
              <a:off x="681228" y="2157984"/>
              <a:ext cx="173736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N57/settings-Privacy/text/007"/>
            <p:cNvSpPr txBox="1"/>
            <p:nvPr/>
          </p:nvSpPr>
          <p:spPr>
            <a:xfrm>
              <a:off x="681228" y="2157984"/>
              <a:ext cx="173736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Appearance</a:t>
              </a:r>
            </a:p>
          </p:txBody>
        </p:sp>
        <p:sp>
          <p:nvSpPr>
            <p:cNvPr id="19" name="N57/settings-Privacy/rect/008"/>
            <p:cNvSpPr/>
            <p:nvPr/>
          </p:nvSpPr>
          <p:spPr>
            <a:xfrm>
              <a:off x="2528316" y="2157984"/>
              <a:ext cx="173736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57/settings-Privacy/text/009"/>
            <p:cNvSpPr txBox="1"/>
            <p:nvPr/>
          </p:nvSpPr>
          <p:spPr>
            <a:xfrm>
              <a:off x="2528316" y="2157984"/>
              <a:ext cx="173736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Behavior</a:t>
              </a:r>
            </a:p>
          </p:txBody>
        </p:sp>
        <p:sp>
          <p:nvSpPr>
            <p:cNvPr id="21" name="N57/settings-Privacy/rect/010"/>
            <p:cNvSpPr/>
            <p:nvPr/>
          </p:nvSpPr>
          <p:spPr>
            <a:xfrm>
              <a:off x="4375404" y="2157984"/>
              <a:ext cx="1737360" cy="310896"/>
            </a:xfrm>
            <a:prstGeom prst="roundRect">
              <a:avLst>
                <a:gd name="adj" fmla="val 23529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57/settings-Privacy/text/011"/>
            <p:cNvSpPr txBox="1"/>
            <p:nvPr/>
          </p:nvSpPr>
          <p:spPr>
            <a:xfrm>
              <a:off x="4375404" y="2157984"/>
              <a:ext cx="173736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FFFFFF"/>
                  </a:solidFill>
                  <a:latin typeface="Arial"/>
                </a:rPr>
                <a:t>Privacy</a:t>
              </a:r>
            </a:p>
          </p:txBody>
        </p:sp>
        <p:sp>
          <p:nvSpPr>
            <p:cNvPr id="23" name="N57/settings-Privacy/text/012"/>
            <p:cNvSpPr txBox="1"/>
            <p:nvPr/>
          </p:nvSpPr>
          <p:spPr>
            <a:xfrm>
              <a:off x="822960" y="2615184"/>
              <a:ext cx="6995159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FFFFFF"/>
                  </a:solidFill>
                  <a:latin typeface="Arial"/>
                </a:rPr>
                <a:t>Clipboard history</a:t>
              </a:r>
            </a:p>
          </p:txBody>
        </p:sp>
        <p:sp>
          <p:nvSpPr>
            <p:cNvPr id="24" name="N57/settings-Privacy/text/013"/>
            <p:cNvSpPr txBox="1"/>
            <p:nvPr/>
          </p:nvSpPr>
          <p:spPr>
            <a:xfrm>
              <a:off x="822960" y="2852928"/>
              <a:ext cx="6995159" cy="31089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i="0">
                  <a:solidFill>
                    <a:srgbClr val="C0BFBC"/>
                  </a:solidFill>
                  <a:latin typeface="Arial"/>
                </a:rPr>
                <a:t>RAM-only, cleared on lock/disable. Keep off when handling secrets.</a:t>
              </a:r>
            </a:p>
          </p:txBody>
        </p:sp>
        <p:sp>
          <p:nvSpPr>
            <p:cNvPr id="25" name="N57/settings-Privacy/adw-group/014"/>
            <p:cNvSpPr/>
            <p:nvPr/>
          </p:nvSpPr>
          <p:spPr>
            <a:xfrm>
              <a:off x="777240" y="3127248"/>
              <a:ext cx="7086600" cy="1042416"/>
            </a:xfrm>
            <a:prstGeom prst="roundRect">
              <a:avLst>
                <a:gd name="adj" fmla="val 8771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N57/settings-Privacy/text/015"/>
            <p:cNvSpPr txBox="1"/>
            <p:nvPr/>
          </p:nvSpPr>
          <p:spPr>
            <a:xfrm>
              <a:off x="941832" y="3163823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Remember copied text</a:t>
              </a:r>
            </a:p>
          </p:txBody>
        </p:sp>
        <p:sp>
          <p:nvSpPr>
            <p:cNvPr id="27" name="N57/settings-Privacy/rect/016"/>
            <p:cNvSpPr/>
            <p:nvPr/>
          </p:nvSpPr>
          <p:spPr>
            <a:xfrm>
              <a:off x="7132320" y="3218687"/>
              <a:ext cx="384048" cy="201168"/>
            </a:xfrm>
            <a:prstGeom prst="roundRect">
              <a:avLst>
                <a:gd name="adj" fmla="val 50000"/>
              </a:avLst>
            </a:prstGeom>
            <a:solidFill>
              <a:srgbClr val="5E5C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N57/settings-Privacy/ellipse/017"/>
            <p:cNvSpPr/>
            <p:nvPr/>
          </p:nvSpPr>
          <p:spPr>
            <a:xfrm>
              <a:off x="7150608" y="3236975"/>
              <a:ext cx="164592" cy="1645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9" name="N57/settings-Privacy/line/018"/>
            <p:cNvCxnSpPr/>
            <p:nvPr/>
          </p:nvCxnSpPr>
          <p:spPr>
            <a:xfrm>
              <a:off x="941832" y="3483863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N57/settings-Privacy/text/019"/>
            <p:cNvSpPr txBox="1"/>
            <p:nvPr/>
          </p:nvSpPr>
          <p:spPr>
            <a:xfrm>
              <a:off x="941832" y="3493007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History size</a:t>
              </a:r>
            </a:p>
          </p:txBody>
        </p:sp>
        <p:sp>
          <p:nvSpPr>
            <p:cNvPr id="31" name="N57/settings-Privacy/rect/020"/>
            <p:cNvSpPr/>
            <p:nvPr/>
          </p:nvSpPr>
          <p:spPr>
            <a:xfrm>
              <a:off x="6537960" y="3520439"/>
              <a:ext cx="10058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57/settings-Privacy/text/021"/>
            <p:cNvSpPr txBox="1"/>
            <p:nvPr/>
          </p:nvSpPr>
          <p:spPr>
            <a:xfrm>
              <a:off x="6537960" y="3520439"/>
              <a:ext cx="68580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20</a:t>
              </a:r>
            </a:p>
          </p:txBody>
        </p:sp>
        <p:sp>
          <p:nvSpPr>
            <p:cNvPr id="33" name="N57/settings-Privacy/text/022"/>
            <p:cNvSpPr txBox="1"/>
            <p:nvPr/>
          </p:nvSpPr>
          <p:spPr>
            <a:xfrm>
              <a:off x="7251192" y="3520439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−</a:t>
              </a:r>
            </a:p>
          </p:txBody>
        </p:sp>
        <p:sp>
          <p:nvSpPr>
            <p:cNvPr id="34" name="N57/settings-Privacy/text/023"/>
            <p:cNvSpPr txBox="1"/>
            <p:nvPr/>
          </p:nvSpPr>
          <p:spPr>
            <a:xfrm>
              <a:off x="7397496" y="3520439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+</a:t>
              </a:r>
            </a:p>
          </p:txBody>
        </p:sp>
        <p:cxnSp>
          <p:nvCxnSpPr>
            <p:cNvPr id="35" name="N57/settings-Privacy/line/024"/>
            <p:cNvCxnSpPr/>
            <p:nvPr/>
          </p:nvCxnSpPr>
          <p:spPr>
            <a:xfrm>
              <a:off x="941832" y="3813048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N57/settings-Privacy/text/025"/>
            <p:cNvSpPr txBox="1"/>
            <p:nvPr/>
          </p:nvSpPr>
          <p:spPr>
            <a:xfrm>
              <a:off x="941832" y="3822191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Clear clipboard history</a:t>
              </a:r>
            </a:p>
          </p:txBody>
        </p:sp>
        <p:sp>
          <p:nvSpPr>
            <p:cNvPr id="37" name="N57/settings-Privacy/text/026"/>
            <p:cNvSpPr txBox="1"/>
            <p:nvPr/>
          </p:nvSpPr>
          <p:spPr>
            <a:xfrm>
              <a:off x="941832" y="3986784"/>
              <a:ext cx="4846320" cy="1280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 b="0" i="0">
                  <a:solidFill>
                    <a:srgbClr val="C0BFBC"/>
                  </a:solidFill>
                  <a:latin typeface="Arial"/>
                </a:rPr>
                <a:t>Does not erase the current system clipboard</a:t>
              </a:r>
            </a:p>
          </p:txBody>
        </p:sp>
        <p:sp>
          <p:nvSpPr>
            <p:cNvPr id="38" name="N57/settings-Privacy/rect/027"/>
            <p:cNvSpPr/>
            <p:nvPr/>
          </p:nvSpPr>
          <p:spPr>
            <a:xfrm>
              <a:off x="6766560" y="3849624"/>
              <a:ext cx="7772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57/settings-Privacy/text/028"/>
            <p:cNvSpPr txBox="1"/>
            <p:nvPr/>
          </p:nvSpPr>
          <p:spPr>
            <a:xfrm>
              <a:off x="6766560" y="3849624"/>
              <a:ext cx="77724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Clear</a:t>
              </a:r>
            </a:p>
          </p:txBody>
        </p:sp>
        <p:sp>
          <p:nvSpPr>
            <p:cNvPr id="40" name="N57/settings-Privacy/text/029"/>
            <p:cNvSpPr txBox="1"/>
            <p:nvPr/>
          </p:nvSpPr>
          <p:spPr>
            <a:xfrm>
              <a:off x="822960" y="4334256"/>
              <a:ext cx="6995159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FFFFFF"/>
                  </a:solidFill>
                  <a:latin typeface="Arial"/>
                </a:rPr>
                <a:t>File shelf</a:t>
              </a:r>
            </a:p>
          </p:txBody>
        </p:sp>
        <p:sp>
          <p:nvSpPr>
            <p:cNvPr id="41" name="N57/settings-Privacy/text/030"/>
            <p:cNvSpPr txBox="1"/>
            <p:nvPr/>
          </p:nvSpPr>
          <p:spPr>
            <a:xfrm>
              <a:off x="822960" y="4572000"/>
              <a:ext cx="6995159" cy="31089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i="0">
                  <a:solidFill>
                    <a:srgbClr val="C0BFBC"/>
                  </a:solidFill>
                  <a:latin typeface="Arial"/>
                </a:rPr>
                <a:t>Stores local file references only. Originals are never moved or deleted.</a:t>
              </a:r>
            </a:p>
          </p:txBody>
        </p:sp>
        <p:sp>
          <p:nvSpPr>
            <p:cNvPr id="42" name="N57/settings-Privacy/adw-group/031"/>
            <p:cNvSpPr/>
            <p:nvPr/>
          </p:nvSpPr>
          <p:spPr>
            <a:xfrm>
              <a:off x="777240" y="4846320"/>
              <a:ext cx="7086600" cy="384048"/>
            </a:xfrm>
            <a:prstGeom prst="roundRect">
              <a:avLst>
                <a:gd name="adj" fmla="val 23809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N57/settings-Privacy/text/032"/>
            <p:cNvSpPr txBox="1"/>
            <p:nvPr/>
          </p:nvSpPr>
          <p:spPr>
            <a:xfrm>
              <a:off x="941832" y="4882896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Companion app</a:t>
              </a:r>
            </a:p>
          </p:txBody>
        </p:sp>
        <p:sp>
          <p:nvSpPr>
            <p:cNvPr id="44" name="N57/settings-Privacy/text/033"/>
            <p:cNvSpPr txBox="1"/>
            <p:nvPr/>
          </p:nvSpPr>
          <p:spPr>
            <a:xfrm>
              <a:off x="941832" y="5047488"/>
              <a:ext cx="4846320" cy="1280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 b="0" i="0">
                  <a:solidFill>
                    <a:srgbClr val="C0BFBC"/>
                  </a:solidFill>
                  <a:latin typeface="Arial"/>
                </a:rPr>
                <a:t>File chooser, shelf tools and installation status</a:t>
              </a:r>
            </a:p>
          </p:txBody>
        </p:sp>
        <p:sp>
          <p:nvSpPr>
            <p:cNvPr id="45" name="N57/settings-Privacy/rect/034"/>
            <p:cNvSpPr/>
            <p:nvPr/>
          </p:nvSpPr>
          <p:spPr>
            <a:xfrm>
              <a:off x="6766560" y="4910328"/>
              <a:ext cx="7772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N57/settings-Privacy/text/035"/>
            <p:cNvSpPr txBox="1"/>
            <p:nvPr/>
          </p:nvSpPr>
          <p:spPr>
            <a:xfrm>
              <a:off x="6766560" y="4910328"/>
              <a:ext cx="77724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Open</a:t>
              </a:r>
            </a:p>
          </p:txBody>
        </p:sp>
        <p:sp>
          <p:nvSpPr>
            <p:cNvPr id="47" name="N57/settings-Privacy/rect/036"/>
            <p:cNvSpPr/>
            <p:nvPr/>
          </p:nvSpPr>
          <p:spPr>
            <a:xfrm>
              <a:off x="8028432" y="2633472"/>
              <a:ext cx="45720" cy="3200400"/>
            </a:xfrm>
            <a:prstGeom prst="roundRect">
              <a:avLst>
                <a:gd name="adj" fmla="val 50000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N57/settings-Privacy/rect/037"/>
            <p:cNvSpPr/>
            <p:nvPr/>
          </p:nvSpPr>
          <p:spPr>
            <a:xfrm>
              <a:off x="8028432" y="2724912"/>
              <a:ext cx="45720" cy="914400"/>
            </a:xfrm>
            <a:prstGeom prst="roundRect">
              <a:avLst>
                <a:gd name="adj" fmla="val 50000"/>
              </a:avLst>
            </a:prstGeom>
            <a:solidFill>
              <a:srgbClr val="7776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9" name="N57/spec-panel/010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N57/text/011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51" name="N57/ellipse/012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N57/text/013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Inline page title: Privacy</a:t>
            </a:r>
          </a:p>
        </p:txBody>
      </p:sp>
      <p:sp>
        <p:nvSpPr>
          <p:cNvPr id="53" name="N57/ellipse/014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N57/text/015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No reference-path row inline</a:t>
            </a:r>
          </a:p>
        </p:txBody>
      </p:sp>
      <p:sp>
        <p:nvSpPr>
          <p:cNvPr id="55" name="N57/ellipse/016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N57/text/017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Companion app launcher row</a:t>
            </a:r>
          </a:p>
        </p:txBody>
      </p:sp>
      <p:sp>
        <p:nvSpPr>
          <p:cNvPr id="57" name="N57/ellipse/018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N57/text/019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Shared clipboard keys</a:t>
            </a:r>
          </a:p>
        </p:txBody>
      </p:sp>
      <p:cxnSp>
        <p:nvCxnSpPr>
          <p:cNvPr id="59" name="N57/line/020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N57/text/021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61" name="N57/edit-box/022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N57/edit-note/023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Inline privacy wording / launcher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35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35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35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SETTINGS · PRIVACY</a:t>
            </a:r>
          </a:p>
        </p:txBody>
      </p:sp>
      <p:sp>
        <p:nvSpPr>
          <p:cNvPr id="5" name="N35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Companion Privacy &amp; shelf</a:t>
            </a:r>
          </a:p>
        </p:txBody>
      </p:sp>
      <p:sp>
        <p:nvSpPr>
          <p:cNvPr id="6" name="N35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Reference-list path + Choose files action</a:t>
            </a:r>
          </a:p>
        </p:txBody>
      </p:sp>
      <p:cxnSp>
        <p:nvCxnSpPr>
          <p:cNvPr id="7" name="N35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35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35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N35</a:t>
            </a:r>
          </a:p>
        </p:txBody>
      </p:sp>
      <p:sp>
        <p:nvSpPr>
          <p:cNvPr id="10" name="N35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48</a:t>
            </a:r>
          </a:p>
        </p:txBody>
      </p:sp>
      <p:grpSp>
        <p:nvGrpSpPr>
          <p:cNvPr id="11" name="N35/settings-Privacy &amp; shelf"/>
          <p:cNvGrpSpPr/>
          <p:nvPr/>
        </p:nvGrpSpPr>
        <p:grpSpPr>
          <a:xfrm>
            <a:off x="502920" y="1627632"/>
            <a:ext cx="7635240" cy="4389120"/>
            <a:chOff x="502920" y="1627632"/>
            <a:chExt cx="7635240" cy="4389120"/>
          </a:xfrm>
        </p:grpSpPr>
        <p:sp>
          <p:nvSpPr>
            <p:cNvPr id="12" name="N35/settings-Privacy &amp; shelf/adw-window/001"/>
            <p:cNvSpPr/>
            <p:nvPr/>
          </p:nvSpPr>
          <p:spPr>
            <a:xfrm>
              <a:off x="502920" y="1627632"/>
              <a:ext cx="7635240" cy="4389120"/>
            </a:xfrm>
            <a:prstGeom prst="roundRect">
              <a:avLst>
                <a:gd name="adj" fmla="val 2500"/>
              </a:avLst>
            </a:prstGeom>
            <a:solidFill>
              <a:srgbClr val="242428"/>
            </a:solidFill>
            <a:ln w="12700">
              <a:solidFill>
                <a:srgbClr val="45454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35/settings-Privacy &amp; shelf/adw-header/002"/>
            <p:cNvSpPr/>
            <p:nvPr/>
          </p:nvSpPr>
          <p:spPr>
            <a:xfrm>
              <a:off x="502920" y="1627632"/>
              <a:ext cx="7635240" cy="420624"/>
            </a:xfrm>
            <a:prstGeom prst="roundRect">
              <a:avLst>
                <a:gd name="adj" fmla="val 26086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35/settings-Privacy &amp; shelf/rect/003"/>
            <p:cNvSpPr/>
            <p:nvPr/>
          </p:nvSpPr>
          <p:spPr>
            <a:xfrm>
              <a:off x="502920" y="1847088"/>
              <a:ext cx="7635240" cy="201168"/>
            </a:xfrm>
            <a:prstGeom prst="rect">
              <a:avLst/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35/settings-Privacy &amp; shelf/text/004"/>
            <p:cNvSpPr txBox="1"/>
            <p:nvPr/>
          </p:nvSpPr>
          <p:spPr>
            <a:xfrm>
              <a:off x="685800" y="1627632"/>
              <a:ext cx="7269479" cy="4206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FFFFF"/>
                  </a:solidFill>
                  <a:latin typeface="Arial"/>
                </a:rPr>
                <a:t>Notch</a:t>
              </a:r>
            </a:p>
          </p:txBody>
        </p:sp>
        <p:sp>
          <p:nvSpPr>
            <p:cNvPr id="16" name="N35/settings-Privacy &amp; shelf/ellipse/005"/>
            <p:cNvSpPr/>
            <p:nvPr/>
          </p:nvSpPr>
          <p:spPr>
            <a:xfrm>
              <a:off x="7827264" y="1764792"/>
              <a:ext cx="146304" cy="146304"/>
            </a:xfrm>
            <a:prstGeom prst="ellipse">
              <a:avLst/>
            </a:prstGeom>
            <a:noFill/>
            <a:ln w="12700">
              <a:solidFill>
                <a:srgbClr val="C0BFB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N35/settings-Privacy &amp; shelf/rect/006"/>
            <p:cNvSpPr/>
            <p:nvPr/>
          </p:nvSpPr>
          <p:spPr>
            <a:xfrm>
              <a:off x="1321307" y="2157984"/>
              <a:ext cx="141732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N35/settings-Privacy &amp; shelf/text/007"/>
            <p:cNvSpPr txBox="1"/>
            <p:nvPr/>
          </p:nvSpPr>
          <p:spPr>
            <a:xfrm>
              <a:off x="1321307" y="2157984"/>
              <a:ext cx="141732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Appearance</a:t>
              </a:r>
            </a:p>
          </p:txBody>
        </p:sp>
        <p:sp>
          <p:nvSpPr>
            <p:cNvPr id="19" name="N35/settings-Privacy &amp; shelf/rect/008"/>
            <p:cNvSpPr/>
            <p:nvPr/>
          </p:nvSpPr>
          <p:spPr>
            <a:xfrm>
              <a:off x="2848356" y="2157984"/>
              <a:ext cx="141732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35/settings-Privacy &amp; shelf/text/009"/>
            <p:cNvSpPr txBox="1"/>
            <p:nvPr/>
          </p:nvSpPr>
          <p:spPr>
            <a:xfrm>
              <a:off x="2848356" y="2157984"/>
              <a:ext cx="141732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Behavior</a:t>
              </a:r>
            </a:p>
          </p:txBody>
        </p:sp>
        <p:sp>
          <p:nvSpPr>
            <p:cNvPr id="21" name="N35/settings-Privacy &amp; shelf/rect/010"/>
            <p:cNvSpPr/>
            <p:nvPr/>
          </p:nvSpPr>
          <p:spPr>
            <a:xfrm>
              <a:off x="4375404" y="2157984"/>
              <a:ext cx="1417320" cy="310896"/>
            </a:xfrm>
            <a:prstGeom prst="roundRect">
              <a:avLst>
                <a:gd name="adj" fmla="val 23529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35/settings-Privacy &amp; shelf/text/011"/>
            <p:cNvSpPr txBox="1"/>
            <p:nvPr/>
          </p:nvSpPr>
          <p:spPr>
            <a:xfrm>
              <a:off x="4375404" y="2157984"/>
              <a:ext cx="141732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FFFFFF"/>
                  </a:solidFill>
                  <a:latin typeface="Arial"/>
                </a:rPr>
                <a:t>Privacy &amp; shelf</a:t>
              </a:r>
            </a:p>
          </p:txBody>
        </p:sp>
        <p:sp>
          <p:nvSpPr>
            <p:cNvPr id="23" name="N35/settings-Privacy &amp; shelf/rect/012"/>
            <p:cNvSpPr/>
            <p:nvPr/>
          </p:nvSpPr>
          <p:spPr>
            <a:xfrm>
              <a:off x="5902452" y="2157984"/>
              <a:ext cx="141732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N35/settings-Privacy &amp; shelf/text/013"/>
            <p:cNvSpPr txBox="1"/>
            <p:nvPr/>
          </p:nvSpPr>
          <p:spPr>
            <a:xfrm>
              <a:off x="5902452" y="2157984"/>
              <a:ext cx="141732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About</a:t>
              </a:r>
            </a:p>
          </p:txBody>
        </p:sp>
        <p:sp>
          <p:nvSpPr>
            <p:cNvPr id="25" name="N35/settings-Privacy &amp; shelf/text/014"/>
            <p:cNvSpPr txBox="1"/>
            <p:nvPr/>
          </p:nvSpPr>
          <p:spPr>
            <a:xfrm>
              <a:off x="822960" y="2615184"/>
              <a:ext cx="6995159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FFFFFF"/>
                  </a:solidFill>
                  <a:latin typeface="Arial"/>
                </a:rPr>
                <a:t>Clipboard history</a:t>
              </a:r>
            </a:p>
          </p:txBody>
        </p:sp>
        <p:sp>
          <p:nvSpPr>
            <p:cNvPr id="26" name="N35/settings-Privacy &amp; shelf/text/015"/>
            <p:cNvSpPr txBox="1"/>
            <p:nvPr/>
          </p:nvSpPr>
          <p:spPr>
            <a:xfrm>
              <a:off x="822960" y="2852928"/>
              <a:ext cx="6995159" cy="31089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i="0">
                  <a:solidFill>
                    <a:srgbClr val="C0BFBC"/>
                  </a:solidFill>
                  <a:latin typeface="Arial"/>
                </a:rPr>
                <a:t>RAM-only, bounded, cleared on lock/disable. Keep off when handling secrets.</a:t>
              </a:r>
            </a:p>
          </p:txBody>
        </p:sp>
        <p:sp>
          <p:nvSpPr>
            <p:cNvPr id="27" name="N35/settings-Privacy &amp; shelf/adw-group/016"/>
            <p:cNvSpPr/>
            <p:nvPr/>
          </p:nvSpPr>
          <p:spPr>
            <a:xfrm>
              <a:off x="777240" y="3127248"/>
              <a:ext cx="7086600" cy="1042416"/>
            </a:xfrm>
            <a:prstGeom prst="roundRect">
              <a:avLst>
                <a:gd name="adj" fmla="val 8771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N35/settings-Privacy &amp; shelf/text/017"/>
            <p:cNvSpPr txBox="1"/>
            <p:nvPr/>
          </p:nvSpPr>
          <p:spPr>
            <a:xfrm>
              <a:off x="941832" y="3163823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Remember copied text</a:t>
              </a:r>
            </a:p>
          </p:txBody>
        </p:sp>
        <p:sp>
          <p:nvSpPr>
            <p:cNvPr id="29" name="N35/settings-Privacy &amp; shelf/rect/018"/>
            <p:cNvSpPr/>
            <p:nvPr/>
          </p:nvSpPr>
          <p:spPr>
            <a:xfrm>
              <a:off x="7132320" y="3218687"/>
              <a:ext cx="384048" cy="201168"/>
            </a:xfrm>
            <a:prstGeom prst="roundRect">
              <a:avLst>
                <a:gd name="adj" fmla="val 50000"/>
              </a:avLst>
            </a:prstGeom>
            <a:solidFill>
              <a:srgbClr val="5E5C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N35/settings-Privacy &amp; shelf/ellipse/019"/>
            <p:cNvSpPr/>
            <p:nvPr/>
          </p:nvSpPr>
          <p:spPr>
            <a:xfrm>
              <a:off x="7150608" y="3236975"/>
              <a:ext cx="164592" cy="1645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N35/settings-Privacy &amp; shelf/line/020"/>
            <p:cNvCxnSpPr/>
            <p:nvPr/>
          </p:nvCxnSpPr>
          <p:spPr>
            <a:xfrm>
              <a:off x="941832" y="3483863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N35/settings-Privacy &amp; shelf/text/021"/>
            <p:cNvSpPr txBox="1"/>
            <p:nvPr/>
          </p:nvSpPr>
          <p:spPr>
            <a:xfrm>
              <a:off x="941832" y="3493007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History size</a:t>
              </a:r>
            </a:p>
          </p:txBody>
        </p:sp>
        <p:sp>
          <p:nvSpPr>
            <p:cNvPr id="33" name="N35/settings-Privacy &amp; shelf/text/022"/>
            <p:cNvSpPr txBox="1"/>
            <p:nvPr/>
          </p:nvSpPr>
          <p:spPr>
            <a:xfrm>
              <a:off x="941832" y="3657599"/>
              <a:ext cx="4846320" cy="1280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 b="0" i="0">
                  <a:solidFill>
                    <a:srgbClr val="C0BFBC"/>
                  </a:solidFill>
                  <a:latin typeface="Arial"/>
                </a:rPr>
                <a:t>Entries</a:t>
              </a:r>
            </a:p>
          </p:txBody>
        </p:sp>
        <p:sp>
          <p:nvSpPr>
            <p:cNvPr id="34" name="N35/settings-Privacy &amp; shelf/rect/023"/>
            <p:cNvSpPr/>
            <p:nvPr/>
          </p:nvSpPr>
          <p:spPr>
            <a:xfrm>
              <a:off x="6537960" y="3520439"/>
              <a:ext cx="10058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35/settings-Privacy &amp; shelf/text/024"/>
            <p:cNvSpPr txBox="1"/>
            <p:nvPr/>
          </p:nvSpPr>
          <p:spPr>
            <a:xfrm>
              <a:off x="6537960" y="3520439"/>
              <a:ext cx="68580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20</a:t>
              </a:r>
            </a:p>
          </p:txBody>
        </p:sp>
        <p:sp>
          <p:nvSpPr>
            <p:cNvPr id="36" name="N35/settings-Privacy &amp; shelf/text/025"/>
            <p:cNvSpPr txBox="1"/>
            <p:nvPr/>
          </p:nvSpPr>
          <p:spPr>
            <a:xfrm>
              <a:off x="7251192" y="3520439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−</a:t>
              </a:r>
            </a:p>
          </p:txBody>
        </p:sp>
        <p:sp>
          <p:nvSpPr>
            <p:cNvPr id="37" name="N35/settings-Privacy &amp; shelf/text/026"/>
            <p:cNvSpPr txBox="1"/>
            <p:nvPr/>
          </p:nvSpPr>
          <p:spPr>
            <a:xfrm>
              <a:off x="7397496" y="3520439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+</a:t>
              </a:r>
            </a:p>
          </p:txBody>
        </p:sp>
        <p:cxnSp>
          <p:nvCxnSpPr>
            <p:cNvPr id="38" name="N35/settings-Privacy &amp; shelf/line/027"/>
            <p:cNvCxnSpPr/>
            <p:nvPr/>
          </p:nvCxnSpPr>
          <p:spPr>
            <a:xfrm>
              <a:off x="941832" y="3813048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N35/settings-Privacy &amp; shelf/text/028"/>
            <p:cNvSpPr txBox="1"/>
            <p:nvPr/>
          </p:nvSpPr>
          <p:spPr>
            <a:xfrm>
              <a:off x="941832" y="3822191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Clear clipboard history</a:t>
              </a:r>
            </a:p>
          </p:txBody>
        </p:sp>
        <p:sp>
          <p:nvSpPr>
            <p:cNvPr id="40" name="N35/settings-Privacy &amp; shelf/text/029"/>
            <p:cNvSpPr txBox="1"/>
            <p:nvPr/>
          </p:nvSpPr>
          <p:spPr>
            <a:xfrm>
              <a:off x="941832" y="3986784"/>
              <a:ext cx="4846320" cy="1280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 b="0" i="0">
                  <a:solidFill>
                    <a:srgbClr val="C0BFBC"/>
                  </a:solidFill>
                  <a:latin typeface="Arial"/>
                </a:rPr>
                <a:t>Does not erase the current system clipboard</a:t>
              </a:r>
            </a:p>
          </p:txBody>
        </p:sp>
        <p:sp>
          <p:nvSpPr>
            <p:cNvPr id="41" name="N35/settings-Privacy &amp; shelf/rect/030"/>
            <p:cNvSpPr/>
            <p:nvPr/>
          </p:nvSpPr>
          <p:spPr>
            <a:xfrm>
              <a:off x="6766560" y="3849624"/>
              <a:ext cx="7772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N35/settings-Privacy &amp; shelf/text/031"/>
            <p:cNvSpPr txBox="1"/>
            <p:nvPr/>
          </p:nvSpPr>
          <p:spPr>
            <a:xfrm>
              <a:off x="6766560" y="3849624"/>
              <a:ext cx="77724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Clear</a:t>
              </a:r>
            </a:p>
          </p:txBody>
        </p:sp>
        <p:sp>
          <p:nvSpPr>
            <p:cNvPr id="43" name="N35/settings-Privacy &amp; shelf/text/032"/>
            <p:cNvSpPr txBox="1"/>
            <p:nvPr/>
          </p:nvSpPr>
          <p:spPr>
            <a:xfrm>
              <a:off x="822960" y="4334256"/>
              <a:ext cx="6995159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FFFFFF"/>
                  </a:solidFill>
                  <a:latin typeface="Arial"/>
                </a:rPr>
                <a:t>File shelf</a:t>
              </a:r>
            </a:p>
          </p:txBody>
        </p:sp>
        <p:sp>
          <p:nvSpPr>
            <p:cNvPr id="44" name="N35/settings-Privacy &amp; shelf/text/033"/>
            <p:cNvSpPr txBox="1"/>
            <p:nvPr/>
          </p:nvSpPr>
          <p:spPr>
            <a:xfrm>
              <a:off x="822960" y="4572000"/>
              <a:ext cx="6995159" cy="31089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i="0">
                  <a:solidFill>
                    <a:srgbClr val="C0BFBC"/>
                  </a:solidFill>
                  <a:latin typeface="Arial"/>
                </a:rPr>
                <a:t>Local file references only. Originals are never moved or deleted.</a:t>
              </a:r>
            </a:p>
          </p:txBody>
        </p:sp>
        <p:sp>
          <p:nvSpPr>
            <p:cNvPr id="45" name="N35/settings-Privacy &amp; shelf/adw-group/034"/>
            <p:cNvSpPr/>
            <p:nvPr/>
          </p:nvSpPr>
          <p:spPr>
            <a:xfrm>
              <a:off x="777240" y="4846320"/>
              <a:ext cx="7086600" cy="713232"/>
            </a:xfrm>
            <a:prstGeom prst="roundRect">
              <a:avLst>
                <a:gd name="adj" fmla="val 12820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N35/settings-Privacy &amp; shelf/text/035"/>
            <p:cNvSpPr txBox="1"/>
            <p:nvPr/>
          </p:nvSpPr>
          <p:spPr>
            <a:xfrm>
              <a:off x="941832" y="4882896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Reference list</a:t>
              </a:r>
            </a:p>
          </p:txBody>
        </p:sp>
        <p:sp>
          <p:nvSpPr>
            <p:cNvPr id="47" name="N35/settings-Privacy &amp; shelf/text/036"/>
            <p:cNvSpPr txBox="1"/>
            <p:nvPr/>
          </p:nvSpPr>
          <p:spPr>
            <a:xfrm>
              <a:off x="5852160" y="4910328"/>
              <a:ext cx="192024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0" i="0">
                  <a:solidFill>
                    <a:srgbClr val="C0BFBC"/>
                  </a:solidFill>
                  <a:latin typeface="Arial"/>
                </a:rPr>
                <a:t>~/.local/state/notch/shelf.json</a:t>
              </a:r>
            </a:p>
          </p:txBody>
        </p:sp>
        <p:cxnSp>
          <p:nvCxnSpPr>
            <p:cNvPr id="48" name="N35/settings-Privacy &amp; shelf/line/037"/>
            <p:cNvCxnSpPr/>
            <p:nvPr/>
          </p:nvCxnSpPr>
          <p:spPr>
            <a:xfrm>
              <a:off x="941832" y="5202936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N35/settings-Privacy &amp; shelf/text/038"/>
            <p:cNvSpPr txBox="1"/>
            <p:nvPr/>
          </p:nvSpPr>
          <p:spPr>
            <a:xfrm>
              <a:off x="941832" y="5212080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Add files</a:t>
              </a:r>
            </a:p>
          </p:txBody>
        </p:sp>
        <p:sp>
          <p:nvSpPr>
            <p:cNvPr id="50" name="N35/settings-Privacy &amp; shelf/text/039"/>
            <p:cNvSpPr txBox="1"/>
            <p:nvPr/>
          </p:nvSpPr>
          <p:spPr>
            <a:xfrm>
              <a:off x="941832" y="5376672"/>
              <a:ext cx="4846320" cy="1280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 b="0" i="0">
                  <a:solidFill>
                    <a:srgbClr val="C0BFBC"/>
                  </a:solidFill>
                  <a:latin typeface="Arial"/>
                </a:rPr>
                <a:t>GTK file chooser / desktop portal</a:t>
              </a:r>
            </a:p>
          </p:txBody>
        </p:sp>
        <p:sp>
          <p:nvSpPr>
            <p:cNvPr id="51" name="N35/settings-Privacy &amp; shelf/rect/040"/>
            <p:cNvSpPr/>
            <p:nvPr/>
          </p:nvSpPr>
          <p:spPr>
            <a:xfrm>
              <a:off x="6766560" y="5239512"/>
              <a:ext cx="7772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N35/settings-Privacy &amp; shelf/text/041"/>
            <p:cNvSpPr txBox="1"/>
            <p:nvPr/>
          </p:nvSpPr>
          <p:spPr>
            <a:xfrm>
              <a:off x="6766560" y="5239512"/>
              <a:ext cx="77724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Choose files</a:t>
              </a:r>
            </a:p>
          </p:txBody>
        </p:sp>
        <p:sp>
          <p:nvSpPr>
            <p:cNvPr id="53" name="N35/settings-Privacy &amp; shelf/rect/042"/>
            <p:cNvSpPr/>
            <p:nvPr/>
          </p:nvSpPr>
          <p:spPr>
            <a:xfrm>
              <a:off x="8028432" y="2633472"/>
              <a:ext cx="45720" cy="3200400"/>
            </a:xfrm>
            <a:prstGeom prst="roundRect">
              <a:avLst>
                <a:gd name="adj" fmla="val 50000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N35/settings-Privacy &amp; shelf/rect/043"/>
            <p:cNvSpPr/>
            <p:nvPr/>
          </p:nvSpPr>
          <p:spPr>
            <a:xfrm>
              <a:off x="8028432" y="2724912"/>
              <a:ext cx="45720" cy="914400"/>
            </a:xfrm>
            <a:prstGeom prst="roundRect">
              <a:avLst>
                <a:gd name="adj" fmla="val 50000"/>
              </a:avLst>
            </a:prstGeom>
            <a:solidFill>
              <a:srgbClr val="7776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5" name="N35/spec-panel/010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N35/text/011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57" name="N35/ellipse/012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N35/text/013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Clipboard off by default</a:t>
            </a:r>
          </a:p>
        </p:txBody>
      </p:sp>
      <p:sp>
        <p:nvSpPr>
          <p:cNvPr id="59" name="N35/ellipse/014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N35/text/015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Limit 5–50, step 5</a:t>
            </a:r>
          </a:p>
        </p:txBody>
      </p:sp>
      <p:sp>
        <p:nvSpPr>
          <p:cNvPr id="61" name="N35/ellipse/016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N35/text/017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64 KiB/item; 1 s capture poll</a:t>
            </a:r>
          </a:p>
        </p:txBody>
      </p:sp>
      <p:sp>
        <p:nvSpPr>
          <p:cNvPr id="63" name="N35/ellipse/018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N35/text/019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Shelf stores references, not copies</a:t>
            </a:r>
          </a:p>
        </p:txBody>
      </p:sp>
      <p:cxnSp>
        <p:nvCxnSpPr>
          <p:cNvPr id="65" name="N35/line/020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N35/text/021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67" name="N35/edit-box/022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N35/edit-note/023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Privacy wording / row order / warnings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36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36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36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SETTINGS · ABOUT</a:t>
            </a:r>
          </a:p>
        </p:txBody>
      </p:sp>
      <p:sp>
        <p:nvSpPr>
          <p:cNvPr id="5" name="N36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About + live status</a:t>
            </a:r>
          </a:p>
        </p:txBody>
      </p:sp>
      <p:sp>
        <p:nvSpPr>
          <p:cNvPr id="6" name="N36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Companion app only</a:t>
            </a:r>
          </a:p>
        </p:txBody>
      </p:sp>
      <p:cxnSp>
        <p:nvCxnSpPr>
          <p:cNvPr id="7" name="N36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36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36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N36</a:t>
            </a:r>
          </a:p>
        </p:txBody>
      </p:sp>
      <p:sp>
        <p:nvSpPr>
          <p:cNvPr id="10" name="N36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49</a:t>
            </a:r>
          </a:p>
        </p:txBody>
      </p:sp>
      <p:grpSp>
        <p:nvGrpSpPr>
          <p:cNvPr id="11" name="N36/settings-About"/>
          <p:cNvGrpSpPr/>
          <p:nvPr/>
        </p:nvGrpSpPr>
        <p:grpSpPr>
          <a:xfrm>
            <a:off x="502920" y="1627632"/>
            <a:ext cx="7635240" cy="4297680"/>
            <a:chOff x="502920" y="1627632"/>
            <a:chExt cx="7635240" cy="4297680"/>
          </a:xfrm>
        </p:grpSpPr>
        <p:sp>
          <p:nvSpPr>
            <p:cNvPr id="12" name="N36/settings-About/adw-window/001"/>
            <p:cNvSpPr/>
            <p:nvPr/>
          </p:nvSpPr>
          <p:spPr>
            <a:xfrm>
              <a:off x="502920" y="1627632"/>
              <a:ext cx="7635240" cy="4297680"/>
            </a:xfrm>
            <a:prstGeom prst="roundRect">
              <a:avLst>
                <a:gd name="adj" fmla="val 2553"/>
              </a:avLst>
            </a:prstGeom>
            <a:solidFill>
              <a:srgbClr val="242428"/>
            </a:solidFill>
            <a:ln w="12700">
              <a:solidFill>
                <a:srgbClr val="45454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36/settings-About/adw-header/002"/>
            <p:cNvSpPr/>
            <p:nvPr/>
          </p:nvSpPr>
          <p:spPr>
            <a:xfrm>
              <a:off x="502920" y="1627632"/>
              <a:ext cx="7635240" cy="420624"/>
            </a:xfrm>
            <a:prstGeom prst="roundRect">
              <a:avLst>
                <a:gd name="adj" fmla="val 26086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36/settings-About/rect/003"/>
            <p:cNvSpPr/>
            <p:nvPr/>
          </p:nvSpPr>
          <p:spPr>
            <a:xfrm>
              <a:off x="502920" y="1847088"/>
              <a:ext cx="7635240" cy="201168"/>
            </a:xfrm>
            <a:prstGeom prst="rect">
              <a:avLst/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36/settings-About/text/004"/>
            <p:cNvSpPr txBox="1"/>
            <p:nvPr/>
          </p:nvSpPr>
          <p:spPr>
            <a:xfrm>
              <a:off x="685800" y="1627632"/>
              <a:ext cx="7269479" cy="4206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FFFFF"/>
                  </a:solidFill>
                  <a:latin typeface="Arial"/>
                </a:rPr>
                <a:t>Notch</a:t>
              </a:r>
            </a:p>
          </p:txBody>
        </p:sp>
        <p:sp>
          <p:nvSpPr>
            <p:cNvPr id="16" name="N36/settings-About/ellipse/005"/>
            <p:cNvSpPr/>
            <p:nvPr/>
          </p:nvSpPr>
          <p:spPr>
            <a:xfrm>
              <a:off x="7827264" y="1764792"/>
              <a:ext cx="146304" cy="146304"/>
            </a:xfrm>
            <a:prstGeom prst="ellipse">
              <a:avLst/>
            </a:prstGeom>
            <a:noFill/>
            <a:ln w="12700">
              <a:solidFill>
                <a:srgbClr val="C0BFB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N36/settings-About/rect/006"/>
            <p:cNvSpPr/>
            <p:nvPr/>
          </p:nvSpPr>
          <p:spPr>
            <a:xfrm>
              <a:off x="1321307" y="2157984"/>
              <a:ext cx="141732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N36/settings-About/text/007"/>
            <p:cNvSpPr txBox="1"/>
            <p:nvPr/>
          </p:nvSpPr>
          <p:spPr>
            <a:xfrm>
              <a:off x="1321307" y="2157984"/>
              <a:ext cx="141732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Appearance</a:t>
              </a:r>
            </a:p>
          </p:txBody>
        </p:sp>
        <p:sp>
          <p:nvSpPr>
            <p:cNvPr id="19" name="N36/settings-About/rect/008"/>
            <p:cNvSpPr/>
            <p:nvPr/>
          </p:nvSpPr>
          <p:spPr>
            <a:xfrm>
              <a:off x="2848356" y="2157984"/>
              <a:ext cx="141732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36/settings-About/text/009"/>
            <p:cNvSpPr txBox="1"/>
            <p:nvPr/>
          </p:nvSpPr>
          <p:spPr>
            <a:xfrm>
              <a:off x="2848356" y="2157984"/>
              <a:ext cx="141732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Behavior</a:t>
              </a:r>
            </a:p>
          </p:txBody>
        </p:sp>
        <p:sp>
          <p:nvSpPr>
            <p:cNvPr id="21" name="N36/settings-About/rect/010"/>
            <p:cNvSpPr/>
            <p:nvPr/>
          </p:nvSpPr>
          <p:spPr>
            <a:xfrm>
              <a:off x="4375404" y="2157984"/>
              <a:ext cx="141732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36/settings-About/text/011"/>
            <p:cNvSpPr txBox="1"/>
            <p:nvPr/>
          </p:nvSpPr>
          <p:spPr>
            <a:xfrm>
              <a:off x="4375404" y="2157984"/>
              <a:ext cx="141732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Privacy &amp; shelf</a:t>
              </a:r>
            </a:p>
          </p:txBody>
        </p:sp>
        <p:sp>
          <p:nvSpPr>
            <p:cNvPr id="23" name="N36/settings-About/rect/012"/>
            <p:cNvSpPr/>
            <p:nvPr/>
          </p:nvSpPr>
          <p:spPr>
            <a:xfrm>
              <a:off x="5902452" y="2157984"/>
              <a:ext cx="1417320" cy="310896"/>
            </a:xfrm>
            <a:prstGeom prst="roundRect">
              <a:avLst>
                <a:gd name="adj" fmla="val 23529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N36/settings-About/text/013"/>
            <p:cNvSpPr txBox="1"/>
            <p:nvPr/>
          </p:nvSpPr>
          <p:spPr>
            <a:xfrm>
              <a:off x="5902452" y="2157984"/>
              <a:ext cx="141732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FFFFFF"/>
                  </a:solidFill>
                  <a:latin typeface="Arial"/>
                </a:rPr>
                <a:t>About</a:t>
              </a:r>
            </a:p>
          </p:txBody>
        </p:sp>
        <p:sp>
          <p:nvSpPr>
            <p:cNvPr id="25" name="N36/settings-About/text/014"/>
            <p:cNvSpPr txBox="1"/>
            <p:nvPr/>
          </p:nvSpPr>
          <p:spPr>
            <a:xfrm>
              <a:off x="822960" y="2615184"/>
              <a:ext cx="6995159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FFFFFF"/>
                  </a:solidFill>
                  <a:latin typeface="Arial"/>
                </a:rPr>
                <a:t>Notch 0.1.0</a:t>
              </a:r>
            </a:p>
          </p:txBody>
        </p:sp>
        <p:sp>
          <p:nvSpPr>
            <p:cNvPr id="26" name="N36/settings-About/text/015"/>
            <p:cNvSpPr txBox="1"/>
            <p:nvPr/>
          </p:nvSpPr>
          <p:spPr>
            <a:xfrm>
              <a:off x="822960" y="2852928"/>
              <a:ext cx="6995159" cy="31089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i="0">
                  <a:solidFill>
                    <a:srgbClr val="C0BFBC"/>
                  </a:solidFill>
                  <a:latin typeface="Arial"/>
                </a:rPr>
                <a:t>A native Shell notch with GTK4/Libadwaita companions. Inspired by Cyclop; no Cyclop code or assets are included.</a:t>
              </a:r>
            </a:p>
          </p:txBody>
        </p:sp>
        <p:sp>
          <p:nvSpPr>
            <p:cNvPr id="27" name="N36/settings-About/adw-group/016"/>
            <p:cNvSpPr/>
            <p:nvPr/>
          </p:nvSpPr>
          <p:spPr>
            <a:xfrm>
              <a:off x="777240" y="3127248"/>
              <a:ext cx="7086600" cy="1042416"/>
            </a:xfrm>
            <a:prstGeom prst="roundRect">
              <a:avLst>
                <a:gd name="adj" fmla="val 8771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N36/settings-About/text/017"/>
            <p:cNvSpPr txBox="1"/>
            <p:nvPr/>
          </p:nvSpPr>
          <p:spPr>
            <a:xfrm>
              <a:off x="941832" y="3163823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Shell extension</a:t>
              </a:r>
            </a:p>
          </p:txBody>
        </p:sp>
        <p:sp>
          <p:nvSpPr>
            <p:cNvPr id="29" name="N36/settings-About/text/018"/>
            <p:cNvSpPr txBox="1"/>
            <p:nvPr/>
          </p:nvSpPr>
          <p:spPr>
            <a:xfrm>
              <a:off x="5852160" y="3191256"/>
              <a:ext cx="192024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0" i="0">
                  <a:solidFill>
                    <a:srgbClr val="C0BFBC"/>
                  </a:solidFill>
                  <a:latin typeface="Arial"/>
                </a:rPr>
                <a:t>Running · 0 clips · 0 files</a:t>
              </a:r>
            </a:p>
          </p:txBody>
        </p:sp>
        <p:cxnSp>
          <p:nvCxnSpPr>
            <p:cNvPr id="30" name="N36/settings-About/line/019"/>
            <p:cNvCxnSpPr/>
            <p:nvPr/>
          </p:nvCxnSpPr>
          <p:spPr>
            <a:xfrm>
              <a:off x="941832" y="3483863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N36/settings-About/text/020"/>
            <p:cNvSpPr txBox="1"/>
            <p:nvPr/>
          </p:nvSpPr>
          <p:spPr>
            <a:xfrm>
              <a:off x="941832" y="3493007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File helper</a:t>
              </a:r>
            </a:p>
          </p:txBody>
        </p:sp>
        <p:sp>
          <p:nvSpPr>
            <p:cNvPr id="32" name="N36/settings-About/text/021"/>
            <p:cNvSpPr txBox="1"/>
            <p:nvPr/>
          </p:nvSpPr>
          <p:spPr>
            <a:xfrm>
              <a:off x="5852160" y="3520439"/>
              <a:ext cx="192024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0" i="0">
                  <a:solidFill>
                    <a:srgbClr val="C0BFBC"/>
                  </a:solidFill>
                  <a:latin typeface="Arial"/>
                </a:rPr>
                <a:t>Ready · version 0.1.0</a:t>
              </a:r>
            </a:p>
          </p:txBody>
        </p:sp>
        <p:cxnSp>
          <p:nvCxnSpPr>
            <p:cNvPr id="33" name="N36/settings-About/line/022"/>
            <p:cNvCxnSpPr/>
            <p:nvPr/>
          </p:nvCxnSpPr>
          <p:spPr>
            <a:xfrm>
              <a:off x="941832" y="3813048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N36/settings-About/text/023"/>
            <p:cNvSpPr txBox="1"/>
            <p:nvPr/>
          </p:nvSpPr>
          <p:spPr>
            <a:xfrm>
              <a:off x="941832" y="3822191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Refresh status</a:t>
              </a:r>
            </a:p>
          </p:txBody>
        </p:sp>
        <p:sp>
          <p:nvSpPr>
            <p:cNvPr id="35" name="N36/settings-About/rect/024"/>
            <p:cNvSpPr/>
            <p:nvPr/>
          </p:nvSpPr>
          <p:spPr>
            <a:xfrm>
              <a:off x="6766560" y="3849624"/>
              <a:ext cx="7772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N36/settings-About/text/025"/>
            <p:cNvSpPr txBox="1"/>
            <p:nvPr/>
          </p:nvSpPr>
          <p:spPr>
            <a:xfrm>
              <a:off x="6766560" y="3849624"/>
              <a:ext cx="77724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Check</a:t>
              </a:r>
            </a:p>
          </p:txBody>
        </p:sp>
        <p:sp>
          <p:nvSpPr>
            <p:cNvPr id="37" name="N36/settings-About/text/026"/>
            <p:cNvSpPr txBox="1"/>
            <p:nvPr/>
          </p:nvSpPr>
          <p:spPr>
            <a:xfrm>
              <a:off x="822960" y="4334256"/>
              <a:ext cx="6995159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FFFFFF"/>
                  </a:solidFill>
                  <a:latin typeface="Arial"/>
                </a:rPr>
                <a:t>Project</a:t>
              </a:r>
            </a:p>
          </p:txBody>
        </p:sp>
        <p:sp>
          <p:nvSpPr>
            <p:cNvPr id="38" name="N36/settings-About/adw-group/027"/>
            <p:cNvSpPr/>
            <p:nvPr/>
          </p:nvSpPr>
          <p:spPr>
            <a:xfrm>
              <a:off x="777240" y="4572000"/>
              <a:ext cx="7086600" cy="384048"/>
            </a:xfrm>
            <a:prstGeom prst="roundRect">
              <a:avLst>
                <a:gd name="adj" fmla="val 23809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36/settings-About/text/028"/>
            <p:cNvSpPr txBox="1"/>
            <p:nvPr/>
          </p:nvSpPr>
          <p:spPr>
            <a:xfrm>
              <a:off x="941832" y="4608576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Source &amp; documentation</a:t>
              </a:r>
            </a:p>
          </p:txBody>
        </p:sp>
        <p:sp>
          <p:nvSpPr>
            <p:cNvPr id="40" name="N36/settings-About/text/029"/>
            <p:cNvSpPr txBox="1"/>
            <p:nvPr/>
          </p:nvSpPr>
          <p:spPr>
            <a:xfrm>
              <a:off x="941832" y="4773168"/>
              <a:ext cx="4846320" cy="1280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 b="0" i="0">
                  <a:solidFill>
                    <a:srgbClr val="C0BFBC"/>
                  </a:solidFill>
                  <a:latin typeface="Arial"/>
                </a:rPr>
                <a:t>github.com/pavit12301611/notch</a:t>
              </a:r>
            </a:p>
          </p:txBody>
        </p:sp>
        <p:sp>
          <p:nvSpPr>
            <p:cNvPr id="41" name="N36/settings-About/rect/030"/>
            <p:cNvSpPr/>
            <p:nvPr/>
          </p:nvSpPr>
          <p:spPr>
            <a:xfrm>
              <a:off x="6766560" y="4636008"/>
              <a:ext cx="7772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N36/settings-About/text/031"/>
            <p:cNvSpPr txBox="1"/>
            <p:nvPr/>
          </p:nvSpPr>
          <p:spPr>
            <a:xfrm>
              <a:off x="6766560" y="4636008"/>
              <a:ext cx="77724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Open</a:t>
              </a:r>
            </a:p>
          </p:txBody>
        </p:sp>
        <p:sp>
          <p:nvSpPr>
            <p:cNvPr id="43" name="N36/settings-About/rect/032"/>
            <p:cNvSpPr/>
            <p:nvPr/>
          </p:nvSpPr>
          <p:spPr>
            <a:xfrm>
              <a:off x="8028432" y="2633472"/>
              <a:ext cx="45720" cy="3108960"/>
            </a:xfrm>
            <a:prstGeom prst="roundRect">
              <a:avLst>
                <a:gd name="adj" fmla="val 50000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N36/settings-About/rect/033"/>
            <p:cNvSpPr/>
            <p:nvPr/>
          </p:nvSpPr>
          <p:spPr>
            <a:xfrm>
              <a:off x="8028432" y="2724912"/>
              <a:ext cx="45720" cy="914400"/>
            </a:xfrm>
            <a:prstGeom prst="roundRect">
              <a:avLst>
                <a:gd name="adj" fmla="val 50000"/>
              </a:avLst>
            </a:prstGeom>
            <a:solidFill>
              <a:srgbClr val="7776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5" name="N36/spec-panel/010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N36/text/011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47" name="N36/ellipse/012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36/text/013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Extension status via GetState</a:t>
            </a:r>
          </a:p>
        </p:txBody>
      </p:sp>
      <p:sp>
        <p:nvSpPr>
          <p:cNvPr id="49" name="N36/ellipse/014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N36/text/015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Helper status via Ping</a:t>
            </a:r>
          </a:p>
        </p:txBody>
      </p:sp>
      <p:sp>
        <p:nvSpPr>
          <p:cNvPr id="51" name="N36/ellipse/016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N36/text/017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Offline errors shown inline</a:t>
            </a:r>
          </a:p>
        </p:txBody>
      </p:sp>
      <p:sp>
        <p:nvSpPr>
          <p:cNvPr id="53" name="N36/ellipse/018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N36/text/019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Source link opens browser</a:t>
            </a:r>
          </a:p>
        </p:txBody>
      </p:sp>
      <p:cxnSp>
        <p:nvCxnSpPr>
          <p:cNvPr id="55" name="N36/line/020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N36/text/021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57" name="N36/edit-box/022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N36/edit-note/023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Status copy / About layout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58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58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58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SETTINGS</a:t>
            </a:r>
          </a:p>
        </p:txBody>
      </p:sp>
      <p:sp>
        <p:nvSpPr>
          <p:cNvPr id="5" name="N58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Companion Appearance / Behavior</a:t>
            </a:r>
          </a:p>
        </p:txBody>
      </p:sp>
      <p:sp>
        <p:nvSpPr>
          <p:cNvPr id="6" name="N58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Shared rows match inline prefs; window chrome differs</a:t>
            </a:r>
          </a:p>
        </p:txBody>
      </p:sp>
      <p:cxnSp>
        <p:nvCxnSpPr>
          <p:cNvPr id="7" name="N58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58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58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N58</a:t>
            </a:r>
          </a:p>
        </p:txBody>
      </p:sp>
      <p:sp>
        <p:nvSpPr>
          <p:cNvPr id="10" name="N58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50</a:t>
            </a:r>
          </a:p>
        </p:txBody>
      </p:sp>
      <p:grpSp>
        <p:nvGrpSpPr>
          <p:cNvPr id="11" name="N58/settings-Appearance"/>
          <p:cNvGrpSpPr/>
          <p:nvPr/>
        </p:nvGrpSpPr>
        <p:grpSpPr>
          <a:xfrm>
            <a:off x="502920" y="1627632"/>
            <a:ext cx="7635240" cy="4389120"/>
            <a:chOff x="502920" y="1627632"/>
            <a:chExt cx="7635240" cy="4389120"/>
          </a:xfrm>
        </p:grpSpPr>
        <p:sp>
          <p:nvSpPr>
            <p:cNvPr id="12" name="N58/settings-Appearance/adw-window/001"/>
            <p:cNvSpPr/>
            <p:nvPr/>
          </p:nvSpPr>
          <p:spPr>
            <a:xfrm>
              <a:off x="502920" y="1627632"/>
              <a:ext cx="7635240" cy="4389120"/>
            </a:xfrm>
            <a:prstGeom prst="roundRect">
              <a:avLst>
                <a:gd name="adj" fmla="val 2500"/>
              </a:avLst>
            </a:prstGeom>
            <a:solidFill>
              <a:srgbClr val="242428"/>
            </a:solidFill>
            <a:ln w="12700">
              <a:solidFill>
                <a:srgbClr val="45454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58/settings-Appearance/adw-header/002"/>
            <p:cNvSpPr/>
            <p:nvPr/>
          </p:nvSpPr>
          <p:spPr>
            <a:xfrm>
              <a:off x="502920" y="1627632"/>
              <a:ext cx="7635240" cy="420624"/>
            </a:xfrm>
            <a:prstGeom prst="roundRect">
              <a:avLst>
                <a:gd name="adj" fmla="val 26086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58/settings-Appearance/rect/003"/>
            <p:cNvSpPr/>
            <p:nvPr/>
          </p:nvSpPr>
          <p:spPr>
            <a:xfrm>
              <a:off x="502920" y="1847088"/>
              <a:ext cx="7635240" cy="201168"/>
            </a:xfrm>
            <a:prstGeom prst="rect">
              <a:avLst/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58/settings-Appearance/text/004"/>
            <p:cNvSpPr txBox="1"/>
            <p:nvPr/>
          </p:nvSpPr>
          <p:spPr>
            <a:xfrm>
              <a:off x="685800" y="1627632"/>
              <a:ext cx="7269479" cy="4206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FFFFF"/>
                  </a:solidFill>
                  <a:latin typeface="Arial"/>
                </a:rPr>
                <a:t>Notch</a:t>
              </a:r>
            </a:p>
          </p:txBody>
        </p:sp>
        <p:sp>
          <p:nvSpPr>
            <p:cNvPr id="16" name="N58/settings-Appearance/ellipse/005"/>
            <p:cNvSpPr/>
            <p:nvPr/>
          </p:nvSpPr>
          <p:spPr>
            <a:xfrm>
              <a:off x="7827264" y="1764792"/>
              <a:ext cx="146304" cy="146304"/>
            </a:xfrm>
            <a:prstGeom prst="ellipse">
              <a:avLst/>
            </a:prstGeom>
            <a:noFill/>
            <a:ln w="12700">
              <a:solidFill>
                <a:srgbClr val="C0BFB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N58/settings-Appearance/rect/006"/>
            <p:cNvSpPr/>
            <p:nvPr/>
          </p:nvSpPr>
          <p:spPr>
            <a:xfrm>
              <a:off x="1321307" y="2157984"/>
              <a:ext cx="1417320" cy="310896"/>
            </a:xfrm>
            <a:prstGeom prst="roundRect">
              <a:avLst>
                <a:gd name="adj" fmla="val 23529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N58/settings-Appearance/text/007"/>
            <p:cNvSpPr txBox="1"/>
            <p:nvPr/>
          </p:nvSpPr>
          <p:spPr>
            <a:xfrm>
              <a:off x="1321307" y="2157984"/>
              <a:ext cx="141732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FFFFFF"/>
                  </a:solidFill>
                  <a:latin typeface="Arial"/>
                </a:rPr>
                <a:t>Appearance</a:t>
              </a:r>
            </a:p>
          </p:txBody>
        </p:sp>
        <p:sp>
          <p:nvSpPr>
            <p:cNvPr id="19" name="N58/settings-Appearance/rect/008"/>
            <p:cNvSpPr/>
            <p:nvPr/>
          </p:nvSpPr>
          <p:spPr>
            <a:xfrm>
              <a:off x="2848356" y="2157984"/>
              <a:ext cx="141732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58/settings-Appearance/text/009"/>
            <p:cNvSpPr txBox="1"/>
            <p:nvPr/>
          </p:nvSpPr>
          <p:spPr>
            <a:xfrm>
              <a:off x="2848356" y="2157984"/>
              <a:ext cx="141732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Behavior</a:t>
              </a:r>
            </a:p>
          </p:txBody>
        </p:sp>
        <p:sp>
          <p:nvSpPr>
            <p:cNvPr id="21" name="N58/settings-Appearance/rect/010"/>
            <p:cNvSpPr/>
            <p:nvPr/>
          </p:nvSpPr>
          <p:spPr>
            <a:xfrm>
              <a:off x="4375404" y="2157984"/>
              <a:ext cx="141732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58/settings-Appearance/text/011"/>
            <p:cNvSpPr txBox="1"/>
            <p:nvPr/>
          </p:nvSpPr>
          <p:spPr>
            <a:xfrm>
              <a:off x="4375404" y="2157984"/>
              <a:ext cx="141732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Privacy &amp; shelf</a:t>
              </a:r>
            </a:p>
          </p:txBody>
        </p:sp>
        <p:sp>
          <p:nvSpPr>
            <p:cNvPr id="23" name="N58/settings-Appearance/rect/012"/>
            <p:cNvSpPr/>
            <p:nvPr/>
          </p:nvSpPr>
          <p:spPr>
            <a:xfrm>
              <a:off x="5902452" y="2157984"/>
              <a:ext cx="141732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N58/settings-Appearance/text/013"/>
            <p:cNvSpPr txBox="1"/>
            <p:nvPr/>
          </p:nvSpPr>
          <p:spPr>
            <a:xfrm>
              <a:off x="5902452" y="2157984"/>
              <a:ext cx="141732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About</a:t>
              </a:r>
            </a:p>
          </p:txBody>
        </p:sp>
        <p:sp>
          <p:nvSpPr>
            <p:cNvPr id="25" name="N58/settings-Appearance/text/014"/>
            <p:cNvSpPr txBox="1"/>
            <p:nvPr/>
          </p:nvSpPr>
          <p:spPr>
            <a:xfrm>
              <a:off x="822960" y="2615184"/>
              <a:ext cx="6995159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FFFFFF"/>
                  </a:solidFill>
                  <a:latin typeface="Arial"/>
                </a:rPr>
                <a:t>Shared settings</a:t>
              </a:r>
            </a:p>
          </p:txBody>
        </p:sp>
        <p:sp>
          <p:nvSpPr>
            <p:cNvPr id="26" name="N58/settings-Appearance/text/015"/>
            <p:cNvSpPr txBox="1"/>
            <p:nvPr/>
          </p:nvSpPr>
          <p:spPr>
            <a:xfrm>
              <a:off x="822960" y="2852928"/>
              <a:ext cx="6995159" cy="31089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i="0">
                  <a:solidFill>
                    <a:srgbClr val="C0BFBC"/>
                  </a:solidFill>
                  <a:latin typeface="Arial"/>
                </a:rPr>
                <a:t>Companion uses the same GSettings keys and row labels as inline prefs.</a:t>
              </a:r>
            </a:p>
          </p:txBody>
        </p:sp>
        <p:sp>
          <p:nvSpPr>
            <p:cNvPr id="27" name="N58/settings-Appearance/adw-group/016"/>
            <p:cNvSpPr/>
            <p:nvPr/>
          </p:nvSpPr>
          <p:spPr>
            <a:xfrm>
              <a:off x="777240" y="3127248"/>
              <a:ext cx="7086600" cy="2029968"/>
            </a:xfrm>
            <a:prstGeom prst="roundRect">
              <a:avLst>
                <a:gd name="adj" fmla="val 4504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N58/settings-Appearance/text/017"/>
            <p:cNvSpPr txBox="1"/>
            <p:nvPr/>
          </p:nvSpPr>
          <p:spPr>
            <a:xfrm>
              <a:off x="941832" y="3163823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Placement</a:t>
              </a:r>
            </a:p>
          </p:txBody>
        </p:sp>
        <p:sp>
          <p:nvSpPr>
            <p:cNvPr id="29" name="N58/settings-Appearance/rect/018"/>
            <p:cNvSpPr/>
            <p:nvPr/>
          </p:nvSpPr>
          <p:spPr>
            <a:xfrm>
              <a:off x="5852160" y="3191256"/>
              <a:ext cx="19202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N58/settings-Appearance/text/019"/>
            <p:cNvSpPr txBox="1"/>
            <p:nvPr/>
          </p:nvSpPr>
          <p:spPr>
            <a:xfrm>
              <a:off x="5925312" y="3191256"/>
              <a:ext cx="164592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i="0">
                  <a:solidFill>
                    <a:srgbClr val="FFFFFF"/>
                  </a:solidFill>
                  <a:latin typeface="Arial"/>
                </a:rPr>
                <a:t>MacBook top edge (default)</a:t>
              </a:r>
            </a:p>
          </p:txBody>
        </p:sp>
        <p:sp>
          <p:nvSpPr>
            <p:cNvPr id="31" name="N58/settings-Appearance/text/020"/>
            <p:cNvSpPr txBox="1"/>
            <p:nvPr/>
          </p:nvSpPr>
          <p:spPr>
            <a:xfrm>
              <a:off x="7589520" y="3191256"/>
              <a:ext cx="14630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⌄</a:t>
              </a:r>
            </a:p>
          </p:txBody>
        </p:sp>
        <p:cxnSp>
          <p:nvCxnSpPr>
            <p:cNvPr id="32" name="N58/settings-Appearance/line/021"/>
            <p:cNvCxnSpPr/>
            <p:nvPr/>
          </p:nvCxnSpPr>
          <p:spPr>
            <a:xfrm>
              <a:off x="941832" y="3483863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N58/settings-Appearance/text/022"/>
            <p:cNvSpPr txBox="1"/>
            <p:nvPr/>
          </p:nvSpPr>
          <p:spPr>
            <a:xfrm>
              <a:off x="941832" y="3493007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MacBook preset</a:t>
              </a:r>
            </a:p>
          </p:txBody>
        </p:sp>
        <p:sp>
          <p:nvSpPr>
            <p:cNvPr id="34" name="N58/settings-Appearance/rect/023"/>
            <p:cNvSpPr/>
            <p:nvPr/>
          </p:nvSpPr>
          <p:spPr>
            <a:xfrm>
              <a:off x="6766560" y="3520439"/>
              <a:ext cx="7772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58/settings-Appearance/text/024"/>
            <p:cNvSpPr txBox="1"/>
            <p:nvPr/>
          </p:nvSpPr>
          <p:spPr>
            <a:xfrm>
              <a:off x="6766560" y="3520439"/>
              <a:ext cx="77724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Apply</a:t>
              </a:r>
            </a:p>
          </p:txBody>
        </p:sp>
        <p:cxnSp>
          <p:nvCxnSpPr>
            <p:cNvPr id="36" name="N58/settings-Appearance/line/025"/>
            <p:cNvCxnSpPr/>
            <p:nvPr/>
          </p:nvCxnSpPr>
          <p:spPr>
            <a:xfrm>
              <a:off x="941832" y="3813048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N58/settings-Appearance/text/026"/>
            <p:cNvSpPr txBox="1"/>
            <p:nvPr/>
          </p:nvSpPr>
          <p:spPr>
            <a:xfrm>
              <a:off x="941832" y="3822191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Collapsed base width</a:t>
              </a:r>
            </a:p>
          </p:txBody>
        </p:sp>
        <p:sp>
          <p:nvSpPr>
            <p:cNvPr id="38" name="N58/settings-Appearance/rect/027"/>
            <p:cNvSpPr/>
            <p:nvPr/>
          </p:nvSpPr>
          <p:spPr>
            <a:xfrm>
              <a:off x="6537960" y="3849624"/>
              <a:ext cx="10058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58/settings-Appearance/text/028"/>
            <p:cNvSpPr txBox="1"/>
            <p:nvPr/>
          </p:nvSpPr>
          <p:spPr>
            <a:xfrm>
              <a:off x="6537960" y="3849624"/>
              <a:ext cx="68580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185</a:t>
              </a:r>
            </a:p>
          </p:txBody>
        </p:sp>
        <p:sp>
          <p:nvSpPr>
            <p:cNvPr id="40" name="N58/settings-Appearance/text/029"/>
            <p:cNvSpPr txBox="1"/>
            <p:nvPr/>
          </p:nvSpPr>
          <p:spPr>
            <a:xfrm>
              <a:off x="7251192" y="3849624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−</a:t>
              </a:r>
            </a:p>
          </p:txBody>
        </p:sp>
        <p:sp>
          <p:nvSpPr>
            <p:cNvPr id="41" name="N58/settings-Appearance/text/030"/>
            <p:cNvSpPr txBox="1"/>
            <p:nvPr/>
          </p:nvSpPr>
          <p:spPr>
            <a:xfrm>
              <a:off x="7397496" y="3849624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+</a:t>
              </a:r>
            </a:p>
          </p:txBody>
        </p:sp>
        <p:cxnSp>
          <p:nvCxnSpPr>
            <p:cNvPr id="42" name="N58/settings-Appearance/line/031"/>
            <p:cNvCxnSpPr/>
            <p:nvPr/>
          </p:nvCxnSpPr>
          <p:spPr>
            <a:xfrm>
              <a:off x="941832" y="4142232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N58/settings-Appearance/text/032"/>
            <p:cNvSpPr txBox="1"/>
            <p:nvPr/>
          </p:nvSpPr>
          <p:spPr>
            <a:xfrm>
              <a:off x="941832" y="4151376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Maximum page width</a:t>
              </a:r>
            </a:p>
          </p:txBody>
        </p:sp>
        <p:sp>
          <p:nvSpPr>
            <p:cNvPr id="44" name="N58/settings-Appearance/rect/033"/>
            <p:cNvSpPr/>
            <p:nvPr/>
          </p:nvSpPr>
          <p:spPr>
            <a:xfrm>
              <a:off x="6537960" y="4178808"/>
              <a:ext cx="10058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N58/settings-Appearance/text/034"/>
            <p:cNvSpPr txBox="1"/>
            <p:nvPr/>
          </p:nvSpPr>
          <p:spPr>
            <a:xfrm>
              <a:off x="6537960" y="4178808"/>
              <a:ext cx="68580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640</a:t>
              </a:r>
            </a:p>
          </p:txBody>
        </p:sp>
        <p:sp>
          <p:nvSpPr>
            <p:cNvPr id="46" name="N58/settings-Appearance/text/035"/>
            <p:cNvSpPr txBox="1"/>
            <p:nvPr/>
          </p:nvSpPr>
          <p:spPr>
            <a:xfrm>
              <a:off x="7251192" y="4178808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−</a:t>
              </a:r>
            </a:p>
          </p:txBody>
        </p:sp>
        <p:sp>
          <p:nvSpPr>
            <p:cNvPr id="47" name="N58/settings-Appearance/text/036"/>
            <p:cNvSpPr txBox="1"/>
            <p:nvPr/>
          </p:nvSpPr>
          <p:spPr>
            <a:xfrm>
              <a:off x="7397496" y="4178808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+</a:t>
              </a:r>
            </a:p>
          </p:txBody>
        </p:sp>
        <p:cxnSp>
          <p:nvCxnSpPr>
            <p:cNvPr id="48" name="N58/settings-Appearance/line/037"/>
            <p:cNvCxnSpPr/>
            <p:nvPr/>
          </p:nvCxnSpPr>
          <p:spPr>
            <a:xfrm>
              <a:off x="941832" y="4471416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N58/settings-Appearance/text/038"/>
            <p:cNvSpPr txBox="1"/>
            <p:nvPr/>
          </p:nvSpPr>
          <p:spPr>
            <a:xfrm>
              <a:off x="941832" y="4480560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Open on hover</a:t>
              </a:r>
            </a:p>
          </p:txBody>
        </p:sp>
        <p:sp>
          <p:nvSpPr>
            <p:cNvPr id="50" name="N58/settings-Appearance/rect/039"/>
            <p:cNvSpPr/>
            <p:nvPr/>
          </p:nvSpPr>
          <p:spPr>
            <a:xfrm>
              <a:off x="7132320" y="4535424"/>
              <a:ext cx="384048" cy="201168"/>
            </a:xfrm>
            <a:prstGeom prst="roundRect">
              <a:avLst>
                <a:gd name="adj" fmla="val 50000"/>
              </a:avLst>
            </a:prstGeom>
            <a:solidFill>
              <a:srgbClr val="78AE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N58/settings-Appearance/ellipse/040"/>
            <p:cNvSpPr/>
            <p:nvPr/>
          </p:nvSpPr>
          <p:spPr>
            <a:xfrm>
              <a:off x="7315200" y="4553712"/>
              <a:ext cx="164592" cy="1645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2" name="N58/settings-Appearance/line/041"/>
            <p:cNvCxnSpPr/>
            <p:nvPr/>
          </p:nvCxnSpPr>
          <p:spPr>
            <a:xfrm>
              <a:off x="941832" y="4800600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N58/settings-Appearance/text/042"/>
            <p:cNvSpPr txBox="1"/>
            <p:nvPr/>
          </p:nvSpPr>
          <p:spPr>
            <a:xfrm>
              <a:off x="941832" y="4809744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Remember copied text</a:t>
              </a:r>
            </a:p>
          </p:txBody>
        </p:sp>
        <p:sp>
          <p:nvSpPr>
            <p:cNvPr id="54" name="N58/settings-Appearance/rect/043"/>
            <p:cNvSpPr/>
            <p:nvPr/>
          </p:nvSpPr>
          <p:spPr>
            <a:xfrm>
              <a:off x="7132320" y="4864608"/>
              <a:ext cx="384048" cy="201168"/>
            </a:xfrm>
            <a:prstGeom prst="roundRect">
              <a:avLst>
                <a:gd name="adj" fmla="val 50000"/>
              </a:avLst>
            </a:prstGeom>
            <a:solidFill>
              <a:srgbClr val="5E5C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N58/settings-Appearance/ellipse/044"/>
            <p:cNvSpPr/>
            <p:nvPr/>
          </p:nvSpPr>
          <p:spPr>
            <a:xfrm>
              <a:off x="7150608" y="4882896"/>
              <a:ext cx="164592" cy="1645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N58/settings-Appearance/rect/045"/>
            <p:cNvSpPr/>
            <p:nvPr/>
          </p:nvSpPr>
          <p:spPr>
            <a:xfrm>
              <a:off x="8028432" y="2633472"/>
              <a:ext cx="45720" cy="3200400"/>
            </a:xfrm>
            <a:prstGeom prst="roundRect">
              <a:avLst>
                <a:gd name="adj" fmla="val 50000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N58/settings-Appearance/rect/046"/>
            <p:cNvSpPr/>
            <p:nvPr/>
          </p:nvSpPr>
          <p:spPr>
            <a:xfrm>
              <a:off x="8028432" y="2724912"/>
              <a:ext cx="45720" cy="914400"/>
            </a:xfrm>
            <a:prstGeom prst="roundRect">
              <a:avLst>
                <a:gd name="adj" fmla="val 50000"/>
              </a:avLst>
            </a:prstGeom>
            <a:solidFill>
              <a:srgbClr val="7776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8" name="N58/spec-panel/010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N58/text/011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60" name="N58/ellipse/012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N58/text/013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Window default 760×780</a:t>
            </a:r>
          </a:p>
        </p:txBody>
      </p:sp>
      <p:sp>
        <p:nvSpPr>
          <p:cNvPr id="62" name="N58/ellipse/014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N58/text/015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Four tabs including About</a:t>
            </a:r>
          </a:p>
        </p:txBody>
      </p:sp>
      <p:sp>
        <p:nvSpPr>
          <p:cNvPr id="64" name="N58/ellipse/016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N58/text/017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Behavior adds shortcut info row</a:t>
            </a:r>
          </a:p>
        </p:txBody>
      </p:sp>
      <p:sp>
        <p:nvSpPr>
          <p:cNvPr id="66" name="N58/ellipse/018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N58/text/019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No duplicate schema keys</a:t>
            </a:r>
          </a:p>
        </p:txBody>
      </p:sp>
      <p:cxnSp>
        <p:nvCxnSpPr>
          <p:cNvPr id="68" name="N58/line/020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N58/text/021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70" name="N58/edit-box/022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N58/edit-note/023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Companion-specific chrome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37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37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37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COMPONENTS</a:t>
            </a:r>
          </a:p>
        </p:txBody>
      </p:sp>
      <p:sp>
        <p:nvSpPr>
          <p:cNvPr id="5" name="N37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Reusable control library</a:t>
            </a:r>
          </a:p>
        </p:txBody>
      </p:sp>
      <p:sp>
        <p:nvSpPr>
          <p:cNvPr id="6" name="N37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Edit these master components; page mockups should stay consistent</a:t>
            </a:r>
          </a:p>
        </p:txBody>
      </p:sp>
      <p:cxnSp>
        <p:nvCxnSpPr>
          <p:cNvPr id="7" name="N37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37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37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N37</a:t>
            </a:r>
          </a:p>
        </p:txBody>
      </p:sp>
      <p:sp>
        <p:nvSpPr>
          <p:cNvPr id="10" name="N37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51</a:t>
            </a:r>
          </a:p>
        </p:txBody>
      </p:sp>
      <p:sp>
        <p:nvSpPr>
          <p:cNvPr id="11" name="N37/text/010"/>
          <p:cNvSpPr txBox="1"/>
          <p:nvPr/>
        </p:nvSpPr>
        <p:spPr>
          <a:xfrm>
            <a:off x="502920" y="1783080"/>
            <a:ext cx="18288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0D158"/>
                </a:solidFill>
                <a:latin typeface="Arial"/>
              </a:rPr>
              <a:t>BUTTONS</a:t>
            </a:r>
          </a:p>
        </p:txBody>
      </p:sp>
      <p:sp>
        <p:nvSpPr>
          <p:cNvPr id="12" name="N37/button-Button/011"/>
          <p:cNvSpPr/>
          <p:nvPr/>
        </p:nvSpPr>
        <p:spPr>
          <a:xfrm>
            <a:off x="502920" y="2103120"/>
            <a:ext cx="1097280" cy="347472"/>
          </a:xfrm>
          <a:prstGeom prst="roundRect">
            <a:avLst>
              <a:gd name="adj" fmla="val 27412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37/text/012"/>
          <p:cNvSpPr txBox="1"/>
          <p:nvPr/>
        </p:nvSpPr>
        <p:spPr>
          <a:xfrm>
            <a:off x="560070" y="2103120"/>
            <a:ext cx="982980" cy="3474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5EA"/>
                </a:solidFill>
                <a:latin typeface="Arial"/>
              </a:rPr>
              <a:t>Button</a:t>
            </a:r>
          </a:p>
        </p:txBody>
      </p:sp>
      <p:sp>
        <p:nvSpPr>
          <p:cNvPr id="14" name="N37/button-Active/013"/>
          <p:cNvSpPr/>
          <p:nvPr/>
        </p:nvSpPr>
        <p:spPr>
          <a:xfrm>
            <a:off x="1737360" y="2103120"/>
            <a:ext cx="1097280" cy="347472"/>
          </a:xfrm>
          <a:prstGeom prst="roundRect">
            <a:avLst>
              <a:gd name="adj" fmla="val 27412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37/text/014"/>
          <p:cNvSpPr txBox="1"/>
          <p:nvPr/>
        </p:nvSpPr>
        <p:spPr>
          <a:xfrm>
            <a:off x="1794510" y="2103120"/>
            <a:ext cx="982980" cy="3474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Active</a:t>
            </a:r>
          </a:p>
        </p:txBody>
      </p:sp>
      <p:sp>
        <p:nvSpPr>
          <p:cNvPr id="16" name="N37/button-Disabled/015"/>
          <p:cNvSpPr/>
          <p:nvPr/>
        </p:nvSpPr>
        <p:spPr>
          <a:xfrm>
            <a:off x="2971800" y="2103120"/>
            <a:ext cx="1097280" cy="347472"/>
          </a:xfrm>
          <a:prstGeom prst="roundRect">
            <a:avLst>
              <a:gd name="adj" fmla="val 27412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37/text/016"/>
          <p:cNvSpPr txBox="1"/>
          <p:nvPr/>
        </p:nvSpPr>
        <p:spPr>
          <a:xfrm>
            <a:off x="3028950" y="2103120"/>
            <a:ext cx="982980" cy="3474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36366"/>
                </a:solidFill>
                <a:latin typeface="Arial"/>
              </a:rPr>
              <a:t>Disabled</a:t>
            </a:r>
          </a:p>
        </p:txBody>
      </p:sp>
      <p:sp>
        <p:nvSpPr>
          <p:cNvPr id="18" name="N37/button-gear/017"/>
          <p:cNvSpPr/>
          <p:nvPr/>
        </p:nvSpPr>
        <p:spPr>
          <a:xfrm>
            <a:off x="4206240" y="2103120"/>
            <a:ext cx="384048" cy="347472"/>
          </a:xfrm>
          <a:prstGeom prst="roundRect">
            <a:avLst>
              <a:gd name="adj" fmla="val 27412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37/ellipse/018"/>
          <p:cNvSpPr/>
          <p:nvPr/>
        </p:nvSpPr>
        <p:spPr>
          <a:xfrm>
            <a:off x="4369689" y="2248281"/>
            <a:ext cx="57150" cy="57150"/>
          </a:xfrm>
          <a:prstGeom prst="ellipse">
            <a:avLst/>
          </a:prstGeom>
          <a:noFill/>
          <a:ln w="10160">
            <a:solidFill>
              <a:srgbClr val="A1A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N37/line/019"/>
          <p:cNvCxnSpPr/>
          <p:nvPr/>
        </p:nvCxnSpPr>
        <p:spPr>
          <a:xfrm>
            <a:off x="4445889" y="2276856"/>
            <a:ext cx="19050" cy="0"/>
          </a:xfrm>
          <a:prstGeom prst="line">
            <a:avLst/>
          </a:prstGeom>
          <a:ln w="10160">
            <a:solidFill>
              <a:srgbClr val="A1A1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N37/line/020"/>
          <p:cNvCxnSpPr/>
          <p:nvPr/>
        </p:nvCxnSpPr>
        <p:spPr>
          <a:xfrm>
            <a:off x="4431939" y="2310531"/>
            <a:ext cx="13471" cy="13471"/>
          </a:xfrm>
          <a:prstGeom prst="line">
            <a:avLst/>
          </a:prstGeom>
          <a:ln w="10160">
            <a:solidFill>
              <a:srgbClr val="A1A1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N37/line/021"/>
          <p:cNvCxnSpPr/>
          <p:nvPr/>
        </p:nvCxnSpPr>
        <p:spPr>
          <a:xfrm>
            <a:off x="4398264" y="2324480"/>
            <a:ext cx="0" cy="19050"/>
          </a:xfrm>
          <a:prstGeom prst="line">
            <a:avLst/>
          </a:prstGeom>
          <a:ln w="10160">
            <a:solidFill>
              <a:srgbClr val="A1A1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N37/line/022"/>
          <p:cNvCxnSpPr/>
          <p:nvPr/>
        </p:nvCxnSpPr>
        <p:spPr>
          <a:xfrm flipH="1">
            <a:off x="4351117" y="2310531"/>
            <a:ext cx="13471" cy="13471"/>
          </a:xfrm>
          <a:prstGeom prst="line">
            <a:avLst/>
          </a:prstGeom>
          <a:ln w="10160">
            <a:solidFill>
              <a:srgbClr val="A1A1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N37/line/023"/>
          <p:cNvCxnSpPr/>
          <p:nvPr/>
        </p:nvCxnSpPr>
        <p:spPr>
          <a:xfrm flipH="1">
            <a:off x="4331589" y="2276856"/>
            <a:ext cx="19050" cy="0"/>
          </a:xfrm>
          <a:prstGeom prst="line">
            <a:avLst/>
          </a:prstGeom>
          <a:ln w="10160">
            <a:solidFill>
              <a:srgbClr val="A1A1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N37/line/024"/>
          <p:cNvCxnSpPr/>
          <p:nvPr/>
        </p:nvCxnSpPr>
        <p:spPr>
          <a:xfrm flipH="1" flipV="1">
            <a:off x="4351117" y="2229709"/>
            <a:ext cx="13471" cy="13471"/>
          </a:xfrm>
          <a:prstGeom prst="line">
            <a:avLst/>
          </a:prstGeom>
          <a:ln w="10160">
            <a:solidFill>
              <a:srgbClr val="A1A1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N37/line/025"/>
          <p:cNvCxnSpPr/>
          <p:nvPr/>
        </p:nvCxnSpPr>
        <p:spPr>
          <a:xfrm flipV="1">
            <a:off x="4398264" y="2210180"/>
            <a:ext cx="0" cy="19050"/>
          </a:xfrm>
          <a:prstGeom prst="line">
            <a:avLst/>
          </a:prstGeom>
          <a:ln w="10160">
            <a:solidFill>
              <a:srgbClr val="A1A1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N37/line/026"/>
          <p:cNvCxnSpPr/>
          <p:nvPr/>
        </p:nvCxnSpPr>
        <p:spPr>
          <a:xfrm flipV="1">
            <a:off x="4431939" y="2229709"/>
            <a:ext cx="13471" cy="13471"/>
          </a:xfrm>
          <a:prstGeom prst="line">
            <a:avLst/>
          </a:prstGeom>
          <a:ln w="10160">
            <a:solidFill>
              <a:srgbClr val="A1A1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N37/button-play/027"/>
          <p:cNvSpPr/>
          <p:nvPr/>
        </p:nvSpPr>
        <p:spPr>
          <a:xfrm>
            <a:off x="4709160" y="2103120"/>
            <a:ext cx="502920" cy="347472"/>
          </a:xfrm>
          <a:prstGeom prst="roundRect">
            <a:avLst>
              <a:gd name="adj" fmla="val 49342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37/poly/028"/>
          <p:cNvSpPr/>
          <p:nvPr/>
        </p:nvSpPr>
        <p:spPr>
          <a:xfrm>
            <a:off x="4932045" y="2229230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0" y="0"/>
                </a:moveTo>
                <a:lnTo>
                  <a:pt x="76200" y="47626"/>
                </a:lnTo>
                <a:lnTo>
                  <a:pt x="0" y="952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37/button-Small/029"/>
          <p:cNvSpPr/>
          <p:nvPr/>
        </p:nvSpPr>
        <p:spPr>
          <a:xfrm>
            <a:off x="5349240" y="2103120"/>
            <a:ext cx="1097280" cy="347472"/>
          </a:xfrm>
          <a:prstGeom prst="roundRect">
            <a:avLst>
              <a:gd name="adj" fmla="val 27412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N37/text/030"/>
          <p:cNvSpPr txBox="1"/>
          <p:nvPr/>
        </p:nvSpPr>
        <p:spPr>
          <a:xfrm>
            <a:off x="5406390" y="2103120"/>
            <a:ext cx="982980" cy="3474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4" b="0" i="0">
                <a:solidFill>
                  <a:srgbClr val="E5E5EA"/>
                </a:solidFill>
                <a:latin typeface="Arial"/>
              </a:rPr>
              <a:t>Small</a:t>
            </a:r>
          </a:p>
        </p:txBody>
      </p:sp>
      <p:sp>
        <p:nvSpPr>
          <p:cNvPr id="32" name="N37/text/031"/>
          <p:cNvSpPr txBox="1"/>
          <p:nvPr/>
        </p:nvSpPr>
        <p:spPr>
          <a:xfrm>
            <a:off x="502920" y="2788920"/>
            <a:ext cx="18288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0D158"/>
                </a:solidFill>
                <a:latin typeface="Arial"/>
              </a:rPr>
              <a:t>TAB / SLIDER</a:t>
            </a:r>
          </a:p>
        </p:txBody>
      </p:sp>
      <p:sp>
        <p:nvSpPr>
          <p:cNvPr id="33" name="N37/button-Home/032"/>
          <p:cNvSpPr/>
          <p:nvPr/>
        </p:nvSpPr>
        <p:spPr>
          <a:xfrm>
            <a:off x="502920" y="3108960"/>
            <a:ext cx="1188720" cy="329184"/>
          </a:xfrm>
          <a:prstGeom prst="roundRect">
            <a:avLst>
              <a:gd name="adj" fmla="val 28935"/>
            </a:avLst>
          </a:prstGeom>
          <a:solidFill>
            <a:srgbClr val="29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N37/poly/033"/>
          <p:cNvSpPr/>
          <p:nvPr/>
        </p:nvSpPr>
        <p:spPr>
          <a:xfrm>
            <a:off x="851535" y="3216402"/>
            <a:ext cx="114299" cy="114300"/>
          </a:xfrm>
          <a:custGeom>
            <a:avLst/>
            <a:gdLst/>
            <a:ahLst/>
            <a:cxnLst/>
            <a:rect l="l" t="t" r="r" b="b"/>
            <a:pathLst>
              <a:path w="114299" h="114300">
                <a:moveTo>
                  <a:pt x="57150" y="0"/>
                </a:moveTo>
                <a:lnTo>
                  <a:pt x="0" y="47625"/>
                </a:lnTo>
                <a:lnTo>
                  <a:pt x="19050" y="47625"/>
                </a:lnTo>
                <a:lnTo>
                  <a:pt x="19050" y="114300"/>
                </a:lnTo>
                <a:lnTo>
                  <a:pt x="47625" y="114300"/>
                </a:lnTo>
                <a:lnTo>
                  <a:pt x="47625" y="76200"/>
                </a:lnTo>
                <a:lnTo>
                  <a:pt x="66675" y="76200"/>
                </a:lnTo>
                <a:lnTo>
                  <a:pt x="66675" y="114300"/>
                </a:lnTo>
                <a:lnTo>
                  <a:pt x="95250" y="114300"/>
                </a:lnTo>
                <a:lnTo>
                  <a:pt x="95250" y="47625"/>
                </a:lnTo>
                <a:lnTo>
                  <a:pt x="114299" y="47625"/>
                </a:lnTo>
                <a:close/>
              </a:path>
            </a:pathLst>
          </a:cu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N37/text/034"/>
          <p:cNvSpPr txBox="1"/>
          <p:nvPr/>
        </p:nvSpPr>
        <p:spPr>
          <a:xfrm>
            <a:off x="1042035" y="3108960"/>
            <a:ext cx="630555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Home</a:t>
            </a:r>
          </a:p>
        </p:txBody>
      </p:sp>
      <p:sp>
        <p:nvSpPr>
          <p:cNvPr id="36" name="N37/button-Music/035"/>
          <p:cNvSpPr/>
          <p:nvPr/>
        </p:nvSpPr>
        <p:spPr>
          <a:xfrm>
            <a:off x="1783080" y="3108960"/>
            <a:ext cx="1188720" cy="329184"/>
          </a:xfrm>
          <a:prstGeom prst="roundRect">
            <a:avLst>
              <a:gd name="adj" fmla="val 28935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N37/line/036"/>
          <p:cNvCxnSpPr/>
          <p:nvPr/>
        </p:nvCxnSpPr>
        <p:spPr>
          <a:xfrm flipV="1">
            <a:off x="2129790" y="3235452"/>
            <a:ext cx="0" cy="76200"/>
          </a:xfrm>
          <a:prstGeom prst="line">
            <a:avLst/>
          </a:prstGeom>
          <a:ln w="10160">
            <a:solidFill>
              <a:srgbClr val="A1A1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N37/line/037"/>
          <p:cNvCxnSpPr/>
          <p:nvPr/>
        </p:nvCxnSpPr>
        <p:spPr>
          <a:xfrm flipV="1">
            <a:off x="2129790" y="3225927"/>
            <a:ext cx="66675" cy="9525"/>
          </a:xfrm>
          <a:prstGeom prst="line">
            <a:avLst/>
          </a:prstGeom>
          <a:ln w="10160">
            <a:solidFill>
              <a:srgbClr val="A1A1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N37/line/038"/>
          <p:cNvCxnSpPr/>
          <p:nvPr/>
        </p:nvCxnSpPr>
        <p:spPr>
          <a:xfrm>
            <a:off x="2196465" y="3225927"/>
            <a:ext cx="0" cy="76200"/>
          </a:xfrm>
          <a:prstGeom prst="line">
            <a:avLst/>
          </a:prstGeom>
          <a:ln w="10160">
            <a:solidFill>
              <a:srgbClr val="A1A1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N37/ellipse/039"/>
          <p:cNvSpPr/>
          <p:nvPr/>
        </p:nvSpPr>
        <p:spPr>
          <a:xfrm>
            <a:off x="2101215" y="3297364"/>
            <a:ext cx="33337" cy="28575"/>
          </a:xfrm>
          <a:prstGeom prst="ellipse">
            <a:avLst/>
          </a:prstGeom>
          <a:solidFill>
            <a:srgbClr val="A1A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N37/ellipse/040"/>
          <p:cNvSpPr/>
          <p:nvPr/>
        </p:nvSpPr>
        <p:spPr>
          <a:xfrm>
            <a:off x="2167890" y="3287839"/>
            <a:ext cx="33337" cy="28575"/>
          </a:xfrm>
          <a:prstGeom prst="ellipse">
            <a:avLst/>
          </a:prstGeom>
          <a:solidFill>
            <a:srgbClr val="A1A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37/text/041"/>
          <p:cNvSpPr txBox="1"/>
          <p:nvPr/>
        </p:nvSpPr>
        <p:spPr>
          <a:xfrm>
            <a:off x="2282190" y="3108960"/>
            <a:ext cx="670560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1A1A6"/>
                </a:solidFill>
                <a:latin typeface="Arial"/>
              </a:rPr>
              <a:t>Music</a:t>
            </a:r>
          </a:p>
        </p:txBody>
      </p:sp>
      <p:sp>
        <p:nvSpPr>
          <p:cNvPr id="43" name="N37/rect/042"/>
          <p:cNvSpPr/>
          <p:nvPr/>
        </p:nvSpPr>
        <p:spPr>
          <a:xfrm>
            <a:off x="3291840" y="3254502"/>
            <a:ext cx="2743200" cy="38100"/>
          </a:xfrm>
          <a:prstGeom prst="roundRect">
            <a:avLst>
              <a:gd name="adj" fmla="val 50000"/>
            </a:avLst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37/rect/043"/>
          <p:cNvSpPr/>
          <p:nvPr/>
        </p:nvSpPr>
        <p:spPr>
          <a:xfrm>
            <a:off x="3291840" y="3254502"/>
            <a:ext cx="1097280" cy="381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N37/ellipse/044"/>
          <p:cNvSpPr/>
          <p:nvPr/>
        </p:nvSpPr>
        <p:spPr>
          <a:xfrm>
            <a:off x="4331970" y="3216402"/>
            <a:ext cx="114300" cy="11430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N37/text/045"/>
          <p:cNvSpPr txBox="1"/>
          <p:nvPr/>
        </p:nvSpPr>
        <p:spPr>
          <a:xfrm>
            <a:off x="502920" y="3794760"/>
            <a:ext cx="18288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0D158"/>
                </a:solidFill>
                <a:latin typeface="Arial"/>
              </a:rPr>
              <a:t>CARD / ROW / EMPTY</a:t>
            </a:r>
          </a:p>
        </p:txBody>
      </p:sp>
      <p:sp>
        <p:nvSpPr>
          <p:cNvPr id="47" name="N37/rect/046"/>
          <p:cNvSpPr/>
          <p:nvPr/>
        </p:nvSpPr>
        <p:spPr>
          <a:xfrm>
            <a:off x="502920" y="4114800"/>
            <a:ext cx="2103120" cy="914400"/>
          </a:xfrm>
          <a:prstGeom prst="roundRect">
            <a:avLst>
              <a:gd name="adj" fmla="val 15000"/>
            </a:avLst>
          </a:prstGeom>
          <a:solidFill>
            <a:srgbClr val="1C1C1E"/>
          </a:solidFill>
          <a:ln w="12700">
            <a:solidFill>
              <a:srgbClr val="242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37/text/047"/>
          <p:cNvSpPr txBox="1"/>
          <p:nvPr/>
        </p:nvSpPr>
        <p:spPr>
          <a:xfrm>
            <a:off x="640080" y="4206240"/>
            <a:ext cx="182880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5F7"/>
                </a:solidFill>
                <a:latin typeface="Arial"/>
              </a:rPr>
              <a:t>Card title</a:t>
            </a:r>
          </a:p>
        </p:txBody>
      </p:sp>
      <p:sp>
        <p:nvSpPr>
          <p:cNvPr id="49" name="N37/text/048"/>
          <p:cNvSpPr txBox="1"/>
          <p:nvPr/>
        </p:nvSpPr>
        <p:spPr>
          <a:xfrm>
            <a:off x="640080" y="44348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8989D"/>
                </a:solidFill>
                <a:latin typeface="Arial"/>
              </a:rPr>
              <a:t>Body text wraps inside the card.</a:t>
            </a:r>
          </a:p>
        </p:txBody>
      </p:sp>
      <p:sp>
        <p:nvSpPr>
          <p:cNvPr id="50" name="N37/rect/049"/>
          <p:cNvSpPr/>
          <p:nvPr/>
        </p:nvSpPr>
        <p:spPr>
          <a:xfrm>
            <a:off x="2788920" y="4114800"/>
            <a:ext cx="2743200" cy="402336"/>
          </a:xfrm>
          <a:prstGeom prst="roundRect">
            <a:avLst>
              <a:gd name="adj" fmla="val 27272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N37/text/050"/>
          <p:cNvSpPr txBox="1"/>
          <p:nvPr/>
        </p:nvSpPr>
        <p:spPr>
          <a:xfrm>
            <a:off x="2926080" y="4114800"/>
            <a:ext cx="2468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Row label</a:t>
            </a:r>
          </a:p>
        </p:txBody>
      </p:sp>
      <p:sp>
        <p:nvSpPr>
          <p:cNvPr id="52" name="N37/empty-state/051"/>
          <p:cNvSpPr/>
          <p:nvPr/>
        </p:nvSpPr>
        <p:spPr>
          <a:xfrm>
            <a:off x="5715000" y="4114800"/>
            <a:ext cx="2286000" cy="914400"/>
          </a:xfrm>
          <a:prstGeom prst="roundRect">
            <a:avLst>
              <a:gd name="adj" fmla="val 10208"/>
            </a:avLst>
          </a:prstGeom>
          <a:solidFill>
            <a:srgbClr val="0A0A0B"/>
          </a:solidFill>
          <a:ln w="12700">
            <a:solidFill>
              <a:srgbClr val="242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N37/poly/052"/>
          <p:cNvSpPr/>
          <p:nvPr/>
        </p:nvSpPr>
        <p:spPr>
          <a:xfrm>
            <a:off x="6777990" y="4288155"/>
            <a:ext cx="160019" cy="106679"/>
          </a:xfrm>
          <a:custGeom>
            <a:avLst/>
            <a:gdLst/>
            <a:ahLst/>
            <a:cxnLst/>
            <a:rect l="l" t="t" r="r" b="b"/>
            <a:pathLst>
              <a:path w="160019" h="106679">
                <a:moveTo>
                  <a:pt x="0" y="0"/>
                </a:moveTo>
                <a:lnTo>
                  <a:pt x="53340" y="0"/>
                </a:lnTo>
                <a:lnTo>
                  <a:pt x="73342" y="26670"/>
                </a:lnTo>
                <a:lnTo>
                  <a:pt x="160019" y="26670"/>
                </a:lnTo>
                <a:lnTo>
                  <a:pt x="160019" y="106679"/>
                </a:lnTo>
                <a:lnTo>
                  <a:pt x="0" y="106679"/>
                </a:lnTo>
                <a:close/>
              </a:path>
            </a:pathLst>
          </a:custGeom>
          <a:noFill/>
          <a:ln w="12700">
            <a:solidFill>
              <a:srgbClr val="8E8E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N37/text/053"/>
          <p:cNvSpPr txBox="1"/>
          <p:nvPr/>
        </p:nvSpPr>
        <p:spPr>
          <a:xfrm>
            <a:off x="5795010" y="4474845"/>
            <a:ext cx="2125980" cy="1333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5" b="1" i="0">
                <a:solidFill>
                  <a:srgbClr val="F5F5F7"/>
                </a:solidFill>
                <a:latin typeface="Arial"/>
              </a:rPr>
              <a:t>Empty title</a:t>
            </a:r>
          </a:p>
        </p:txBody>
      </p:sp>
      <p:sp>
        <p:nvSpPr>
          <p:cNvPr id="55" name="N37/text/054"/>
          <p:cNvSpPr txBox="1"/>
          <p:nvPr/>
        </p:nvSpPr>
        <p:spPr>
          <a:xfrm>
            <a:off x="5835015" y="4634865"/>
            <a:ext cx="2045969" cy="3409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1" b="0" i="0">
                <a:solidFill>
                  <a:srgbClr val="98989D"/>
                </a:solidFill>
                <a:latin typeface="Arial"/>
              </a:rPr>
              <a:t>Short explanation.</a:t>
            </a:r>
          </a:p>
        </p:txBody>
      </p:sp>
      <p:sp>
        <p:nvSpPr>
          <p:cNvPr id="56" name="N37/spec-panel/055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N37/text/056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58" name="N37/ellipse/057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N37/text/058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Button radius 10; play 18</a:t>
            </a:r>
          </a:p>
        </p:txBody>
      </p:sp>
      <p:sp>
        <p:nvSpPr>
          <p:cNvPr id="60" name="N37/ellipse/059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N37/text/060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Tab active white 16%</a:t>
            </a:r>
          </a:p>
        </p:txBody>
      </p:sp>
      <p:sp>
        <p:nvSpPr>
          <p:cNvPr id="62" name="N37/ellipse/061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N37/text/062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Card radius 14; row 12</a:t>
            </a:r>
          </a:p>
        </p:txBody>
      </p:sp>
      <p:sp>
        <p:nvSpPr>
          <p:cNvPr id="64" name="N37/ellipse/063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N37/text/064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Slider bar 4 / handle 12</a:t>
            </a:r>
          </a:p>
        </p:txBody>
      </p:sp>
      <p:cxnSp>
        <p:nvCxnSpPr>
          <p:cNvPr id="66" name="N37/line/065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N37/text/066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68" name="N37/edit-box/067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N37/edit-note/068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Component-level changes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38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38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38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SETTINGS</a:t>
            </a:r>
          </a:p>
        </p:txBody>
      </p:sp>
      <p:sp>
        <p:nvSpPr>
          <p:cNvPr id="5" name="N38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Inline prefs vs companion app</a:t>
            </a:r>
          </a:p>
        </p:txBody>
      </p:sp>
      <p:sp>
        <p:nvSpPr>
          <p:cNvPr id="6" name="N38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Keep shared rows identical; companion-only rows are explicit</a:t>
            </a:r>
          </a:p>
        </p:txBody>
      </p:sp>
      <p:cxnSp>
        <p:nvCxnSpPr>
          <p:cNvPr id="7" name="N38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38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38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N38</a:t>
            </a:r>
          </a:p>
        </p:txBody>
      </p:sp>
      <p:sp>
        <p:nvSpPr>
          <p:cNvPr id="10" name="N38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52</a:t>
            </a:r>
          </a:p>
        </p:txBody>
      </p:sp>
      <p:graphicFrame>
        <p:nvGraphicFramePr>
          <p:cNvPr id="11" name="N38/review-table"/>
          <p:cNvGraphicFramePr>
            <a:graphicFrameLocks noGrp="1"/>
          </p:cNvGraphicFramePr>
          <p:nvPr/>
        </p:nvGraphicFramePr>
        <p:xfrm>
          <a:off x="502920" y="1828800"/>
          <a:ext cx="1118311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8302"/>
                <a:gridCol w="4583242"/>
                <a:gridCol w="5041566"/>
              </a:tblGrid>
              <a:tr h="621792"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30D158"/>
                          </a:solidFill>
                          <a:latin typeface="Arial"/>
                        </a:defRPr>
                      </a:pPr>
                      <a:r>
                        <a:t>Page</a:t>
                      </a:r>
                    </a:p>
                  </a:txBody>
                  <a:tcPr marL="73152" marR="73152" marT="27432" marB="27432" anchor="ctr">
                    <a:solidFill>
                      <a:srgbClr val="1C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30D158"/>
                          </a:solidFill>
                          <a:latin typeface="Arial"/>
                        </a:defRPr>
                      </a:pPr>
                      <a:r>
                        <a:t>Inline extension prefs</a:t>
                      </a:r>
                    </a:p>
                  </a:txBody>
                  <a:tcPr marL="73152" marR="73152" marT="27432" marB="27432" anchor="ctr">
                    <a:solidFill>
                      <a:srgbClr val="1C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30D158"/>
                          </a:solidFill>
                          <a:latin typeface="Arial"/>
                        </a:defRPr>
                      </a:pPr>
                      <a:r>
                        <a:t>Companion app</a:t>
                      </a:r>
                    </a:p>
                  </a:txBody>
                  <a:tcPr marL="73152" marR="73152" marT="27432" marB="27432" anchor="ctr">
                    <a:solidFill>
                      <a:srgbClr val="1C1C24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Appearance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Same geometry + finish rows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Same rows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Behavior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Same behavior rows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Same rows + shortcut info row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Privacy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Clipboard + Companion app launcher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Privacy &amp; shelf: reference path + Choose files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About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Not present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  <a:r>
                        <a:t>Version, live status, refresh, source link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</a:tr>
            </a:tbl>
          </a:graphicData>
        </a:graphic>
      </p:graphicFrame>
      <p:sp>
        <p:nvSpPr>
          <p:cNvPr id="12" name="N38/text/010"/>
          <p:cNvSpPr txBox="1"/>
          <p:nvPr/>
        </p:nvSpPr>
        <p:spPr>
          <a:xfrm>
            <a:off x="502920" y="530352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D60A"/>
                </a:solidFill>
                <a:latin typeface="Arial"/>
              </a:rPr>
              <a:t>Rule: a shared GSettings key must not get two different labels/defaults across surfaces. Edit both columns if a change is intentional.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39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39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39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INTERACTIONS</a:t>
            </a:r>
          </a:p>
        </p:txBody>
      </p:sp>
      <p:sp>
        <p:nvSpPr>
          <p:cNvPr id="5" name="N39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Input and navigation map</a:t>
            </a:r>
          </a:p>
        </p:txBody>
      </p:sp>
      <p:sp>
        <p:nvSpPr>
          <p:cNvPr id="6" name="N39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Every visible control has a defined action</a:t>
            </a:r>
          </a:p>
        </p:txBody>
      </p:sp>
      <p:cxnSp>
        <p:nvCxnSpPr>
          <p:cNvPr id="7" name="N39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39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39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N39</a:t>
            </a:r>
          </a:p>
        </p:txBody>
      </p:sp>
      <p:sp>
        <p:nvSpPr>
          <p:cNvPr id="10" name="N39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53</a:t>
            </a:r>
          </a:p>
        </p:txBody>
      </p:sp>
      <p:sp>
        <p:nvSpPr>
          <p:cNvPr id="11" name="N39/rect/010"/>
          <p:cNvSpPr/>
          <p:nvPr/>
        </p:nvSpPr>
        <p:spPr>
          <a:xfrm>
            <a:off x="502920" y="1737360"/>
            <a:ext cx="7635240" cy="402336"/>
          </a:xfrm>
          <a:prstGeom prst="roundRect">
            <a:avLst>
              <a:gd name="adj" fmla="val 1363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39/text/011"/>
          <p:cNvSpPr txBox="1"/>
          <p:nvPr/>
        </p:nvSpPr>
        <p:spPr>
          <a:xfrm>
            <a:off x="685800" y="1737360"/>
            <a:ext cx="2468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Arial"/>
              </a:rPr>
              <a:t>Click closed notch</a:t>
            </a:r>
          </a:p>
        </p:txBody>
      </p:sp>
      <p:sp>
        <p:nvSpPr>
          <p:cNvPr id="13" name="N39/text/012"/>
          <p:cNvSpPr txBox="1"/>
          <p:nvPr/>
        </p:nvSpPr>
        <p:spPr>
          <a:xfrm>
            <a:off x="3200400" y="1737360"/>
            <a:ext cx="4754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Toggle open / open Alerts from peek</a:t>
            </a:r>
          </a:p>
        </p:txBody>
      </p:sp>
      <p:sp>
        <p:nvSpPr>
          <p:cNvPr id="14" name="N39/rect/013"/>
          <p:cNvSpPr/>
          <p:nvPr/>
        </p:nvSpPr>
        <p:spPr>
          <a:xfrm>
            <a:off x="502920" y="2176272"/>
            <a:ext cx="7635240" cy="402336"/>
          </a:xfrm>
          <a:prstGeom prst="roundRect">
            <a:avLst>
              <a:gd name="adj" fmla="val 1363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39/text/014"/>
          <p:cNvSpPr txBox="1"/>
          <p:nvPr/>
        </p:nvSpPr>
        <p:spPr>
          <a:xfrm>
            <a:off x="685800" y="2176272"/>
            <a:ext cx="2468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Arial"/>
              </a:rPr>
              <a:t>Hover 250 ms</a:t>
            </a:r>
          </a:p>
        </p:txBody>
      </p:sp>
      <p:sp>
        <p:nvSpPr>
          <p:cNvPr id="16" name="N39/text/015"/>
          <p:cNvSpPr txBox="1"/>
          <p:nvPr/>
        </p:nvSpPr>
        <p:spPr>
          <a:xfrm>
            <a:off x="3200400" y="2176272"/>
            <a:ext cx="4754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Open if open-on-hover; leave schedules close</a:t>
            </a:r>
          </a:p>
        </p:txBody>
      </p:sp>
      <p:sp>
        <p:nvSpPr>
          <p:cNvPr id="17" name="N39/rect/016"/>
          <p:cNvSpPr/>
          <p:nvPr/>
        </p:nvSpPr>
        <p:spPr>
          <a:xfrm>
            <a:off x="502920" y="2615184"/>
            <a:ext cx="7635240" cy="402336"/>
          </a:xfrm>
          <a:prstGeom prst="roundRect">
            <a:avLst>
              <a:gd name="adj" fmla="val 1363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39/text/017"/>
          <p:cNvSpPr txBox="1"/>
          <p:nvPr/>
        </p:nvSpPr>
        <p:spPr>
          <a:xfrm>
            <a:off x="685800" y="2615184"/>
            <a:ext cx="2468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Arial"/>
              </a:rPr>
              <a:t>Super + `</a:t>
            </a:r>
          </a:p>
        </p:txBody>
      </p:sp>
      <p:sp>
        <p:nvSpPr>
          <p:cNvPr id="19" name="N39/text/018"/>
          <p:cNvSpPr txBox="1"/>
          <p:nvPr/>
        </p:nvSpPr>
        <p:spPr>
          <a:xfrm>
            <a:off x="3200400" y="2615184"/>
            <a:ext cx="4754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Toggle notch; configurable/disablable in schema</a:t>
            </a:r>
          </a:p>
        </p:txBody>
      </p:sp>
      <p:sp>
        <p:nvSpPr>
          <p:cNvPr id="20" name="N39/rect/019"/>
          <p:cNvSpPr/>
          <p:nvPr/>
        </p:nvSpPr>
        <p:spPr>
          <a:xfrm>
            <a:off x="502920" y="3054096"/>
            <a:ext cx="7635240" cy="402336"/>
          </a:xfrm>
          <a:prstGeom prst="roundRect">
            <a:avLst>
              <a:gd name="adj" fmla="val 1363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39/text/020"/>
          <p:cNvSpPr txBox="1"/>
          <p:nvPr/>
        </p:nvSpPr>
        <p:spPr>
          <a:xfrm>
            <a:off x="685800" y="3054096"/>
            <a:ext cx="2468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Arial"/>
              </a:rPr>
              <a:t>Escape / outside click</a:t>
            </a:r>
          </a:p>
        </p:txBody>
      </p:sp>
      <p:sp>
        <p:nvSpPr>
          <p:cNvPr id="22" name="N39/text/021"/>
          <p:cNvSpPr txBox="1"/>
          <p:nvPr/>
        </p:nvSpPr>
        <p:spPr>
          <a:xfrm>
            <a:off x="3200400" y="3054096"/>
            <a:ext cx="4754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Collapse open notch</a:t>
            </a:r>
          </a:p>
        </p:txBody>
      </p:sp>
      <p:sp>
        <p:nvSpPr>
          <p:cNvPr id="23" name="N39/rect/022"/>
          <p:cNvSpPr/>
          <p:nvPr/>
        </p:nvSpPr>
        <p:spPr>
          <a:xfrm>
            <a:off x="502920" y="3493008"/>
            <a:ext cx="7635240" cy="402336"/>
          </a:xfrm>
          <a:prstGeom prst="roundRect">
            <a:avLst>
              <a:gd name="adj" fmla="val 1363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39/text/023"/>
          <p:cNvSpPr txBox="1"/>
          <p:nvPr/>
        </p:nvSpPr>
        <p:spPr>
          <a:xfrm>
            <a:off x="685800" y="3493008"/>
            <a:ext cx="2468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Arial"/>
              </a:rPr>
              <a:t>Tab click</a:t>
            </a:r>
          </a:p>
        </p:txBody>
      </p:sp>
      <p:sp>
        <p:nvSpPr>
          <p:cNvPr id="25" name="N39/text/024"/>
          <p:cNvSpPr txBox="1"/>
          <p:nvPr/>
        </p:nvSpPr>
        <p:spPr>
          <a:xfrm>
            <a:off x="3200400" y="3493008"/>
            <a:ext cx="4754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Switch page; resize to page geometry</a:t>
            </a:r>
          </a:p>
        </p:txBody>
      </p:sp>
      <p:sp>
        <p:nvSpPr>
          <p:cNvPr id="26" name="N39/rect/025"/>
          <p:cNvSpPr/>
          <p:nvPr/>
        </p:nvSpPr>
        <p:spPr>
          <a:xfrm>
            <a:off x="502920" y="3931920"/>
            <a:ext cx="7635240" cy="402336"/>
          </a:xfrm>
          <a:prstGeom prst="roundRect">
            <a:avLst>
              <a:gd name="adj" fmla="val 1363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39/text/026"/>
          <p:cNvSpPr txBox="1"/>
          <p:nvPr/>
        </p:nvSpPr>
        <p:spPr>
          <a:xfrm>
            <a:off x="685800" y="3931920"/>
            <a:ext cx="2468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Arial"/>
              </a:rPr>
              <a:t>Gear / close</a:t>
            </a:r>
          </a:p>
        </p:txBody>
      </p:sp>
      <p:sp>
        <p:nvSpPr>
          <p:cNvPr id="28" name="N39/text/027"/>
          <p:cNvSpPr txBox="1"/>
          <p:nvPr/>
        </p:nvSpPr>
        <p:spPr>
          <a:xfrm>
            <a:off x="3200400" y="3931920"/>
            <a:ext cx="4754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Open inline prefs / collapse</a:t>
            </a:r>
          </a:p>
        </p:txBody>
      </p:sp>
      <p:sp>
        <p:nvSpPr>
          <p:cNvPr id="29" name="N39/rect/028"/>
          <p:cNvSpPr/>
          <p:nvPr/>
        </p:nvSpPr>
        <p:spPr>
          <a:xfrm>
            <a:off x="502920" y="4370831"/>
            <a:ext cx="7635240" cy="402336"/>
          </a:xfrm>
          <a:prstGeom prst="roundRect">
            <a:avLst>
              <a:gd name="adj" fmla="val 1363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39/text/029"/>
          <p:cNvSpPr txBox="1"/>
          <p:nvPr/>
        </p:nvSpPr>
        <p:spPr>
          <a:xfrm>
            <a:off x="685800" y="4370831"/>
            <a:ext cx="2468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Arial"/>
              </a:rPr>
              <a:t>Notification Open</a:t>
            </a:r>
          </a:p>
        </p:txBody>
      </p:sp>
      <p:sp>
        <p:nvSpPr>
          <p:cNvPr id="31" name="N39/text/030"/>
          <p:cNvSpPr txBox="1"/>
          <p:nvPr/>
        </p:nvSpPr>
        <p:spPr>
          <a:xfrm>
            <a:off x="3200400" y="4370831"/>
            <a:ext cx="4754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Activate source and open Alerts</a:t>
            </a:r>
          </a:p>
        </p:txBody>
      </p:sp>
      <p:sp>
        <p:nvSpPr>
          <p:cNvPr id="32" name="N39/rect/031"/>
          <p:cNvSpPr/>
          <p:nvPr/>
        </p:nvSpPr>
        <p:spPr>
          <a:xfrm>
            <a:off x="502920" y="4809744"/>
            <a:ext cx="7635240" cy="402336"/>
          </a:xfrm>
          <a:prstGeom prst="roundRect">
            <a:avLst>
              <a:gd name="adj" fmla="val 1363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N39/text/032"/>
          <p:cNvSpPr txBox="1"/>
          <p:nvPr/>
        </p:nvSpPr>
        <p:spPr>
          <a:xfrm>
            <a:off x="685800" y="4809744"/>
            <a:ext cx="2468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Arial"/>
              </a:rPr>
              <a:t>Shelf drag near notch</a:t>
            </a:r>
          </a:p>
        </p:txBody>
      </p:sp>
      <p:sp>
        <p:nvSpPr>
          <p:cNvPr id="34" name="N39/text/033"/>
          <p:cNvSpPr txBox="1"/>
          <p:nvPr/>
        </p:nvSpPr>
        <p:spPr>
          <a:xfrm>
            <a:off x="3200400" y="4809744"/>
            <a:ext cx="4754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Show GTK drop target; suppress peek</a:t>
            </a:r>
          </a:p>
        </p:txBody>
      </p:sp>
      <p:sp>
        <p:nvSpPr>
          <p:cNvPr id="35" name="N39/rect/034"/>
          <p:cNvSpPr/>
          <p:nvPr/>
        </p:nvSpPr>
        <p:spPr>
          <a:xfrm>
            <a:off x="502920" y="5248656"/>
            <a:ext cx="7635240" cy="402336"/>
          </a:xfrm>
          <a:prstGeom prst="roundRect">
            <a:avLst>
              <a:gd name="adj" fmla="val 1363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N39/text/035"/>
          <p:cNvSpPr txBox="1"/>
          <p:nvPr/>
        </p:nvSpPr>
        <p:spPr>
          <a:xfrm>
            <a:off x="685800" y="5248656"/>
            <a:ext cx="2468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Arial"/>
              </a:rPr>
              <a:t>Clip row click</a:t>
            </a:r>
          </a:p>
        </p:txBody>
      </p:sp>
      <p:sp>
        <p:nvSpPr>
          <p:cNvPr id="37" name="N39/text/036"/>
          <p:cNvSpPr txBox="1"/>
          <p:nvPr/>
        </p:nvSpPr>
        <p:spPr>
          <a:xfrm>
            <a:off x="3200400" y="5248656"/>
            <a:ext cx="4754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Restore text to system clipboard</a:t>
            </a:r>
          </a:p>
        </p:txBody>
      </p:sp>
      <p:sp>
        <p:nvSpPr>
          <p:cNvPr id="38" name="N39/rect/037"/>
          <p:cNvSpPr/>
          <p:nvPr/>
        </p:nvSpPr>
        <p:spPr>
          <a:xfrm>
            <a:off x="502920" y="5687568"/>
            <a:ext cx="7635240" cy="402336"/>
          </a:xfrm>
          <a:prstGeom prst="roundRect">
            <a:avLst>
              <a:gd name="adj" fmla="val 1363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39/text/038"/>
          <p:cNvSpPr txBox="1"/>
          <p:nvPr/>
        </p:nvSpPr>
        <p:spPr>
          <a:xfrm>
            <a:off x="685800" y="5687568"/>
            <a:ext cx="2468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Arial"/>
              </a:rPr>
              <a:t>Quick action click</a:t>
            </a:r>
          </a:p>
        </p:txBody>
      </p:sp>
      <p:sp>
        <p:nvSpPr>
          <p:cNvPr id="40" name="N39/text/039"/>
          <p:cNvSpPr txBox="1"/>
          <p:nvPr/>
        </p:nvSpPr>
        <p:spPr>
          <a:xfrm>
            <a:off x="3200400" y="5687568"/>
            <a:ext cx="4754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Toggle GSettings; show status footer</a:t>
            </a:r>
          </a:p>
        </p:txBody>
      </p:sp>
      <p:sp>
        <p:nvSpPr>
          <p:cNvPr id="41" name="N39/spec-panel/040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39/text/041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43" name="N39/ellipse/042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39/text/043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Keyboard focus rings use hover style</a:t>
            </a:r>
          </a:p>
        </p:txBody>
      </p:sp>
      <p:sp>
        <p:nvSpPr>
          <p:cNvPr id="45" name="N39/ellipse/044"/>
          <p:cNvSpPr/>
          <p:nvPr/>
        </p:nvSpPr>
        <p:spPr>
          <a:xfrm>
            <a:off x="8659368" y="23591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N39/text/045"/>
          <p:cNvSpPr txBox="1"/>
          <p:nvPr/>
        </p:nvSpPr>
        <p:spPr>
          <a:xfrm>
            <a:off x="8805672" y="2295144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Slider grabs postpone auto-hide</a:t>
            </a:r>
          </a:p>
        </p:txBody>
      </p:sp>
      <p:sp>
        <p:nvSpPr>
          <p:cNvPr id="47" name="N39/ellipse/046"/>
          <p:cNvSpPr/>
          <p:nvPr/>
        </p:nvSpPr>
        <p:spPr>
          <a:xfrm>
            <a:off x="8659368" y="26426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39/text/047"/>
          <p:cNvSpPr txBox="1"/>
          <p:nvPr/>
        </p:nvSpPr>
        <p:spPr>
          <a:xfrm>
            <a:off x="8805672" y="257860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Disabled controls stay visible</a:t>
            </a:r>
          </a:p>
        </p:txBody>
      </p:sp>
      <p:sp>
        <p:nvSpPr>
          <p:cNvPr id="49" name="N39/ellipse/048"/>
          <p:cNvSpPr/>
          <p:nvPr/>
        </p:nvSpPr>
        <p:spPr>
          <a:xfrm>
            <a:off x="8659368" y="2926080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N39/text/049"/>
          <p:cNvSpPr txBox="1"/>
          <p:nvPr/>
        </p:nvSpPr>
        <p:spPr>
          <a:xfrm>
            <a:off x="8805672" y="2862072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No drag-out from shelf implemented</a:t>
            </a:r>
          </a:p>
        </p:txBody>
      </p:sp>
      <p:cxnSp>
        <p:nvCxnSpPr>
          <p:cNvPr id="51" name="N39/line/050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N39/text/051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53" name="N39/edit-box/052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N39/edit-note/053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Add/change an interaction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40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40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40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GUARDRAILS</a:t>
            </a:r>
          </a:p>
        </p:txBody>
      </p:sp>
      <p:sp>
        <p:nvSpPr>
          <p:cNvPr id="5" name="N40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Performance, privacy and platform rules</a:t>
            </a:r>
          </a:p>
        </p:txBody>
      </p:sp>
      <p:sp>
        <p:nvSpPr>
          <p:cNvPr id="6" name="N40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Design edits must not break these constraints</a:t>
            </a:r>
          </a:p>
        </p:txBody>
      </p:sp>
      <p:cxnSp>
        <p:nvCxnSpPr>
          <p:cNvPr id="7" name="N40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40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40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N40</a:t>
            </a:r>
          </a:p>
        </p:txBody>
      </p:sp>
      <p:sp>
        <p:nvSpPr>
          <p:cNvPr id="10" name="N40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54</a:t>
            </a:r>
          </a:p>
        </p:txBody>
      </p:sp>
      <p:sp>
        <p:nvSpPr>
          <p:cNvPr id="11" name="N40/rect/010"/>
          <p:cNvSpPr/>
          <p:nvPr/>
        </p:nvSpPr>
        <p:spPr>
          <a:xfrm>
            <a:off x="502920" y="1783080"/>
            <a:ext cx="5440680" cy="1828800"/>
          </a:xfrm>
          <a:prstGeom prst="roundRect">
            <a:avLst>
              <a:gd name="adj" fmla="val 7000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40/text/011"/>
          <p:cNvSpPr txBox="1"/>
          <p:nvPr/>
        </p:nvSpPr>
        <p:spPr>
          <a:xfrm>
            <a:off x="731520" y="1965960"/>
            <a:ext cx="49834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0D158"/>
                </a:solidFill>
                <a:latin typeface="Arial"/>
              </a:rPr>
              <a:t>Performance</a:t>
            </a:r>
          </a:p>
        </p:txBody>
      </p:sp>
      <p:sp>
        <p:nvSpPr>
          <p:cNvPr id="13" name="N40/text/012"/>
          <p:cNvSpPr txBox="1"/>
          <p:nvPr/>
        </p:nvSpPr>
        <p:spPr>
          <a:xfrm>
            <a:off x="731520" y="2377440"/>
            <a:ext cx="498348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5F7"/>
                </a:solidFill>
                <a:latin typeface="Arial"/>
              </a:rPr>
              <a:t>Stats sample only on System page. Seek updates only on Music page. Visualizer only while closed/visible. Helper exits after 5 idle minutes.</a:t>
            </a:r>
          </a:p>
        </p:txBody>
      </p:sp>
      <p:sp>
        <p:nvSpPr>
          <p:cNvPr id="14" name="N40/rect/013"/>
          <p:cNvSpPr/>
          <p:nvPr/>
        </p:nvSpPr>
        <p:spPr>
          <a:xfrm>
            <a:off x="6172200" y="1783080"/>
            <a:ext cx="5440680" cy="1828800"/>
          </a:xfrm>
          <a:prstGeom prst="roundRect">
            <a:avLst>
              <a:gd name="adj" fmla="val 7000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40/text/014"/>
          <p:cNvSpPr txBox="1"/>
          <p:nvPr/>
        </p:nvSpPr>
        <p:spPr>
          <a:xfrm>
            <a:off x="6400800" y="1965960"/>
            <a:ext cx="49834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0D158"/>
                </a:solidFill>
                <a:latin typeface="Arial"/>
              </a:rPr>
              <a:t>Privacy</a:t>
            </a:r>
          </a:p>
        </p:txBody>
      </p:sp>
      <p:sp>
        <p:nvSpPr>
          <p:cNvPr id="16" name="N40/text/015"/>
          <p:cNvSpPr txBox="1"/>
          <p:nvPr/>
        </p:nvSpPr>
        <p:spPr>
          <a:xfrm>
            <a:off x="6400800" y="2377440"/>
            <a:ext cx="498348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5F7"/>
                </a:solidFill>
                <a:latin typeface="Arial"/>
              </a:rPr>
              <a:t>Clipboard off by default, RAM-only, bounded, cleared on lock/logout/disable. Shelf stores references only. Remote art can be disabled.</a:t>
            </a:r>
          </a:p>
        </p:txBody>
      </p:sp>
      <p:sp>
        <p:nvSpPr>
          <p:cNvPr id="17" name="N40/rect/016"/>
          <p:cNvSpPr/>
          <p:nvPr/>
        </p:nvSpPr>
        <p:spPr>
          <a:xfrm>
            <a:off x="502920" y="3840480"/>
            <a:ext cx="5440680" cy="1828800"/>
          </a:xfrm>
          <a:prstGeom prst="roundRect">
            <a:avLst>
              <a:gd name="adj" fmla="val 7000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40/text/017"/>
          <p:cNvSpPr txBox="1"/>
          <p:nvPr/>
        </p:nvSpPr>
        <p:spPr>
          <a:xfrm>
            <a:off x="731520" y="4023360"/>
            <a:ext cx="49834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0D158"/>
                </a:solidFill>
                <a:latin typeface="Arial"/>
              </a:rPr>
              <a:t>Platform</a:t>
            </a:r>
          </a:p>
        </p:txBody>
      </p:sp>
      <p:sp>
        <p:nvSpPr>
          <p:cNvPr id="19" name="N40/text/018"/>
          <p:cNvSpPr txBox="1"/>
          <p:nvPr/>
        </p:nvSpPr>
        <p:spPr>
          <a:xfrm>
            <a:off x="731520" y="4434840"/>
            <a:ext cx="498348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5F7"/>
                </a:solidFill>
                <a:latin typeface="Arial"/>
              </a:rPr>
              <a:t>GNOME Wayland Shell extension for the notch; GTK4/Adw for settings/drop helper. No X11-only positioning, no floating-island default.</a:t>
            </a:r>
          </a:p>
        </p:txBody>
      </p:sp>
      <p:sp>
        <p:nvSpPr>
          <p:cNvPr id="20" name="N40/rect/019"/>
          <p:cNvSpPr/>
          <p:nvPr/>
        </p:nvSpPr>
        <p:spPr>
          <a:xfrm>
            <a:off x="6172200" y="3840480"/>
            <a:ext cx="5440680" cy="1828800"/>
          </a:xfrm>
          <a:prstGeom prst="roundRect">
            <a:avLst>
              <a:gd name="adj" fmla="val 7000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40/text/020"/>
          <p:cNvSpPr txBox="1"/>
          <p:nvPr/>
        </p:nvSpPr>
        <p:spPr>
          <a:xfrm>
            <a:off x="6400800" y="4023360"/>
            <a:ext cx="49834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0D158"/>
                </a:solidFill>
                <a:latin typeface="Arial"/>
              </a:rPr>
              <a:t>Accessibility</a:t>
            </a:r>
          </a:p>
        </p:txBody>
      </p:sp>
      <p:sp>
        <p:nvSpPr>
          <p:cNvPr id="22" name="N40/text/021"/>
          <p:cNvSpPr txBox="1"/>
          <p:nvPr/>
        </p:nvSpPr>
        <p:spPr>
          <a:xfrm>
            <a:off x="6400800" y="4434840"/>
            <a:ext cx="498348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5F7"/>
                </a:solidFill>
                <a:latin typeface="Arial"/>
              </a:rPr>
              <a:t>Respect GNOME text scaling and Enable Animations. Symbolic icons inherit control color. Disabled/locked states remain understandable.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59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59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59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REVIEW WORKSHEET</a:t>
            </a:r>
          </a:p>
        </p:txBody>
      </p:sp>
      <p:sp>
        <p:nvSpPr>
          <p:cNvPr id="5" name="N59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Page-level decisions</a:t>
            </a:r>
          </a:p>
        </p:txBody>
      </p:sp>
      <p:sp>
        <p:nvSpPr>
          <p:cNvPr id="6" name="N59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Fill one row per page; use exact values where possible</a:t>
            </a:r>
          </a:p>
        </p:txBody>
      </p:sp>
      <p:cxnSp>
        <p:nvCxnSpPr>
          <p:cNvPr id="7" name="N59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59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59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N59</a:t>
            </a:r>
          </a:p>
        </p:txBody>
      </p:sp>
      <p:sp>
        <p:nvSpPr>
          <p:cNvPr id="10" name="N59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55</a:t>
            </a:r>
          </a:p>
        </p:txBody>
      </p:sp>
      <p:graphicFrame>
        <p:nvGraphicFramePr>
          <p:cNvPr id="11" name="N59/review-table"/>
          <p:cNvGraphicFramePr>
            <a:graphicFrameLocks noGrp="1"/>
          </p:cNvGraphicFramePr>
          <p:nvPr/>
        </p:nvGraphicFramePr>
        <p:xfrm>
          <a:off x="502920" y="1783080"/>
          <a:ext cx="1118311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075"/>
                <a:gridCol w="2274531"/>
                <a:gridCol w="5307239"/>
                <a:gridCol w="1137265"/>
              </a:tblGrid>
              <a:tr h="587828"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30D158"/>
                          </a:solidFill>
                          <a:latin typeface="Arial"/>
                        </a:defRPr>
                      </a:pPr>
                      <a:r>
                        <a:t>Page / slide</a:t>
                      </a:r>
                    </a:p>
                  </a:txBody>
                  <a:tcPr marL="73152" marR="73152" marT="27432" marB="27432" anchor="ctr">
                    <a:solidFill>
                      <a:srgbClr val="1C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30D158"/>
                          </a:solidFill>
                          <a:latin typeface="Arial"/>
                        </a:defRPr>
                      </a:pPr>
                      <a:r>
                        <a:t>KEEP / CHANGE / DISCUSS</a:t>
                      </a:r>
                    </a:p>
                  </a:txBody>
                  <a:tcPr marL="73152" marR="73152" marT="27432" marB="27432" anchor="ctr">
                    <a:solidFill>
                      <a:srgbClr val="1C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30D158"/>
                          </a:solidFill>
                          <a:latin typeface="Arial"/>
                        </a:defRPr>
                      </a:pPr>
                      <a:r>
                        <a:t>Exact edit</a:t>
                      </a:r>
                    </a:p>
                  </a:txBody>
                  <a:tcPr marL="73152" marR="73152" marT="27432" marB="27432" anchor="ctr">
                    <a:solidFill>
                      <a:srgbClr val="1C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30D158"/>
                          </a:solidFill>
                          <a:latin typeface="Arial"/>
                        </a:defRPr>
                      </a:pPr>
                      <a:r>
                        <a:t>Priority</a:t>
                      </a:r>
                    </a:p>
                  </a:txBody>
                  <a:tcPr marL="73152" marR="73152" marT="27432" marB="27432" anchor="ctr">
                    <a:solidFill>
                      <a:srgbClr val="1C1C24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Home N10–N11, N48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Music N12–N13, N49–N50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Alerts N14–N15, N51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System N16–N18, N52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Shelf N19–N22, N53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</a:tr>
              <a:tr h="587832"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Clips N23–N24, N54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</a:tr>
            </a:tbl>
          </a:graphicData>
        </a:graphic>
      </p:graphicFrame>
      <p:sp>
        <p:nvSpPr>
          <p:cNvPr id="12" name="N59/text/010"/>
          <p:cNvSpPr txBox="1"/>
          <p:nvPr/>
        </p:nvSpPr>
        <p:spPr>
          <a:xfrm>
            <a:off x="502920" y="6080760"/>
            <a:ext cx="11183112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Priority: P0 must-fix · P1 should-fix · P2 nice-to-have.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60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60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60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REVIEW WORKSHEET</a:t>
            </a:r>
          </a:p>
        </p:txBody>
      </p:sp>
      <p:sp>
        <p:nvSpPr>
          <p:cNvPr id="5" name="N60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System-level decisions</a:t>
            </a:r>
          </a:p>
        </p:txBody>
      </p:sp>
      <p:sp>
        <p:nvSpPr>
          <p:cNvPr id="6" name="N60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Tokens, geometry, settings, motion and guardrails</a:t>
            </a:r>
          </a:p>
        </p:txBody>
      </p:sp>
      <p:cxnSp>
        <p:nvCxnSpPr>
          <p:cNvPr id="7" name="N60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60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60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N60</a:t>
            </a:r>
          </a:p>
        </p:txBody>
      </p:sp>
      <p:sp>
        <p:nvSpPr>
          <p:cNvPr id="10" name="N60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56</a:t>
            </a:r>
          </a:p>
        </p:txBody>
      </p:sp>
      <p:graphicFrame>
        <p:nvGraphicFramePr>
          <p:cNvPr id="11" name="N60/review-table"/>
          <p:cNvGraphicFramePr>
            <a:graphicFrameLocks noGrp="1"/>
          </p:cNvGraphicFramePr>
          <p:nvPr/>
        </p:nvGraphicFramePr>
        <p:xfrm>
          <a:off x="502920" y="1783080"/>
          <a:ext cx="1118311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075"/>
                <a:gridCol w="2274531"/>
                <a:gridCol w="5307239"/>
                <a:gridCol w="1137265"/>
              </a:tblGrid>
              <a:tr h="587828"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30D158"/>
                          </a:solidFill>
                          <a:latin typeface="Arial"/>
                        </a:defRPr>
                      </a:pPr>
                      <a:r>
                        <a:t>Area / slide</a:t>
                      </a:r>
                    </a:p>
                  </a:txBody>
                  <a:tcPr marL="73152" marR="73152" marT="27432" marB="27432" anchor="ctr">
                    <a:solidFill>
                      <a:srgbClr val="1C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30D158"/>
                          </a:solidFill>
                          <a:latin typeface="Arial"/>
                        </a:defRPr>
                      </a:pPr>
                      <a:r>
                        <a:t>KEEP / CHANGE / DISCUSS</a:t>
                      </a:r>
                    </a:p>
                  </a:txBody>
                  <a:tcPr marL="73152" marR="73152" marT="27432" marB="27432" anchor="ctr">
                    <a:solidFill>
                      <a:srgbClr val="1C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30D158"/>
                          </a:solidFill>
                          <a:latin typeface="Arial"/>
                        </a:defRPr>
                      </a:pPr>
                      <a:r>
                        <a:t>Exact edit</a:t>
                      </a:r>
                    </a:p>
                  </a:txBody>
                  <a:tcPr marL="73152" marR="73152" marT="27432" marB="27432" anchor="ctr">
                    <a:solidFill>
                      <a:srgbClr val="1C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30D158"/>
                          </a:solidFill>
                          <a:latin typeface="Arial"/>
                        </a:defRPr>
                      </a:pPr>
                      <a:r>
                        <a:t>Priority</a:t>
                      </a:r>
                    </a:p>
                  </a:txBody>
                  <a:tcPr marL="73152" marR="73152" marT="27432" marB="27432" anchor="ctr">
                    <a:solidFill>
                      <a:srgbClr val="1C1C24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Tokens N04 / N37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Geometry N05 / N55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Adaptive N26–N27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Motion N28 / N56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Settings N30–N36, N57–N58</a:t>
                      </a: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</a:tr>
              <a:tr h="587832"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  <a:r>
                        <a:t>Guardrails N40</a:t>
                      </a: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</a:tr>
            </a:tbl>
          </a:graphicData>
        </a:graphic>
      </p:graphicFrame>
      <p:sp>
        <p:nvSpPr>
          <p:cNvPr id="12" name="N60/text/010"/>
          <p:cNvSpPr txBox="1"/>
          <p:nvPr/>
        </p:nvSpPr>
        <p:spPr>
          <a:xfrm>
            <a:off x="502920" y="6080760"/>
            <a:ext cx="11183112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If a change affects multiple pages, write the token/component change once and list affected slide IDs.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41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41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41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HANDOFF</a:t>
            </a:r>
          </a:p>
        </p:txBody>
      </p:sp>
      <p:sp>
        <p:nvSpPr>
          <p:cNvPr id="5" name="N41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Decision log — fill this before returning</a:t>
            </a:r>
          </a:p>
        </p:txBody>
      </p:sp>
      <p:sp>
        <p:nvSpPr>
          <p:cNvPr id="6" name="N41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One row per change; reference slide IDs so implementation is exact</a:t>
            </a:r>
          </a:p>
        </p:txBody>
      </p:sp>
      <p:cxnSp>
        <p:nvCxnSpPr>
          <p:cNvPr id="7" name="N41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41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41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N41</a:t>
            </a:r>
          </a:p>
        </p:txBody>
      </p:sp>
      <p:sp>
        <p:nvSpPr>
          <p:cNvPr id="10" name="N41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57</a:t>
            </a:r>
          </a:p>
        </p:txBody>
      </p:sp>
      <p:graphicFrame>
        <p:nvGraphicFramePr>
          <p:cNvPr id="11" name="N41/review-table"/>
          <p:cNvGraphicFramePr>
            <a:graphicFrameLocks noGrp="1"/>
          </p:cNvGraphicFramePr>
          <p:nvPr/>
        </p:nvGraphicFramePr>
        <p:xfrm>
          <a:off x="502920" y="1783080"/>
          <a:ext cx="1118310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821"/>
                <a:gridCol w="2293971"/>
                <a:gridCol w="5352600"/>
                <a:gridCol w="1146985"/>
                <a:gridCol w="1433732"/>
              </a:tblGrid>
              <a:tr h="514350"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30D158"/>
                          </a:solidFill>
                          <a:latin typeface="Arial"/>
                        </a:defRPr>
                      </a:pPr>
                      <a:r>
                        <a:t>Slide ID</a:t>
                      </a:r>
                    </a:p>
                  </a:txBody>
                  <a:tcPr marL="73152" marR="73152" marT="27432" marB="27432" anchor="ctr">
                    <a:solidFill>
                      <a:srgbClr val="1C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30D158"/>
                          </a:solidFill>
                          <a:latin typeface="Arial"/>
                        </a:defRPr>
                      </a:pPr>
                      <a:r>
                        <a:t>Element / state</a:t>
                      </a:r>
                    </a:p>
                  </a:txBody>
                  <a:tcPr marL="73152" marR="73152" marT="27432" marB="27432" anchor="ctr">
                    <a:solidFill>
                      <a:srgbClr val="1C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30D158"/>
                          </a:solidFill>
                          <a:latin typeface="Arial"/>
                        </a:defRPr>
                      </a:pPr>
                      <a:r>
                        <a:t>Requested change</a:t>
                      </a:r>
                    </a:p>
                  </a:txBody>
                  <a:tcPr marL="73152" marR="73152" marT="27432" marB="27432" anchor="ctr">
                    <a:solidFill>
                      <a:srgbClr val="1C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30D158"/>
                          </a:solidFill>
                          <a:latin typeface="Arial"/>
                        </a:defRPr>
                      </a:pPr>
                      <a:r>
                        <a:t>Priority</a:t>
                      </a:r>
                    </a:p>
                  </a:txBody>
                  <a:tcPr marL="73152" marR="73152" marT="27432" marB="27432" anchor="ctr">
                    <a:solidFill>
                      <a:srgbClr val="1C1C2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30D158"/>
                          </a:solidFill>
                          <a:latin typeface="Arial"/>
                        </a:defRPr>
                      </a:pPr>
                      <a:r>
                        <a:t>Approved?</a:t>
                      </a:r>
                    </a:p>
                  </a:txBody>
                  <a:tcPr marL="73152" marR="73152" marT="27432" marB="27432" anchor="ctr">
                    <a:solidFill>
                      <a:srgbClr val="1C1C24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0B0B0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F5F5F7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A1A1A6"/>
                          </a:solidFill>
                          <a:latin typeface="Arial"/>
                        </a:defRPr>
                      </a:pPr>
                    </a:p>
                  </a:txBody>
                  <a:tcPr marL="73152" marR="73152" marT="27432" marB="27432" anchor="ctr">
                    <a:solidFill>
                      <a:srgbClr val="15151B"/>
                    </a:solidFill>
                  </a:tcPr>
                </a:tc>
              </a:tr>
            </a:tbl>
          </a:graphicData>
        </a:graphic>
      </p:graphicFrame>
      <p:sp>
        <p:nvSpPr>
          <p:cNvPr id="12" name="N41/text/010"/>
          <p:cNvSpPr txBox="1"/>
          <p:nvPr/>
        </p:nvSpPr>
        <p:spPr>
          <a:xfrm>
            <a:off x="502920" y="6080760"/>
            <a:ext cx="11183112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Priority: P0 must-fix · P1 should-fix · P2 nice-to-have. Duplicate this slide if you need more rows.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42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42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42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HANDOFF</a:t>
            </a:r>
          </a:p>
        </p:txBody>
      </p:sp>
      <p:sp>
        <p:nvSpPr>
          <p:cNvPr id="5" name="N42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Slide → source mapping</a:t>
            </a:r>
          </a:p>
        </p:txBody>
      </p:sp>
      <p:sp>
        <p:nvSpPr>
          <p:cNvPr id="6" name="N42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After approval, edits are applied to these files</a:t>
            </a:r>
          </a:p>
        </p:txBody>
      </p:sp>
      <p:cxnSp>
        <p:nvCxnSpPr>
          <p:cNvPr id="7" name="N42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42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42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N42</a:t>
            </a:r>
          </a:p>
        </p:txBody>
      </p:sp>
      <p:sp>
        <p:nvSpPr>
          <p:cNvPr id="10" name="N42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58</a:t>
            </a:r>
          </a:p>
        </p:txBody>
      </p:sp>
      <p:sp>
        <p:nvSpPr>
          <p:cNvPr id="11" name="N42/rect/010"/>
          <p:cNvSpPr/>
          <p:nvPr/>
        </p:nvSpPr>
        <p:spPr>
          <a:xfrm>
            <a:off x="502920" y="1737360"/>
            <a:ext cx="11183112" cy="512064"/>
          </a:xfrm>
          <a:prstGeom prst="roundRect">
            <a:avLst>
              <a:gd name="adj" fmla="val 10714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42/text/011"/>
          <p:cNvSpPr txBox="1"/>
          <p:nvPr/>
        </p:nvSpPr>
        <p:spPr>
          <a:xfrm>
            <a:off x="685800" y="1737360"/>
            <a:ext cx="21488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0D158"/>
                </a:solidFill>
                <a:latin typeface="Arial"/>
              </a:rPr>
              <a:t>N04, N37</a:t>
            </a:r>
          </a:p>
        </p:txBody>
      </p:sp>
      <p:sp>
        <p:nvSpPr>
          <p:cNvPr id="13" name="N42/text/012"/>
          <p:cNvSpPr txBox="1"/>
          <p:nvPr/>
        </p:nvSpPr>
        <p:spPr>
          <a:xfrm>
            <a:off x="2880360" y="1737360"/>
            <a:ext cx="498348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5F5F7"/>
                </a:solidFill>
                <a:latin typeface="Consolas"/>
              </a:rPr>
              <a:t>extension/stylesheet.css</a:t>
            </a:r>
          </a:p>
        </p:txBody>
      </p:sp>
      <p:sp>
        <p:nvSpPr>
          <p:cNvPr id="14" name="N42/text/013"/>
          <p:cNvSpPr txBox="1"/>
          <p:nvPr/>
        </p:nvSpPr>
        <p:spPr>
          <a:xfrm>
            <a:off x="8001000" y="1737360"/>
            <a:ext cx="35204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1A1A6"/>
                </a:solidFill>
                <a:latin typeface="Arial"/>
              </a:rPr>
              <a:t>Colors, type, radii, spacing, control states</a:t>
            </a:r>
          </a:p>
        </p:txBody>
      </p:sp>
      <p:sp>
        <p:nvSpPr>
          <p:cNvPr id="15" name="N42/rect/014"/>
          <p:cNvSpPr/>
          <p:nvPr/>
        </p:nvSpPr>
        <p:spPr>
          <a:xfrm>
            <a:off x="502920" y="2286000"/>
            <a:ext cx="11183112" cy="512064"/>
          </a:xfrm>
          <a:prstGeom prst="roundRect">
            <a:avLst>
              <a:gd name="adj" fmla="val 10714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42/text/015"/>
          <p:cNvSpPr txBox="1"/>
          <p:nvPr/>
        </p:nvSpPr>
        <p:spPr>
          <a:xfrm>
            <a:off x="685800" y="2286000"/>
            <a:ext cx="21488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0D158"/>
                </a:solidFill>
                <a:latin typeface="Arial"/>
              </a:rPr>
              <a:t>N05–N08, N26–N28, N46–N56</a:t>
            </a:r>
          </a:p>
        </p:txBody>
      </p:sp>
      <p:sp>
        <p:nvSpPr>
          <p:cNvPr id="17" name="N42/text/016"/>
          <p:cNvSpPr txBox="1"/>
          <p:nvPr/>
        </p:nvSpPr>
        <p:spPr>
          <a:xfrm>
            <a:off x="2880360" y="2286000"/>
            <a:ext cx="498348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5F5F7"/>
                </a:solidFill>
                <a:latin typeface="Consolas"/>
              </a:rPr>
              <a:t>extension/lib/geometry.js · layout.js · surface.js · spring.js</a:t>
            </a:r>
          </a:p>
        </p:txBody>
      </p:sp>
      <p:sp>
        <p:nvSpPr>
          <p:cNvPr id="18" name="N42/text/017"/>
          <p:cNvSpPr txBox="1"/>
          <p:nvPr/>
        </p:nvSpPr>
        <p:spPr>
          <a:xfrm>
            <a:off x="8001000" y="2286000"/>
            <a:ext cx="35204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1A1A6"/>
                </a:solidFill>
                <a:latin typeface="Arial"/>
              </a:rPr>
              <a:t>Dimensions, placement, adaptive rules, motion</a:t>
            </a:r>
          </a:p>
        </p:txBody>
      </p:sp>
      <p:sp>
        <p:nvSpPr>
          <p:cNvPr id="19" name="N42/rect/018"/>
          <p:cNvSpPr/>
          <p:nvPr/>
        </p:nvSpPr>
        <p:spPr>
          <a:xfrm>
            <a:off x="502920" y="2834640"/>
            <a:ext cx="11183112" cy="512064"/>
          </a:xfrm>
          <a:prstGeom prst="roundRect">
            <a:avLst>
              <a:gd name="adj" fmla="val 10714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42/text/019"/>
          <p:cNvSpPr txBox="1"/>
          <p:nvPr/>
        </p:nvSpPr>
        <p:spPr>
          <a:xfrm>
            <a:off x="685800" y="2834640"/>
            <a:ext cx="21488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0D158"/>
                </a:solidFill>
                <a:latin typeface="Arial"/>
              </a:rPr>
              <a:t>N09–N25, N39, N48–N54</a:t>
            </a:r>
          </a:p>
        </p:txBody>
      </p:sp>
      <p:sp>
        <p:nvSpPr>
          <p:cNvPr id="21" name="N42/text/020"/>
          <p:cNvSpPr txBox="1"/>
          <p:nvPr/>
        </p:nvSpPr>
        <p:spPr>
          <a:xfrm>
            <a:off x="2880360" y="2834640"/>
            <a:ext cx="498348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5F5F7"/>
                </a:solidFill>
                <a:latin typeface="Consolas"/>
              </a:rPr>
              <a:t>extension/lib/view.js · widgets.js</a:t>
            </a:r>
          </a:p>
        </p:txBody>
      </p:sp>
      <p:sp>
        <p:nvSpPr>
          <p:cNvPr id="22" name="N42/text/021"/>
          <p:cNvSpPr txBox="1"/>
          <p:nvPr/>
        </p:nvSpPr>
        <p:spPr>
          <a:xfrm>
            <a:off x="8001000" y="2834640"/>
            <a:ext cx="35204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1A1A6"/>
                </a:solidFill>
                <a:latin typeface="Arial"/>
              </a:rPr>
              <a:t>Page structure, copy, controls, status footer</a:t>
            </a:r>
          </a:p>
        </p:txBody>
      </p:sp>
      <p:sp>
        <p:nvSpPr>
          <p:cNvPr id="23" name="N42/rect/022"/>
          <p:cNvSpPr/>
          <p:nvPr/>
        </p:nvSpPr>
        <p:spPr>
          <a:xfrm>
            <a:off x="502920" y="3383280"/>
            <a:ext cx="11183112" cy="512064"/>
          </a:xfrm>
          <a:prstGeom prst="roundRect">
            <a:avLst>
              <a:gd name="adj" fmla="val 10714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42/text/023"/>
          <p:cNvSpPr txBox="1"/>
          <p:nvPr/>
        </p:nvSpPr>
        <p:spPr>
          <a:xfrm>
            <a:off x="685800" y="3383280"/>
            <a:ext cx="21488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0D158"/>
                </a:solidFill>
                <a:latin typeface="Arial"/>
              </a:rPr>
              <a:t>N18</a:t>
            </a:r>
          </a:p>
        </p:txBody>
      </p:sp>
      <p:sp>
        <p:nvSpPr>
          <p:cNvPr id="25" name="N42/text/024"/>
          <p:cNvSpPr txBox="1"/>
          <p:nvPr/>
        </p:nvSpPr>
        <p:spPr>
          <a:xfrm>
            <a:off x="2880360" y="3383280"/>
            <a:ext cx="498348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5F5F7"/>
                </a:solidFill>
                <a:latin typeface="Consolas"/>
              </a:rPr>
              <a:t>extension/lib/actions.js</a:t>
            </a:r>
          </a:p>
        </p:txBody>
      </p:sp>
      <p:sp>
        <p:nvSpPr>
          <p:cNvPr id="26" name="N42/text/025"/>
          <p:cNvSpPr txBox="1"/>
          <p:nvPr/>
        </p:nvSpPr>
        <p:spPr>
          <a:xfrm>
            <a:off x="8001000" y="3383280"/>
            <a:ext cx="35204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1A1A6"/>
                </a:solidFill>
                <a:latin typeface="Arial"/>
              </a:rPr>
              <a:t>Quick-action definitions and locked behavior</a:t>
            </a:r>
          </a:p>
        </p:txBody>
      </p:sp>
      <p:sp>
        <p:nvSpPr>
          <p:cNvPr id="27" name="N42/rect/026"/>
          <p:cNvSpPr/>
          <p:nvPr/>
        </p:nvSpPr>
        <p:spPr>
          <a:xfrm>
            <a:off x="502920" y="3931920"/>
            <a:ext cx="11183112" cy="512064"/>
          </a:xfrm>
          <a:prstGeom prst="roundRect">
            <a:avLst>
              <a:gd name="adj" fmla="val 10714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42/text/027"/>
          <p:cNvSpPr txBox="1"/>
          <p:nvPr/>
        </p:nvSpPr>
        <p:spPr>
          <a:xfrm>
            <a:off x="685800" y="3931920"/>
            <a:ext cx="21488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0D158"/>
                </a:solidFill>
                <a:latin typeface="Arial"/>
              </a:rPr>
              <a:t>N19–N22, N53</a:t>
            </a:r>
          </a:p>
        </p:txBody>
      </p:sp>
      <p:sp>
        <p:nvSpPr>
          <p:cNvPr id="29" name="N42/text/028"/>
          <p:cNvSpPr txBox="1"/>
          <p:nvPr/>
        </p:nvSpPr>
        <p:spPr>
          <a:xfrm>
            <a:off x="2880360" y="3931920"/>
            <a:ext cx="498348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5F5F7"/>
                </a:solidFill>
                <a:latin typeface="Consolas"/>
              </a:rPr>
              <a:t>extension/lib/shelf.js · app/notch_app/helper.py</a:t>
            </a:r>
          </a:p>
        </p:txBody>
      </p:sp>
      <p:sp>
        <p:nvSpPr>
          <p:cNvPr id="30" name="N42/text/029"/>
          <p:cNvSpPr txBox="1"/>
          <p:nvPr/>
        </p:nvSpPr>
        <p:spPr>
          <a:xfrm>
            <a:off x="8001000" y="3931920"/>
            <a:ext cx="35204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1A1A6"/>
                </a:solidFill>
                <a:latin typeface="Arial"/>
              </a:rPr>
              <a:t>Shelf rows, drop target, file chooser</a:t>
            </a:r>
          </a:p>
        </p:txBody>
      </p:sp>
      <p:sp>
        <p:nvSpPr>
          <p:cNvPr id="31" name="N42/rect/030"/>
          <p:cNvSpPr/>
          <p:nvPr/>
        </p:nvSpPr>
        <p:spPr>
          <a:xfrm>
            <a:off x="502920" y="4480559"/>
            <a:ext cx="11183112" cy="512064"/>
          </a:xfrm>
          <a:prstGeom prst="roundRect">
            <a:avLst>
              <a:gd name="adj" fmla="val 10714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42/text/031"/>
          <p:cNvSpPr txBox="1"/>
          <p:nvPr/>
        </p:nvSpPr>
        <p:spPr>
          <a:xfrm>
            <a:off x="685800" y="4480559"/>
            <a:ext cx="21488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0D158"/>
                </a:solidFill>
                <a:latin typeface="Arial"/>
              </a:rPr>
              <a:t>N23–N24, N54</a:t>
            </a:r>
          </a:p>
        </p:txBody>
      </p:sp>
      <p:sp>
        <p:nvSpPr>
          <p:cNvPr id="33" name="N42/text/032"/>
          <p:cNvSpPr txBox="1"/>
          <p:nvPr/>
        </p:nvSpPr>
        <p:spPr>
          <a:xfrm>
            <a:off x="2880360" y="4480559"/>
            <a:ext cx="498348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5F5F7"/>
                </a:solidFill>
                <a:latin typeface="Consolas"/>
              </a:rPr>
              <a:t>extension/lib/clipboard.js</a:t>
            </a:r>
          </a:p>
        </p:txBody>
      </p:sp>
      <p:sp>
        <p:nvSpPr>
          <p:cNvPr id="34" name="N42/text/033"/>
          <p:cNvSpPr txBox="1"/>
          <p:nvPr/>
        </p:nvSpPr>
        <p:spPr>
          <a:xfrm>
            <a:off x="8001000" y="4480559"/>
            <a:ext cx="35204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1A1A6"/>
                </a:solidFill>
                <a:latin typeface="Arial"/>
              </a:rPr>
              <a:t>History rules and restore</a:t>
            </a:r>
          </a:p>
        </p:txBody>
      </p:sp>
      <p:sp>
        <p:nvSpPr>
          <p:cNvPr id="35" name="N42/rect/034"/>
          <p:cNvSpPr/>
          <p:nvPr/>
        </p:nvSpPr>
        <p:spPr>
          <a:xfrm>
            <a:off x="502920" y="5029199"/>
            <a:ext cx="11183112" cy="512064"/>
          </a:xfrm>
          <a:prstGeom prst="roundRect">
            <a:avLst>
              <a:gd name="adj" fmla="val 10714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N42/text/035"/>
          <p:cNvSpPr txBox="1"/>
          <p:nvPr/>
        </p:nvSpPr>
        <p:spPr>
          <a:xfrm>
            <a:off x="685800" y="5029199"/>
            <a:ext cx="21488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0D158"/>
                </a:solidFill>
                <a:latin typeface="Arial"/>
              </a:rPr>
              <a:t>N30–N36, N38, N57–N58</a:t>
            </a:r>
          </a:p>
        </p:txBody>
      </p:sp>
      <p:sp>
        <p:nvSpPr>
          <p:cNvPr id="37" name="N42/text/036"/>
          <p:cNvSpPr txBox="1"/>
          <p:nvPr/>
        </p:nvSpPr>
        <p:spPr>
          <a:xfrm>
            <a:off x="2880360" y="5029199"/>
            <a:ext cx="498348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5F5F7"/>
                </a:solidFill>
                <a:latin typeface="Consolas"/>
              </a:rPr>
              <a:t>extension/prefs.js · app/notch_app/settings.py</a:t>
            </a:r>
          </a:p>
        </p:txBody>
      </p:sp>
      <p:sp>
        <p:nvSpPr>
          <p:cNvPr id="38" name="N42/text/037"/>
          <p:cNvSpPr txBox="1"/>
          <p:nvPr/>
        </p:nvSpPr>
        <p:spPr>
          <a:xfrm>
            <a:off x="8001000" y="5029199"/>
            <a:ext cx="35204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1A1A6"/>
                </a:solidFill>
                <a:latin typeface="Arial"/>
              </a:rPr>
              <a:t>Settings pages and rows</a:t>
            </a:r>
          </a:p>
        </p:txBody>
      </p:sp>
      <p:sp>
        <p:nvSpPr>
          <p:cNvPr id="39" name="N42/rect/038"/>
          <p:cNvSpPr/>
          <p:nvPr/>
        </p:nvSpPr>
        <p:spPr>
          <a:xfrm>
            <a:off x="502920" y="5577839"/>
            <a:ext cx="11183112" cy="512064"/>
          </a:xfrm>
          <a:prstGeom prst="roundRect">
            <a:avLst>
              <a:gd name="adj" fmla="val 10714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N42/text/039"/>
          <p:cNvSpPr txBox="1"/>
          <p:nvPr/>
        </p:nvSpPr>
        <p:spPr>
          <a:xfrm>
            <a:off x="685800" y="5577839"/>
            <a:ext cx="21488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0D158"/>
                </a:solidFill>
                <a:latin typeface="Arial"/>
              </a:rPr>
              <a:t>N05, N31–N34, N55</a:t>
            </a:r>
          </a:p>
        </p:txBody>
      </p:sp>
      <p:sp>
        <p:nvSpPr>
          <p:cNvPr id="41" name="N42/text/040"/>
          <p:cNvSpPr txBox="1"/>
          <p:nvPr/>
        </p:nvSpPr>
        <p:spPr>
          <a:xfrm>
            <a:off x="2880360" y="5577839"/>
            <a:ext cx="498348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5F5F7"/>
                </a:solidFill>
                <a:latin typeface="Consolas"/>
              </a:rPr>
              <a:t>extension/schemas/*.gschema.xml</a:t>
            </a:r>
          </a:p>
        </p:txBody>
      </p:sp>
      <p:sp>
        <p:nvSpPr>
          <p:cNvPr id="42" name="N42/text/041"/>
          <p:cNvSpPr txBox="1"/>
          <p:nvPr/>
        </p:nvSpPr>
        <p:spPr>
          <a:xfrm>
            <a:off x="8001000" y="5577839"/>
            <a:ext cx="35204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1A1A6"/>
                </a:solidFill>
                <a:latin typeface="Arial"/>
              </a:rPr>
              <a:t>Defaults, ranges, enums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43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43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43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HANDOFF</a:t>
            </a:r>
          </a:p>
        </p:txBody>
      </p:sp>
      <p:sp>
        <p:nvSpPr>
          <p:cNvPr id="5" name="N43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Implementation acceptance checklist</a:t>
            </a:r>
          </a:p>
        </p:txBody>
      </p:sp>
      <p:sp>
        <p:nvSpPr>
          <p:cNvPr id="6" name="N43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Run after applying the edited deck</a:t>
            </a:r>
          </a:p>
        </p:txBody>
      </p:sp>
      <p:cxnSp>
        <p:nvCxnSpPr>
          <p:cNvPr id="7" name="N43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43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43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N43</a:t>
            </a:r>
          </a:p>
        </p:txBody>
      </p:sp>
      <p:sp>
        <p:nvSpPr>
          <p:cNvPr id="10" name="N43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59</a:t>
            </a:r>
          </a:p>
        </p:txBody>
      </p:sp>
      <p:sp>
        <p:nvSpPr>
          <p:cNvPr id="11" name="N43/rect/010"/>
          <p:cNvSpPr/>
          <p:nvPr/>
        </p:nvSpPr>
        <p:spPr>
          <a:xfrm>
            <a:off x="594360" y="1828800"/>
            <a:ext cx="219456" cy="219456"/>
          </a:xfrm>
          <a:prstGeom prst="roundRect">
            <a:avLst>
              <a:gd name="adj" fmla="val 16666"/>
            </a:avLst>
          </a:prstGeom>
          <a:noFill/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43/text/011"/>
          <p:cNvSpPr txBox="1"/>
          <p:nvPr/>
        </p:nvSpPr>
        <p:spPr>
          <a:xfrm>
            <a:off x="960120" y="1783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5F7"/>
                </a:solidFill>
                <a:latin typeface="Arial"/>
              </a:rPr>
              <a:t>Every approved slide ID is implemented or explicitly marked deferred.</a:t>
            </a:r>
          </a:p>
        </p:txBody>
      </p:sp>
      <p:sp>
        <p:nvSpPr>
          <p:cNvPr id="13" name="N43/rect/012"/>
          <p:cNvSpPr/>
          <p:nvPr/>
        </p:nvSpPr>
        <p:spPr>
          <a:xfrm>
            <a:off x="594360" y="2359151"/>
            <a:ext cx="219456" cy="219456"/>
          </a:xfrm>
          <a:prstGeom prst="roundRect">
            <a:avLst>
              <a:gd name="adj" fmla="val 16666"/>
            </a:avLst>
          </a:prstGeom>
          <a:noFill/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43/text/013"/>
          <p:cNvSpPr txBox="1"/>
          <p:nvPr/>
        </p:nvSpPr>
        <p:spPr>
          <a:xfrm>
            <a:off x="960120" y="23134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5F7"/>
                </a:solidFill>
                <a:latin typeface="Arial"/>
              </a:rPr>
              <a:t>No text is clipped at 100%, 125% and 150% text scaling.</a:t>
            </a:r>
          </a:p>
        </p:txBody>
      </p:sp>
      <p:sp>
        <p:nvSpPr>
          <p:cNvPr id="15" name="N43/rect/014"/>
          <p:cNvSpPr/>
          <p:nvPr/>
        </p:nvSpPr>
        <p:spPr>
          <a:xfrm>
            <a:off x="594360" y="2889503"/>
            <a:ext cx="219456" cy="219456"/>
          </a:xfrm>
          <a:prstGeom prst="roundRect">
            <a:avLst>
              <a:gd name="adj" fmla="val 16666"/>
            </a:avLst>
          </a:prstGeom>
          <a:noFill/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43/text/015"/>
          <p:cNvSpPr txBox="1"/>
          <p:nvPr/>
        </p:nvSpPr>
        <p:spPr>
          <a:xfrm>
            <a:off x="960120" y="284378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5F7"/>
                </a:solidFill>
                <a:latin typeface="Arial"/>
              </a:rPr>
              <a:t>Closed / peek / open and all six pages match the edited mockups.</a:t>
            </a:r>
          </a:p>
        </p:txBody>
      </p:sp>
      <p:sp>
        <p:nvSpPr>
          <p:cNvPr id="17" name="N43/rect/016"/>
          <p:cNvSpPr/>
          <p:nvPr/>
        </p:nvSpPr>
        <p:spPr>
          <a:xfrm>
            <a:off x="594360" y="3419856"/>
            <a:ext cx="219456" cy="219456"/>
          </a:xfrm>
          <a:prstGeom prst="roundRect">
            <a:avLst>
              <a:gd name="adj" fmla="val 16666"/>
            </a:avLst>
          </a:prstGeom>
          <a:noFill/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43/text/017"/>
          <p:cNvSpPr txBox="1"/>
          <p:nvPr/>
        </p:nvSpPr>
        <p:spPr>
          <a:xfrm>
            <a:off x="960120" y="337413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5F7"/>
                </a:solidFill>
                <a:latin typeface="Arial"/>
              </a:rPr>
              <a:t>Empty, loading, disabled, locked, offline and error states are present.</a:t>
            </a:r>
          </a:p>
        </p:txBody>
      </p:sp>
      <p:sp>
        <p:nvSpPr>
          <p:cNvPr id="19" name="N43/rect/018"/>
          <p:cNvSpPr/>
          <p:nvPr/>
        </p:nvSpPr>
        <p:spPr>
          <a:xfrm>
            <a:off x="594360" y="3950207"/>
            <a:ext cx="219456" cy="219456"/>
          </a:xfrm>
          <a:prstGeom prst="roundRect">
            <a:avLst>
              <a:gd name="adj" fmla="val 16666"/>
            </a:avLst>
          </a:prstGeom>
          <a:noFill/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43/text/019"/>
          <p:cNvSpPr txBox="1"/>
          <p:nvPr/>
        </p:nvSpPr>
        <p:spPr>
          <a:xfrm>
            <a:off x="960120" y="3904487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5F7"/>
                </a:solidFill>
                <a:latin typeface="Arial"/>
              </a:rPr>
              <a:t>Settings labels/defaults stay consistent across inline prefs and companion app.</a:t>
            </a:r>
          </a:p>
        </p:txBody>
      </p:sp>
      <p:sp>
        <p:nvSpPr>
          <p:cNvPr id="21" name="N43/rect/020"/>
          <p:cNvSpPr/>
          <p:nvPr/>
        </p:nvSpPr>
        <p:spPr>
          <a:xfrm>
            <a:off x="594360" y="4480559"/>
            <a:ext cx="219456" cy="219456"/>
          </a:xfrm>
          <a:prstGeom prst="roundRect">
            <a:avLst>
              <a:gd name="adj" fmla="val 16666"/>
            </a:avLst>
          </a:prstGeom>
          <a:noFill/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43/text/021"/>
          <p:cNvSpPr txBox="1"/>
          <p:nvPr/>
        </p:nvSpPr>
        <p:spPr>
          <a:xfrm>
            <a:off x="960120" y="44348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5F7"/>
                </a:solidFill>
                <a:latin typeface="Arial"/>
              </a:rPr>
              <a:t>Quick actions, media controls, shelf actions and clipboard restore still work.</a:t>
            </a:r>
          </a:p>
        </p:txBody>
      </p:sp>
      <p:sp>
        <p:nvSpPr>
          <p:cNvPr id="23" name="N43/rect/022"/>
          <p:cNvSpPr/>
          <p:nvPr/>
        </p:nvSpPr>
        <p:spPr>
          <a:xfrm>
            <a:off x="594360" y="5010912"/>
            <a:ext cx="219456" cy="219456"/>
          </a:xfrm>
          <a:prstGeom prst="roundRect">
            <a:avLst>
              <a:gd name="adj" fmla="val 16666"/>
            </a:avLst>
          </a:prstGeom>
          <a:noFill/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43/text/023"/>
          <p:cNvSpPr txBox="1"/>
          <p:nvPr/>
        </p:nvSpPr>
        <p:spPr>
          <a:xfrm>
            <a:off x="960120" y="49651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5F7"/>
                </a:solidFill>
                <a:latin typeface="Arial"/>
              </a:rPr>
              <a:t>Reduced motion, fullscreen/overview hide and lock privacy behavior still work.</a:t>
            </a:r>
          </a:p>
        </p:txBody>
      </p:sp>
      <p:sp>
        <p:nvSpPr>
          <p:cNvPr id="25" name="N43/rect/024"/>
          <p:cNvSpPr/>
          <p:nvPr/>
        </p:nvSpPr>
        <p:spPr>
          <a:xfrm>
            <a:off x="594360" y="5541264"/>
            <a:ext cx="219456" cy="219456"/>
          </a:xfrm>
          <a:prstGeom prst="roundRect">
            <a:avLst>
              <a:gd name="adj" fmla="val 16666"/>
            </a:avLst>
          </a:prstGeom>
          <a:noFill/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43/text/025"/>
          <p:cNvSpPr txBox="1"/>
          <p:nvPr/>
        </p:nvSpPr>
        <p:spPr>
          <a:xfrm>
            <a:off x="960120" y="549554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5F7"/>
                </a:solidFill>
                <a:latin typeface="Arial"/>
              </a:rPr>
              <a:t>npm run check, Python tests, ruff, staged install/uninstall and notch-doctor pass.</a:t>
            </a:r>
          </a:p>
        </p:txBody>
      </p:sp>
      <p:sp>
        <p:nvSpPr>
          <p:cNvPr id="27" name="N43/spec-panel/026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43/text/027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29" name="N43/ellipse/028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43/text/029"/>
          <p:cNvSpPr txBox="1"/>
          <p:nvPr/>
        </p:nvSpPr>
        <p:spPr>
          <a:xfrm>
            <a:off x="8805672" y="2011680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Live GNOME validation happens on Fedora</a:t>
            </a:r>
          </a:p>
        </p:txBody>
      </p:sp>
      <p:sp>
        <p:nvSpPr>
          <p:cNvPr id="31" name="N43/ellipse/030"/>
          <p:cNvSpPr/>
          <p:nvPr/>
        </p:nvSpPr>
        <p:spPr>
          <a:xfrm>
            <a:off x="8659368" y="255117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43/text/031"/>
          <p:cNvSpPr txBox="1"/>
          <p:nvPr/>
        </p:nvSpPr>
        <p:spPr>
          <a:xfrm>
            <a:off x="8805672" y="2487168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Deck is design truth, not a runtime screenshot</a:t>
            </a:r>
          </a:p>
        </p:txBody>
      </p:sp>
      <p:sp>
        <p:nvSpPr>
          <p:cNvPr id="33" name="N43/ellipse/032"/>
          <p:cNvSpPr/>
          <p:nvPr/>
        </p:nvSpPr>
        <p:spPr>
          <a:xfrm>
            <a:off x="8659368" y="302666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N43/text/033"/>
          <p:cNvSpPr txBox="1"/>
          <p:nvPr/>
        </p:nvSpPr>
        <p:spPr>
          <a:xfrm>
            <a:off x="8805672" y="2962656"/>
            <a:ext cx="267919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Return .pptx with decision log filled</a:t>
            </a:r>
          </a:p>
        </p:txBody>
      </p:sp>
      <p:cxnSp>
        <p:nvCxnSpPr>
          <p:cNvPr id="35" name="N43/line/034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N43/text/035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REVIEW / EDIT HERE</a:t>
            </a:r>
          </a:p>
        </p:txBody>
      </p:sp>
      <p:sp>
        <p:nvSpPr>
          <p:cNvPr id="37" name="N43/edit-box/036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9525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43/edit-note/037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Add project-specific acceptance test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write exact value or instruction ]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61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61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61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APPENDIX</a:t>
            </a:r>
          </a:p>
        </p:txBody>
      </p:sp>
      <p:sp>
        <p:nvSpPr>
          <p:cNvPr id="5" name="N61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Uploaded install command</a:t>
            </a:r>
          </a:p>
        </p:txBody>
      </p:sp>
      <p:sp>
        <p:nvSpPr>
          <p:cNvPr id="6" name="N61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Preserved verbatim from your main-branch PPT edit</a:t>
            </a:r>
          </a:p>
        </p:txBody>
      </p:sp>
      <p:cxnSp>
        <p:nvCxnSpPr>
          <p:cNvPr id="7" name="N61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61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61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N61</a:t>
            </a:r>
          </a:p>
        </p:txBody>
      </p:sp>
      <p:sp>
        <p:nvSpPr>
          <p:cNvPr id="10" name="N61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60</a:t>
            </a:r>
          </a:p>
        </p:txBody>
      </p:sp>
      <p:sp>
        <p:nvSpPr>
          <p:cNvPr id="11" name="N61/text/010"/>
          <p:cNvSpPr txBox="1"/>
          <p:nvPr/>
        </p:nvSpPr>
        <p:spPr>
          <a:xfrm>
            <a:off x="502920" y="1783080"/>
            <a:ext cx="11183112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Arial"/>
              </a:rPr>
              <a:t>You added this command to the peek slide. It is preserved here so the notification mockup stays readable.</a:t>
            </a:r>
          </a:p>
        </p:txBody>
      </p:sp>
      <p:sp>
        <p:nvSpPr>
          <p:cNvPr id="12" name="N61/rect/011"/>
          <p:cNvSpPr/>
          <p:nvPr/>
        </p:nvSpPr>
        <p:spPr>
          <a:xfrm>
            <a:off x="502920" y="2331720"/>
            <a:ext cx="11183112" cy="1188720"/>
          </a:xfrm>
          <a:prstGeom prst="roundRect">
            <a:avLst>
              <a:gd name="adj" fmla="val 9230"/>
            </a:avLst>
          </a:prstGeom>
          <a:solidFill>
            <a:srgbClr val="111118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61/text/012"/>
          <p:cNvSpPr txBox="1"/>
          <p:nvPr/>
        </p:nvSpPr>
        <p:spPr>
          <a:xfrm>
            <a:off x="731520" y="2560320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5F7"/>
                </a:solidFill>
                <a:latin typeface="Consolas"/>
              </a:rPr>
              <a:t>curl -fsSL https://raw.githubusercontent.com/pavit12301611/notch/refs/heads/arena/a8df1ad3-notch/scripts/bootstrap.sh | bash</a:t>
            </a:r>
          </a:p>
        </p:txBody>
      </p:sp>
      <p:sp>
        <p:nvSpPr>
          <p:cNvPr id="14" name="N61/text/013"/>
          <p:cNvSpPr txBox="1"/>
          <p:nvPr/>
        </p:nvSpPr>
        <p:spPr>
          <a:xfrm>
            <a:off x="502920" y="3840480"/>
            <a:ext cx="1118311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D60A"/>
                </a:solidFill>
                <a:latin typeface="Arial"/>
              </a:rPr>
              <a:t>Note: this is the historical branch command from the uploaded text. For the merged main branch, the equivalent raw URL uses refs/heads/main. Design review does not change installer behavior.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44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44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44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HANDOFF</a:t>
            </a:r>
          </a:p>
        </p:txBody>
      </p:sp>
      <p:sp>
        <p:nvSpPr>
          <p:cNvPr id="5" name="N44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Return the edited deck</a:t>
            </a:r>
          </a:p>
        </p:txBody>
      </p:sp>
      <p:sp>
        <p:nvSpPr>
          <p:cNvPr id="6" name="N44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Next pass will follow the deck instead of guessing</a:t>
            </a:r>
          </a:p>
        </p:txBody>
      </p:sp>
      <p:cxnSp>
        <p:nvCxnSpPr>
          <p:cNvPr id="7" name="N44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44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44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N44</a:t>
            </a:r>
          </a:p>
        </p:txBody>
      </p:sp>
      <p:sp>
        <p:nvSpPr>
          <p:cNvPr id="10" name="N44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61</a:t>
            </a:r>
          </a:p>
        </p:txBody>
      </p:sp>
      <p:sp>
        <p:nvSpPr>
          <p:cNvPr id="11" name="N44/text/010"/>
          <p:cNvSpPr txBox="1"/>
          <p:nvPr/>
        </p:nvSpPr>
        <p:spPr>
          <a:xfrm>
            <a:off x="502920" y="1920240"/>
            <a:ext cx="111556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5F7"/>
                </a:solidFill>
                <a:latin typeface="Arial"/>
              </a:rPr>
              <a:t>1. Edit shapes/text/colors directly on the page slides.</a:t>
            </a:r>
          </a:p>
        </p:txBody>
      </p:sp>
      <p:sp>
        <p:nvSpPr>
          <p:cNvPr id="12" name="N44/text/011"/>
          <p:cNvSpPr txBox="1"/>
          <p:nvPr/>
        </p:nvSpPr>
        <p:spPr>
          <a:xfrm>
            <a:off x="502920" y="2514600"/>
            <a:ext cx="111556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5F7"/>
                </a:solidFill>
                <a:latin typeface="Arial"/>
              </a:rPr>
              <a:t>2. Fill REVIEW boxes, worksheets N59–N60 and decision log N41.</a:t>
            </a:r>
          </a:p>
        </p:txBody>
      </p:sp>
      <p:sp>
        <p:nvSpPr>
          <p:cNvPr id="13" name="N44/text/012"/>
          <p:cNvSpPr txBox="1"/>
          <p:nvPr/>
        </p:nvSpPr>
        <p:spPr>
          <a:xfrm>
            <a:off x="502920" y="3108960"/>
            <a:ext cx="111556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5F7"/>
                </a:solidFill>
                <a:latin typeface="Arial"/>
              </a:rPr>
              <a:t>3. Save as .pptx and send it back.</a:t>
            </a:r>
          </a:p>
        </p:txBody>
      </p:sp>
      <p:sp>
        <p:nvSpPr>
          <p:cNvPr id="14" name="N44/text/013"/>
          <p:cNvSpPr txBox="1"/>
          <p:nvPr/>
        </p:nvSpPr>
        <p:spPr>
          <a:xfrm>
            <a:off x="502920" y="388620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1A1A6"/>
                </a:solidFill>
                <a:latin typeface="Arial"/>
              </a:rPr>
              <a:t>Implementation will diff the edited deck against this baseline,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1A1A6"/>
                </a:solidFill>
                <a:latin typeface="Arial"/>
              </a:rPr>
              <a:t>map changes through N42, and ask only where a deck edit is ambiguous.</a:t>
            </a:r>
          </a:p>
        </p:txBody>
      </p:sp>
      <p:sp>
        <p:nvSpPr>
          <p:cNvPr id="15" name="N44/rect/014"/>
          <p:cNvSpPr/>
          <p:nvPr/>
        </p:nvSpPr>
        <p:spPr>
          <a:xfrm>
            <a:off x="502920" y="5029200"/>
            <a:ext cx="4023360" cy="237744"/>
          </a:xfrm>
          <a:prstGeom prst="roundRect">
            <a:avLst>
              <a:gd name="adj" fmla="val 50000"/>
            </a:avLst>
          </a:prstGeom>
          <a:solidFill>
            <a:srgbClr val="0B0B0F"/>
          </a:solidFill>
          <a:ln w="1143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44/text/015"/>
          <p:cNvSpPr txBox="1"/>
          <p:nvPr/>
        </p:nvSpPr>
        <p:spPr>
          <a:xfrm>
            <a:off x="502920" y="5029200"/>
            <a:ext cx="402336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0D158"/>
                </a:solidFill>
                <a:latin typeface="Arial"/>
              </a:rPr>
              <a:t>BASELINE BRANCH: arena/71fe92f9-notch</a:t>
            </a:r>
          </a:p>
        </p:txBody>
      </p:sp>
      <p:sp>
        <p:nvSpPr>
          <p:cNvPr id="17" name="N44/rect/016"/>
          <p:cNvSpPr/>
          <p:nvPr/>
        </p:nvSpPr>
        <p:spPr>
          <a:xfrm>
            <a:off x="4709160" y="5029200"/>
            <a:ext cx="3291840" cy="237744"/>
          </a:xfrm>
          <a:prstGeom prst="roundRect">
            <a:avLst>
              <a:gd name="adj" fmla="val 50000"/>
            </a:avLst>
          </a:prstGeom>
          <a:solidFill>
            <a:srgbClr val="0B0B0F"/>
          </a:solidFill>
          <a:ln w="11430">
            <a:solidFill>
              <a:srgbClr val="6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44/text/017"/>
          <p:cNvSpPr txBox="1"/>
          <p:nvPr/>
        </p:nvSpPr>
        <p:spPr>
          <a:xfrm>
            <a:off x="4709160" y="5029200"/>
            <a:ext cx="329184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4D2FF"/>
                </a:solidFill>
                <a:latin typeface="Arial"/>
              </a:rPr>
              <a:t>FILE: Notch-Design-Review.pptx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Notch — Editable Design Review</dc:title>
  <dc:subject>v8 baseline design handoff for Fedora GNOME notch</dc:subject>
  <dc:creator>Notch project</dc:creator>
  <cp:keywords>notch, GNOME, GTK4, Libadwaita, design review, editable</cp:keywords>
  <dc:description>Native editable shapes and text; no screenshots. Slide IDs N01–N44 are handoff keys.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